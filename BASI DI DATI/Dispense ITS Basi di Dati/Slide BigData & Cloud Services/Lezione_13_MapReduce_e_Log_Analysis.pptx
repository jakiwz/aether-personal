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7372b03fdf4895" /><Relationship Type="http://schemas.openxmlformats.org/officeDocument/2006/relationships/extended-properties" Target="/docProps/app.xml" Id="R075c7cfd85584d2b" /><Relationship Type="http://schemas.openxmlformats.org/officeDocument/2006/relationships/officeDocument" Target="/ppt/presentation.xml" Id="R7964ce35797d42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10a608c5dd4195"/>
  </p:sldMasterIdLst>
  <p:notesMasterIdLst>
    <p:notesMasterId xmlns:r="http://schemas.openxmlformats.org/officeDocument/2006/relationships" r:id="R1fb9ed7eaaa1490a"/>
  </p:notesMasterIdLst>
  <p:sldIdLst>
    <p:sldId xmlns:r="http://schemas.openxmlformats.org/officeDocument/2006/relationships" id="256" r:id="R6bd5f5aa5bdd4933"/>
    <p:sldId xmlns:r="http://schemas.openxmlformats.org/officeDocument/2006/relationships" id="257" r:id="Rcfd67d001bc2484f"/>
    <p:sldId xmlns:r="http://schemas.openxmlformats.org/officeDocument/2006/relationships" id="258" r:id="R45c32ef981284fdc"/>
    <p:sldId xmlns:r="http://schemas.openxmlformats.org/officeDocument/2006/relationships" id="259" r:id="R502709eabeb9417e"/>
    <p:sldId xmlns:r="http://schemas.openxmlformats.org/officeDocument/2006/relationships" id="260" r:id="Raf4f0f1754604f26"/>
    <p:sldId xmlns:r="http://schemas.openxmlformats.org/officeDocument/2006/relationships" id="261" r:id="R660f0b017e7b4d89"/>
    <p:sldId xmlns:r="http://schemas.openxmlformats.org/officeDocument/2006/relationships" id="262" r:id="R9562d00896de4b43"/>
    <p:sldId xmlns:r="http://schemas.openxmlformats.org/officeDocument/2006/relationships" id="263" r:id="R397a34b7103e4e6d"/>
    <p:sldId xmlns:r="http://schemas.openxmlformats.org/officeDocument/2006/relationships" id="264" r:id="Raadca0693eb948ac"/>
    <p:sldId xmlns:r="http://schemas.openxmlformats.org/officeDocument/2006/relationships" id="265" r:id="R0a4f2c8335724998"/>
    <p:sldId xmlns:r="http://schemas.openxmlformats.org/officeDocument/2006/relationships" id="266" r:id="R3e5a8838a7f249c5"/>
    <p:sldId xmlns:r="http://schemas.openxmlformats.org/officeDocument/2006/relationships" id="267" r:id="Rfca38f17c2664f2b"/>
    <p:sldId xmlns:r="http://schemas.openxmlformats.org/officeDocument/2006/relationships" id="268" r:id="Ra21b5e3eeab0447e"/>
    <p:sldId xmlns:r="http://schemas.openxmlformats.org/officeDocument/2006/relationships" id="269" r:id="Rd21ba7c4fcbf48d5"/>
    <p:sldId xmlns:r="http://schemas.openxmlformats.org/officeDocument/2006/relationships" id="270" r:id="Rae635b2e142d445b"/>
    <p:sldId xmlns:r="http://schemas.openxmlformats.org/officeDocument/2006/relationships" id="271" r:id="Ra4177dc9786646df"/>
    <p:sldId xmlns:r="http://schemas.openxmlformats.org/officeDocument/2006/relationships" id="272" r:id="R48f2d38053404364"/>
    <p:sldId xmlns:r="http://schemas.openxmlformats.org/officeDocument/2006/relationships" id="273" r:id="R43d6295d001947c2"/>
    <p:sldId xmlns:r="http://schemas.openxmlformats.org/officeDocument/2006/relationships" id="274" r:id="R56f605d41668464e"/>
    <p:sldId xmlns:r="http://schemas.openxmlformats.org/officeDocument/2006/relationships" id="275" r:id="R50170a80b42f4f99"/>
    <p:sldId xmlns:r="http://schemas.openxmlformats.org/officeDocument/2006/relationships" id="276" r:id="R5eb64c1fab0045bd"/>
    <p:sldId xmlns:r="http://schemas.openxmlformats.org/officeDocument/2006/relationships" id="277" r:id="R2bac8d2134364dbb"/>
    <p:sldId xmlns:r="http://schemas.openxmlformats.org/officeDocument/2006/relationships" id="278" r:id="R861a5d06a533456d"/>
    <p:sldId xmlns:r="http://schemas.openxmlformats.org/officeDocument/2006/relationships" id="279" r:id="R5ec519a9749d4cf5"/>
    <p:sldId xmlns:r="http://schemas.openxmlformats.org/officeDocument/2006/relationships" id="280" r:id="R00ff6bcc2c9f4094"/>
    <p:sldId xmlns:r="http://schemas.openxmlformats.org/officeDocument/2006/relationships" id="281" r:id="R06d811d6629e4c3b"/>
    <p:sldId xmlns:r="http://schemas.openxmlformats.org/officeDocument/2006/relationships" id="282" r:id="Rbaef7313b2074cbf"/>
    <p:sldId xmlns:r="http://schemas.openxmlformats.org/officeDocument/2006/relationships" id="283" r:id="Rb1cab61e709f406a"/>
    <p:sldId xmlns:r="http://schemas.openxmlformats.org/officeDocument/2006/relationships" id="284" r:id="R39380d4c350a48db"/>
    <p:sldId xmlns:r="http://schemas.openxmlformats.org/officeDocument/2006/relationships" id="285" r:id="R632562a59f2c4070"/>
    <p:sldId xmlns:r="http://schemas.openxmlformats.org/officeDocument/2006/relationships" id="286" r:id="Rba2aa90e890b4d64"/>
    <p:sldId xmlns:r="http://schemas.openxmlformats.org/officeDocument/2006/relationships" id="287" r:id="R6d45a1d985244eb1"/>
    <p:sldId xmlns:r="http://schemas.openxmlformats.org/officeDocument/2006/relationships" id="288" r:id="R362c6cd922734887"/>
    <p:sldId xmlns:r="http://schemas.openxmlformats.org/officeDocument/2006/relationships" id="289" r:id="Rd4b4b934f53a4360"/>
    <p:sldId xmlns:r="http://schemas.openxmlformats.org/officeDocument/2006/relationships" id="290" r:id="R44a4771a68514f09"/>
    <p:sldId xmlns:r="http://schemas.openxmlformats.org/officeDocument/2006/relationships" id="291" r:id="Raa3848c7bb294c3f"/>
    <p:sldId xmlns:r="http://schemas.openxmlformats.org/officeDocument/2006/relationships" id="292" r:id="R04fbed3669274e45"/>
    <p:sldId xmlns:r="http://schemas.openxmlformats.org/officeDocument/2006/relationships" id="293" r:id="R2ec46f9aa04b48d1"/>
    <p:sldId xmlns:r="http://schemas.openxmlformats.org/officeDocument/2006/relationships" id="294" r:id="Rd63b1fb68d2047ea"/>
    <p:sldId xmlns:r="http://schemas.openxmlformats.org/officeDocument/2006/relationships" id="295" r:id="Rc85dafb229a64c37"/>
    <p:sldId xmlns:r="http://schemas.openxmlformats.org/officeDocument/2006/relationships" id="296" r:id="Rd72513eea9ce46d7"/>
    <p:sldId xmlns:r="http://schemas.openxmlformats.org/officeDocument/2006/relationships" id="297" r:id="Re8f1c1c809eb4138"/>
    <p:sldId xmlns:r="http://schemas.openxmlformats.org/officeDocument/2006/relationships" id="298" r:id="R7aee9e8a833f46ed"/>
    <p:sldId xmlns:r="http://schemas.openxmlformats.org/officeDocument/2006/relationships" id="299" r:id="Rf1b71b3d01224e31"/>
    <p:sldId xmlns:r="http://schemas.openxmlformats.org/officeDocument/2006/relationships" id="300" r:id="R715078ea3acb4a39"/>
    <p:sldId xmlns:r="http://schemas.openxmlformats.org/officeDocument/2006/relationships" id="301" r:id="Rdb33b59cd6b846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5d20ab21314214" /><Relationship Type="http://schemas.openxmlformats.org/officeDocument/2006/relationships/slideMaster" Target="/ppt/slideMasters/slideMaster1.xml" Id="R5c10a608c5dd4195" /><Relationship Type="http://schemas.openxmlformats.org/officeDocument/2006/relationships/notesMaster" Target="/ppt/notesMasters/notesMaster1.xml" Id="R1fb9ed7eaaa1490a" /><Relationship Type="http://schemas.openxmlformats.org/officeDocument/2006/relationships/presProps" Target="/ppt/presProps.xml" Id="R004eb426647747ce" /><Relationship Type="http://schemas.openxmlformats.org/officeDocument/2006/relationships/tableStyles" Target="/ppt/tableStyles.xml" Id="R05f07535efb24a60" /><Relationship Type="http://schemas.openxmlformats.org/officeDocument/2006/relationships/slide" Target="/ppt/slides/slide1.xml" Id="R6bd5f5aa5bdd4933" /><Relationship Type="http://schemas.openxmlformats.org/officeDocument/2006/relationships/slide" Target="/ppt/slides/slide2.xml" Id="Rcfd67d001bc2484f" /><Relationship Type="http://schemas.openxmlformats.org/officeDocument/2006/relationships/slide" Target="/ppt/slides/slide3.xml" Id="R45c32ef981284fdc" /><Relationship Type="http://schemas.openxmlformats.org/officeDocument/2006/relationships/slide" Target="/ppt/slides/slide4.xml" Id="R502709eabeb9417e" /><Relationship Type="http://schemas.openxmlformats.org/officeDocument/2006/relationships/slide" Target="/ppt/slides/slide5.xml" Id="Raf4f0f1754604f26" /><Relationship Type="http://schemas.openxmlformats.org/officeDocument/2006/relationships/slide" Target="/ppt/slides/slide6.xml" Id="R660f0b017e7b4d89" /><Relationship Type="http://schemas.openxmlformats.org/officeDocument/2006/relationships/slide" Target="/ppt/slides/slide7.xml" Id="R9562d00896de4b43" /><Relationship Type="http://schemas.openxmlformats.org/officeDocument/2006/relationships/slide" Target="/ppt/slides/slide8.xml" Id="R397a34b7103e4e6d" /><Relationship Type="http://schemas.openxmlformats.org/officeDocument/2006/relationships/slide" Target="/ppt/slides/slide9.xml" Id="Raadca0693eb948ac" /><Relationship Type="http://schemas.openxmlformats.org/officeDocument/2006/relationships/slide" Target="/ppt/slides/slide10.xml" Id="R0a4f2c8335724998" /><Relationship Type="http://schemas.openxmlformats.org/officeDocument/2006/relationships/slide" Target="/ppt/slides/slide11.xml" Id="R3e5a8838a7f249c5" /><Relationship Type="http://schemas.openxmlformats.org/officeDocument/2006/relationships/slide" Target="/ppt/slides/slide12.xml" Id="Rfca38f17c2664f2b" /><Relationship Type="http://schemas.openxmlformats.org/officeDocument/2006/relationships/slide" Target="/ppt/slides/slide13.xml" Id="Ra21b5e3eeab0447e" /><Relationship Type="http://schemas.openxmlformats.org/officeDocument/2006/relationships/slide" Target="/ppt/slides/slide14.xml" Id="Rd21ba7c4fcbf48d5" /><Relationship Type="http://schemas.openxmlformats.org/officeDocument/2006/relationships/slide" Target="/ppt/slides/slide15.xml" Id="Rae635b2e142d445b" /><Relationship Type="http://schemas.openxmlformats.org/officeDocument/2006/relationships/slide" Target="/ppt/slides/slide16.xml" Id="Ra4177dc9786646df" /><Relationship Type="http://schemas.openxmlformats.org/officeDocument/2006/relationships/slide" Target="/ppt/slides/slide17.xml" Id="R48f2d38053404364" /><Relationship Type="http://schemas.openxmlformats.org/officeDocument/2006/relationships/slide" Target="/ppt/slides/slide18.xml" Id="R43d6295d001947c2" /><Relationship Type="http://schemas.openxmlformats.org/officeDocument/2006/relationships/slide" Target="/ppt/slides/slide19.xml" Id="R56f605d41668464e" /><Relationship Type="http://schemas.openxmlformats.org/officeDocument/2006/relationships/slide" Target="/ppt/slides/slide20.xml" Id="R50170a80b42f4f99" /><Relationship Type="http://schemas.openxmlformats.org/officeDocument/2006/relationships/slide" Target="/ppt/slides/slide21.xml" Id="R5eb64c1fab0045bd" /><Relationship Type="http://schemas.openxmlformats.org/officeDocument/2006/relationships/slide" Target="/ppt/slides/slide22.xml" Id="R2bac8d2134364dbb" /><Relationship Type="http://schemas.openxmlformats.org/officeDocument/2006/relationships/slide" Target="/ppt/slides/slide23.xml" Id="R861a5d06a533456d" /><Relationship Type="http://schemas.openxmlformats.org/officeDocument/2006/relationships/slide" Target="/ppt/slides/slide24.xml" Id="R5ec519a9749d4cf5" /><Relationship Type="http://schemas.openxmlformats.org/officeDocument/2006/relationships/slide" Target="/ppt/slides/slide25.xml" Id="R00ff6bcc2c9f4094" /><Relationship Type="http://schemas.openxmlformats.org/officeDocument/2006/relationships/slide" Target="/ppt/slides/slide26.xml" Id="R06d811d6629e4c3b" /><Relationship Type="http://schemas.openxmlformats.org/officeDocument/2006/relationships/slide" Target="/ppt/slides/slide27.xml" Id="Rbaef7313b2074cbf" /><Relationship Type="http://schemas.openxmlformats.org/officeDocument/2006/relationships/slide" Target="/ppt/slides/slide28.xml" Id="Rb1cab61e709f406a" /><Relationship Type="http://schemas.openxmlformats.org/officeDocument/2006/relationships/slide" Target="/ppt/slides/slide29.xml" Id="R39380d4c350a48db" /><Relationship Type="http://schemas.openxmlformats.org/officeDocument/2006/relationships/slide" Target="/ppt/slides/slide30.xml" Id="R632562a59f2c4070" /><Relationship Type="http://schemas.openxmlformats.org/officeDocument/2006/relationships/slide" Target="/ppt/slides/slide31.xml" Id="Rba2aa90e890b4d64" /><Relationship Type="http://schemas.openxmlformats.org/officeDocument/2006/relationships/slide" Target="/ppt/slides/slide32.xml" Id="R6d45a1d985244eb1" /><Relationship Type="http://schemas.openxmlformats.org/officeDocument/2006/relationships/slide" Target="/ppt/slides/slide33.xml" Id="R362c6cd922734887" /><Relationship Type="http://schemas.openxmlformats.org/officeDocument/2006/relationships/slide" Target="/ppt/slides/slide34.xml" Id="Rd4b4b934f53a4360" /><Relationship Type="http://schemas.openxmlformats.org/officeDocument/2006/relationships/slide" Target="/ppt/slides/slide35.xml" Id="R44a4771a68514f09" /><Relationship Type="http://schemas.openxmlformats.org/officeDocument/2006/relationships/slide" Target="/ppt/slides/slide36.xml" Id="Raa3848c7bb294c3f" /><Relationship Type="http://schemas.openxmlformats.org/officeDocument/2006/relationships/slide" Target="/ppt/slides/slide37.xml" Id="R04fbed3669274e45" /><Relationship Type="http://schemas.openxmlformats.org/officeDocument/2006/relationships/slide" Target="/ppt/slides/slide38.xml" Id="R2ec46f9aa04b48d1" /><Relationship Type="http://schemas.openxmlformats.org/officeDocument/2006/relationships/slide" Target="/ppt/slides/slide39.xml" Id="Rd63b1fb68d2047ea" /><Relationship Type="http://schemas.openxmlformats.org/officeDocument/2006/relationships/slide" Target="/ppt/slides/slide40.xml" Id="Rc85dafb229a64c37" /><Relationship Type="http://schemas.openxmlformats.org/officeDocument/2006/relationships/slide" Target="/ppt/slides/slide41.xml" Id="Rd72513eea9ce46d7" /><Relationship Type="http://schemas.openxmlformats.org/officeDocument/2006/relationships/slide" Target="/ppt/slides/slide42.xml" Id="Re8f1c1c809eb4138" /><Relationship Type="http://schemas.openxmlformats.org/officeDocument/2006/relationships/slide" Target="/ppt/slides/slide43.xml" Id="R7aee9e8a833f46ed" /><Relationship Type="http://schemas.openxmlformats.org/officeDocument/2006/relationships/slide" Target="/ppt/slides/slide44.xml" Id="Rf1b71b3d01224e31" /><Relationship Type="http://schemas.openxmlformats.org/officeDocument/2006/relationships/slide" Target="/ppt/slides/slide45.xml" Id="R715078ea3acb4a39" /><Relationship Type="http://schemas.openxmlformats.org/officeDocument/2006/relationships/slide" Target="/ppt/slides/slide46.xml" Id="Rdb33b59cd6b846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3432f680b449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94d75fd16d40c0" /><Relationship Type="http://schemas.openxmlformats.org/officeDocument/2006/relationships/notesMaster" Target="/ppt/notesMasters/notesMaster1.xml" Id="R4dbafa6b71b745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c8c83d00454a16" /><Relationship Type="http://schemas.openxmlformats.org/officeDocument/2006/relationships/notesMaster" Target="/ppt/notesMasters/notesMaster1.xml" Id="R3ef7078f79774a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3d78cc803c49f5" /><Relationship Type="http://schemas.openxmlformats.org/officeDocument/2006/relationships/notesMaster" Target="/ppt/notesMasters/notesMaster1.xml" Id="Ree8c579256574e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8610cefc2f4c01" /><Relationship Type="http://schemas.openxmlformats.org/officeDocument/2006/relationships/notesMaster" Target="/ppt/notesMasters/notesMaster1.xml" Id="R2de6d9c600c34f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aedd7e9c464216" /><Relationship Type="http://schemas.openxmlformats.org/officeDocument/2006/relationships/notesMaster" Target="/ppt/notesMasters/notesMaster1.xml" Id="Rb8eee918a81b44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40f46634ea4c7d" /><Relationship Type="http://schemas.openxmlformats.org/officeDocument/2006/relationships/notesMaster" Target="/ppt/notesMasters/notesMaster1.xml" Id="R7015f49de79b49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4fbf45a9714ecf" /><Relationship Type="http://schemas.openxmlformats.org/officeDocument/2006/relationships/notesMaster" Target="/ppt/notesMasters/notesMaster1.xml" Id="R02d17a8a4bd54e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fca277e5914426" /><Relationship Type="http://schemas.openxmlformats.org/officeDocument/2006/relationships/notesMaster" Target="/ppt/notesMasters/notesMaster1.xml" Id="Rb32a027a3f684d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22e81337a54bce" /><Relationship Type="http://schemas.openxmlformats.org/officeDocument/2006/relationships/notesMaster" Target="/ppt/notesMasters/notesMaster1.xml" Id="Ra6c5dce9a2bb40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e018504e984663" /><Relationship Type="http://schemas.openxmlformats.org/officeDocument/2006/relationships/notesMaster" Target="/ppt/notesMasters/notesMaster1.xml" Id="R7a8e990121cc4f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97b9a8081d4996" /><Relationship Type="http://schemas.openxmlformats.org/officeDocument/2006/relationships/notesMaster" Target="/ppt/notesMasters/notesMaster1.xml" Id="R0e71b34e7a144c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709fc453e549eb" /><Relationship Type="http://schemas.openxmlformats.org/officeDocument/2006/relationships/notesMaster" Target="/ppt/notesMasters/notesMaster1.xml" Id="R4bf369442dfa4c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93f323e3074cac" /><Relationship Type="http://schemas.openxmlformats.org/officeDocument/2006/relationships/notesMaster" Target="/ppt/notesMasters/notesMaster1.xml" Id="R07d360b1bb1f45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4fa517eca246fc" /><Relationship Type="http://schemas.openxmlformats.org/officeDocument/2006/relationships/notesMaster" Target="/ppt/notesMasters/notesMaster1.xml" Id="Re966fb0ca9a540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a499b177ec40cd" /><Relationship Type="http://schemas.openxmlformats.org/officeDocument/2006/relationships/notesMaster" Target="/ppt/notesMasters/notesMaster1.xml" Id="R0c2a961ac82b47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ef9ca86a3d477b" /><Relationship Type="http://schemas.openxmlformats.org/officeDocument/2006/relationships/notesMaster" Target="/ppt/notesMasters/notesMaster1.xml" Id="R17ca0a28fa9546b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d631e14228c40b5" /><Relationship Type="http://schemas.openxmlformats.org/officeDocument/2006/relationships/notesMaster" Target="/ppt/notesMasters/notesMaster1.xml" Id="Refd77007be794e8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bdb12e6b4454647" /><Relationship Type="http://schemas.openxmlformats.org/officeDocument/2006/relationships/notesMaster" Target="/ppt/notesMasters/notesMaster1.xml" Id="R5de24ee925f0422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38422f7e1e425d" /><Relationship Type="http://schemas.openxmlformats.org/officeDocument/2006/relationships/notesMaster" Target="/ppt/notesMasters/notesMaster1.xml" Id="R8c8f4bd1356644b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b49706faa9046d0" /><Relationship Type="http://schemas.openxmlformats.org/officeDocument/2006/relationships/notesMaster" Target="/ppt/notesMasters/notesMaster1.xml" Id="R4825efb9667943c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ca0ff71586d441f" /><Relationship Type="http://schemas.openxmlformats.org/officeDocument/2006/relationships/notesMaster" Target="/ppt/notesMasters/notesMaster1.xml" Id="R2cd6fcb2ce5e4ae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62a7c8a73fb4ec5" /><Relationship Type="http://schemas.openxmlformats.org/officeDocument/2006/relationships/notesMaster" Target="/ppt/notesMasters/notesMaster1.xml" Id="R797085d3551e4ff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d168a01889949b1" /><Relationship Type="http://schemas.openxmlformats.org/officeDocument/2006/relationships/notesMaster" Target="/ppt/notesMasters/notesMaster1.xml" Id="R018c676d3d07442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cf8819272e746a4" /><Relationship Type="http://schemas.openxmlformats.org/officeDocument/2006/relationships/notesMaster" Target="/ppt/notesMasters/notesMaster1.xml" Id="R1ec811be0b64404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665aa0ce4d3485d" /><Relationship Type="http://schemas.openxmlformats.org/officeDocument/2006/relationships/notesMaster" Target="/ppt/notesMasters/notesMaster1.xml" Id="R3b590a202a5243b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3e1158c8d7b4d9b" /><Relationship Type="http://schemas.openxmlformats.org/officeDocument/2006/relationships/notesMaster" Target="/ppt/notesMasters/notesMaster1.xml" Id="R23f20b0bcc0f455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f8923cf21a74849" /><Relationship Type="http://schemas.openxmlformats.org/officeDocument/2006/relationships/notesMaster" Target="/ppt/notesMasters/notesMaster1.xml" Id="Rc5b238c4db024c7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6beaf5ac3394255" /><Relationship Type="http://schemas.openxmlformats.org/officeDocument/2006/relationships/notesMaster" Target="/ppt/notesMasters/notesMaster1.xml" Id="R917478191ad3488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c0df54b45874240" /><Relationship Type="http://schemas.openxmlformats.org/officeDocument/2006/relationships/notesMaster" Target="/ppt/notesMasters/notesMaster1.xml" Id="Rb7b4027ab0994a1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e000bcbeb784688" /><Relationship Type="http://schemas.openxmlformats.org/officeDocument/2006/relationships/notesMaster" Target="/ppt/notesMasters/notesMaster1.xml" Id="R6254a8ff152e4bb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90ac7b579f44e6d" /><Relationship Type="http://schemas.openxmlformats.org/officeDocument/2006/relationships/notesMaster" Target="/ppt/notesMasters/notesMaster1.xml" Id="Re0570ff6468d4a0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7b17a4e354842d2" /><Relationship Type="http://schemas.openxmlformats.org/officeDocument/2006/relationships/notesMaster" Target="/ppt/notesMasters/notesMaster1.xml" Id="R644acdee365c410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a5a72de34464885" /><Relationship Type="http://schemas.openxmlformats.org/officeDocument/2006/relationships/notesMaster" Target="/ppt/notesMasters/notesMaster1.xml" Id="Rc61c10e2d006407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41a34545ce840f8" /><Relationship Type="http://schemas.openxmlformats.org/officeDocument/2006/relationships/notesMaster" Target="/ppt/notesMasters/notesMaster1.xml" Id="R4f403da664234b0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0dc0f5cc67f4194" /><Relationship Type="http://schemas.openxmlformats.org/officeDocument/2006/relationships/notesMaster" Target="/ppt/notesMasters/notesMaster1.xml" Id="Rc5ef56d05b03489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0aa32b69c594211" /><Relationship Type="http://schemas.openxmlformats.org/officeDocument/2006/relationships/notesMaster" Target="/ppt/notesMasters/notesMaster1.xml" Id="R62cd2b586d27418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88a8abfaf734afa" /><Relationship Type="http://schemas.openxmlformats.org/officeDocument/2006/relationships/notesMaster" Target="/ppt/notesMasters/notesMaster1.xml" Id="R7dee99f8a7634ab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d75b67b22e64899" /><Relationship Type="http://schemas.openxmlformats.org/officeDocument/2006/relationships/notesMaster" Target="/ppt/notesMasters/notesMaster1.xml" Id="Rd17f9ae86cb94f6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e884431707b46fd" /><Relationship Type="http://schemas.openxmlformats.org/officeDocument/2006/relationships/notesMaster" Target="/ppt/notesMasters/notesMaster1.xml" Id="Re3caaabd3daa4ae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aca0f6b57c54ff6" /><Relationship Type="http://schemas.openxmlformats.org/officeDocument/2006/relationships/notesMaster" Target="/ppt/notesMasters/notesMaster1.xml" Id="Rc8d77eec8042453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11bc112d30c4dae" /><Relationship Type="http://schemas.openxmlformats.org/officeDocument/2006/relationships/notesMaster" Target="/ppt/notesMasters/notesMaster1.xml" Id="Re5b03b8663eb48f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b56cefd0bfc484b" /><Relationship Type="http://schemas.openxmlformats.org/officeDocument/2006/relationships/notesMaster" Target="/ppt/notesMasters/notesMaster1.xml" Id="R0e869a1c3b7549c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8cb4996f27c4d22" /><Relationship Type="http://schemas.openxmlformats.org/officeDocument/2006/relationships/notesMaster" Target="/ppt/notesMasters/notesMaster1.xml" Id="Rb501976c5b364c5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3e0ebafe1a14ab2" /><Relationship Type="http://schemas.openxmlformats.org/officeDocument/2006/relationships/notesMaster" Target="/ppt/notesMasters/notesMaster1.xml" Id="R4c1ec918ed9246a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56b20909c3b4552" /><Relationship Type="http://schemas.openxmlformats.org/officeDocument/2006/relationships/notesMaster" Target="/ppt/notesMasters/notesMaster1.xml" Id="R6c1e5fcaef6f4cd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9e74016baa842c7" /><Relationship Type="http://schemas.openxmlformats.org/officeDocument/2006/relationships/notesMaster" Target="/ppt/notesMasters/notesMaster1.xml" Id="Rde04a25ba8344d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Ricollega la lezione al finale della Lezione 12: HDFS ha reso i blocchi disponibili e resilienti. Oggi il problema non è più conservarli, ma trasformarli in risposte.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Lascia emergere tre risposte: dividere i dati, lavorare in parallelo, ricomporre i risultati. Non pronunciare ancora Mapper e Reducer.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collegamento non è sempre uno-a-uno tra blocco e map task, ma la block size spesso orienta gli InputSplit. Introduci questa sfumatura senza appesantire.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MapReduce è anche un sistema di coordinamento: scheduling, monitoraggio e retry sono parte del valore, non dettagli laterali.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è la frase guida della lezione. Gli studenti scrivono la trasformazione locale e l’aggregazione; Hadoop orchestra il resto.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Distribuisci righe di città su fogli. I mapper emettono biglietti; un gruppo fa shuffle; i reducer sommano. Fai notare che la coordinazione costa tempo e movimento.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perché WordCount è utile: non perché sia un problema industriale, ma perché elimina la complessità del dominio e lascia visibile il modello.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mapper lavora record per record. In TextInputFormat il record è tipicamente una riga, presentata al mapper insieme all’offset come chiave di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proprietà permette di usare un solo passaggio sui log per emettere più famiglie di metriche. Nel laboratorio la chiave conterrà anche il tipo di metrica.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progettazione della key è il cuore del modello. La chiave deve far arrivare insieme i valori che il reducer deve aggregare.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L’indipendenza consente parallelismo e retry. Un mapper non deve aspettare risultati di un altro mapper per elaborare il proprio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documentazione specifica che l’InputFormat crea gli split e usa la block size come upper bound tipico per input file-based. Record boundaries restano responsabilità del RecordReader.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l’esempio di una riga che attraversa il limite fisico dello split. Il RecordReader presenta record completi al mapper.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Mantieni il dettaglio operativo al livello utile: buffer, spill, sort e merge. Serve a capire perché il mapper può usare disco locale e perché lo shuffle non parte da dati disordinati.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presentare il combiner come un mini-reducer sempre eseguito. È un’ottimizzazione opzionale. Somma e conteggio sono adatti; media ingenua non lo 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default HashPartitioner usa la key. L’obiettivo non è distribuire ogni record casualmente, ma garantire che tutte le copie della stessa key finiscano insieme.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documentazione descrive il reducer che recupera via HTTP la propria partizione dell’output di tutti i mapper. È spesso la fase più costosa in rete.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Shuffle e sort si sovrappongono nel runtime, ma didatticamente separa movimento e raggruppamento. Il risultato concettuale è key → lista dei valori.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Correggi un mito frequente: ogni partizione è ordinata per key, ma con più reducer non esiste automaticamente un unico ordine globale dell’output.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 che il path di output rappresenta una directory con un part file per reducer. La pubblicazione protegge dai duplicati causati da tentativi multipli.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Ripercorri la pipeline senza nuovi dettagli. Chiedi a studenti diversi di descrivere una fase ciascuno usando la coppia STATUS|404.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documentazione consente zero reducer. In quel caso l’output dei mapper diventa finale e non viene ordinato dal framework.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- Apache Hadoop 3.5.0 — Hadoop Streaming: https://hadoop.apache.org/docs/current/hadoop-streaming/HadoopStreaming.html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numero di map task è guidato dagli InputSplit, spesso dalla dimensione totale e dalla block size. Evita la regola semplicistica “un blocco uguale un mapper” come identità assoluta.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trasformare in formula rigida. La documentazione fornisce linee guida operative, ma in aula interessa la relazione tra parallelismo, overhead e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lo skew: hashing uniforme non aiuta se una singola key domina. Possibili rimedi avanzati includono key salting e aggregazioni in più stadi.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HDFS e MapReduce sono spesso co-locati sugli stessi nodi. Il framework preferisce eseguire il mapper dove il blocco è già presente, aumentando la banda aggregata.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- Apache Hadoop 3.5.0 — HDFS Architecture: https://hadoop.apache.org/docs/current/hadoop-project-dist/hadoop-hdfs/HdfsDesign.html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Riprendi YARN dalla Lezione 11 e rendi chiara la separazione. MapReduce è il framework applicativo; YARN è il livello di resource management.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YARN Architecture: https://hadoop.apache.org/docs/current/hadoop-yarn/hadoop-yarn-site/YARN.html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ResourceManager arbitra risorse, il NodeManager gestisce container sul nodo, il MRAppMaster negozia risorse e monitora i task di quello specifico job.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YARN Architecture: https://hadoop.apache.org/docs/current/hadoop-yarn/hadoop-yarn-site/YARN.html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sequenza deriva dal tutorial ufficiale. Serve anche al troubleshooting: distinguere failure di submission da failure di un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framework monitora e riesegue task falliti. Collega questo comportamento all’idempotenza: ripetere un task non deve creare effetti esterni duplicati.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Presentala come meccanismo opzionale e controllabile. Il commit protegge l’output del job, non eventuali chiamate esterne effettuate dal codice utente.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counter built-in aiutano a validare volume e comportamento; i counter custom rendono visibile la qualità dei dati. Nel laboratorio il mapper segnala righe malformate su stderr.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- Apache Hadoop 3.5.0 — Hadoop Streaming: https://hadoop.apache.org/docs/current/hadoop-streaming/HadoopStreaming.html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distinguere monitoraggio corrente e diagnostica storica. Un job “SUCCEEDED” non prova che la logica applicativa sia corretta: bisogna verificare output e counter.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YARN Commands: https://hadoop.apache.org/docs/current/hadoop-yarn/hadoop-yarn-site/YarnCommands.html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Questo sarà l’errore più frequente nel laboratorio. Non insegnare a cancellare alla cieca: verificare sempre il path e scegliere se conservarlo.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Parla in termini pratici: un task può essere tentato più volte. Il framework evita duplicati nel proprio output, ma non può annullare side effect esterni arbitrari.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fit ideale è un dataset grande, memorizzato nel filesystem, elaborabile in batch con task indipendenti e output persistito.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presentare MapReduce come tecnologia “inutile”: è fondamentale per capire il modello distribuito. Ma il costo di job multipli e I/O su disco motiva Hive, Spark e sistemi moderni.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Streaming avvia l’eseguibile come processo separato. Le righe arrivano su stdin e le righe prodotte su stdout diventano coppie key-value.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Hadoop Streaming: https://hadoop.apache.org/docs/current/hadoop-streaming/HadoopStreaming.html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 la differenza tra il carattere tab e due caratteri backslash+t nel codice visibile. Nel mapper Python si usa print(f"{key}\t{value}").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Hadoop Streaming: https://hadoop.apache.org/docs/current/hadoop-streaming/HadoopStreaming.html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Leggi il codice come una pipeline: parse, validate, emit. Ogni record valido genera almeno tre coppie; gli errori 5xx ne generano una quarta. Il counter usa stderr.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Hadoop Streaming: https://hadoop.apache.org/docs/current/hadoop-streaming/HadoopStreaming.html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reducer sfrutta l’ordinamento garantito dal framework. Non carica tutte le key in un dizionario: mantiene soltanto la key corrente e l’accumulatore.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Hadoop Streaming: https://hadoop.apache.org/docs/current/hadoop-streaming/HadoopStreaming.html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Nel file reale i campi sono separati da tab. Il generatore produce 50.000 righe deterministiche e inserisce anche alcune righe malformate per esercitare i counter.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topologia separa storage e compute in container didattici. L’obiettivo è osservare il job, non simulare una configurazione production-grade.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official container image: https://hub.docker.com/r/apache/hadoop</a:t>
            </a:r>
          </a:p>
          <a:p xmlns:a="http://schemas.openxmlformats.org/drawingml/2006/main">
            <a:r>
              <a:t>- Apache Hadoop 3.5.0 — YARN Architecture: https://hadoop.apache.org/docs/current/hadoop-yarn/hadoop-yarn-site/YARN.html</a:t>
            </a:r>
          </a:p>
          <a:p xmlns:a="http://schemas.openxmlformats.org/drawingml/2006/main">
            <a:r>
              <a:t>- Apache Hadoop 3.5.0 — Single Node Setup: https://hadoop.apache.org/docs/current/hadoop-project-dist/hadoop-common/SingleCluster.html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test locale isola la logica Python prima del cluster. Solo dopo il risultato atteso gli studenti eseguono lo stesso contratto distribuito su YARN.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 ogni evidenza chiedi comando o UI, osservazione e interpretazione. Il risultato numerico deve essere riconciliabile: i counter e i totali non sono decorazione.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Chiudi con l’exit ticket: “Quale parte del job vorreste delegare a uno strumento più dichiarativo?”. Porta le risposte verso schema, table, query e formati colonnari.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Hadoop 3.5.0 — MapReduce Tutorial: https://hadoop.apache.org/docs/current/hadoop-mapreduce-client/hadoop-mapreduce-client-core/MapReduceTutorial.html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479d99a224d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74e4868cd041cd" /><Relationship Type="http://schemas.openxmlformats.org/officeDocument/2006/relationships/slideLayout" Target="/ppt/slideLayouts/slideLayout1.xml" Id="Rfb9dd3e8df0a40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9dd3e8df0a40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6e14629224004" /><Relationship Type="http://schemas.openxmlformats.org/officeDocument/2006/relationships/notesSlide" Target="/ppt/notesSlides/notesSlide1.xml" Id="R61ab49732ec145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ef877fb0c4a65" /><Relationship Type="http://schemas.openxmlformats.org/officeDocument/2006/relationships/notesSlide" Target="/ppt/notesSlides/notesSlide2.xml" Id="Rbd0c3063812148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6579d7a0e402d" /><Relationship Type="http://schemas.openxmlformats.org/officeDocument/2006/relationships/notesSlide" Target="/ppt/notesSlides/notesSlide3.xml" Id="R5ae7229c018a42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752aaccdc4a97" /><Relationship Type="http://schemas.openxmlformats.org/officeDocument/2006/relationships/notesSlide" Target="/ppt/notesSlides/notesSlide4.xml" Id="R278af957c5e34e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d308c55ea4175" /><Relationship Type="http://schemas.openxmlformats.org/officeDocument/2006/relationships/notesSlide" Target="/ppt/notesSlides/notesSlide5.xml" Id="R67bb5e05ea5c45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5704f0695448e" /><Relationship Type="http://schemas.openxmlformats.org/officeDocument/2006/relationships/notesSlide" Target="/ppt/notesSlides/notesSlide6.xml" Id="Rf2d79748515248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c5d53c06e44a2" /><Relationship Type="http://schemas.openxmlformats.org/officeDocument/2006/relationships/notesSlide" Target="/ppt/notesSlides/notesSlide7.xml" Id="R0d478fc5ff9f45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b0d1f431d4510" /><Relationship Type="http://schemas.openxmlformats.org/officeDocument/2006/relationships/notesSlide" Target="/ppt/notesSlides/notesSlide8.xml" Id="R9fcfb23ec71f44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7599a949e4df2" /><Relationship Type="http://schemas.openxmlformats.org/officeDocument/2006/relationships/notesSlide" Target="/ppt/notesSlides/notesSlide9.xml" Id="Rdb613eebd98649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df5e2ab1d4a62" /><Relationship Type="http://schemas.openxmlformats.org/officeDocument/2006/relationships/notesSlide" Target="/ppt/notesSlides/notesSlide10.xml" Id="Rbcbce946637748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d9a4016394720" /><Relationship Type="http://schemas.openxmlformats.org/officeDocument/2006/relationships/notesSlide" Target="/ppt/notesSlides/notesSlide11.xml" Id="Rc652694b908b41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be36a5dad4806" /><Relationship Type="http://schemas.openxmlformats.org/officeDocument/2006/relationships/notesSlide" Target="/ppt/notesSlides/notesSlide12.xml" Id="R551c2ac43f9548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567e6805a447e" /><Relationship Type="http://schemas.openxmlformats.org/officeDocument/2006/relationships/notesSlide" Target="/ppt/notesSlides/notesSlide13.xml" Id="Rb6a2505f4b664e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1d1a06555465d" /><Relationship Type="http://schemas.openxmlformats.org/officeDocument/2006/relationships/notesSlide" Target="/ppt/notesSlides/notesSlide14.xml" Id="R768cefcd191141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81fe738a34685" /><Relationship Type="http://schemas.openxmlformats.org/officeDocument/2006/relationships/notesSlide" Target="/ppt/notesSlides/notesSlide15.xml" Id="R02c4a7f448bf4b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71131d4ab453f" /><Relationship Type="http://schemas.openxmlformats.org/officeDocument/2006/relationships/notesSlide" Target="/ppt/notesSlides/notesSlide16.xml" Id="R4495911882734b0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ee08df19b4bd6" /><Relationship Type="http://schemas.openxmlformats.org/officeDocument/2006/relationships/notesSlide" Target="/ppt/notesSlides/notesSlide17.xml" Id="R1b9b9b0ce51d47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5b796203d4de3" /><Relationship Type="http://schemas.openxmlformats.org/officeDocument/2006/relationships/notesSlide" Target="/ppt/notesSlides/notesSlide18.xml" Id="R051aa1b1446945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ec708701d4d24" /><Relationship Type="http://schemas.openxmlformats.org/officeDocument/2006/relationships/notesSlide" Target="/ppt/notesSlides/notesSlide19.xml" Id="Rc1ca9bb0d74e42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2fe4bed714478" /><Relationship Type="http://schemas.openxmlformats.org/officeDocument/2006/relationships/notesSlide" Target="/ppt/notesSlides/notesSlide20.xml" Id="Rfde7444f3961459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adafea5d84163" /><Relationship Type="http://schemas.openxmlformats.org/officeDocument/2006/relationships/notesSlide" Target="/ppt/notesSlides/notesSlide21.xml" Id="Re6556d73a33f4b6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71a22c93b48e0" /><Relationship Type="http://schemas.openxmlformats.org/officeDocument/2006/relationships/notesSlide" Target="/ppt/notesSlides/notesSlide22.xml" Id="Rc1a437d54f6c465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3fa82e1654351" /><Relationship Type="http://schemas.openxmlformats.org/officeDocument/2006/relationships/notesSlide" Target="/ppt/notesSlides/notesSlide23.xml" Id="R09b135913a45420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0717a3782423c" /><Relationship Type="http://schemas.openxmlformats.org/officeDocument/2006/relationships/notesSlide" Target="/ppt/notesSlides/notesSlide24.xml" Id="Ree6abe5f5297493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2c735ddee42e6" /><Relationship Type="http://schemas.openxmlformats.org/officeDocument/2006/relationships/notesSlide" Target="/ppt/notesSlides/notesSlide25.xml" Id="R4c66207362c847b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585b59e854c75" /><Relationship Type="http://schemas.openxmlformats.org/officeDocument/2006/relationships/notesSlide" Target="/ppt/notesSlides/notesSlide26.xml" Id="Re031fed03146469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83492d50e4a5c" /><Relationship Type="http://schemas.openxmlformats.org/officeDocument/2006/relationships/notesSlide" Target="/ppt/notesSlides/notesSlide27.xml" Id="Rbc3a87d1a977406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d89f2357b416f" /><Relationship Type="http://schemas.openxmlformats.org/officeDocument/2006/relationships/notesSlide" Target="/ppt/notesSlides/notesSlide28.xml" Id="R4c28d6306594406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694dfa52b4e86" /><Relationship Type="http://schemas.openxmlformats.org/officeDocument/2006/relationships/notesSlide" Target="/ppt/notesSlides/notesSlide29.xml" Id="Rb2c99fd6bb544c2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873ae77d24ce0" /><Relationship Type="http://schemas.openxmlformats.org/officeDocument/2006/relationships/notesSlide" Target="/ppt/notesSlides/notesSlide30.xml" Id="Rd8b9af0c5a10452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51b7f004a442b" /><Relationship Type="http://schemas.openxmlformats.org/officeDocument/2006/relationships/notesSlide" Target="/ppt/notesSlides/notesSlide31.xml" Id="Ref361e2e5b6b4c1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50b4841254c27" /><Relationship Type="http://schemas.openxmlformats.org/officeDocument/2006/relationships/notesSlide" Target="/ppt/notesSlides/notesSlide32.xml" Id="Re2d326d6b5dd486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56d47068b4ed9" /><Relationship Type="http://schemas.openxmlformats.org/officeDocument/2006/relationships/notesSlide" Target="/ppt/notesSlides/notesSlide33.xml" Id="Ra9e160b5bd664dd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cef64ae22454a" /><Relationship Type="http://schemas.openxmlformats.org/officeDocument/2006/relationships/notesSlide" Target="/ppt/notesSlides/notesSlide34.xml" Id="R9b9779040f7f42e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e259f275c4a7b" /><Relationship Type="http://schemas.openxmlformats.org/officeDocument/2006/relationships/notesSlide" Target="/ppt/notesSlides/notesSlide35.xml" Id="R3fd19016eebe482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a1cb8fa4742a3" /><Relationship Type="http://schemas.openxmlformats.org/officeDocument/2006/relationships/notesSlide" Target="/ppt/notesSlides/notesSlide36.xml" Id="Rf37fb5ace322423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cf06578434f3a" /><Relationship Type="http://schemas.openxmlformats.org/officeDocument/2006/relationships/notesSlide" Target="/ppt/notesSlides/notesSlide37.xml" Id="R83ddd0fac14d49f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3e4d75b4c4642" /><Relationship Type="http://schemas.openxmlformats.org/officeDocument/2006/relationships/notesSlide" Target="/ppt/notesSlides/notesSlide38.xml" Id="Rbde03b1470eb423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3f82ce30a44f3" /><Relationship Type="http://schemas.openxmlformats.org/officeDocument/2006/relationships/notesSlide" Target="/ppt/notesSlides/notesSlide39.xml" Id="R5acd9edc23fd489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157f1f1984ae2" /><Relationship Type="http://schemas.openxmlformats.org/officeDocument/2006/relationships/notesSlide" Target="/ppt/notesSlides/notesSlide40.xml" Id="R0994ed376fc441a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8d40656a64be1" /><Relationship Type="http://schemas.openxmlformats.org/officeDocument/2006/relationships/notesSlide" Target="/ppt/notesSlides/notesSlide41.xml" Id="R66d099356308433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04033979f4f14" /><Relationship Type="http://schemas.openxmlformats.org/officeDocument/2006/relationships/notesSlide" Target="/ppt/notesSlides/notesSlide42.xml" Id="R22dd9b61257c47a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5fe816573460d" /><Relationship Type="http://schemas.openxmlformats.org/officeDocument/2006/relationships/notesSlide" Target="/ppt/notesSlides/notesSlide43.xml" Id="R597877fe7073440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7c5d866c14229" /><Relationship Type="http://schemas.openxmlformats.org/officeDocument/2006/relationships/notesSlide" Target="/ppt/notesSlides/notesSlide44.xml" Id="R923fbe594f6a468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a7a63b5d94d57" /><Relationship Type="http://schemas.openxmlformats.org/officeDocument/2006/relationships/notesSlide" Target="/ppt/notesSlides/notesSlide45.xml" Id="R98be69cee4ab4df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57944c9c14b9b" /><Relationship Type="http://schemas.openxmlformats.org/officeDocument/2006/relationships/notesSlide" Target="/ppt/notesSlides/notesSlide46.xml" Id="Ra3ca733a33784c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92FD8-D40B-4B26-AB80-E535F483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BIG DATA &amp; CLOUD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434F7-E0DB-4C1D-95E2-D309538C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MapReduce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501BC-7722-43ED-97A2-DF241D20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C8D4DE"/>
                </a:solidFill>
              </a:defRPr>
            </a:pPr>
            <a:r>
              <a:rPr sz="2325" b="0">
                <a:solidFill>
                  <a:srgbClr val="C8D4DE"/>
                </a:solidFill>
              </a:rPr>
              <a:t>Dal blocco HDFS all’insight distribuito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1E5FF-B97F-49D5-A4AF-99296316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23950"/>
            <a:ext cx="2190750" cy="23812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A61FD-3507-4D49-9852-2060E398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24000"/>
            <a:ext cx="17716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050" b="1">
                <a:solidFill>
                  <a:srgbClr val="0B1F33"/>
                </a:solidFill>
              </a:defRPr>
            </a:pPr>
            <a:r>
              <a:rPr sz="7050" b="1">
                <a:solidFill>
                  <a:srgbClr val="0B1F3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BBE80-AFFC-4771-BDD5-C015A7BF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BF"/>
                </a:solidFill>
              </a:defRPr>
            </a:pPr>
            <a:r>
              <a:rPr sz="1125" b="0">
                <a:solidFill>
                  <a:srgbClr val="9FB0BF"/>
                </a:solidFill>
              </a:rPr>
              <a:t>Lezione 13 • elaborazione distribuita</a:t>
            </a:r>
          </a:p>
        </p:txBody>
      </p:sp>
    </p:spTree>
    <p:extLst>
      <p:ext uri="{BB962C8B-B14F-4D97-AF65-F5344CB8AC3E}">
        <p14:creationId xmlns:p14="http://schemas.microsoft.com/office/powerpoint/2010/main" val="2089580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51EE1-853E-437E-AA26-8BFFDF3E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MAPREDUCE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E81F6-ADEB-44CF-A841-6E8855D1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 domanda di oggi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6246F-0CC4-4BE5-8753-2D9FE46E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D1870-888A-4360-93A4-09BE2407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B7E34B"/>
                </a:solidFill>
              </a:defRPr>
            </a:pPr>
            <a:r>
              <a:rPr sz="8250" b="1">
                <a:solidFill>
                  <a:srgbClr val="B7E34B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4079B-533A-4CB9-92E1-9B8DE39D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Come contiamo cinque miliardi di eventi senza caricarli tutti nella memoria di un solo computer?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2A2F4-824C-40BF-987A-1321C37B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34010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AA6C3-03E4-4ABD-81F7-CFB91677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PONTE • HDFS → MAPREDUCE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0C66C-6D26-41C0-B918-30B03024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 blocchi HDFS diventano lavoro parallelo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1D366-A3CD-4DEB-940D-24FDD28C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5D39F-06FE-44CF-BB80-13982F71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E3C65-A52A-4AB2-BBD8-E2A2827B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HDFS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C0082-9F3C-4C19-B729-FB64B9EC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Block A • B • 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04B7A-C746-4FA4-9496-D5CD426C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9825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4666C-FF46-4182-9723-0DFEE358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2531E-7D76-4D16-90A5-E99C22EF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669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InputSplit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4CF58-F3F0-4540-AA4E-A19C9610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2DB14-4F10-4334-A555-16872C2A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860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MAP TASKS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25EB0-2EB0-4F2C-8B4B-0CB6FFB7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4795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una porzione ciascuno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402A0-1005-4DBE-93A1-8BD20738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0982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136AE-3C5E-430E-BAB2-996C8E76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751C8-917E-4A67-B2E5-EDE4EACD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669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aggregate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E8777-5FA9-41A6-B40D-23FB6081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D0D17D-72C7-4274-AFA3-219857BF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860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CAD46-D755-410D-AB72-60DE8AAD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risultato in HDFS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B23B4-CB5C-4D2D-B2E3-385F7F87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338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Storage distribuito + calcolo distribuito.</a:t>
            </a:r>
          </a:p>
        </p:txBody>
      </p:sp>
    </p:spTree>
    <p:extLst>
      <p:ext uri="{BB962C8B-B14F-4D97-AF65-F5344CB8AC3E}">
        <p14:creationId xmlns:p14="http://schemas.microsoft.com/office/powerpoint/2010/main" val="6456583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FC1A37-815E-41ED-888F-3A4369CF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SCALA OPERATIVA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F283B-951B-479B-BC43-C3E99AA7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problema non è leggere: è coordinare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9D587-2262-4B30-9CE2-75B0670E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61784-E2FB-4455-9E05-8F07DAE5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E7D43-433F-4C24-A131-64C8B8FC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2E570-1085-42AE-B547-2ED8155E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SPLIT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FEBC7-7871-4993-8DB3-CB47899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chi elabora quale porzione?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43DAD-DB3C-4BC0-90ED-46649266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35815-0144-42C8-9E82-B5E48C78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BC6B7-01CF-4030-AC77-DA961C0C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SCHEDULE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9AEF2-EF29-4789-904B-DBBD97F1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su quale nodo gira il task?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8B846-4192-4766-8B80-4389346A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CE0D2-B0ED-4DE1-9BE5-8A827062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AAF21-87B8-41C4-A331-4F2F316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TRANSFER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0A6B2-7B44-4F5E-BC9C-7423D474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come si riuniscono le stesse chiavi?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70A17-F683-4689-8061-1AF4339B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D9456-06E2-4738-BABF-0F3396EE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50518-2D24-4D65-ABA3-A1303F5C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FAILURE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FFCAB-FCDB-4DB7-8BEA-FA99AD81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chi ripete un task fallito?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FD47EE-CC9E-4EB9-8EB4-DC553D2D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B3D14-415B-4DD2-B9D8-D7ECC67A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6AE9B-0B45-44E6-8856-3117D99A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OUTPUT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BAECA9-1984-482D-8098-CCBFCE70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chi pubblica risultati validi?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BFC683-861F-4328-B8A1-B8352EF4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738B83-0A4A-4006-97D6-7ABC588D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B8DEBA-DBE2-4FD3-985A-92C84AFC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MONITOR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1DDB95-F9A5-47DD-9FF3-D39B6A4E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come sappiamo che sta avanzando?</a:t>
            </a:r>
          </a:p>
        </p:txBody>
      </p:sp>
    </p:spTree>
    <p:extLst>
      <p:ext uri="{BB962C8B-B14F-4D97-AF65-F5344CB8AC3E}">
        <p14:creationId xmlns:p14="http://schemas.microsoft.com/office/powerpoint/2010/main" val="509048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BCBFC-AC3F-4595-B859-BC4D2605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MODELLO MENTALE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AC010-D889-4EC7-8A4E-817667C0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MapReduce trasforma un problema in quattro mosse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62746-F2CD-416F-A00B-F70585EC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76FB5-4712-4023-BAA3-24D30146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54916-13EC-4508-A8A5-4BA08083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DIVIDE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1A542-1826-4CCB-A43E-A472596F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input indipendente per più map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80A08-E01D-4E31-9510-0231DCE1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D4F8E-0F58-4E99-9B29-227C1645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EMETTI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CB666-C916-49FF-9956-6782C97F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ogni record produce coppie key-value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81DA1-4EC5-45F2-AD23-EDFBE904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1CA13-B6F7-44A5-83C0-FA424677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86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RAGGRUPPA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AC063-78F3-44FC-87D1-1CF4C69E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stessa chiave verso lo stesso reducer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A8A6A-BCB0-4DB8-B5FF-49F3199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B376D-905B-4386-AA58-061DE3C9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RIDUCI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80DDC-666B-4502-8F89-DA22A6B4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combina i valori in un risultato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32903-02A8-4F16-975E-6A2A2D56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81625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Il framework gestisce il movimento; noi definiamo la logica.</a:t>
            </a:r>
          </a:p>
        </p:txBody>
      </p:sp>
    </p:spTree>
    <p:extLst>
      <p:ext uri="{BB962C8B-B14F-4D97-AF65-F5344CB8AC3E}">
        <p14:creationId xmlns:p14="http://schemas.microsoft.com/office/powerpoint/2010/main" val="934483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DD2492-B084-4CAA-A4FF-9F1E52B5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ATTIVITÀ IN AULA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08032-ABF8-444A-976D-9398E092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Prima del codice: MapReduce umano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E84FC-7B24-4C21-B4A2-9CC89BC0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50886-3269-4816-8ACE-E5109CBE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400D3-DBBD-4FE6-9AAF-0E7A6738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5F8ED-6B83-4DF2-9355-C1C7D642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05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MAPPER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0DA69-499B-4BC2-B3D7-08BBEB8C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670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scrive città →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42244-20A6-49AD-9860-57301CAD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33700"/>
            <a:ext cx="272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riceve 6 righe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FA4AA-FE31-4573-B8BB-AC87E463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144C9-0F54-45A0-85A6-8AE65A1E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2BC14-5F51-446E-BE6A-FA2D037E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05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SHUFFLER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68992-66DE-4F26-869D-21406E4C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670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8A4C"/>
                </a:solidFill>
              </a:defRPr>
            </a:pPr>
            <a:r>
              <a:rPr sz="1125" b="1">
                <a:solidFill>
                  <a:srgbClr val="FF8A4C"/>
                </a:solidFill>
              </a:rPr>
              <a:t>ordina per città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EFCB8-68D7-4D81-82CC-01E0BBAD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33700"/>
            <a:ext cx="272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raccoglie fogli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ED7F3-E9DB-4ED3-AE30-491AB965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637C1-C1F6-444A-9676-442A343F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E2408-6690-483D-A687-36D0A364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05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REDUCER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A08CD-99EC-49D8-81AC-176D5D71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670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E34B"/>
                </a:solidFill>
              </a:defRPr>
            </a:pPr>
            <a:r>
              <a:rPr sz="1125" b="1">
                <a:solidFill>
                  <a:srgbClr val="B7E34B"/>
                </a:solidFill>
              </a:rPr>
              <a:t>somma tutti gli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143DA5-CC68-444E-9F91-6B6F0244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933700"/>
            <a:ext cx="272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riceve un mazzo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EA46F-397E-4E6D-AD55-9DF6240F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953000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Regola: nessun Mapper deve conoscere il dataset completo.</a:t>
            </a:r>
          </a:p>
        </p:txBody>
      </p:sp>
    </p:spTree>
    <p:extLst>
      <p:ext uri="{BB962C8B-B14F-4D97-AF65-F5344CB8AC3E}">
        <p14:creationId xmlns:p14="http://schemas.microsoft.com/office/powerpoint/2010/main" val="507525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FC3BF-B2E4-4D32-A74F-71EAFF13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ESEMPIO CANONICO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55D71-2C39-4F3B-A375-9174DE20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WordCount rende visibile il flusso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9CFCE-3799-4D55-ACBD-75B9B73A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00F97-4052-46D6-8502-5917196A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Roma  Milano  Roma  Napoli  Roma  Milano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1EA59-27F7-4D26-8E85-4C7A8235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71825"/>
            <a:ext cx="542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64953-F25C-471D-9E8B-0D2151EC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00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48E5B-014B-4D23-9320-B4016DF7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28925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contare ogni città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30FE9-451B-4DBE-B8D8-96A66C12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7A36A"/>
                </a:solidFill>
              </a:defRPr>
            </a:pPr>
            <a:r>
              <a:rPr sz="2550" b="1">
                <a:solidFill>
                  <a:srgbClr val="27A36A"/>
                </a:solidFill>
              </a:rPr>
              <a:t>Roma 3   Milano 2   Napoli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2160C-5892-4AD2-B6D1-03C6EF76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911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Semplice da capire; abbastanza ricco da mostrare ogni fase.</a:t>
            </a:r>
          </a:p>
        </p:txBody>
      </p:sp>
    </p:spTree>
    <p:extLst>
      <p:ext uri="{BB962C8B-B14F-4D97-AF65-F5344CB8AC3E}">
        <p14:creationId xmlns:p14="http://schemas.microsoft.com/office/powerpoint/2010/main" val="16112767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1EDA67-F99D-4DF1-B721-4C80A7DF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B488B-1C80-439D-ADC9-CE18B175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Mapper emette coppie, non il risultato finale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719DB-792F-4A00-93C1-29DA2046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33B7D-B7B9-4DD8-B96D-AE7D4D3A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Roma  Milano  Roma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9423A-70EA-43E2-A604-03DB5529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71700"/>
            <a:ext cx="1190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EEE34-2B39-4C00-B711-BCEC448F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002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EFB8A-887B-4D54-9559-6AE4EDD4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2880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CDDD3-4CF2-4E77-9A81-4EEC651D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219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191E6-A2E4-4FD5-848B-F12D678C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81175"/>
            <a:ext cx="100774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Roma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21491-B3E8-4A5F-A53F-6B97B51E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45" y="1790700"/>
            <a:ext cx="26289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D7C93-F07A-42A2-9283-3E114425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135" y="1781175"/>
            <a:ext cx="83248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6670-126D-46A4-98E2-2F638B6E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219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ED072-3562-4749-AA15-AC1DACD8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86050"/>
            <a:ext cx="100774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Milano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C3D64-525A-4A00-9EDB-DD1F69DD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45" y="2695575"/>
            <a:ext cx="26289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749E4-9970-4506-B3F0-D41B62B6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135" y="2686050"/>
            <a:ext cx="83248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FDFE3-C883-491E-9AE2-5FA1ABB5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219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3D136-C1F9-4D8F-B57E-AD194F86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90925"/>
            <a:ext cx="100774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Roma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ED7991-212E-4137-AC45-1B69E0B5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45" y="3600450"/>
            <a:ext cx="26289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79008-91B0-4C85-B224-784D28A1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135" y="3590925"/>
            <a:ext cx="83248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A47BF-6A9D-4327-90AF-329E61F1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958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Una riga può generare più output intermedi.</a:t>
            </a:r>
          </a:p>
        </p:txBody>
      </p:sp>
    </p:spTree>
    <p:extLst>
      <p:ext uri="{BB962C8B-B14F-4D97-AF65-F5344CB8AC3E}">
        <p14:creationId xmlns:p14="http://schemas.microsoft.com/office/powerpoint/2010/main" val="9048943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3EE87E-BF2C-4C19-9EAD-B6BE59CD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MAP CARDINALITY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3D365-2448-428C-843C-B126332F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 record può produrre zero, una o molte coppie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8C896-BFA8-46E0-9F02-20C0CB9A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A1A9C-4CD9-4ADB-8A18-12B01A99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581E3-F24F-4B41-829D-75E87680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BA202-7340-4444-83D9-5F55B7B6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09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ZERO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6D252-A0AD-4F68-AFAC-73FD0917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717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5A5A"/>
                </a:solidFill>
              </a:defRPr>
            </a:pPr>
            <a:r>
              <a:rPr sz="1125" b="1">
                <a:solidFill>
                  <a:srgbClr val="EF5A5A"/>
                </a:solidFill>
              </a:rPr>
              <a:t>nessun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6C52C-F39F-4C12-8755-B6DEBC5F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838450"/>
            <a:ext cx="2724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filtra una riga valida ma irrilevante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DF943-BEC6-473E-9D76-BA982A2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654AC-C4F1-4B3C-A0FD-DA319056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A902E-AF1E-497A-8153-B56B7FC4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209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UNA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3E2F0-93F2-4409-A2E1-5B3EE5C4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5717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STATUS|404 →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E6E34-66A7-46D6-9FC6-8AA1CAD0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38450"/>
            <a:ext cx="2724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classifica uno status HTTP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41D0B-D2AF-4A53-B54D-588C1F07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4AA5B-90B4-4C82-9007-3966573C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AC004-5A55-40CF-90D8-63E1297C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09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MOLTE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63F21-E61B-4B83-88B0-36FDBE15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717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E34B"/>
                </a:solidFill>
              </a:defRPr>
            </a:pPr>
            <a:r>
              <a:rPr sz="1125" b="1">
                <a:solidFill>
                  <a:srgbClr val="B7E34B"/>
                </a:solidFill>
              </a:rPr>
              <a:t>IP • STATUS •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F94C9F-2AAE-44CA-BA48-3B61692F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38450"/>
            <a:ext cx="2724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estrae più metriche dallo stesso 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61C6E-B83B-4DE9-99A0-6697B695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95875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Map non significa obbligatoriamente “uno a uno”.</a:t>
            </a:r>
          </a:p>
        </p:txBody>
      </p:sp>
    </p:spTree>
    <p:extLst>
      <p:ext uri="{BB962C8B-B14F-4D97-AF65-F5344CB8AC3E}">
        <p14:creationId xmlns:p14="http://schemas.microsoft.com/office/powerpoint/2010/main" val="1422552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D63EEC-68EA-4F81-87E7-A166715F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INTERMEDIATE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72D1E-798D-4294-B23C-411C4B9A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coppia key-value è il contratto del job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C91A2-6828-465C-8F10-7043E6F6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F9D3F-F62D-4EBB-90D7-FB455DF3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2D7CE-C701-4775-8378-C0BBD380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Domanda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7AD95-0039-43A8-A3A2-8CACE4BB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457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D6D23-C66C-4C56-AD0E-91F26A1B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78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Key intermedia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17D15-E27F-40A3-9136-11A2DD48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F5A9A-F0CF-47A6-88AD-6898E387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478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67AFF-81D8-4F35-AA62-1F954237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90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71026-EFBF-4674-8049-596A579C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638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Richieste per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C4ACF-C6FD-408F-952D-75ED2B89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FF014-6505-4EAF-AAC3-DFBD7D3E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43150"/>
            <a:ext cx="430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STATUS|404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7DDAD-EA66-49C4-9C1B-51C1C47F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A99AB-BA24-4725-BCCE-F8ACA12B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431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4B068-0DC5-4A22-B636-54AED79F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390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1EB45E-6CD0-40D8-84CC-E76FF455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3638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Richieste per 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40324-07A1-4190-87DD-3593B5F0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EE641C-1583-40E8-A4C6-5ECF6C81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430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IP|203.0.113.7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7B7D5-DC41-4AFF-BC48-3ACB14C0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5C89D-272A-40AC-92E7-57FF9ACE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8610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C3D2C4-B549-4BB0-8789-A76AF38D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390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22013-34EE-4C92-804E-8F8A1143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3638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Byte per paese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86E4C9-CD66-4578-BD07-C3B94E42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9570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6C379B-CCEF-4312-98C2-14AF3FC6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29050"/>
            <a:ext cx="430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BYTES|IT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E9CA33-142A-4EFB-A338-0E3003C2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9570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3FA043-BADE-42FA-8FC9-7303A9E5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290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1460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CAF706-E06F-47D1-AAB6-080E9E08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390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5AA708-32E9-4149-9B56-47DD70C7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3638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Errori per endpoint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9DBFE0-B452-4EE2-A140-9FFE3DAC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3865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B60539-6F93-4B8E-A7C0-C86D9F51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72000"/>
            <a:ext cx="4305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ERROR|/login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A8694A-4429-46CA-9A67-9D5EA72D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F14E0F-2118-4301-91EF-CC5A2642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7200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5AF921-B5A1-47F0-B21C-D7D4C427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476875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Una buona chiave rende possibile il raggruppamento desiderato.</a:t>
            </a:r>
          </a:p>
        </p:txBody>
      </p:sp>
    </p:spTree>
    <p:extLst>
      <p:ext uri="{BB962C8B-B14F-4D97-AF65-F5344CB8AC3E}">
        <p14:creationId xmlns:p14="http://schemas.microsoft.com/office/powerpoint/2010/main" val="5825733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CB8F6D-F460-4700-BE5B-AA3AA507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PARALLEL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24CD1-2FDE-48A1-A898-1D2CCD68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 Mapper lavorano senza coordinarsi tra loro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57CAD-6B8B-43D1-96C8-EF495DB2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803D9-F8BF-4C88-8B1B-8F7446AC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190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B8466-B2AA-4196-BC2A-5751F19B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SPLIT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8A45B-2E24-4ED5-9DD8-D32CACBD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1885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righe 1–10.000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84B8E-58C6-462C-9A30-9C757EE3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190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B1ED6-1120-431C-8693-5D643FA9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SPLIT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D317B-5501-48DD-B6B3-B46C987A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1885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righe 10.001–20.000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E9A99-CA13-4254-ADC1-45CC9BB0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145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ABB82-7F48-44E1-A4CE-FEE39608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431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7F028-A22B-4B7A-B4EE-ABDDE199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716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parallel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41C30-EA28-4A09-AB4C-542ED07A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814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59F42-24AB-4C3F-A582-96B049D1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100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FC544-9387-42B9-A307-C4C78681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38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parallel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D6B8F6-5C6E-47C1-99CF-24A8763D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03AF2-987C-4E4B-A125-0B118462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MAPPER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8577C-7068-4C88-B225-26166902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2076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local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293AC-CE73-41E7-911B-9BD57680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9A110-1597-495E-8A5E-020E028D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576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MAPPER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85DF0D-EF00-455A-A370-D14ABA6A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19575"/>
            <a:ext cx="2076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local 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B6CAC6-F389-41F0-B1B7-5A3258B8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Nessuna memoria condivisa. Nessun ordine globale.</a:t>
            </a:r>
          </a:p>
        </p:txBody>
      </p:sp>
    </p:spTree>
    <p:extLst>
      <p:ext uri="{BB962C8B-B14F-4D97-AF65-F5344CB8AC3E}">
        <p14:creationId xmlns:p14="http://schemas.microsoft.com/office/powerpoint/2010/main" val="17909730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7999B-8665-4B15-95E3-039B7670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LOGICAL ≠ PHYSICAL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1FD50-E14B-4474-BB0F-42E07989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InputSplit e blocco HDFS non sono sinonimi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0A20E-8EF4-4FE4-A546-CEA119D3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A49DE-4F7C-49AC-A267-84D27426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A2A82-7FEF-41DF-9990-5DA72CBB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D8D60-958E-4C21-9B56-D2A0CE18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91D26-BE37-4B5F-AD4F-3D4C6C01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B0E9B-A3C5-4169-9662-F11673D5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BLOCCO HDFS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9CAD4-6869-4A2D-A02C-4A24D05C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Unità fisica di storage e replica. Indica dove vivono i byte e come vengono protetti.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E64C4-EEBD-45B2-8853-A22394F4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INPUTSPLIT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CE11C-266A-4EE2-88B6-DC3B8111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Unità logica di lavoro calcolata dall’InputFormat. Determina quanti mapper vengono creati.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2EC02-40F5-4163-ADF1-0DC59AB5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197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Spesso sono vicini per dimensione, ma hanno ruoli diversi.</a:t>
            </a:r>
          </a:p>
        </p:txBody>
      </p:sp>
    </p:spTree>
    <p:extLst>
      <p:ext uri="{BB962C8B-B14F-4D97-AF65-F5344CB8AC3E}">
        <p14:creationId xmlns:p14="http://schemas.microsoft.com/office/powerpoint/2010/main" val="235114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3AD60-7785-4CED-8BD6-0F56482F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INPUT FORMAT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98615-D9DB-4D87-9BF2-175184A3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RecordReader protegge i confini dei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EFDC9-347F-43C2-B108-4F3557FB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565FC-BFF5-445B-A8D9-34621C77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SPLIT BYTE RANGE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BC090-AD74-42CE-B688-EB519C33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622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C61EE-A20E-40BD-BF6D-7980E057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190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B7B37-E15D-4613-B1CD-3E1CA609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19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decode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5A20C-67E4-49C8-9C49-72879EB7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52625"/>
            <a:ext cx="2762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C6588-A875-439F-991E-8CDDC902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1431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RECORDREADER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AE4C7-C2A7-4C17-B769-4C0DE438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505075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offset + riga completa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CC85F-3B77-4DCA-B9F6-5E454A2E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622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6FD47-C450-427A-8E98-C73F8F3D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90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DD861-B9E1-439E-B2DA-3483624B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19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feed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6306F-458B-487B-8325-DC486FF8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52625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023B1-5168-4C56-AE6F-0D1E2D49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1431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MAPPER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6D4991-057A-4D7A-8C8D-A85C29B1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50507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un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ADB70-66FB-47BF-9AF5-D75570B9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333875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Una riga non viene spezzata a metà solo perché termina lo split.</a:t>
            </a:r>
          </a:p>
        </p:txBody>
      </p:sp>
    </p:spTree>
    <p:extLst>
      <p:ext uri="{BB962C8B-B14F-4D97-AF65-F5344CB8AC3E}">
        <p14:creationId xmlns:p14="http://schemas.microsoft.com/office/powerpoint/2010/main" val="512073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1723D8-8ACB-4F50-A3DF-9CCCD458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MAP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F9D2E-D52A-4900-ACD0-D09CD33E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L’output del Mapper viene ordinato localmente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DA59D-261A-4C73-A63F-772AB8B5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4F565-9903-45E0-87E2-DCD28D1D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A15DF-7D14-4981-8CBA-63356E86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BUFFER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BFB27-421F-43FF-913A-3BFE36E9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le coppie intermedie si accumulano in memoria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E5787-A708-45A8-9E03-CC804440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8F711-1131-4893-A9CB-5AC4794B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SPILL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29D13-3176-4297-A759-393F44B8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superata una soglia, vengono scritte su disco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1A3A1-9BAC-42C1-8796-FA953772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B3D3B-94A8-4B81-A138-68C1F62E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86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C2B59-83F3-4DC5-80B1-4EF1AE83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le coppie vengono ordinate per chiave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AD4AA-445C-4FDC-84AA-62A8724B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67C64-BE11-4C03-BCCF-DD7A6207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MERGE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32921-7A4D-4DF1-90EC-5C8063D5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gli spill sono uniti prima dello shuffle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B1424-BDD6-4689-B3AB-DBB25A8A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L’output intermedio non è ancora l’output del job.</a:t>
            </a:r>
          </a:p>
        </p:txBody>
      </p:sp>
    </p:spTree>
    <p:extLst>
      <p:ext uri="{BB962C8B-B14F-4D97-AF65-F5344CB8AC3E}">
        <p14:creationId xmlns:p14="http://schemas.microsoft.com/office/powerpoint/2010/main" val="9052883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23C87-E198-48D0-8ACE-45E37866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OPTIONAL LOCAL AGGREGATION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2972B-715B-49AE-B38E-5461CFE8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Combiner riduce traffico, ma non è garantito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8F335-2E60-4913-ACA9-D24A35E7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D1F77-F26F-4024-92E7-90BD00DB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E9609-8B36-4DEA-B0B3-385D08CD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A13DF-31F8-4184-A233-8ECBCE2B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3C0F6-88D7-4E3A-B81D-FDD99188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F8A92-DCA7-44E4-A8F7-74950EFD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SENZA COMBINER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7170C-1907-480E-B751-DA256134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Roma → 1, 1, 1, 1, 1 attraversa la rete verso il reducer.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AE382-550F-43BB-BAB3-EFAD2626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CON COMBINER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7A60C-B87B-4F5E-A62E-476CE9AF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Roma → 5 viene aggregato localmente prima dello shuffle.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043E7-5BDB-44C0-998E-5C55B546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197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Deve essere corretto anche se eseguito zero, una o più volte.</a:t>
            </a:r>
          </a:p>
        </p:txBody>
      </p:sp>
    </p:spTree>
    <p:extLst>
      <p:ext uri="{BB962C8B-B14F-4D97-AF65-F5344CB8AC3E}">
        <p14:creationId xmlns:p14="http://schemas.microsoft.com/office/powerpoint/2010/main" val="4722788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8B4FAF-C0FF-4A4E-88C3-52C0B4F1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PARTITION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FDEDB-ED19-46CC-B3D0-2EF2F44C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Partitioner decide quale Reducer riceve la key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E4E60-0E83-4877-A907-22A0AFB0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4676E-A074-4544-8F59-BAE0F66B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FEBFA-0E9C-4A0B-A147-CD6F9911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57734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STATUS|404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B64DF-EF15-4B7F-87E2-80013C79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090" y="2124075"/>
            <a:ext cx="4114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8EAEF-A64B-4DB4-BACC-91AE15BB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570" y="2114550"/>
            <a:ext cx="13030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7C935-43AB-42EE-8419-843F0AE7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342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CDFF8-A285-4F51-8C44-4502936C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57734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IP|203.0.113.7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EF78B-4D2B-42A1-826B-493B2D91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090" y="3124200"/>
            <a:ext cx="4114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281E3-9211-42F2-A48D-F2B94648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570" y="3114675"/>
            <a:ext cx="13030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974B4-4D66-4692-BB3F-895F3E5F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955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D3EB6-65D6-4FBF-B848-6772960E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241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7C6EE6"/>
                </a:solidFill>
              </a:defRPr>
            </a:pPr>
            <a:r>
              <a:rPr sz="2625" b="1">
                <a:solidFill>
                  <a:srgbClr val="7C6EE6"/>
                </a:solidFill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42267-7F46-4E7C-AAF9-84810CEE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52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EE6"/>
                </a:solidFill>
              </a:defRPr>
            </a:pPr>
            <a:r>
              <a:rPr sz="1050" b="1">
                <a:solidFill>
                  <a:srgbClr val="7C6EE6"/>
                </a:solidFill>
              </a:rPr>
              <a:t>hash(key)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0C816-4997-459F-B942-A7A1A27B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14500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C8539-65DA-4FD6-AA53-DEE36E75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9050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REDUCER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C17A2-ACE8-4610-BBE5-295457FF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266950"/>
            <a:ext cx="1885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partition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9A381-E5E7-4ECD-96B1-B1D61B98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95625"/>
            <a:ext cx="2190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064BD7-5B46-40AD-95E8-485A4B09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2861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REDUCER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4E195-2FD7-4D6F-B3C8-7CAFD1A0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648075"/>
            <a:ext cx="1885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partition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CB805A-8374-4585-BF6B-D9F2A6CB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571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7CCE3-250B-4388-AE5F-C8F76210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71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GARANZIA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2BE95-C02C-40CC-AE99-F7441339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33700"/>
            <a:ext cx="2266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stessa key → stesso reducer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98B951-4236-42F6-B9E8-F165C117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4350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Il numero di partizioni coincide con il numero di reducer.</a:t>
            </a:r>
          </a:p>
        </p:txBody>
      </p:sp>
    </p:spTree>
    <p:extLst>
      <p:ext uri="{BB962C8B-B14F-4D97-AF65-F5344CB8AC3E}">
        <p14:creationId xmlns:p14="http://schemas.microsoft.com/office/powerpoint/2010/main" val="9821913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604C1F-10C4-4F5F-A694-80AA88A1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SHUFFLE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FA12E-F9E7-4D6D-A23C-1AD18AC5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Lo Shuffle è il costo di rete del modello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C4942-A407-48A8-AE26-DECF6332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AC083-4BB1-4827-8F3D-B356FCA0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C358E-196E-4DE6-84F5-4D6DDC39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MAP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7E6CA-21DF-427D-9B74-44E18EC8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part 0 • part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C8ED0-6EA6-4E47-AF0B-C44C4C83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989E9-D292-4740-A849-0BF6D093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MAP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A6D6B-DD11-4B87-B79D-8F671112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part 0 • part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74484-E663-4606-A9B2-A0D7CBD2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14575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14187-38E6-430A-A781-1CCADB53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431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EF5A5A"/>
                </a:solidFill>
              </a:defRPr>
            </a:pPr>
            <a:r>
              <a:rPr sz="2625" b="1">
                <a:solidFill>
                  <a:srgbClr val="EF5A5A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9DD9F-B610-433B-9D19-639AD96B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716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5A5A"/>
                </a:solidFill>
              </a:defRPr>
            </a:pPr>
            <a:r>
              <a:rPr sz="1050" b="1">
                <a:solidFill>
                  <a:srgbClr val="EF5A5A"/>
                </a:solidFill>
              </a:rPr>
              <a:t>HTTP fetch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5DB6C-C65A-4498-BD43-E86498E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29075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B6ECC-C8DB-4733-A034-5BC943BC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57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EF5A5A"/>
                </a:solidFill>
              </a:defRPr>
            </a:pPr>
            <a:r>
              <a:rPr sz="2625" b="1">
                <a:solidFill>
                  <a:srgbClr val="EF5A5A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E4339-049D-446D-9995-89723E94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861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5A5A"/>
                </a:solidFill>
              </a:defRPr>
            </a:pPr>
            <a:r>
              <a:rPr sz="1050" b="1">
                <a:solidFill>
                  <a:srgbClr val="EF5A5A"/>
                </a:solidFill>
              </a:rPr>
              <a:t>HTTP fetch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C81DA-91EA-4E18-AAFB-DD11DD5B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647B6-A797-4322-80B6-494AACA0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REDUCE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57870-F16D-4DAF-BBC5-907644FE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fetch part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097775-5BC9-469B-A079-7DDB27F7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24250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52512-694C-48E9-BC94-45AFDA0D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147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REDUCE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FF07A6-75BD-4EEA-AD51-65337C58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767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fetch part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9552C-BFE4-476F-9EF9-C9361FF1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336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Ogni reducer recupera la propria partizione da tutti i mapper.</a:t>
            </a:r>
          </a:p>
        </p:txBody>
      </p:sp>
    </p:spTree>
    <p:extLst>
      <p:ext uri="{BB962C8B-B14F-4D97-AF65-F5344CB8AC3E}">
        <p14:creationId xmlns:p14="http://schemas.microsoft.com/office/powerpoint/2010/main" val="4094599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BC4D2B-29D5-47B2-B5A0-461AB5B4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SHUFFLE +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7F232-39EF-4EB7-81C5-B17DC61B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Sort e Group preparano una lista per ogni key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9192E-BEF2-4802-B06B-D8FBE918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60C82-CE2C-47B9-B7D5-288927CE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PRIMA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4AEC2-9041-48C3-8264-1BB611BA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91DF4-D2DA-4A9D-A4DC-90F5A940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00300"/>
            <a:ext cx="109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Roma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343B8-92C0-4FD0-BF99-6722391E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09825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A8878-9311-4B54-88BE-E31A8B43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00300"/>
            <a:ext cx="90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5FFFF-39FD-4D3C-BAF0-F6FF100D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90875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6AA7D-145B-4C7F-9C95-AC6B0968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05175"/>
            <a:ext cx="109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Milano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4D60A-0609-40C6-BD9E-ED656640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1470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4AE9F-3C97-42EF-A4DE-4075D7B6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05175"/>
            <a:ext cx="90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99D26-BEFD-4A78-BFCD-F09AB0C7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25CFF-6FAD-473E-92BF-D9A29466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10050"/>
            <a:ext cx="109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Roma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47576-B1E9-4F96-B720-876B01F9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19575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88243-C46C-46ED-8884-0B58BCC3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10050"/>
            <a:ext cx="90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84B97-925F-4045-B900-8BA6A88A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194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1C727-4BF7-4581-A21F-E0D9F3E4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0480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7C6EE6"/>
                </a:solidFill>
              </a:defRPr>
            </a:pPr>
            <a:r>
              <a:rPr sz="2625" b="1">
                <a:solidFill>
                  <a:srgbClr val="7C6EE6"/>
                </a:solidFill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01CC29-0264-40DF-BA9E-54294017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76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EE6"/>
                </a:solidFill>
              </a:defRPr>
            </a:pPr>
            <a:r>
              <a:rPr sz="1050" b="1">
                <a:solidFill>
                  <a:srgbClr val="7C6EE6"/>
                </a:solidFill>
              </a:rPr>
              <a:t>sort + group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E22519-52FA-45BE-B24D-96ACA75D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621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DOPO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62D98A-6398-437D-82C3-C272E4C5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86000"/>
            <a:ext cx="2952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FD1DD1-38D6-4702-B9E9-884A287D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400300"/>
            <a:ext cx="135826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Milano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12E77-9114-454A-8CEC-0197F5BB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09825"/>
            <a:ext cx="35433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700C1E-E1FC-41CF-8ED8-8DDA0B86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970" y="2400300"/>
            <a:ext cx="112204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[1]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465AA1-1C08-4E7E-B76D-F1C48F13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2952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9D6DFF-2F9A-4116-9AAA-76660008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448050"/>
            <a:ext cx="135826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Roma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8A00EC-ABF5-4A72-84E8-1BA50267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457575"/>
            <a:ext cx="35433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EA3EEA-E267-4ABC-B9D0-951AA061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970" y="3448050"/>
            <a:ext cx="112204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[1,1]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AAF4BB-C058-4492-BF15-898B55A2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Il reducer vede una key e un iterable di valori.</a:t>
            </a:r>
          </a:p>
        </p:txBody>
      </p:sp>
    </p:spTree>
    <p:extLst>
      <p:ext uri="{BB962C8B-B14F-4D97-AF65-F5344CB8AC3E}">
        <p14:creationId xmlns:p14="http://schemas.microsoft.com/office/powerpoint/2010/main" val="14970938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7304F-7F93-4924-B84D-5A5EFEF4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REDUCE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CA7BE-F00F-48B6-9CAE-2E9784C2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Reducer aggrega una key alla volta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8D244-3EC3-4703-8CF2-F7D26C82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3E8E1-5822-4657-9F6D-661CF20E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Roma → [1, 1, 1]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75A65-25FC-4B6B-9E1B-B06EE8C6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128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F8961-3D3B-4EA6-861B-217EF882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90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73CBB-E438-49AC-B3A3-299CB998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193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sum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ADC9E-84D5-4CF8-8E3B-18F30A1E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7875"/>
            <a:ext cx="285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3322A-08E5-4872-821E-D79FAC97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62175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Roma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E251D-5D7B-4D0B-8FDF-6C5F256C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BBE23-C7FC-4B29-BC15-58A35D65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62175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31487-4E5B-4DEB-B3B1-F9208F8B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9052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reduce(key, values) può emettere zero, una o più coppie finali.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7447C-5E66-4E24-B978-758F111D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6250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F5A5A"/>
                </a:solidFill>
              </a:defRPr>
            </a:pPr>
            <a:r>
              <a:rPr sz="1650" b="1">
                <a:solidFill>
                  <a:srgbClr val="EF5A5A"/>
                </a:solidFill>
              </a:rPr>
              <a:t>L’output di reducer diversi non è globalmente ordinato.</a:t>
            </a:r>
          </a:p>
        </p:txBody>
      </p:sp>
    </p:spTree>
    <p:extLst>
      <p:ext uri="{BB962C8B-B14F-4D97-AF65-F5344CB8AC3E}">
        <p14:creationId xmlns:p14="http://schemas.microsoft.com/office/powerpoint/2010/main" val="13349125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DAE02-BB91-4E12-BA16-09381BA2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OUTPUT COMMIT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206FF-0BC9-43D9-97EC-16955A93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L’output finale viene pubblicato nel filesystem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DED66-FC56-470A-81D0-4B139BB5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343BC-49F2-4747-8231-7DD4C31E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A20BC-915D-463D-BABA-5784DC0F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WRITE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F29AB-A1D3-4FD7-B950-FE334947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ogni task scrive in una directory temporanea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C1760-925D-42F9-91C2-182BE0C4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403F4-8F21-4A0B-BFD2-9D8CEE0A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COMMIT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B2ECA-5F7E-4FDB-A371-D83631B4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solo un tentativo riuscito diventa definitivo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37183-75D5-4F79-98C9-C3371FB2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C4943-64C9-4A03-8020-78BD9E00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86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PART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96F60-469B-42AC-B66C-1EF8FE76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part-r-00000, part-r-00001…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A5D87-F75A-48F8-A1B1-26D0CD42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C87C5-E933-49BB-AA15-8AF486A1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_SUCCESS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2582E-3336-438F-8426-14000BDF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marcatore di job completato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BEB00B-5B54-4394-A893-911B4FA8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3816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Il risultato è una directory, non un singolo file.</a:t>
            </a:r>
          </a:p>
        </p:txBody>
      </p:sp>
    </p:spTree>
    <p:extLst>
      <p:ext uri="{BB962C8B-B14F-4D97-AF65-F5344CB8AC3E}">
        <p14:creationId xmlns:p14="http://schemas.microsoft.com/office/powerpoint/2010/main" val="8773753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9A06F3-AADA-4D47-928A-9EFFC8F1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END-TO-END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20978-B2BD-459E-B60C-44915051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Il viaggio completo di una coppia key-value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DA6B1-9459-4368-874D-C4867493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CB506-C605-4960-88A4-1311C17E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33625"/>
            <a:ext cx="1666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89D0F-4548-4901-A9CB-775911B8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1362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A5BA7-FA46-4484-A95D-9C013246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86075"/>
            <a:ext cx="136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log HDFS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3828C-89BF-4C23-8EF3-865AFEAD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9082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ABEF4-886C-4462-9C77-753B7C4F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619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6ED05-1594-4F48-B441-0851B75C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33625"/>
            <a:ext cx="1666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25F48-8660-4848-8F7C-4532A6EB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524125"/>
            <a:ext cx="1362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03C6A-85F2-4508-9D6D-1118A651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886075"/>
            <a:ext cx="136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STATUS|404 →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C475C-6C8C-4686-8392-625D7CD5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9082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FE4B4-9563-4715-A4F3-8D0E0310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19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70C57-ADA1-41F5-8854-FAE10942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1666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4C8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322D2-2110-4BEC-BC7C-3939A40E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24125"/>
            <a:ext cx="1362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COMBINE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FF285-457A-4A32-9EB8-FF33D6A1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86075"/>
            <a:ext cx="136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STATUS|404 → 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A7830-938A-4ABB-B7B9-BF34EDA4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9082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9525">
            <a:solidFill>
              <a:srgbClr val="F4C8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FB0624-B3ED-4829-B353-B693A781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19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4C84A"/>
                </a:solidFill>
              </a:defRPr>
            </a:pPr>
            <a:r>
              <a:rPr sz="2625" b="1">
                <a:solidFill>
                  <a:srgbClr val="F4C84A"/>
                </a:solidFill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132C8-2852-41E3-A5D3-ACC49652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1666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22584-D62B-4146-A45F-A3BDFF4A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24125"/>
            <a:ext cx="1362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SHUFFLE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98A8B-3353-4EDA-8627-0A6E252D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86075"/>
            <a:ext cx="136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partition + network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F5CB2C-D0A9-45D5-9863-919A2B83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9082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D11353-A621-4648-BD75-0C87B1AA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19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EF5A5A"/>
                </a:solidFill>
              </a:defRPr>
            </a:pPr>
            <a:r>
              <a:rPr sz="2625" b="1">
                <a:solidFill>
                  <a:srgbClr val="EF5A5A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160165-9F6B-4BA7-99EC-ABAF0066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1666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5D29F0-FC7B-4266-A6A1-E69FDB7B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24125"/>
            <a:ext cx="1362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REDUCE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6C3688-0DFB-45E7-8F29-C85BE491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86075"/>
            <a:ext cx="136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STATUS|404 → 4132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DF1B20-F022-4B7E-AC92-0A5C5611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9082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5AD58C-FC60-42A0-BBCC-8C7F27ED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619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6A1A25-F5CB-40EE-ABF6-04D107DD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33625"/>
            <a:ext cx="1666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C7D73E-5F27-4552-BDF7-29C0EAAD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524125"/>
            <a:ext cx="1362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7FFFE3-F292-4831-B64A-D8DB68C6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886075"/>
            <a:ext cx="136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part-r-*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FF7CC-2921-4C13-8DB1-9E1D69F1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767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Definiamo Map e Reduce; Hadoop orchestra tutto ciò che sta in mezzo.</a:t>
            </a:r>
          </a:p>
        </p:txBody>
      </p:sp>
    </p:spTree>
    <p:extLst>
      <p:ext uri="{BB962C8B-B14F-4D97-AF65-F5344CB8AC3E}">
        <p14:creationId xmlns:p14="http://schemas.microsoft.com/office/powerpoint/2010/main" val="19046868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72E6D-A713-4541-9139-5FB40B0C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MAP-ONLY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A226E-A8AB-43E7-AE0A-090D820B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Non tutti i job hanno bisogno del Reducer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80D11-85A1-4C0B-8ED8-EC410866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A95EF-21C3-4A0D-AD96-BA819AE4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A2704-980F-416E-AB2A-DA0ECCA7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92D65-D08D-487A-8AFE-F7519AA1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B94A7-0EFB-4869-A438-D39AA42E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4D757-AC55-4210-942F-205A5DB6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MAP + REDUCE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2DBE6-79C2-40C0-A2F5-A6384670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Aggregazione, join, raggruppamento e calcoli che richiedono valori con la stessa key.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D49B5-D888-4128-9791-D6E254C1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MAP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14818-1D39-4DC6-96D2-65EE8D5D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Filtro, parsing, pulizia o conversione indipendente record per record; reducers = 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82A89-B231-4500-AC60-92DFE209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61975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Map-only evita shuffle, sort e reduce.</a:t>
            </a:r>
          </a:p>
        </p:txBody>
      </p:sp>
    </p:spTree>
    <p:extLst>
      <p:ext uri="{BB962C8B-B14F-4D97-AF65-F5344CB8AC3E}">
        <p14:creationId xmlns:p14="http://schemas.microsoft.com/office/powerpoint/2010/main" val="7277941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B58ACD-5DB6-41C7-85CA-F53308FB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PARALLELISM •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36561-503C-41E7-B23A-F82E5E92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numero di Mapper nasce dagli InputSplit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8A099-47C2-494B-B949-45D21BEF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7C146-9375-43F7-9094-D8B6AD48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573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INPUT 512 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3DBBB-2A28-43EE-978C-79EB75AC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7645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B5A60-AD4B-48FA-8A76-D688ED5A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050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26BB5-A00D-4DAE-A228-63BDC665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33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split ~128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C05AF-7BB0-48D8-8A55-EC8A29E6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14500"/>
            <a:ext cx="1285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2A58C-AFF4-44BA-B844-A50B3ABC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05000"/>
            <a:ext cx="98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MAP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B6E05-D012-4B48-8719-0118400A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669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split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2F686-AD0B-4EE6-BBFB-5012E87C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14500"/>
            <a:ext cx="1285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6DF88-51CA-4375-8BCA-269D94CC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05000"/>
            <a:ext cx="98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MAP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AC6F8-9D2A-4757-A6D8-0CB0C626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2669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split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A647D2-C741-4F80-AF19-480A00CE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1285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9BA84-8AB4-4FEC-B5C6-47ED17A7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05000"/>
            <a:ext cx="98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MAP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2DED7-1863-45D7-AECF-A4661F93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669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split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77199-CCA0-42A7-A8DA-48F177B2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714500"/>
            <a:ext cx="1285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85A9EC-3BAF-4258-9446-BECDE5A4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905000"/>
            <a:ext cx="981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MAP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D729B-7647-456F-84F9-43D86C5A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266950"/>
            <a:ext cx="98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split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F2BE17-BA90-41C8-9F50-DCDF0387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00500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F5A5A"/>
                </a:solidFill>
              </a:defRPr>
            </a:pPr>
            <a:r>
              <a:rPr sz="1875" b="1">
                <a:solidFill>
                  <a:srgbClr val="EF5A5A"/>
                </a:solidFill>
              </a:rPr>
              <a:t>Più mapper non significa sempre più velocità: ogni task ha overhead.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4A1E22-23A0-40DE-B755-8DFBB659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101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File piccoli possono generare troppi task minuscoli.</a:t>
            </a:r>
          </a:p>
        </p:txBody>
      </p:sp>
    </p:spTree>
    <p:extLst>
      <p:ext uri="{BB962C8B-B14F-4D97-AF65-F5344CB8AC3E}">
        <p14:creationId xmlns:p14="http://schemas.microsoft.com/office/powerpoint/2010/main" val="18924521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69AEC8-97B1-4EE1-ACB6-487136F1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PARALLELISM • REDUCE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929AA-2BAD-4527-AA67-E75A9D47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numero di Reducer è una scelta del job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5550E-7CC4-4DE1-BA47-5020C398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3B2DB-13AB-4E5A-9AEA-AA03A8C5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86AD9-467B-47F8-A364-0BD012FF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859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Reducer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5787B-0DE9-485B-9BC6-96468225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27C08-15A9-4D7C-9090-B49685BD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Vantaggio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83F07-4FA3-404A-8199-65C7E3E2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381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71F79-EDD2-42EF-B243-21E4DDF0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859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Costo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F7E9B-9530-48E5-9CA8-D6465392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3F0C0-072A-437C-B449-25506140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30796-4286-489A-B15A-F1DA2090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47925"/>
            <a:ext cx="4476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33E74-B103-4586-8542-E18320DC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81275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nessuno shuffle/reduce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25742-4DEB-4698-9A14-38236DC9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47925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19C88-BBA9-4A5C-AEFF-5DEAC78D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81275"/>
            <a:ext cx="354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nessuna aggregazione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3471F-BB90-4A8D-A872-585FCC59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530F4-88CA-4FEF-8B4E-D6CCE38E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8525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9F2E8-BDB8-48C9-9769-F08650D7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05175"/>
            <a:ext cx="4476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B65B8-4DF0-4D54-B1B8-EF2B3315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38525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un solo output ordinato per key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B96D3-C190-4B5C-8D7F-D97B6B6A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05175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37D4B-6AF6-4EB3-8C67-4E75557D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38525"/>
            <a:ext cx="354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collo di bottiglia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BE1739-F039-46CF-A55F-19E188E2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6AFD45-0ECD-41A2-955A-4BB4A8A2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95775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2–N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3D66D-4BE9-4B6F-9B44-89D862E0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62425"/>
            <a:ext cx="4476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EFD69E-A462-4AE6-A3BD-BEA704DE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95775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parallelismo e bilanciamento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E85F5A-E017-4253-8DE2-BA566132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62425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59DB2B-A7C7-45CC-BD21-6375C4B4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95775"/>
            <a:ext cx="354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più overhead e part files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D1F5CF-2334-4B5C-8E29-6EC87669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863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La scelta dipende da volume intermedio, cluster e distribuzione delle key.</a:t>
            </a:r>
          </a:p>
        </p:txBody>
      </p:sp>
    </p:spTree>
    <p:extLst>
      <p:ext uri="{BB962C8B-B14F-4D97-AF65-F5344CB8AC3E}">
        <p14:creationId xmlns:p14="http://schemas.microsoft.com/office/powerpoint/2010/main" val="10607771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7F06D1-FF0A-45EB-943A-1FE7CCEC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DATA SKEW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C0A06-ECA0-41CC-AE6A-49FD9577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Una hot key può bloccare un intero job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E20CD-E9B1-42B6-A17E-1D991ECA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64872-D7B8-4B3C-BD10-C2F4366B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KEY DISTRIBUTION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7983B-84D4-4A68-A5AA-9F689A3F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4286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70F33-44D1-4623-89BA-F3B9BEB6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F5A5A"/>
                </a:solidFill>
              </a:defRPr>
            </a:pPr>
            <a:r>
              <a:rPr sz="1050" b="1">
                <a:solidFill>
                  <a:srgbClr val="EF5A5A"/>
                </a:solidFill>
              </a:rPr>
              <a:t>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0A88E-C04C-4DD3-897C-C67CA416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43313"/>
            <a:ext cx="428625" cy="833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06720-8D2D-48E6-B976-E42AB3A3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277E3-A541-43CC-8D09-344B85FB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81438"/>
            <a:ext cx="428625" cy="595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13E0D-E15D-4C83-8A80-84EDB887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672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91073-8D51-47D9-B1A7-37BE5C48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428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292E8-4C41-490C-9EC1-22BA4EE1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672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4FA5B-1FD7-44C5-81C5-0A3A6E7A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48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B4AE2-989C-4FCE-B4CA-F0D18ABC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672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4F8A8-211B-4090-B1A7-35F0C743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C465B-3035-4D62-A8D3-2C665D65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575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9B4CE-4D99-400F-B4F4-E80AFAF8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partition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30635-8BDE-4DF5-8BC3-CB8296D6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32D6E-7767-44CB-A56A-DB809F3E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REDUCER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A81247-15BF-4EE6-BE2E-63A8E28B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90% dei valori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A2DCD-EB5B-45E9-BB5E-94A8A8E0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D8CEB-5A56-4E7B-872C-6F31A7B3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REDUCER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53394F-A326-4AD0-95D4-FE29F837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957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2173D4-131D-49D5-B4B1-B0F004AC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EC566E-1A4A-4146-AEE5-11AC22AE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670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REDUCER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E151B9-BB0C-4713-A25C-9BD7F109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289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0B6A1E-7CFF-41AC-819E-5BDD9634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340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Il job termina quando finisce il reducer più lento.</a:t>
            </a:r>
          </a:p>
        </p:txBody>
      </p:sp>
    </p:spTree>
    <p:extLst>
      <p:ext uri="{BB962C8B-B14F-4D97-AF65-F5344CB8AC3E}">
        <p14:creationId xmlns:p14="http://schemas.microsoft.com/office/powerpoint/2010/main" val="105065904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4FE5C-4AC6-4F20-AFF4-D2A04374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MOVE COMPUTE, NOT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334F9-5622-44FA-88EE-BCC3F577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data locality porta il calcolo vicino ai blocchi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BCCA6-3F61-4DCF-A583-B50C1646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799F3-7C9E-4C58-9F11-AA36864E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91A9F-CEDB-4B5B-B80F-5F08EEC2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DATANODE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480A1-079D-4FA8-91BA-EB0253ED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Block A + NodeManager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443E4-8025-481F-B272-8029B55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9825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B7614-0645-481F-8B11-35BE1F46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A3262-C8D2-412C-A09E-B9D43425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66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schedule local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9D6E1-F479-4C0F-AF18-0C98B99B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9550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FE901-25A4-4E2F-825E-3D6BD634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860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MAP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89D85-0903-40E0-8966-6E92409B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4795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legge Block A localmente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0F9EC-29A7-4B78-A8AD-F41E782E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32371-A249-474F-A8C8-C5190C7F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860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RETE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ECC5F-8F6D-4B0C-9EF1-947D0EFC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usata se necessario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BA024-55E3-4CC9-A565-3D68D08A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33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Meno trasferimenti dell’input; lo shuffle resta un costo di rete.</a:t>
            </a:r>
          </a:p>
        </p:txBody>
      </p:sp>
    </p:spTree>
    <p:extLst>
      <p:ext uri="{BB962C8B-B14F-4D97-AF65-F5344CB8AC3E}">
        <p14:creationId xmlns:p14="http://schemas.microsoft.com/office/powerpoint/2010/main" val="5567127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D273A-6973-4AA3-9DA8-CCCF79A2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RESOURCE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39824-EB5D-4F4C-AC57-9A7F6FCA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YARN separa risorse e logica del job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64876-4A14-44F2-8755-B943225A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668AD-F89D-4203-A97F-3EE11511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B507E-0AF9-4C32-B604-42170B04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81EA7-B1AC-48A4-9F28-F7FBAB00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2EABA-1987-4DEE-9E54-95137848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8E986-2B49-49EB-A726-7163911A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MAPREDUCE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9EBDA-98CB-4186-9A0A-40FBBA1B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Definisce il modello di elaborazione: mapper, reducer, shuffle, sort e output.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8E256-37BD-44F3-BE31-AFD3BF6E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YARN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FC405-62E1-4ABA-AD0B-3D372560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Alloca container, monitora risorse e coordina l’esecuzione delle applicazioni sul cluster.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12422-1DAC-4300-A863-61B1CA59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197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MapReduce gira sopra YARN; non sono la stessa cosa.</a:t>
            </a:r>
          </a:p>
        </p:txBody>
      </p:sp>
    </p:spTree>
    <p:extLst>
      <p:ext uri="{BB962C8B-B14F-4D97-AF65-F5344CB8AC3E}">
        <p14:creationId xmlns:p14="http://schemas.microsoft.com/office/powerpoint/2010/main" val="184131683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C97AE-1A98-47BA-9194-A3D4D4DB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YARN •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5D81A-0674-49EA-8A28-87140F23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Tre ruoli coordinano ogni job MapReduce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08D9C-A7E4-4CEF-9FD0-ECD0D756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12115-8FC0-4EDF-9FE5-6018268F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66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71D3F-389C-4FD0-9CD2-578886AD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RESOURCEMANAGER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E9605-83DB-47D6-B304-FB38B8F5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risorse globali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37701-8923-46AF-A6B9-6E8826E2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266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19A4B-BED8-435C-87F6-210F780B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907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MRAPPMASTER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3BE18-FAC7-4C53-A000-EBA06BC3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5270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coordina un job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B2BDB-3231-4051-A51D-7EE9E86B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66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E5DBA-F862-4A96-B081-875417E2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907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NODEMANAGER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4F5AA-6BDF-494A-BEB2-94E0E22B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5270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container sul nodo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67DE0-F646-4358-AFDF-A4B805DF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05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0FAD4-B892-4471-B5E6-8429BA11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B8D9"/>
                </a:solidFill>
              </a:defRPr>
            </a:pPr>
            <a:r>
              <a:rPr sz="2625" b="1">
                <a:solidFill>
                  <a:srgbClr val="00B8D9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3A12E-22C6-4976-9EAA-08FDA252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621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B8D9"/>
                </a:solidFill>
              </a:defRPr>
            </a:pPr>
            <a:r>
              <a:rPr sz="1050" b="1">
                <a:solidFill>
                  <a:srgbClr val="00B8D9"/>
                </a:solidFill>
              </a:rPr>
              <a:t>allocate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90A59-99F8-4669-BED3-A0433CA4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050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1A273-9FC6-431A-A10E-CC4B582F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336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928FE-BB80-48FA-98D6-2ADFCC47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621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launch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25C0E-24E1-42B0-806A-9B5B29DB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291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Un ApplicationMaster per applicazione; un NodeManager per macchina.</a:t>
            </a:r>
          </a:p>
        </p:txBody>
      </p:sp>
    </p:spTree>
    <p:extLst>
      <p:ext uri="{BB962C8B-B14F-4D97-AF65-F5344CB8AC3E}">
        <p14:creationId xmlns:p14="http://schemas.microsoft.com/office/powerpoint/2010/main" val="101642160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1CBE5-6862-4706-A253-46D4EC1E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JOB SUBMISSION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62726-F8FF-40CA-8954-5EC9C614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submission prepara tutto prima dell’esecuzione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44442-11AA-4BC2-BB09-277E31E5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01255-0E53-4EC7-9425-43C0E600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67A47-22F0-4F1F-8EAB-63D77D25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524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VALIDATE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47D68-9BF5-4FC7-A039-6E0238D2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controlla input e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5A4B6-5FDB-4C32-99A9-CB3677E9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E8A5A-BF3E-44C5-B7A8-B562B84E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00E9F-D76E-47B4-B02B-AE49B954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calcola gli InputSplit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A610E-654B-43E2-A8EC-FFC492A0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7EC69-72BE-472D-AC93-6BCD4BC5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57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STAGE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E3882-DB76-4157-8BF9-D767DB9F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copia codice e configurazione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C38C0-1365-4835-A949-6A5BE7D1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F42D4-5196-4B7F-8218-AC339C02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24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SUBMIT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CA235-73ED-4E0A-8C5C-2E467F40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invia al ResourceManager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48447-3CE1-484E-8D33-BF8EAB64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7A36A"/>
                </a:solidFill>
              </a:defRPr>
            </a:pPr>
            <a:r>
              <a:rPr sz="1800" b="1">
                <a:solidFill>
                  <a:srgbClr val="27A36A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E02F3-C048-4210-9F98-CC9787DA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91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MONITOR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BACA9-AB56-4736-B7C5-CEA901B4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segue progress, task e 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B206C5-AAC9-44B4-83BA-4DEE6F4C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381625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F5A5A"/>
                </a:solidFill>
              </a:defRPr>
            </a:pPr>
            <a:r>
              <a:rPr sz="1725" b="1">
                <a:solidFill>
                  <a:srgbClr val="EF5A5A"/>
                </a:solidFill>
              </a:rPr>
              <a:t>Un errore sul path può fermare il job prima del primo Mapper.</a:t>
            </a:r>
          </a:p>
        </p:txBody>
      </p:sp>
    </p:spTree>
    <p:extLst>
      <p:ext uri="{BB962C8B-B14F-4D97-AF65-F5344CB8AC3E}">
        <p14:creationId xmlns:p14="http://schemas.microsoft.com/office/powerpoint/2010/main" val="6307128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BE0EF-D996-441F-8DDE-13B8EEFF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FAULT TOLERANCE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E52E8-C5BC-4992-A20A-E896F4F8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 task fallito può essere rieseguito altrove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37951-C83C-4E27-8820-AD64E4F3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08D12-DDEF-4997-824C-7A4B472F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9DC5E-7079-4306-A77F-13972339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5A441-0F30-48A1-90D7-EF58427B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668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container o nodo interrompe il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DF581-03FA-4BE8-B25A-A5E3658A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8D870-68D4-48B5-976B-AD981C24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DETECT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E9A2C-0C0C-4977-800B-78ED84CC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ApplicationMaster registra il tentativo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72211-36E4-4402-ACB3-AED47534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2DB27-0D36-4A03-9F4A-C23CF748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286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EB41F-BEB3-41DB-AE22-22493457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nuovo attempt su un container disponibile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31847-82E8-4E3E-A02D-CBFC62FA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7BC61-7929-441C-8A7F-EEAFFCB9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COMMIT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70EB3-3BA4-4E74-A586-D0D3F347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solo il tentativo valido pubblica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7C69D-5298-4E1A-8E2A-5D29A8E2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8162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L’indipendenza dei task rende possibile il recupero.</a:t>
            </a:r>
          </a:p>
        </p:txBody>
      </p:sp>
    </p:spTree>
    <p:extLst>
      <p:ext uri="{BB962C8B-B14F-4D97-AF65-F5344CB8AC3E}">
        <p14:creationId xmlns:p14="http://schemas.microsoft.com/office/powerpoint/2010/main" val="159108315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FDBB1-6FAF-402E-94F0-17F191E2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SLOW TASK ≠ FAILED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E34A0-ED6C-4E85-9583-0AEC9D48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Speculative execution combatte gli straggler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1C9E7-4DAD-4AA7-A924-FE84FBEC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4D07F-1C14-479A-BE14-11620D40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C5922-65B2-42F7-9B00-495AEB84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CFE18-C3D3-47B2-B70B-D079BBA2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DEC5C-E7AE-4E44-8326-147EAB68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9A079-7EB5-4246-9F45-193D216C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STRAGGLER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A67C3-BF78-4EE4-8267-5109E5C5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Un task avanza molto più lentamente degli altri per nodo degradato, I/O o rumore operativo.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8E951-3E90-4F1E-B14B-D932117E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SPECULATIVE COPY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5A92B-1FDD-4848-A6B6-F218C2EC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Il framework può avviare un secondo tentativo; il primo che termina correttamente vince.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FD9D4-9591-4441-B30A-BE7BFED7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197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Non è adatta a side effect esterni non idempotenti.</a:t>
            </a:r>
          </a:p>
        </p:txBody>
      </p:sp>
    </p:spTree>
    <p:extLst>
      <p:ext uri="{BB962C8B-B14F-4D97-AF65-F5344CB8AC3E}">
        <p14:creationId xmlns:p14="http://schemas.microsoft.com/office/powerpoint/2010/main" val="36910895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58F4D3-9228-4341-BA29-EF0E6D66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OBSERVABILITY • COUNTERS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D32FC-39BA-4897-9E9A-9D04FD39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 Counter trasformano l’esecuzione in evidenza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10529-315E-461D-AAEA-79609EA8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46E18-9276-487C-9DEC-4EB98EEB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540C6-0587-4A57-9468-3E3075F5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1817B-51B7-440E-8FF4-40B566BA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MAP_INPUT_RECORDS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6D1FA-031C-4545-ADCE-DEBE673B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righe lette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AF970-2DA1-47C4-93A6-E2C8E9E0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21235-B6CC-4501-8217-11B21DDF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1ACC9-363D-4E27-A0E5-9A685CF8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MAP_OUTPUT_RECORDS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166B8-5B30-4E87-A1D7-B9A9D113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coppie emesse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5A658-FEB9-48D6-A136-A9173C19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A1E84-48D2-4958-A14F-5769E808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23D7B-E630-4FB0-835E-16798043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REDUCE_INPUT_GROUPS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ACBE0-B6F5-49C1-B0A5-A6E5D73F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key aggregate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50BFA-22D5-4B6A-A25E-F5EA771A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E8FA2-EEB1-4AE9-A9B0-C46563C6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1F9FF-A029-4571-AD6F-E64248A8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MALFORMED_LINES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E301AB-27E4-486D-815C-2C3D2327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counter applicativo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BB243-F859-4C9E-A6D7-91DA31D4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8E1EDA-8CE1-4ADF-9014-3D125A71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8F2077-15E7-4033-84EA-3B4B115E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HDFS_BYTES_READ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DF1E19-542C-4585-B5BB-D0BCCE92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input letto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8C9996-989F-4A53-B83D-289CF5CD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D74A03-67A1-4368-87F7-75D4BDB5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52C2EB-8F56-458E-A517-E1755A37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SPILLED_RECORDS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92801B-2C9E-4E6F-81FE-7DA6A807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pressione intermedia</a:t>
            </a:r>
          </a:p>
        </p:txBody>
      </p:sp>
    </p:spTree>
    <p:extLst>
      <p:ext uri="{BB962C8B-B14F-4D97-AF65-F5344CB8AC3E}">
        <p14:creationId xmlns:p14="http://schemas.microsoft.com/office/powerpoint/2010/main" val="159821086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829665-71C4-4CB5-AC6F-11700179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MONITORING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02E6D-3060-403E-A107-A98CC8BB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Status, log e history raccontano cause diverse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B4258-59C8-44BB-8134-BACC0B96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58DED-2CBA-4C6D-B5D7-50EA132C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1DE7B-80BF-45E7-B261-598E221B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Superficie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49A1E-1686-44A3-A1CC-6624D909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71625"/>
            <a:ext cx="428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02EB4-1025-465A-818C-FFB245E9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049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Domanda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EBCE1-9702-4A58-A403-C38AFA84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71625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20ACE-2AEF-43BB-82C4-77AEF62A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049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Comando /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1A0AB-4920-450C-9C98-00B06387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276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4D862-564D-4DB7-9191-436B551A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02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Progress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B0811-E46D-48AD-A1F6-4AF6E2E5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66925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06C28-E371-4C4C-A0D2-F8FD3A35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00275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il job sta avanzando?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23206-AA70-4558-82FA-0E0F7ACB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66925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AE5A2-7A0E-4D6D-8594-2FC74F1F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73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ResourceManager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6E86C-3D67-4CBB-98A6-E36F9B8D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276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720FA-FB37-4DF5-B382-703EFD4C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241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909BD-C8B1-49D0-B9C6-2E82B52C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90825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7CCD34-6B86-41F6-AD08-54CC9466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24175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stato e ApplicationId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4AD0DB-E9BB-4CFF-A688-D703B41A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90825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BD3E81-2F16-42C1-A60D-CAEDD550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24175"/>
            <a:ext cx="373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yarn application -list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A3F83-D21C-40E9-9650-169B41FB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276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3428A-4EAB-48C2-B43F-1265D70E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Container 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01790-8DEB-4352-AABE-EDF629D1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14725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70599E-1ECA-4216-947E-7EBBFE3E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48075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perché un task fallisce?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5BA48C-0503-4C9C-A582-B40D638C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14725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BFE2C6-2AE2-42CE-B436-EF59C0C6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48075"/>
            <a:ext cx="373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yarn logs -applicationId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51771C-686F-4021-816B-3B521744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276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E7E25A-AEE3-48F7-8F7C-A089B738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History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C04F89-6415-454B-89B0-3963DF14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38625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BA47CF-84D6-4855-B9E5-50D84D31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71975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 cosa è accaduto?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9DEE1E-54E3-4228-906D-1E79A05B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38625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AE8D64-1BE0-4A8A-BF13-85F859A0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71975"/>
            <a:ext cx="373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JobHistory UI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69F8D8-88BB-4EB2-97E9-FFAFB217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62525"/>
            <a:ext cx="276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42EE75-CECC-4201-9A63-DC27CD51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Output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29E0AC-451B-462F-9B7E-6F2F75BB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62525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023D01-0C29-45AC-A426-6102C75E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95875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il risultato è valido?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EC1839-FB84-4850-8654-BA4D4C8B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62525"/>
            <a:ext cx="400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AEE5AC-3306-42EF-9E6D-351A4E81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95875"/>
            <a:ext cx="373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hdfs dfs -cat</a:t>
            </a:r>
          </a:p>
        </p:txBody>
      </p:sp>
    </p:spTree>
    <p:extLst>
      <p:ext uri="{BB962C8B-B14F-4D97-AF65-F5344CB8AC3E}">
        <p14:creationId xmlns:p14="http://schemas.microsoft.com/office/powerpoint/2010/main" val="92032102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DDA16-55C9-4AA3-AD28-2C5F2D3B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TROUBLESHOOTING • OUTPUT EXISTS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BAD29-7128-41D9-A8D4-15548AC5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Il path di output deve essere nuovo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5D542-FF99-4CFB-BFB9-4DD481BD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D74F0-D851-493E-97A8-134B2955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FF8A4C"/>
                </a:solidFill>
              </a:defRPr>
            </a:pPr>
            <a:r>
              <a:rPr sz="8250" b="1">
                <a:solidFill>
                  <a:srgbClr val="FF8A4C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49521-A6CF-4204-A34C-B7C1A298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Hadoop rifiuta di sovrascrivere automaticamente una directory già esistente. È una protezione contro la perdita silenziosa dei risultati precedenti.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1FB82-D08D-4940-B5A6-B55B8D13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E42AF-4B95-41DE-B84F-61567762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911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D4DE"/>
                </a:solidFill>
              </a:defRPr>
            </a:pPr>
            <a:r>
              <a:rPr sz="1350" b="1">
                <a:solidFill>
                  <a:srgbClr val="C8D4DE"/>
                </a:solidFill>
              </a:rPr>
              <a:t>Prima di rilanciare: rinomina, versiona o rimuovi consapevolmente.</a:t>
            </a:r>
          </a:p>
        </p:txBody>
      </p:sp>
    </p:spTree>
    <p:extLst>
      <p:ext uri="{BB962C8B-B14F-4D97-AF65-F5344CB8AC3E}">
        <p14:creationId xmlns:p14="http://schemas.microsoft.com/office/powerpoint/2010/main" val="106978014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90E76-C3C2-49A8-B689-4FD301B5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IDEMPOTENCE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C0BDF-79DB-462A-A8B8-742FBF23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codice del task deve tollerare i retry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324F2-1781-4E92-9A45-10F4DDA0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49B9A-36C3-48BF-8668-7CFD6A06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A4B01-CDEA-4154-BEED-35475E27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B36D8-0E04-4559-90B1-E7FD433D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EF4A9-69E5-4167-8F03-A2BE3C6A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21808-8A58-4134-9B7A-0EAB6532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BUON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3AF82-DBEF-458E-9C37-E5943563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Legge input, calcola output deterministico e lascia al framework la pubblicazione nel filesystem.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A3EDE-FE9A-45C8-A7BA-6551AE25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431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TASK RISCHIOSO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5868C-DC11-45FF-96DE-0616C51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333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Invia email, addebita un pagamento o modifica un database esterno ad ogni attempt senza deduplica.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B7FD9-EE81-4F08-9951-BB3D0ACA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6197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At-least-once execution richiede side effect controllati.</a:t>
            </a:r>
          </a:p>
        </p:txBody>
      </p:sp>
    </p:spTree>
    <p:extLst>
      <p:ext uri="{BB962C8B-B14F-4D97-AF65-F5344CB8AC3E}">
        <p14:creationId xmlns:p14="http://schemas.microsoft.com/office/powerpoint/2010/main" val="85360165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C59F70-47A1-4824-A495-2428BF02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C452C-05DA-447B-ACFB-8745EF44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MapReduce funziona bene quando il lavoro è batch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1C1C1-BB02-4DB8-9F5E-B70659DB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628A9-AF72-42D3-AFAC-1A64CFB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8CC0B-3CB9-4A70-969D-BFBCE210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06EC6-6296-4F88-B047-DAC8C5AA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LOG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DA0F9-E2E8-46EA-BB98-A4E104DA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scansione massiva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3D40B-C613-4FFC-A77E-BCDFF1E1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C1161-CE65-4CFB-B4E0-DEC80EAA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117CC-74D2-403E-BF8D-DF7F0A1E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INDEX 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9D0C4-BB55-4A9B-A2A9-E01D574D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trasformazioni indipendenti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E211D-393E-4F03-B46E-0546FADF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54696-7CA0-4E03-BC72-CC71854D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668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A1FF3-1994-4DFF-95DD-44A5C149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764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ETL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FE84B-1A75-431C-ACA5-4CAB6228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907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parse • filter • aggregate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A4A12-3452-493A-B357-0AFC1F44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991AC-BD69-42DF-A05C-09CC9008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E0628A-EE80-4921-B555-743B220B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LARGE SORT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D2EE4-0493-44AC-B86E-BDEDD4E4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ordinamento distribuito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6868A0-336E-4077-90A3-4FC20BB2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A3C1B6-E1DB-477B-A7D7-1C03FE76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9A6194-2B0F-4B9F-9218-581758C5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OFFLINE REPORT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A1289A-E44B-4A5C-A444-D132BFF4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latenza minuti/ore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637A97-AB81-4FF7-9CFD-F2F9F528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C88F3F-D464-4202-81A4-DDBFD4F8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9525">
            <a:solidFill>
              <a:srgbClr val="F4C8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5E2991-D6E1-4877-AB14-93BAD6A9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909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REPROCESS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CF9B3E-C067-474C-B042-3D3FD64A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05275"/>
            <a:ext cx="2819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input immutabile</a:t>
            </a:r>
          </a:p>
        </p:txBody>
      </p:sp>
    </p:spTree>
    <p:extLst>
      <p:ext uri="{BB962C8B-B14F-4D97-AF65-F5344CB8AC3E}">
        <p14:creationId xmlns:p14="http://schemas.microsoft.com/office/powerpoint/2010/main" val="103380310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7A25D5-14EA-4DEC-888F-75BE075B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BF30A-C751-4439-8286-7DAD7AA2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MapReduce è debole per risposte interattive e iterative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95EE4-2B23-4DBD-AEC7-D662E913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58A91-3977-4544-84E9-91B2AFAF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9C233-4A6E-4219-84A5-C89927E8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954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Esigenza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8FE5D-9A2D-4D79-8C74-CB38C02F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62125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A7198-4A04-41A0-A528-31062B2B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954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Problema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05004-8CBF-4DE8-87D2-1613446F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651B5-5531-433C-B332-090E1ED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95475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Tecnologia successiva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5F3F0-BA85-4DDC-A76F-48F7F162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653CC-E493-4193-B6A2-2A7BCDF6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90775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Query in pochi secondi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3A588-2401-4CF7-B54F-9A357750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57425"/>
            <a:ext cx="419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9AE6E-23FA-468E-810C-2C204924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90775"/>
            <a:ext cx="3924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startup e materializzazione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0EB76-9714-406D-9C03-67A98E2E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57425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6BC59-630E-4282-B512-62CC95A8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90775"/>
            <a:ext cx="3448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Hive/engine 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9A090-E2C6-4532-A797-1A4D3EEA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F62A2-A412-45D0-9094-F85DEC18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Algoritmo iterativo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4CA6C-1C2A-4C07-BD93-5A047719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38475"/>
            <a:ext cx="419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29C39-C155-4EE0-B0A5-BB17B599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71825"/>
            <a:ext cx="3924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molti passaggi su disco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52895B-B617-442A-80BD-99374A9D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38475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9EFC0-F2B6-40AE-B5A8-92CE84C9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71825"/>
            <a:ext cx="3448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Spark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EF7334-4FB6-4551-AECB-DC2F7FE1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5E297-6F15-4825-9EB3-B21A601F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Streaming continuo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A2AB7A-9B74-4406-801C-EC6D1554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19525"/>
            <a:ext cx="419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37BA35-CCC5-452B-A91D-1AFA8033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52875"/>
            <a:ext cx="3924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modello batch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8C309C-A684-4CE6-A36E-E4858AC5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9525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8F38B3-ACD4-4CAA-B3BF-381F779B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52875"/>
            <a:ext cx="3448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Structured Streaming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3BC20B-943D-4F12-89A3-9D9EC175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3BE9F8-27C9-4251-8F40-E26FF61A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33925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Serving per richiesta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56133C-C29C-4D1D-9676-55D69383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00575"/>
            <a:ext cx="419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9A7B6D-723B-4809-8DFF-BAE9C4F4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33925"/>
            <a:ext cx="3924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latenza elevata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F537BE-1140-4F6B-A259-F7CA2A43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00575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CC070F-C84D-4D9E-83D3-46E40C55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33925"/>
            <a:ext cx="3448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database/API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226371-67AE-46D7-BB16-05534F64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768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Capire il limite spiega l’evoluzione dell’ecosistema.</a:t>
            </a:r>
          </a:p>
        </p:txBody>
      </p:sp>
    </p:spTree>
    <p:extLst>
      <p:ext uri="{BB962C8B-B14F-4D97-AF65-F5344CB8AC3E}">
        <p14:creationId xmlns:p14="http://schemas.microsoft.com/office/powerpoint/2010/main" val="26954348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C8806-80D7-4218-AD70-E6123BE4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LANGUAGE 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F7C51-9BA3-40BC-ADD7-90118D68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Hadoop Streaming apre MapReduce a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731CC-20E7-42F7-A164-2FD9F7C1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A3B21-DAF3-4827-B10F-C1A20E7F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84A2C-1543-49B3-8202-7E80B206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HADOOP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5C7D0-FE2E-45C7-BDA1-3513D8AB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split • shuffle • retry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ECB76-EE61-4BD0-8A83-C2887EE8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145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51B00-6847-4A32-8306-EF9E560F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431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72C8C-4B87-44BA-B48F-6488B229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716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stdin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F7C59-828D-4566-8171-C7FF7EB7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DA604-2906-4232-A31D-6554A9F5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907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PYTHON 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812A1-1E81-4CD1-BED4-3179EFAC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5270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mapper / reducer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F6E12-1947-48D2-BEB5-D680D875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145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93D99-27D5-4A10-87C6-46A7AA3B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4312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7E34B"/>
                </a:solidFill>
              </a:defRPr>
            </a:pPr>
            <a:r>
              <a:rPr sz="2625" b="1">
                <a:solidFill>
                  <a:srgbClr val="B7E34B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5524B-C23D-4BE8-81C6-1B4EE028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716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7E34B"/>
                </a:solidFill>
              </a:defRPr>
            </a:pPr>
            <a:r>
              <a:rPr sz="1050" b="1">
                <a:solidFill>
                  <a:srgbClr val="B7E34B"/>
                </a:solidFill>
              </a:rPr>
              <a:t>stdout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BBDBF-EE05-4E00-9126-FCB76DEA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14BF6-52BC-4318-8448-8059290A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KEY–VALUE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AECB7-58F2-43C6-BE95-C72B5329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5270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tab-separated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08F12-422F-43A6-A41F-6CC2A057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33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Il framework resta Java; la logica può essere un eseguibile.</a:t>
            </a:r>
          </a:p>
        </p:txBody>
      </p:sp>
    </p:spTree>
    <p:extLst>
      <p:ext uri="{BB962C8B-B14F-4D97-AF65-F5344CB8AC3E}">
        <p14:creationId xmlns:p14="http://schemas.microsoft.com/office/powerpoint/2010/main" val="76042752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5513A-0F8D-40A4-B7C8-16C88555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STREAMING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7722D-DB8C-48BB-8359-E816044F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primo TAB separa key e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0D8C8-1C1E-42FB-86C4-2808D9A9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07DBC-7528-4AFB-815E-959E896A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4312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STATUS|404\t1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A7881-970A-408A-9BE8-8E7BED85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0982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95788-4D26-42F0-A28D-6A793302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38375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E2069-BAA2-41DA-B441-0D56BD5E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669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8A4C"/>
                </a:solidFill>
              </a:defRPr>
            </a:pPr>
            <a:r>
              <a:rPr sz="1050" b="1">
                <a:solidFill>
                  <a:srgbClr val="FF8A4C"/>
                </a:solidFill>
              </a:rPr>
              <a:t>parse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5C247-8547-461E-BBEC-CD6C7829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C4E63-1FC0-4435-B606-FE8E1A16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62175"/>
            <a:ext cx="144589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STATUS|404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D4E91-3537-4415-AD96-8CFA0CCC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645" y="2171700"/>
            <a:ext cx="37719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0B63A-31D5-40F6-8B93-AF756557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835" y="2162175"/>
            <a:ext cx="119443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7D334-A1DE-4E4A-AAE3-20C95471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576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stdout è dati • stderr è log, status e counter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FD6E3-2F89-494E-9C38-A2B4F5BC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F5A5A"/>
                </a:solidFill>
              </a:defRPr>
            </a:pPr>
            <a:r>
              <a:rPr sz="1650" b="1">
                <a:solidFill>
                  <a:srgbClr val="EF5A5A"/>
                </a:solidFill>
              </a:rPr>
              <a:t>Una stampa di debug su stdout può corrompere il risultato.</a:t>
            </a:r>
          </a:p>
        </p:txBody>
      </p:sp>
    </p:spTree>
    <p:extLst>
      <p:ext uri="{BB962C8B-B14F-4D97-AF65-F5344CB8AC3E}">
        <p14:creationId xmlns:p14="http://schemas.microsoft.com/office/powerpoint/2010/main" val="25818147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C97CC-0792-49D8-ACD5-6EA2E749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PYTHON • MAPPER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9F749-2E6E-4363-AB99-4CED364C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Mapper emette più famiglie di metriche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3E879-F23F-491C-A574-01157A12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ED5E3-E699-4D65-AF17-BD583D91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1057275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CE44D-ED36-4017-B06C-7F139895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781175"/>
            <a:ext cx="10115550" cy="3438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for line in sys.stdin: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  fields = line.rstrip('\n').split('\t')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  if len(fields) != 8: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      counter('MalformedLines')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      continue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  ts, ip, method, path, status, size, country, device = fields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  emit(f'STATUS|{status}', 1)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  emit(f'IP|{ip}', 1)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  emit(f'BYTES|{country}', int(size))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  if status.startswith('5'):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      emit(f'ERROR_PATH|{path}', 1)</a:t>
            </a:r>
          </a:p>
        </p:txBody>
      </p:sp>
    </p:spTree>
    <p:extLst>
      <p:ext uri="{BB962C8B-B14F-4D97-AF65-F5344CB8AC3E}">
        <p14:creationId xmlns:p14="http://schemas.microsoft.com/office/powerpoint/2010/main" val="193881462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30E0F-35E5-42EA-8197-D89291A3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PYTHON • REDUCER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0A708-54A9-4DF7-8111-8C7E0CA3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 Reducer generico somma qualsiasi metrica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18BED-570D-4C8E-B288-404850DF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52B5A-C833-4ADB-9081-9906AE8E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19250"/>
            <a:ext cx="10191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BC06B-FDD4-4B3A-9CDD-0FDE6C15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828800"/>
            <a:ext cx="973455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current_key = None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for line in sys.stdin: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  key, raw_value = line.rstrip('\n').split('\t', 1)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  value = int(raw_value)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  if key != current_key and current_key is not None: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      print(f'{current_key}\t{total}')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      total = 0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  current_key = key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  total += 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if current_key is not None:</a:t>
            </a:r>
          </a:p>
          <a:p xmlns:a="http://schemas.openxmlformats.org/drawingml/2006/main">
            <a:pPr algn="l">
              <a:defRPr sz="1350" b="0">
                <a:solidFill>
                  <a:srgbClr val="DFF6FB"/>
                </a:solidFill>
              </a:defRPr>
            </a:pPr>
            <a:r>
              <a:rPr sz="1350" b="0">
                <a:solidFill>
                  <a:srgbClr val="DFF6FB"/>
                </a:solidFill>
              </a:rPr>
              <a:t>    print(f'{current_key}\t{total}')</a:t>
            </a:r>
          </a:p>
        </p:txBody>
      </p:sp>
    </p:spTree>
    <p:extLst>
      <p:ext uri="{BB962C8B-B14F-4D97-AF65-F5344CB8AC3E}">
        <p14:creationId xmlns:p14="http://schemas.microsoft.com/office/powerpoint/2010/main" val="177474077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679E08-1607-4637-BD8F-2EFAD5C8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9664B-65F6-4F65-9152-AD0049E3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Ogni log DATAFLIX racconta otto dimensioni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D2C63-13A9-4192-8B6C-7F4AF7EC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0210D-EFD9-4438-BB98-F8C7B5FA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981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705EA-158E-4D4D-BE2A-97BC5600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162175"/>
            <a:ext cx="9353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FF6FB"/>
                </a:solidFill>
              </a:defRPr>
            </a:pPr>
            <a:r>
              <a:rPr sz="1725" b="0">
                <a:solidFill>
                  <a:srgbClr val="DFF6FB"/>
                </a:solidFill>
              </a:rPr>
              <a:t>2026-09-03T10:15:18Z    203.0.113.7    POST    /login</a:t>
            </a:r>
          </a:p>
          <a:p xmlns:a="http://schemas.openxmlformats.org/drawingml/2006/main">
            <a:pPr algn="l">
              <a:defRPr sz="1725" b="0">
                <a:solidFill>
                  <a:srgbClr val="DFF6FB"/>
                </a:solidFill>
              </a:defRPr>
            </a:pPr>
            <a:r>
              <a:rPr sz="1725" b="0">
                <a:solidFill>
                  <a:srgbClr val="DFF6FB"/>
                </a:solidFill>
              </a:rPr>
              <a:t>500    842    IT    mobile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A24B0-1FDE-4003-AC06-505477C4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147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A68CD-53DC-458A-83F3-7CE7F86C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481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Campo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06982-5203-4974-9F46-FFEA053D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147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05E4C-0250-40C6-BC8E-E273993F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481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Esempio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E9599-E159-49F2-B14E-252FCF92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147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A82870-5C1C-4D44-8D16-FB64E98F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481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Uso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42609-0E9F-487D-8CE7-EE5D3646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00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A5FBE-E23F-440B-B4F8-C14AE36E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3434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37B4D-0C7B-48B2-8D1E-8C26D158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100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C2A78-A945-4EAB-AEA6-344C9669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3434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203.0.113.7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FFD6C-2EF9-4420-ACC6-E11B5353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100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A4BB6-FCE5-4F28-B985-2AF0E0E6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343400"/>
            <a:ext cx="344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top 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7234B-E2AF-4995-BED3-D29D5BD8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244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A7DAE-1DBF-41D6-BEDA-AFC0523C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85775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EA3ECE-69DF-494E-B56D-F9D25171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244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00D4A0-5958-480C-9C00-CADD323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85775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500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A8733-32E3-459E-B32F-65FC887C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244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86107-A8DE-4DE4-8F5A-0C8D75EC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857750"/>
            <a:ext cx="344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health HTTP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95FD41-9FF7-4D81-8BE0-150625E8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387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2CA4F-316C-4919-BEE5-034743F7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3721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bytes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096FF8-69D2-4C46-84E1-4CEB9894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238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FF9A25-7F76-4323-887D-0D8F4867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3721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842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2F173C-1616-4A78-8C09-70D361F3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387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2ECA21-AEFE-41B2-9AC9-7A2BA8EA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372100"/>
            <a:ext cx="344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traffico per paese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08CA98-F4D2-406C-8CA1-42469A35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7531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498C23-4712-4E8F-8A3E-512C80CB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88645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path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D65914-F9A6-4F41-B3C7-71B406AA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753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909B26-10F2-4867-AB16-43964833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88645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/login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0D93EB-741A-4DEE-A014-82AC4D8C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7531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01A288-F810-4103-9D89-0579D736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886450"/>
            <a:ext cx="344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endpoint 5xx</a:t>
            </a:r>
          </a:p>
        </p:txBody>
      </p:sp>
    </p:spTree>
    <p:extLst>
      <p:ext uri="{BB962C8B-B14F-4D97-AF65-F5344CB8AC3E}">
        <p14:creationId xmlns:p14="http://schemas.microsoft.com/office/powerpoint/2010/main" val="74756106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EC078-0B9D-43AF-9E5C-3E073E19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TOPOLOGIA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D8B3B-3F3E-4D3B-BAC8-E8F2EA00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Laboratorio: HDFS + YARN + due NodeManager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83AFE-89E1-4178-BB7E-BE45D4FD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8F10C-293D-4D91-A5DD-164C9FC2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D484D-A250-4863-96A8-919DDF3B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57375"/>
            <a:ext cx="2028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NAMENODE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FFFAA-04DA-4ED6-B2DC-3D41955D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19325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HDFS • 9870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AB29E-48A0-4464-8328-68142997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66875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611A0-04F2-47E0-AABD-B94D1ED0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857375"/>
            <a:ext cx="2028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DATANODE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B4221-0D75-4C10-B15E-BF6CD326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19325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input +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339B7-3D31-4148-8605-CB51329B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66875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C6016-0008-4A86-A2E2-888329BB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857375"/>
            <a:ext cx="2028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YARN 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BA6E7-118F-4AC1-B60E-3E24068C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19325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ResourceManager • 8088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D3C56-1818-489F-A93D-EF45F37C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66875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33242-099A-4F60-8675-444260AB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857375"/>
            <a:ext cx="2028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HISTORYSERVER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74F70-C051-4ECD-8690-0F472021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19325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19888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5982E-2482-4347-8D44-35B2132E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1475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2B403-A858-4CBB-82D9-71359F5D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9052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NODEMANAGER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6254D-B7A1-4FF7-997A-6D65D26A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26720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map/reduce containers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7186C-CF33-4335-AA48-FD071112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1475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70466-0B1B-496D-8E8A-6E111619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9052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NODEMANAGER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A7A22-D38A-4C80-AF7F-37D04A08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26720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8D4DE"/>
                </a:solidFill>
              </a:defRPr>
            </a:pPr>
            <a:r>
              <a:rPr sz="1125" b="0">
                <a:solidFill>
                  <a:srgbClr val="C8D4DE"/>
                </a:solidFill>
              </a:rPr>
              <a:t>map/reduce containers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C4DD37-5166-4DC1-9A0B-44692795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3400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D4DE"/>
                </a:solidFill>
              </a:defRPr>
            </a:pPr>
            <a:r>
              <a:rPr sz="1575" b="1">
                <a:solidFill>
                  <a:srgbClr val="C8D4DE"/>
                </a:solidFill>
              </a:rPr>
              <a:t>Hadoop 3.5.0 • Python Streaming • 50.000 log sintetici</a:t>
            </a:r>
          </a:p>
        </p:txBody>
      </p:sp>
    </p:spTree>
    <p:extLst>
      <p:ext uri="{BB962C8B-B14F-4D97-AF65-F5344CB8AC3E}">
        <p14:creationId xmlns:p14="http://schemas.microsoft.com/office/powerpoint/2010/main" val="181636974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69DC91-94C3-44C4-9D1F-449870B0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LAB • CYBER LOG MAPREDUCE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67719-5479-4120-B050-8D2F25CE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challenge segue prove progressive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FBE89-4E33-4BDC-BA9D-C5F7B297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6E6E6-00A0-4403-9842-776D0AE6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EF987-2491-4F2C-AD06-3D8A8D41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76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PREFLIGHT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E2E5C-1B26-416B-BD68-EB74232B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763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verifica HDFS e due NodeManager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D4557-F5A2-4D7A-BFCA-259089A9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A0430-90AD-46F5-B728-F266AEB6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43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GENERATE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D2A30-B85B-4E6C-829B-9D04EEEA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crea e carica 50.000 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67227-E26C-46F1-975C-4D13A497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65A2E-B17F-410F-B36D-19DFFA28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09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LOCAL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40FD2-617C-4C08-A9EC-569117BF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98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mapper | sort | reducer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223F8-BEF4-4C97-86B2-D8F2774D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2109C-740B-4E56-BA03-2BE327E5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76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DISTRIBUTED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65644-C567-4893-BAEA-0ABA8616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esegui Streaming con 2 reducer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E7C72-5A58-4A64-B036-FB27AF20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7A36A"/>
                </a:solidFill>
              </a:defRPr>
            </a:pPr>
            <a:r>
              <a:rPr sz="1800" b="1">
                <a:solidFill>
                  <a:srgbClr val="27A36A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F8C1E-CDDD-402E-904D-25C56FF8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43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681D0-AD22-4DF9-B5D9-7ABE8AF4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4337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output, counter, UI e ApplicationId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9E992F-A5C8-4E7E-A027-0FA6667D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00DD95-459A-4B7A-A08C-1944DB7A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10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CHALLENGE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9899A3-72F6-4996-AAF8-55C4F25E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101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trova tre insight non richiesti</a:t>
            </a:r>
          </a:p>
        </p:txBody>
      </p:sp>
    </p:spTree>
    <p:extLst>
      <p:ext uri="{BB962C8B-B14F-4D97-AF65-F5344CB8AC3E}">
        <p14:creationId xmlns:p14="http://schemas.microsoft.com/office/powerpoint/2010/main" val="80606691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D522A-A706-4ED3-BFA2-902378D8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EVIDENCE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1C304-F4DF-4532-A5A0-EF70F536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 job riuscito deve superare sei verifiche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847B3-D0F6-47C5-A23D-92A01F80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418A3-A1CB-4A76-966B-EE1DBE1F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7162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1. Due NodeManager RUNNING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D4775-A007-44B4-938C-1A4201D1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2. Input presente in HDFS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3B156-DA8D-4FCC-AC6C-0254CA2F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3. Test locale con output ordinato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C0074-D04E-43D6-82B3-5CDA5EE4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4. Application FINISHED / SUCCEEDED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DBD30-8F38-4782-A27A-E12E04E3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5. Counter MalformedLines coerente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85BB2-CBCE-4750-B91E-531C0175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6. Totali riconciliati con 50.000 record</a:t>
            </a:r>
          </a:p>
        </p:txBody>
      </p:sp>
    </p:spTree>
    <p:extLst>
      <p:ext uri="{BB962C8B-B14F-4D97-AF65-F5344CB8AC3E}">
        <p14:creationId xmlns:p14="http://schemas.microsoft.com/office/powerpoint/2010/main" val="112143724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A05C7-B8CB-4177-980C-4C27525C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CHIUSURA • MAPREDUCE → 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0811C-D22D-4897-97B0-83704A41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MapReduce ha un costo cognitivo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C7A94-D24B-4621-A272-B25639E7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46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9254A-B2B3-49D5-ACAD-6F0C5B06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B7E34B"/>
                </a:solidFill>
              </a:defRPr>
            </a:pPr>
            <a:r>
              <a:rPr sz="8250" b="1">
                <a:solidFill>
                  <a:srgbClr val="B7E34B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C1CB2-C175-4BB2-90E5-892185DE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904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Abbiamo scritto Mapper, Reducer, chiavi, output path e comandi solo per fare aggregazioni. La prossima domanda è inevitabile: possiamo descrivere lo stesso lavoro con SQL?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B161D-E754-47C3-BA79-3400EBC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273B0-B37A-446A-8B3F-8C035BEF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911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0BF"/>
                </a:solidFill>
              </a:defRPr>
            </a:pPr>
            <a:r>
              <a:rPr sz="1200" b="1">
                <a:solidFill>
                  <a:srgbClr val="9FB0BF"/>
                </a:solidFill>
              </a:rPr>
              <a:t>PROSSIMA LEZIONE • TIPI, FORMATI, HIVE E PIG</a:t>
            </a:r>
          </a:p>
        </p:txBody>
      </p:sp>
    </p:spTree>
    <p:extLst>
      <p:ext uri="{BB962C8B-B14F-4D97-AF65-F5344CB8AC3E}">
        <p14:creationId xmlns:p14="http://schemas.microsoft.com/office/powerpoint/2010/main" val="70884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2026-09-04T04:54:18.9430000Z</dcterms:created>
  <dcterms:modified xsi:type="dcterms:W3CDTF">2026-09-04T04:54:18.9430000Z</dcterms:modified>
</coreProperties>
</file>