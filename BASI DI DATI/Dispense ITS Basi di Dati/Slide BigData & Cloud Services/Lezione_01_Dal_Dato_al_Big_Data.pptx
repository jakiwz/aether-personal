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a417b3c0d54f27" /><Relationship Type="http://schemas.openxmlformats.org/officeDocument/2006/relationships/extended-properties" Target="/docProps/app.xml" Id="R814b5fe9202940ba" /><Relationship Type="http://schemas.openxmlformats.org/officeDocument/2006/relationships/officeDocument" Target="/ppt/presentation.xml" Id="Rc55ff10f4d8849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f444eaaa6c472a"/>
  </p:sldMasterIdLst>
  <p:notesMasterIdLst>
    <p:notesMasterId xmlns:r="http://schemas.openxmlformats.org/officeDocument/2006/relationships" r:id="Rb59a83748f244c2d"/>
  </p:notesMasterIdLst>
  <p:sldIdLst>
    <p:sldId xmlns:r="http://schemas.openxmlformats.org/officeDocument/2006/relationships" id="256" r:id="Raf6ff0ae22e04711"/>
    <p:sldId xmlns:r="http://schemas.openxmlformats.org/officeDocument/2006/relationships" id="257" r:id="Rcb123962116247a2"/>
    <p:sldId xmlns:r="http://schemas.openxmlformats.org/officeDocument/2006/relationships" id="258" r:id="R8823c2a3bfe74f1c"/>
    <p:sldId xmlns:r="http://schemas.openxmlformats.org/officeDocument/2006/relationships" id="259" r:id="Rfde1543186e0492a"/>
    <p:sldId xmlns:r="http://schemas.openxmlformats.org/officeDocument/2006/relationships" id="260" r:id="R37cd36f44c2049d4"/>
    <p:sldId xmlns:r="http://schemas.openxmlformats.org/officeDocument/2006/relationships" id="261" r:id="R1183debf7ccf4255"/>
    <p:sldId xmlns:r="http://schemas.openxmlformats.org/officeDocument/2006/relationships" id="262" r:id="R7505cd52d2c54e6b"/>
    <p:sldId xmlns:r="http://schemas.openxmlformats.org/officeDocument/2006/relationships" id="263" r:id="Rabe2b463095f4dd1"/>
    <p:sldId xmlns:r="http://schemas.openxmlformats.org/officeDocument/2006/relationships" id="264" r:id="Rae897cb2a7c34e5f"/>
    <p:sldId xmlns:r="http://schemas.openxmlformats.org/officeDocument/2006/relationships" id="265" r:id="R1a64dc2d99fa4c6f"/>
    <p:sldId xmlns:r="http://schemas.openxmlformats.org/officeDocument/2006/relationships" id="266" r:id="Rc153696f7f674652"/>
    <p:sldId xmlns:r="http://schemas.openxmlformats.org/officeDocument/2006/relationships" id="267" r:id="Rbac69de833394be1"/>
    <p:sldId xmlns:r="http://schemas.openxmlformats.org/officeDocument/2006/relationships" id="268" r:id="R89ffb07ab5254889"/>
    <p:sldId xmlns:r="http://schemas.openxmlformats.org/officeDocument/2006/relationships" id="269" r:id="R167f16dba5554627"/>
    <p:sldId xmlns:r="http://schemas.openxmlformats.org/officeDocument/2006/relationships" id="270" r:id="R2fd9641b30e24363"/>
    <p:sldId xmlns:r="http://schemas.openxmlformats.org/officeDocument/2006/relationships" id="271" r:id="R58be6592632d4d31"/>
    <p:sldId xmlns:r="http://schemas.openxmlformats.org/officeDocument/2006/relationships" id="272" r:id="R6fec888ab1664b8d"/>
    <p:sldId xmlns:r="http://schemas.openxmlformats.org/officeDocument/2006/relationships" id="273" r:id="Ra91359a604d74d87"/>
    <p:sldId xmlns:r="http://schemas.openxmlformats.org/officeDocument/2006/relationships" id="274" r:id="R37b1c7a1ad83412f"/>
    <p:sldId xmlns:r="http://schemas.openxmlformats.org/officeDocument/2006/relationships" id="275" r:id="R03d0ddc9b45d4a95"/>
    <p:sldId xmlns:r="http://schemas.openxmlformats.org/officeDocument/2006/relationships" id="276" r:id="R222000764d1a431a"/>
    <p:sldId xmlns:r="http://schemas.openxmlformats.org/officeDocument/2006/relationships" id="277" r:id="R001a9a22a92a4dbf"/>
    <p:sldId xmlns:r="http://schemas.openxmlformats.org/officeDocument/2006/relationships" id="278" r:id="R11be2afe76db4798"/>
    <p:sldId xmlns:r="http://schemas.openxmlformats.org/officeDocument/2006/relationships" id="279" r:id="Rfb0778150dfa4a95"/>
    <p:sldId xmlns:r="http://schemas.openxmlformats.org/officeDocument/2006/relationships" id="280" r:id="Rb4a01a6701f34147"/>
    <p:sldId xmlns:r="http://schemas.openxmlformats.org/officeDocument/2006/relationships" id="281" r:id="R3b4063e934cc4e97"/>
    <p:sldId xmlns:r="http://schemas.openxmlformats.org/officeDocument/2006/relationships" id="282" r:id="Rdf4ac062dccc4b0a"/>
    <p:sldId xmlns:r="http://schemas.openxmlformats.org/officeDocument/2006/relationships" id="283" r:id="Rfd1d69b94ff743fa"/>
    <p:sldId xmlns:r="http://schemas.openxmlformats.org/officeDocument/2006/relationships" id="284" r:id="R9dc1df067ba0476d"/>
    <p:sldId xmlns:r="http://schemas.openxmlformats.org/officeDocument/2006/relationships" id="285" r:id="Rc0ca1d0c06724666"/>
    <p:sldId xmlns:r="http://schemas.openxmlformats.org/officeDocument/2006/relationships" id="286" r:id="R42dd9bb9b76c48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539172f3394095" /><Relationship Type="http://schemas.openxmlformats.org/officeDocument/2006/relationships/slideMaster" Target="/ppt/slideMasters/slideMaster1.xml" Id="R8bf444eaaa6c472a" /><Relationship Type="http://schemas.openxmlformats.org/officeDocument/2006/relationships/notesMaster" Target="/ppt/notesMasters/notesMaster1.xml" Id="Rb59a83748f244c2d" /><Relationship Type="http://schemas.openxmlformats.org/officeDocument/2006/relationships/presProps" Target="/ppt/presProps.xml" Id="R481d1da6c178465b" /><Relationship Type="http://schemas.openxmlformats.org/officeDocument/2006/relationships/tableStyles" Target="/ppt/tableStyles.xml" Id="Rafb287ef8153402f" /><Relationship Type="http://schemas.openxmlformats.org/officeDocument/2006/relationships/slide" Target="/ppt/slides/slide1.xml" Id="Raf6ff0ae22e04711" /><Relationship Type="http://schemas.openxmlformats.org/officeDocument/2006/relationships/slide" Target="/ppt/slides/slide2.xml" Id="Rcb123962116247a2" /><Relationship Type="http://schemas.openxmlformats.org/officeDocument/2006/relationships/slide" Target="/ppt/slides/slide3.xml" Id="R8823c2a3bfe74f1c" /><Relationship Type="http://schemas.openxmlformats.org/officeDocument/2006/relationships/slide" Target="/ppt/slides/slide4.xml" Id="Rfde1543186e0492a" /><Relationship Type="http://schemas.openxmlformats.org/officeDocument/2006/relationships/slide" Target="/ppt/slides/slide5.xml" Id="R37cd36f44c2049d4" /><Relationship Type="http://schemas.openxmlformats.org/officeDocument/2006/relationships/slide" Target="/ppt/slides/slide6.xml" Id="R1183debf7ccf4255" /><Relationship Type="http://schemas.openxmlformats.org/officeDocument/2006/relationships/slide" Target="/ppt/slides/slide7.xml" Id="R7505cd52d2c54e6b" /><Relationship Type="http://schemas.openxmlformats.org/officeDocument/2006/relationships/slide" Target="/ppt/slides/slide8.xml" Id="Rabe2b463095f4dd1" /><Relationship Type="http://schemas.openxmlformats.org/officeDocument/2006/relationships/slide" Target="/ppt/slides/slide9.xml" Id="Rae897cb2a7c34e5f" /><Relationship Type="http://schemas.openxmlformats.org/officeDocument/2006/relationships/slide" Target="/ppt/slides/slide10.xml" Id="R1a64dc2d99fa4c6f" /><Relationship Type="http://schemas.openxmlformats.org/officeDocument/2006/relationships/slide" Target="/ppt/slides/slide11.xml" Id="Rc153696f7f674652" /><Relationship Type="http://schemas.openxmlformats.org/officeDocument/2006/relationships/slide" Target="/ppt/slides/slide12.xml" Id="Rbac69de833394be1" /><Relationship Type="http://schemas.openxmlformats.org/officeDocument/2006/relationships/slide" Target="/ppt/slides/slide13.xml" Id="R89ffb07ab5254889" /><Relationship Type="http://schemas.openxmlformats.org/officeDocument/2006/relationships/slide" Target="/ppt/slides/slide14.xml" Id="R167f16dba5554627" /><Relationship Type="http://schemas.openxmlformats.org/officeDocument/2006/relationships/slide" Target="/ppt/slides/slide15.xml" Id="R2fd9641b30e24363" /><Relationship Type="http://schemas.openxmlformats.org/officeDocument/2006/relationships/slide" Target="/ppt/slides/slide16.xml" Id="R58be6592632d4d31" /><Relationship Type="http://schemas.openxmlformats.org/officeDocument/2006/relationships/slide" Target="/ppt/slides/slide17.xml" Id="R6fec888ab1664b8d" /><Relationship Type="http://schemas.openxmlformats.org/officeDocument/2006/relationships/slide" Target="/ppt/slides/slide18.xml" Id="Ra91359a604d74d87" /><Relationship Type="http://schemas.openxmlformats.org/officeDocument/2006/relationships/slide" Target="/ppt/slides/slide19.xml" Id="R37b1c7a1ad83412f" /><Relationship Type="http://schemas.openxmlformats.org/officeDocument/2006/relationships/slide" Target="/ppt/slides/slide20.xml" Id="R03d0ddc9b45d4a95" /><Relationship Type="http://schemas.openxmlformats.org/officeDocument/2006/relationships/slide" Target="/ppt/slides/slide21.xml" Id="R222000764d1a431a" /><Relationship Type="http://schemas.openxmlformats.org/officeDocument/2006/relationships/slide" Target="/ppt/slides/slide22.xml" Id="R001a9a22a92a4dbf" /><Relationship Type="http://schemas.openxmlformats.org/officeDocument/2006/relationships/slide" Target="/ppt/slides/slide23.xml" Id="R11be2afe76db4798" /><Relationship Type="http://schemas.openxmlformats.org/officeDocument/2006/relationships/slide" Target="/ppt/slides/slide24.xml" Id="Rfb0778150dfa4a95" /><Relationship Type="http://schemas.openxmlformats.org/officeDocument/2006/relationships/slide" Target="/ppt/slides/slide25.xml" Id="Rb4a01a6701f34147" /><Relationship Type="http://schemas.openxmlformats.org/officeDocument/2006/relationships/slide" Target="/ppt/slides/slide26.xml" Id="R3b4063e934cc4e97" /><Relationship Type="http://schemas.openxmlformats.org/officeDocument/2006/relationships/slide" Target="/ppt/slides/slide27.xml" Id="Rdf4ac062dccc4b0a" /><Relationship Type="http://schemas.openxmlformats.org/officeDocument/2006/relationships/slide" Target="/ppt/slides/slide28.xml" Id="Rfd1d69b94ff743fa" /><Relationship Type="http://schemas.openxmlformats.org/officeDocument/2006/relationships/slide" Target="/ppt/slides/slide29.xml" Id="R9dc1df067ba0476d" /><Relationship Type="http://schemas.openxmlformats.org/officeDocument/2006/relationships/slide" Target="/ppt/slides/slide30.xml" Id="Rc0ca1d0c06724666" /><Relationship Type="http://schemas.openxmlformats.org/officeDocument/2006/relationships/slide" Target="/ppt/slides/slide31.xml" Id="R42dd9bb9b76c48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037f6c75fc4e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03cbcac4ba4710" /><Relationship Type="http://schemas.openxmlformats.org/officeDocument/2006/relationships/notesMaster" Target="/ppt/notesMasters/notesMaster1.xml" Id="R24bcefd653db43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c50a1015b24e06" /><Relationship Type="http://schemas.openxmlformats.org/officeDocument/2006/relationships/notesMaster" Target="/ppt/notesMasters/notesMaster1.xml" Id="R8956bd0b4f1c4f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ce89472c26461d" /><Relationship Type="http://schemas.openxmlformats.org/officeDocument/2006/relationships/notesMaster" Target="/ppt/notesMasters/notesMaster1.xml" Id="R6fb14effd87848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c3b6f4626b4c93" /><Relationship Type="http://schemas.openxmlformats.org/officeDocument/2006/relationships/notesMaster" Target="/ppt/notesMasters/notesMaster1.xml" Id="R0191de75f1734c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abe71760084e0f" /><Relationship Type="http://schemas.openxmlformats.org/officeDocument/2006/relationships/notesMaster" Target="/ppt/notesMasters/notesMaster1.xml" Id="R4f9d4edafa0f47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e8dbce1b604f8b" /><Relationship Type="http://schemas.openxmlformats.org/officeDocument/2006/relationships/notesMaster" Target="/ppt/notesMasters/notesMaster1.xml" Id="R718fa9e8a2094e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563869acb84a5d" /><Relationship Type="http://schemas.openxmlformats.org/officeDocument/2006/relationships/notesMaster" Target="/ppt/notesMasters/notesMaster1.xml" Id="R9825e45d64f340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24e88fd3704cbe" /><Relationship Type="http://schemas.openxmlformats.org/officeDocument/2006/relationships/notesMaster" Target="/ppt/notesMasters/notesMaster1.xml" Id="Rbf61c3395b6b45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ad55daedd24489" /><Relationship Type="http://schemas.openxmlformats.org/officeDocument/2006/relationships/notesMaster" Target="/ppt/notesMasters/notesMaster1.xml" Id="R365049b6c41f43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7c97179b3548fe" /><Relationship Type="http://schemas.openxmlformats.org/officeDocument/2006/relationships/notesMaster" Target="/ppt/notesMasters/notesMaster1.xml" Id="R147c7563fe5f4b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17932058c44577" /><Relationship Type="http://schemas.openxmlformats.org/officeDocument/2006/relationships/notesMaster" Target="/ppt/notesMasters/notesMaster1.xml" Id="R6e8e418f74eb4e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d18a21f82a49b7" /><Relationship Type="http://schemas.openxmlformats.org/officeDocument/2006/relationships/notesMaster" Target="/ppt/notesMasters/notesMaster1.xml" Id="Rae46f13d5a0e4a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de64e91dec478e" /><Relationship Type="http://schemas.openxmlformats.org/officeDocument/2006/relationships/notesMaster" Target="/ppt/notesMasters/notesMaster1.xml" Id="Rb9c0205f37734a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00b0f82752480c" /><Relationship Type="http://schemas.openxmlformats.org/officeDocument/2006/relationships/notesMaster" Target="/ppt/notesMasters/notesMaster1.xml" Id="Rbe3a288fb7324de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9ff6cd1d6d4ed0" /><Relationship Type="http://schemas.openxmlformats.org/officeDocument/2006/relationships/notesMaster" Target="/ppt/notesMasters/notesMaster1.xml" Id="R9c5523a9dd004a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ca2a78204d340f8" /><Relationship Type="http://schemas.openxmlformats.org/officeDocument/2006/relationships/notesMaster" Target="/ppt/notesMasters/notesMaster1.xml" Id="R866a342effaa48d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6bd8679ae24430a" /><Relationship Type="http://schemas.openxmlformats.org/officeDocument/2006/relationships/notesMaster" Target="/ppt/notesMasters/notesMaster1.xml" Id="R0ec0778831244a0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e5233288fa64fb9" /><Relationship Type="http://schemas.openxmlformats.org/officeDocument/2006/relationships/notesMaster" Target="/ppt/notesMasters/notesMaster1.xml" Id="R1e67e7389cb5492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563967f9ee5419d" /><Relationship Type="http://schemas.openxmlformats.org/officeDocument/2006/relationships/notesMaster" Target="/ppt/notesMasters/notesMaster1.xml" Id="R8c19589762e041b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616e373d30c4167" /><Relationship Type="http://schemas.openxmlformats.org/officeDocument/2006/relationships/notesMaster" Target="/ppt/notesMasters/notesMaster1.xml" Id="Rd7bfb453f3d5496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dda1bac6d444124" /><Relationship Type="http://schemas.openxmlformats.org/officeDocument/2006/relationships/notesMaster" Target="/ppt/notesMasters/notesMaster1.xml" Id="R0e0b74a030c84a2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1b87c220ef3404a" /><Relationship Type="http://schemas.openxmlformats.org/officeDocument/2006/relationships/notesMaster" Target="/ppt/notesMasters/notesMaster1.xml" Id="R8c7069af5cee42c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38859f6618b45bf" /><Relationship Type="http://schemas.openxmlformats.org/officeDocument/2006/relationships/notesMaster" Target="/ppt/notesMasters/notesMaster1.xml" Id="R817330bddf39429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cf957e14d7641f3" /><Relationship Type="http://schemas.openxmlformats.org/officeDocument/2006/relationships/notesMaster" Target="/ppt/notesMasters/notesMaster1.xml" Id="R241d8ac7360e47e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2591d5cd9544ce9" /><Relationship Type="http://schemas.openxmlformats.org/officeDocument/2006/relationships/notesMaster" Target="/ppt/notesMasters/notesMaster1.xml" Id="R7dc9f574765d4d8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ab0ec38b7be4329" /><Relationship Type="http://schemas.openxmlformats.org/officeDocument/2006/relationships/notesMaster" Target="/ppt/notesMasters/notesMaster1.xml" Id="Rfdbf2f6850f4472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23400c03b254646" /><Relationship Type="http://schemas.openxmlformats.org/officeDocument/2006/relationships/notesMaster" Target="/ppt/notesMasters/notesMaster1.xml" Id="Re3bb09007cc54b6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377f671e81e4f29" /><Relationship Type="http://schemas.openxmlformats.org/officeDocument/2006/relationships/notesMaster" Target="/ppt/notesMasters/notesMaster1.xml" Id="R4b826984d007417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d1ff3eeaaaa498c" /><Relationship Type="http://schemas.openxmlformats.org/officeDocument/2006/relationships/notesMaster" Target="/ppt/notesMasters/notesMaster1.xml" Id="R0506ea43da16403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0fd535336c64449" /><Relationship Type="http://schemas.openxmlformats.org/officeDocument/2006/relationships/notesMaster" Target="/ppt/notesMasters/notesMaster1.xml" Id="R9428c4956f9a436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56ae1f2d55b414c" /><Relationship Type="http://schemas.openxmlformats.org/officeDocument/2006/relationships/notesMaster" Target="/ppt/notesMasters/notesMaster1.xml" Id="R703bb949c55d40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chiedendo: “Quanti dati avete prodotto prima di entrare in aula oggi?” Raccogli 5–6 risposte senza correggere. Anticipa che la lezione partirà dal quotidiano e arriverà alle architetture Big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emergere: sveglia, GPS, badge, messaggi, streaming, pagamenti, sensori dello smartphone. Il punto non è contare con precisione, ma rendere visibile la produzione continua di dati.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Chiedi quali eventi sono intenzionali e quali automatici. Collega ogni gesto a un timestamp, un dispositivo, una posizione o un’identità.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lo stesso valore per mostrare la trasformazione. Evidenzia che il valore nasce quando il dato viene contestualizzato e usato per decidere.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 il passaggio in tre fasi. Domanda: “Un database pieno di dati genera automaticamente valore?” Risposta attesa: no, servono qualità, contesto, analisi e decisione.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 un file CSV reale: le righe sono dati; intestazioni, tipi, data di generazione e descrizione delle colonne sono metadata.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 l’errore “non strutturato = senza alcuna informazione”. Un video ha metadata, codec e contenuto; semplicemente non si presta direttamente al modello tabellare.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Riprendi concetti già noti di database relazionale. Chiedi cosa succede se un record arriva senza il campo obbligatorio o con tipo errato.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che JSON è semi-strutturato, non privo di struttura. Mostra come un nuovo campo possa comparire senza ridisegnare necessariamente una tabella.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Collega alla crescita di AI e machine learning: questi contenuti diventano analizzabili, ma richiedono tecniche e storage diversi.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Lascia qualche secondo di silenzio e chiedi agli studenti di proporre casi “Big Data” anche con singoli file piccoli ma numerosissimi o velocissimi.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Introduci l’idea che la difficoltà nasce anche dalla combinazione dei fattori. Un milione di righe una volta al mese è diverso da un milione al secondo.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DATAFLIX come caso didattico ricorrente. Non affermare che rappresenti dati reali di Netflix: è un’azienda immaginaria progettata per il corso.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 una sessione: ogni pressione sul telecomando può produrre un evento. Chiedi quanti eventi potrebbe generare una singola ora di streaming.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VOLUME con un esempio DATAFLIX. Chiedi alla classe di formulare un secondo esempio in un settore diverso.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VELOCITY con un esempio DATAFLIX. Chiedi alla classe di formulare un secondo esempio in un settore diverso.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VARIETY con un esempio DATAFLIX. Chiedi alla classe di formulare un secondo esempio in un settore diverso.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VERACITY con un esempio DATAFLIX. Chiedi alla classe di formulare un secondo esempio in un settore diverso.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VALUE con un esempio DATAFLIX. Chiedi alla classe di formulare un secondo esempio in un settore diverso.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notare che il valore è al centro. Se un’analisi non migliora una decisione, un servizio o un risultato, accumulare dati può diventare solo costo e rischio.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queste V come estensioni utili, non come un elenco universale e definitivo. Le 5 V restano il modello base della lezione.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Chiedi a quattro gruppi di individuare la V dominante per il proprio settore. Accetta risposte diverse se ben motivate.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Sottolinea che la tecnologia deve seguire il problema. Un foglio di calcolo o un database relazionale può essere la soluzione migliore per molti casi.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Dividi in piccoli gruppi. Non cercare una risposta binaria perfetta: valuta la qualità della motivazione, i requisiti di tempo, l’infrastruttura disponibile e il valore atteso.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suggerito: 35 minuti analisi, 20 minuti preparazione, 5 minuti per squadra di restituzione (adatta alla numerosità). Aziende: streaming, banca, ospedale, smart city, e-commerce, social network.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Consegna questa struttura anche come modello da copiare. Chiedi almeno due esempi concreti per ogni risposta e una possibile criticità di qualità o sicurezza.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questi quattro criteri come rubrica leggera. Fai dare un feedback positivo e uno migliorativo da una squadra all’altra.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Risposte: 1 no; 2 no, è tipicamente semi-strutturato; 3 Veracity; 4 no; 5 perché collega complessità e investimento a un risultato utile. Chiedi sempre una breve motivazione.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la correzione come riepilogo. Fai spiegare una risposta a cinque studenti diversi.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Chiudi chiedendo a ciascuno di completare la frase: “Ora considero Big Data un problema in cui…”. Collega la prossima lezione alla scalabilità verticale e orizzontale.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Anticipa: CPU, RAM, storage, rete, colli di bottiglia, scale-up, scale-out, replica, partizionamento e fault tolerance.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ee3767427a40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106b28108848eb" /><Relationship Type="http://schemas.openxmlformats.org/officeDocument/2006/relationships/slideLayout" Target="/ppt/slideLayouts/slideLayout1.xml" Id="R92e33fd0fdee48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e33fd0fdee48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c515b45594641" /><Relationship Type="http://schemas.openxmlformats.org/officeDocument/2006/relationships/notesSlide" Target="/ppt/notesSlides/notesSlide1.xml" Id="R367264bc20c548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daa10443a4f4f" /><Relationship Type="http://schemas.openxmlformats.org/officeDocument/2006/relationships/notesSlide" Target="/ppt/notesSlides/notesSlide2.xml" Id="R0d7ae4e8f80248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0e887e7f54c2b" /><Relationship Type="http://schemas.openxmlformats.org/officeDocument/2006/relationships/notesSlide" Target="/ppt/notesSlides/notesSlide3.xml" Id="R35fc518c02c441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cd414f43c433e" /><Relationship Type="http://schemas.openxmlformats.org/officeDocument/2006/relationships/notesSlide" Target="/ppt/notesSlides/notesSlide4.xml" Id="R3f66fafc232042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ae6965e524bc5" /><Relationship Type="http://schemas.openxmlformats.org/officeDocument/2006/relationships/notesSlide" Target="/ppt/notesSlides/notesSlide5.xml" Id="Rb5242300288747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d671145aa4340" /><Relationship Type="http://schemas.openxmlformats.org/officeDocument/2006/relationships/notesSlide" Target="/ppt/notesSlides/notesSlide6.xml" Id="R833ecd7c1b824f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22ef3f17f4a9c" /><Relationship Type="http://schemas.openxmlformats.org/officeDocument/2006/relationships/notesSlide" Target="/ppt/notesSlides/notesSlide7.xml" Id="R43dad92c0b564c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986cf68724285" /><Relationship Type="http://schemas.openxmlformats.org/officeDocument/2006/relationships/notesSlide" Target="/ppt/notesSlides/notesSlide8.xml" Id="R673e5d93afa64f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08344086f49af" /><Relationship Type="http://schemas.openxmlformats.org/officeDocument/2006/relationships/notesSlide" Target="/ppt/notesSlides/notesSlide9.xml" Id="R298ab97110d543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a62407a7440fb" /><Relationship Type="http://schemas.openxmlformats.org/officeDocument/2006/relationships/notesSlide" Target="/ppt/notesSlides/notesSlide10.xml" Id="R2ba393da3fc342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63d9132f34d64" /><Relationship Type="http://schemas.openxmlformats.org/officeDocument/2006/relationships/notesSlide" Target="/ppt/notesSlides/notesSlide11.xml" Id="R7fb68025abc944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c40ab66bf4722" /><Relationship Type="http://schemas.openxmlformats.org/officeDocument/2006/relationships/notesSlide" Target="/ppt/notesSlides/notesSlide12.xml" Id="R232cffa46a594f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2287dacb04674" /><Relationship Type="http://schemas.openxmlformats.org/officeDocument/2006/relationships/notesSlide" Target="/ppt/notesSlides/notesSlide13.xml" Id="R06d9455f09c742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53263d52b4c84" /><Relationship Type="http://schemas.openxmlformats.org/officeDocument/2006/relationships/notesSlide" Target="/ppt/notesSlides/notesSlide14.xml" Id="R1b06dc7f8b5846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f59b8338e468d" /><Relationship Type="http://schemas.openxmlformats.org/officeDocument/2006/relationships/notesSlide" Target="/ppt/notesSlides/notesSlide15.xml" Id="Rc5de7ef687684be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4257a06074f56" /><Relationship Type="http://schemas.openxmlformats.org/officeDocument/2006/relationships/notesSlide" Target="/ppt/notesSlides/notesSlide16.xml" Id="R418f593c2b424ac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e434caa3d4083" /><Relationship Type="http://schemas.openxmlformats.org/officeDocument/2006/relationships/notesSlide" Target="/ppt/notesSlides/notesSlide17.xml" Id="R8b48323cecd04d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52f5842494f0f" /><Relationship Type="http://schemas.openxmlformats.org/officeDocument/2006/relationships/notesSlide" Target="/ppt/notesSlides/notesSlide18.xml" Id="R2708537cf7e9415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2880e59f74ff2" /><Relationship Type="http://schemas.openxmlformats.org/officeDocument/2006/relationships/notesSlide" Target="/ppt/notesSlides/notesSlide19.xml" Id="Rb76fd27af6234d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4369004b64d80" /><Relationship Type="http://schemas.openxmlformats.org/officeDocument/2006/relationships/notesSlide" Target="/ppt/notesSlides/notesSlide20.xml" Id="R6c6168c453e7413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fb7c5efc14016" /><Relationship Type="http://schemas.openxmlformats.org/officeDocument/2006/relationships/notesSlide" Target="/ppt/notesSlides/notesSlide21.xml" Id="Rbd9130e5cd174e5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84e2a35244525" /><Relationship Type="http://schemas.openxmlformats.org/officeDocument/2006/relationships/notesSlide" Target="/ppt/notesSlides/notesSlide22.xml" Id="R6db96a2ce407408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28a0203234a91" /><Relationship Type="http://schemas.openxmlformats.org/officeDocument/2006/relationships/notesSlide" Target="/ppt/notesSlides/notesSlide23.xml" Id="Re513b3e2e7b7467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53b0f274d454f" /><Relationship Type="http://schemas.openxmlformats.org/officeDocument/2006/relationships/notesSlide" Target="/ppt/notesSlides/notesSlide24.xml" Id="R45070b0a5a8b480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033b46bbc48dd" /><Relationship Type="http://schemas.openxmlformats.org/officeDocument/2006/relationships/notesSlide" Target="/ppt/notesSlides/notesSlide25.xml" Id="Rb53ccaf4548744f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43bca90d14595" /><Relationship Type="http://schemas.openxmlformats.org/officeDocument/2006/relationships/notesSlide" Target="/ppt/notesSlides/notesSlide26.xml" Id="R9f25a888132449b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5270b5d39480c" /><Relationship Type="http://schemas.openxmlformats.org/officeDocument/2006/relationships/notesSlide" Target="/ppt/notesSlides/notesSlide27.xml" Id="R8733810190b2449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f77260b924525" /><Relationship Type="http://schemas.openxmlformats.org/officeDocument/2006/relationships/notesSlide" Target="/ppt/notesSlides/notesSlide28.xml" Id="Rec8c35dd5e5a469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36aee8d194e20" /><Relationship Type="http://schemas.openxmlformats.org/officeDocument/2006/relationships/notesSlide" Target="/ppt/notesSlides/notesSlide29.xml" Id="Rdc72cc856c94484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1ae8411c54bdc" /><Relationship Type="http://schemas.openxmlformats.org/officeDocument/2006/relationships/notesSlide" Target="/ppt/notesSlides/notesSlide30.xml" Id="R8f85808e718d4cc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ba3ed10c1414d" /><Relationship Type="http://schemas.openxmlformats.org/officeDocument/2006/relationships/notesSlide" Target="/ppt/notesSlides/notesSlide31.xml" Id="R4453291581fb4b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19C30-A34C-4C00-8785-F23D0F32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BIG DATA &amp; CLOUD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6EAFB-129D-4E7D-BEE7-B8788E54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85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Dal dato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al Big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AD1D3-2BF6-453A-B6A6-C5413B50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8D4DE"/>
                </a:solidFill>
              </a:defRPr>
            </a:pPr>
            <a:r>
              <a:rPr sz="2025" b="0">
                <a:solidFill>
                  <a:srgbClr val="C8D4DE"/>
                </a:solidFill>
              </a:rPr>
              <a:t>Lezione 01 • DATAFLIX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63F3A-AC4E-4FB2-BFA4-899698AC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239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99191-38C2-4E20-87E5-E27BB0E4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180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0B1F33"/>
                </a:solidFill>
              </a:defRPr>
            </a:pPr>
            <a:r>
              <a:rPr sz="7200" b="1">
                <a:solidFill>
                  <a:srgbClr val="0B1F33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E4C35-2E52-4DEB-ACA8-39868487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BF"/>
                </a:solidFill>
              </a:defRPr>
            </a:pPr>
            <a:r>
              <a:rPr sz="1125" b="0">
                <a:solidFill>
                  <a:srgbClr val="9FB0BF"/>
                </a:solidFill>
              </a:rPr>
              <a:t>80 ore • percorso pratico</a:t>
            </a:r>
          </a:p>
        </p:txBody>
      </p:sp>
    </p:spTree>
    <p:extLst>
      <p:ext uri="{BB962C8B-B14F-4D97-AF65-F5344CB8AC3E}">
        <p14:creationId xmlns:p14="http://schemas.microsoft.com/office/powerpoint/2010/main" val="21231749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C97F1-679E-4C06-BF8E-F2CCD135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IL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ADBD0-A052-4662-8E4C-75DF4971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Una domanda per iniziare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32FCE-DE20-4F61-A6F4-E0938278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ED1E2-1C0C-454F-BA11-A4D9566D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00B8D9"/>
                </a:solidFill>
              </a:defRPr>
            </a:pPr>
            <a:r>
              <a:rPr sz="8250" b="1">
                <a:solidFill>
                  <a:srgbClr val="00B8D9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77896-303B-425E-B1E5-F375D9EE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8858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Quanti dati hai già prodotto oggi senza accorgertene?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22F6D-89CF-4D6E-AF3F-1638356E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910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65835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4EF0D9-3712-4C4C-A442-75C50315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BIG DATA • LEZIONE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26554-914D-422F-96D5-D5420272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La tua mattina è già un flusso di dati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4910C-636E-4047-8EB3-B35CE019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C4F53-20D6-48AD-AAA1-5F993332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6379B-32A8-44FA-BB0A-579DD889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07:10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276E2-40BB-4D71-8D8C-F83DC1EC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138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06D"/>
                </a:solidFill>
              </a:defRPr>
            </a:pPr>
            <a:r>
              <a:rPr sz="1575" b="1">
                <a:solidFill>
                  <a:srgbClr val="52606D"/>
                </a:solidFill>
              </a:rPr>
              <a:t>Sveglia e sensori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5878E-B815-42D5-8CF1-C4B97E1D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47875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7F908-5B14-482A-9D52-81C666FF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050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07:45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E336F-EF4B-4073-A2FB-A1A78474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138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06D"/>
                </a:solidFill>
              </a:defRPr>
            </a:pPr>
            <a:r>
              <a:rPr sz="1575" b="1">
                <a:solidFill>
                  <a:srgbClr val="52606D"/>
                </a:solidFill>
              </a:rPr>
              <a:t>Mappe e posizione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27C3B-B7EC-4A97-9143-1CE59B1F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47875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80A2A-E38C-41B7-B955-347E1BC8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050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08:10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C876D-80CD-4014-998A-E0A6B3B7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00375"/>
            <a:ext cx="138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06D"/>
                </a:solidFill>
              </a:defRPr>
            </a:pPr>
            <a:r>
              <a:rPr sz="1575" b="1">
                <a:solidFill>
                  <a:srgbClr val="52606D"/>
                </a:solidFill>
              </a:rPr>
              <a:t>Messaggi e notifiche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AC958-8314-4961-8D3E-53AD838D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47875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617B6-81C1-4E3C-9F33-A3F2BDCA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050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08:30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E41293-2493-422B-8EAD-1A5BE2F9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00375"/>
            <a:ext cx="138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06D"/>
                </a:solidFill>
              </a:defRPr>
            </a:pPr>
            <a:r>
              <a:rPr sz="1575" b="1">
                <a:solidFill>
                  <a:srgbClr val="52606D"/>
                </a:solidFill>
              </a:rPr>
              <a:t>Badge o login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4C5B2-A075-436B-9D3F-A57F3C49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47875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37A48-5C31-4D1D-9F95-B6B74001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050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09:00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2041BF-20A5-456D-BE10-C2DD0B43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0375"/>
            <a:ext cx="138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06D"/>
                </a:solidFill>
              </a:defRPr>
            </a:pPr>
            <a:r>
              <a:rPr sz="1575" b="1">
                <a:solidFill>
                  <a:srgbClr val="52606D"/>
                </a:solidFill>
              </a:rPr>
              <a:t>Browser e cloud</a:t>
            </a:r>
          </a:p>
        </p:txBody>
      </p:sp>
    </p:spTree>
    <p:extLst>
      <p:ext uri="{BB962C8B-B14F-4D97-AF65-F5344CB8AC3E}">
        <p14:creationId xmlns:p14="http://schemas.microsoft.com/office/powerpoint/2010/main" val="8005788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6B0E3-0A3B-4209-99BE-41ED4445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BIG DATA • LEZIONE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BE3C5-5930-468C-819E-B24B9B1F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Dato, informazione, conoscenza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EFFFE-E3B7-4297-8959-0D68C82F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60AC3-84D0-4EC7-9019-AA5BBE27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E1B86-BD93-4913-A239-EC6AAD57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FC8CE-2E78-4B89-BC2F-8EEA6527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DATO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C67EE-3766-4E76-AA9A-11A38782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4286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Un valore isolato, senza contesto.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8F12C-794D-4231-8590-1F1B241E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INFORMAZIONE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693C9-DB97-4A4A-B560-0E87B4DC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4286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23 °C a Lecce alle 14:00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Il dato ha significato.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AA169-140E-4E0E-923D-1A7D4880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CONOSCENZA → oggi farà caldo: adeguiamo climatizzazione e consumi.</a:t>
            </a:r>
          </a:p>
        </p:txBody>
      </p:sp>
    </p:spTree>
    <p:extLst>
      <p:ext uri="{BB962C8B-B14F-4D97-AF65-F5344CB8AC3E}">
        <p14:creationId xmlns:p14="http://schemas.microsoft.com/office/powerpoint/2010/main" val="88038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522A9-A4CA-4540-A74D-87E2504C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BIG DATA • LEZIONE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19540-99E0-4444-9CA5-A555310C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Il contesto trasforma i numeri in decisioni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B90AF-BBC4-4A92-904F-E8718EE4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3B99F-A212-4725-9733-287417A2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2606D"/>
                </a:solidFill>
              </a:defRPr>
            </a:pPr>
            <a:r>
              <a:rPr sz="2700" b="1">
                <a:solidFill>
                  <a:srgbClr val="52606D"/>
                </a:solidFill>
              </a:rPr>
              <a:t>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A4D64-88AE-4959-8C5F-40E27036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28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0B1F33"/>
                </a:solidFill>
              </a:defRPr>
            </a:pPr>
            <a:r>
              <a:rPr sz="5100" b="1">
                <a:solidFill>
                  <a:srgbClr val="0B1F33"/>
                </a:solidFill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69DCF-3D20-4FF1-BC52-862079E5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8A4C"/>
                </a:solidFill>
              </a:defRPr>
            </a:pPr>
            <a:r>
              <a:rPr sz="405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5B0D7-3EB1-4AF4-8758-CA13BA50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478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2606D"/>
                </a:solidFill>
              </a:defRPr>
            </a:pPr>
            <a:r>
              <a:rPr sz="2250" b="1">
                <a:solidFill>
                  <a:srgbClr val="52606D"/>
                </a:solidFill>
              </a:rPr>
              <a:t>INFORMAZIONE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F0F1F-D431-4C99-92A7-30A5BD22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05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23 °C • Lecce • 14:00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7D9B8-F801-4551-9181-784EC3BA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8A4C"/>
                </a:solidFill>
              </a:defRPr>
            </a:pPr>
            <a:r>
              <a:rPr sz="405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CE126-C40F-44A2-8961-96EFCC86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2606D"/>
                </a:solidFill>
              </a:defRPr>
            </a:pPr>
            <a:r>
              <a:rPr sz="2700" b="1">
                <a:solidFill>
                  <a:srgbClr val="52606D"/>
                </a:solidFill>
              </a:rPr>
              <a:t>AZIONE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67006-09BB-4148-AE01-DC72A96E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Riduci il carico</a:t>
            </a:r>
          </a:p>
          <a:p xmlns:a="http://schemas.openxmlformats.org/drawingml/2006/main">
            <a:pPr algn="ctr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elle ore di punta</a:t>
            </a:r>
          </a:p>
        </p:txBody>
      </p:sp>
    </p:spTree>
    <p:extLst>
      <p:ext uri="{BB962C8B-B14F-4D97-AF65-F5344CB8AC3E}">
        <p14:creationId xmlns:p14="http://schemas.microsoft.com/office/powerpoint/2010/main" val="17439753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A3D0B-BB32-4780-B6B9-009C9802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BIG DATA • LEZIONE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DAB6C-130D-43E4-AA93-24A2F3B6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Dataset e metadata: contenuto e istruzioni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8F9A4-50C6-41D6-9080-3A9FAEE9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BE723-645B-48BC-BD2F-19597A45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F94F8-7CA7-4474-BFF0-DF6BFC19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80709-AD3F-4BCD-B2E2-3519724E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5C320-790C-45C4-AE16-6A7D8BBF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4286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Una raccolta organizzata di dati osservabili.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Esempio: 1 milione di eventi di visualizzazione.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D33E6-0FEA-4EEB-8183-2A3B9150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EFF6C-61C9-454F-A3E0-2A62116D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4286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Dati che descrivono altri dati.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Schema, formato, origine, autore, data di creazione.</a:t>
            </a:r>
          </a:p>
        </p:txBody>
      </p:sp>
    </p:spTree>
    <p:extLst>
      <p:ext uri="{BB962C8B-B14F-4D97-AF65-F5344CB8AC3E}">
        <p14:creationId xmlns:p14="http://schemas.microsoft.com/office/powerpoint/2010/main" val="8208592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9B1F9-7E7F-4ECB-8B6C-5B18ED90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BIG DATA • LEZIONE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7B715-1F30-4379-BFF2-5BE1E166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Tre forme, tre modi diversi di lavorare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1FC7A-657F-4B14-9067-AB6733C2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B838A-4CBA-47D6-99B3-44DD2CD6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62F60-56B7-4F28-BF92-ED2540B2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STRUTTURATI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9418F-ABB3-4838-911E-9791C657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743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Tabelle, righe, colonne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FDF65-9EDC-48EE-A56C-71AF104A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PostgreSQL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84E4E-D5FF-40EB-ACAF-D2179C9B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D8A16-BB91-4B31-BC10-EC426B99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38375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SEMI-STRUTTURATI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1ACE3-951D-4BFA-9458-1DB0D98D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2743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Struttura flessibile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64D76-EB19-4458-B49C-5366E264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JSON • 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7A70F-9ABE-4B57-B683-0898B1D9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C35A0-A041-462C-8D42-EDB640E3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38375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NON STRUTTURATI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EDE1B-7754-478F-8577-CB543427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2743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Contenuto senza schema tabellare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8FEE22-ED9A-407B-AC8B-9C928AC8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video • audio • immagini</a:t>
            </a:r>
          </a:p>
        </p:txBody>
      </p:sp>
    </p:spTree>
    <p:extLst>
      <p:ext uri="{BB962C8B-B14F-4D97-AF65-F5344CB8AC3E}">
        <p14:creationId xmlns:p14="http://schemas.microsoft.com/office/powerpoint/2010/main" val="15733401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BA6C1B-E7CC-40FF-90EE-757725CF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BIG DATA • LEZIONE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BADC5-25CE-4E9F-B08A-E8499AB6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Strutturato: lo schema viene prima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5D34E-18E5-47C4-9FF5-832B50D6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E1604-D7F0-4868-8296-83D827EC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UTENTI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B6657-A5D8-44A0-831D-2B370823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BBE05-AF38-4B90-89E1-5B90B736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05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27119-6C31-4D60-A730-453F2BF8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23B12-8FF8-4870-B9F3-DED569E4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05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nome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39E06-1A21-4E17-84CB-9153C986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B22C0-E85C-431F-BF15-2F1A3F72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05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paese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19ECF-553B-4684-95CF-024EA9E0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4EB30-C8AC-45DB-9C72-E73E71BD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05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piano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8FC87-377B-46D3-AD85-C3E4BFAB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11F57-7151-4090-BFA3-E4D5BDAF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42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91A15-96BD-49D5-82C8-7C3DB248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869B7D-1328-4E85-B257-CEC43292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Giulia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E1B211-1411-4138-A277-75E94D9C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623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528BE0-C94B-49E2-8B48-F0A59FD0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33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Italia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5E90E3-DF67-4C65-8FA0-96B71B4A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623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31CC0B-5530-4261-8957-24574CB3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Premium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66188A-065A-4B8D-AB9C-CBA4F61D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2606D"/>
                </a:solidFill>
              </a:defRPr>
            </a:pPr>
            <a:r>
              <a:rPr sz="2025" b="1">
                <a:solidFill>
                  <a:srgbClr val="52606D"/>
                </a:solidFill>
              </a:rPr>
              <a:t>Regole chiare • tipi definiti • query prevedibili</a:t>
            </a:r>
          </a:p>
        </p:txBody>
      </p:sp>
    </p:spTree>
    <p:extLst>
      <p:ext uri="{BB962C8B-B14F-4D97-AF65-F5344CB8AC3E}">
        <p14:creationId xmlns:p14="http://schemas.microsoft.com/office/powerpoint/2010/main" val="16256299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F3F4F-CF6C-4FE7-B243-3799F50C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BIG DATA • LEZIONE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FDB05-B9A4-4DE7-9E4B-14C95ADB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Semi-strutturato: la struttura viaggia con il dato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B6979-8BA9-4892-8786-696900FC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E20B1-ABDE-459B-909E-328E8EF4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7150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06CAA-D5ED-4E55-8AED-8B25BC1A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{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  "user_id": 42,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  "event": "play",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  "device": "smart_tv",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  "quality": "4K"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DD135-CD4D-49A9-9048-F17BB8C8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3"/>
                </a:solidFill>
              </a:defRPr>
            </a:pPr>
            <a:r>
              <a:rPr sz="2625" b="1">
                <a:solidFill>
                  <a:srgbClr val="0B1F33"/>
                </a:solidFill>
              </a:rPr>
              <a:t>Flessibile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D28D7-5561-421C-A6DD-9D49437E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03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06D"/>
                </a:solidFill>
              </a:defRPr>
            </a:pPr>
            <a:r>
              <a:rPr sz="1875" b="0">
                <a:solidFill>
                  <a:srgbClr val="52606D"/>
                </a:solidFill>
              </a:rPr>
              <a:t>I record possono avere campi diversi.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2778E-E0AC-4F7C-8B73-8F5A01B3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528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3"/>
                </a:solidFill>
              </a:defRPr>
            </a:pPr>
            <a:r>
              <a:rPr sz="2625" b="1">
                <a:solidFill>
                  <a:srgbClr val="0B1F33"/>
                </a:solidFill>
              </a:rPr>
              <a:t>Interpretabile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A5ECB-44FC-4287-97D8-97E01807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672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06D"/>
                </a:solidFill>
              </a:defRPr>
            </a:pPr>
            <a:r>
              <a:rPr sz="1875" b="0">
                <a:solidFill>
                  <a:srgbClr val="52606D"/>
                </a:solidFill>
              </a:rPr>
              <a:t>Chiavi e gerarchia mantengono significato.</a:t>
            </a:r>
          </a:p>
        </p:txBody>
      </p:sp>
    </p:spTree>
    <p:extLst>
      <p:ext uri="{BB962C8B-B14F-4D97-AF65-F5344CB8AC3E}">
        <p14:creationId xmlns:p14="http://schemas.microsoft.com/office/powerpoint/2010/main" val="173420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6A6DE-E1D3-459D-8AC0-525B6B22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BIG DATA • LEZIONE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4EE5B-47CC-47E1-82DE-32AC19C0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Non strutturato non significa inutile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D8F83-1B77-4356-9313-CA182FA5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92A42-C7A3-44BC-860E-F18BD59B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953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6E6A0-56AA-4A6C-89AC-E33E3B2F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859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VIDEO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AA9B5-DE39-46FC-9D2F-4E95703E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812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immagini + audio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93F82-DA46-4868-B196-9754F1DA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4953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44FCF-1DB9-4E5A-B065-627435C3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859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AUDIO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DF346-B72C-47A9-ADF2-C34B7ED7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812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voce + musica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907B9-CB8D-4D2B-97A0-940C57DE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4953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C8098-EE23-484D-A260-DB40FD37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957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IMMAGINI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8A267-EAA8-41C0-A4F9-53A96AB0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910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pixel + contenuto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E13B4-B567-46B1-9067-E5959226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67125"/>
            <a:ext cx="4953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A0110-C678-4036-A190-50E4E32E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957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TESTO LIBERO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98EFD-DE3A-43D7-B502-1E7CBB79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910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documenti + chat</a:t>
            </a:r>
          </a:p>
        </p:txBody>
      </p:sp>
    </p:spTree>
    <p:extLst>
      <p:ext uri="{BB962C8B-B14F-4D97-AF65-F5344CB8AC3E}">
        <p14:creationId xmlns:p14="http://schemas.microsoft.com/office/powerpoint/2010/main" val="11735378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428F4-96ED-4553-BBC9-BB6BC376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IL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B1225-2C53-475B-9E2E-2FE4C39F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Il primo errore da evitare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6B6BA-503C-4DD1-BD18-4141DF05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F1AF5-563B-4C9A-B5FB-7DD7B0B2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FF8A4C"/>
                </a:solidFill>
              </a:defRPr>
            </a:pPr>
            <a:r>
              <a:rPr sz="8250" b="1">
                <a:solidFill>
                  <a:srgbClr val="FF8A4C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D4B41-FBE1-4755-801F-F18983C7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8858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Big Data non significa semplicemente “un file molto grande”.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6AD91-4426-4C07-80ED-5D0A6E48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910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542843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A0DEAD-D153-4A10-8DEE-0D058577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BIG DATA • LEZIONE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2ADD9-E5EF-4E24-AE7E-9A005181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Un problema diventa “Big” in modi diversi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F2CF6-0769-4C45-B4E7-BF551D88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25697-ED0F-4331-9925-6AABC8C3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BEA0E-28CE-4FA5-BCCF-14EDD2F9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QUANTITÀ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28C7B-EC2F-4B30-990E-2E45EB2F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Troppi dati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74A94-A279-4331-BD9F-7FBE0DE5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0250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30F15-F23E-4E95-8F05-6EF47129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860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VELOCITÀ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2889E-594D-4F89-91C7-04ADC053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Arrivano troppo in fretta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A83DB-28B3-435B-A187-0DFB15A6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14FD3-4DA3-4453-B503-7F767C27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VARIETÀ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07CBD-811E-45DA-814C-DA0F1BFB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Formati differenti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2C97B-E308-4103-B4FC-5D74AD04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3EC14-36E1-429D-9183-E45F81BB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DISTRIBUZIONE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DB5C1-730D-4941-BF3C-290C46EE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Più sistemi e luoghi</a:t>
            </a:r>
          </a:p>
        </p:txBody>
      </p:sp>
    </p:spTree>
    <p:extLst>
      <p:ext uri="{BB962C8B-B14F-4D97-AF65-F5344CB8AC3E}">
        <p14:creationId xmlns:p14="http://schemas.microsoft.com/office/powerpoint/2010/main" val="11617471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CA2D8-BA89-4A8E-8332-B9725FD8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03CB8-7FF5-4962-8440-91A62AAE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DATAFLIX cresce: il database non è più solo un archivio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14ADE-8ABF-45B7-9F96-A69EA6E9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4F8C6-2878-445B-A705-4B979FDF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0B8D9"/>
                </a:solidFill>
              </a:defRPr>
            </a:pPr>
            <a:r>
              <a:rPr sz="5550" b="1">
                <a:solidFill>
                  <a:srgbClr val="00B8D9"/>
                </a:solidFill>
              </a:rPr>
              <a:t>10.000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7A411-6095-4B62-82FB-7AEBF5B2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8D4DE"/>
                </a:solidFill>
              </a:defRPr>
            </a:pPr>
            <a:r>
              <a:rPr sz="1950" b="0">
                <a:solidFill>
                  <a:srgbClr val="C8D4DE"/>
                </a:solidFill>
              </a:rPr>
              <a:t>utenti iniziali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09B0F-13C9-47AC-A7DE-ADFAAF12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8A4C"/>
                </a:solidFill>
              </a:defRPr>
            </a:pPr>
            <a:r>
              <a:rPr sz="435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90045-1975-419C-9AB2-17BEF254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00250"/>
            <a:ext cx="514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50.000.000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CD308-33B9-4558-81DA-A27F01C7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480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8D4DE"/>
                </a:solidFill>
              </a:defRPr>
            </a:pPr>
            <a:r>
              <a:rPr sz="1950" b="0">
                <a:solidFill>
                  <a:srgbClr val="C8D4DE"/>
                </a:solidFill>
              </a:rPr>
              <a:t>utenti globali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51EA1-898E-43E2-8039-1DB44108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Account • film • click • ricerche • visualizzazioni • log • errori</a:t>
            </a:r>
          </a:p>
        </p:txBody>
      </p:sp>
    </p:spTree>
    <p:extLst>
      <p:ext uri="{BB962C8B-B14F-4D97-AF65-F5344CB8AC3E}">
        <p14:creationId xmlns:p14="http://schemas.microsoft.com/office/powerpoint/2010/main" val="13892903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5522F-B2D3-49E7-998B-CE475975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BIG DATA • LEZIONE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D5B2D-C322-4DC7-B7FC-05A414A8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Ogni azione genera un evento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7BDA7-A07C-4D92-8A4E-12DCD862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F4246-C9EB-4DFE-BC38-618FE5D9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79643-3DE7-4B01-B2F1-AE9109BE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PLAY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DCB6B-8BFC-4721-A8E3-E6E95C27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8A4C"/>
                </a:solidFill>
              </a:defRPr>
            </a:pPr>
            <a:r>
              <a:rPr sz="285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CC26E-404D-4831-9DEA-9205A2F1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628E6-2B04-4752-B9F9-FD6E4A2B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PAUSE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2D435-B6E0-44DD-B91F-2324FFC8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6700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8A4C"/>
                </a:solidFill>
              </a:defRPr>
            </a:pPr>
            <a:r>
              <a:rPr sz="285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C3C2B-1342-4E9A-91E0-5047608E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1A551-FCB7-422D-B3D7-7D76C7CA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SEEK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22CB5-5820-4579-B356-9097E458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8A4C"/>
                </a:solidFill>
              </a:defRPr>
            </a:pPr>
            <a:r>
              <a:rPr sz="285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DFBE9-67EC-47CB-A8BB-1BABC12E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F1B8F-45B7-4689-A2C7-9B92393E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241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STOP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2C7F6-CFFE-4136-860D-8B454433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2606D"/>
                </a:solidFill>
              </a:defRPr>
            </a:pPr>
            <a:r>
              <a:rPr sz="2025" b="1">
                <a:solidFill>
                  <a:srgbClr val="52606D"/>
                </a:solidFill>
              </a:rPr>
              <a:t>utente • contenuto • tempo • dispositivo • paese • qualità</a:t>
            </a:r>
          </a:p>
        </p:txBody>
      </p:sp>
    </p:spTree>
    <p:extLst>
      <p:ext uri="{BB962C8B-B14F-4D97-AF65-F5344CB8AC3E}">
        <p14:creationId xmlns:p14="http://schemas.microsoft.com/office/powerpoint/2010/main" val="13021167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9290B-DC6D-4BBF-A6C3-DF10DAF0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LE 5 V DEL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52BE3-999A-47CA-9057-C4F89D36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V — VOLUME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F4265-286B-4BF7-9BC8-5ADF4732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58AFC-5BA6-4E5D-8DFF-5331D201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000250" cy="25717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8E06B-4C7F-44F4-9582-5285EB8C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142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0B1F33"/>
                </a:solidFill>
              </a:defRPr>
            </a:pPr>
            <a:r>
              <a:rPr sz="8400" b="1">
                <a:solidFill>
                  <a:srgbClr val="0B1F33"/>
                </a:solidFill>
              </a:rPr>
              <a:t>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C2A36-FD43-47E7-B898-2DF671F3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Quanto dato dobbiamo conservare?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A49B8-1D32-4288-8D03-91C61301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8D4DE"/>
                </a:solidFill>
              </a:defRPr>
            </a:pPr>
            <a:r>
              <a:rPr sz="2025" b="0">
                <a:solidFill>
                  <a:srgbClr val="C8D4DE"/>
                </a:solidFill>
              </a:rPr>
              <a:t>Miliardi di eventi, video, log e copie di sicurezza.</a:t>
            </a:r>
          </a:p>
        </p:txBody>
      </p:sp>
    </p:spTree>
    <p:extLst>
      <p:ext uri="{BB962C8B-B14F-4D97-AF65-F5344CB8AC3E}">
        <p14:creationId xmlns:p14="http://schemas.microsoft.com/office/powerpoint/2010/main" val="5154096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27AEA-E84A-4BA4-A78B-9CAF38BB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LE 5 V DEL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17156-AD17-48DF-975F-C9BF0494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V — VELOCITY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54CED-27CE-4C00-8B34-9E925AFC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DB0D7-5655-4F5B-AA28-3D94626E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000250" cy="25717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6F0BE-4289-4D74-AACD-6A4ED286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142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0B1F33"/>
                </a:solidFill>
              </a:defRPr>
            </a:pPr>
            <a:r>
              <a:rPr sz="8400" b="1">
                <a:solidFill>
                  <a:srgbClr val="0B1F33"/>
                </a:solidFill>
              </a:rPr>
              <a:t>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7C5E8-781D-4D9F-BDA9-69B44710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Quanto rapidamente arriva e va elaborato?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E4A38-3459-4B5E-8F87-1C4B3580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8D4DE"/>
                </a:solidFill>
              </a:defRPr>
            </a:pPr>
            <a:r>
              <a:rPr sz="2025" b="0">
                <a:solidFill>
                  <a:srgbClr val="C8D4DE"/>
                </a:solidFill>
              </a:rPr>
              <a:t>Click, telemetria e rilevamento frodi possono richiedere risposte quasi immediate.</a:t>
            </a:r>
          </a:p>
        </p:txBody>
      </p:sp>
    </p:spTree>
    <p:extLst>
      <p:ext uri="{BB962C8B-B14F-4D97-AF65-F5344CB8AC3E}">
        <p14:creationId xmlns:p14="http://schemas.microsoft.com/office/powerpoint/2010/main" val="13607169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52F09-E24A-4F48-BE98-55A1B5E6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LE 5 V DEL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73FF0-949E-4EC2-9CDA-52D517E0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V — VARIETY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7AB91-E29C-44CE-9C34-7B0D68CB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2FE25-2022-48A8-BA4C-0D8B3FE4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000250" cy="25717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7A9F0-29CA-4AC3-969D-E332E5E3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142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0B1F33"/>
                </a:solidFill>
              </a:defRPr>
            </a:pPr>
            <a:r>
              <a:rPr sz="8400" b="1">
                <a:solidFill>
                  <a:srgbClr val="0B1F33"/>
                </a:solidFill>
              </a:rPr>
              <a:t>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2E11C-E0FF-4FF8-AE68-A889D8C2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Quante forme diverse assume?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38A60-29FE-45EB-BF95-86955A75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8D4DE"/>
                </a:solidFill>
              </a:defRPr>
            </a:pPr>
            <a:r>
              <a:rPr sz="2025" b="0">
                <a:solidFill>
                  <a:srgbClr val="C8D4DE"/>
                </a:solidFill>
              </a:rPr>
              <a:t>Tabelle, JSON, log, immagini, audio, video e dati da sensori.</a:t>
            </a:r>
          </a:p>
        </p:txBody>
      </p:sp>
    </p:spTree>
    <p:extLst>
      <p:ext uri="{BB962C8B-B14F-4D97-AF65-F5344CB8AC3E}">
        <p14:creationId xmlns:p14="http://schemas.microsoft.com/office/powerpoint/2010/main" val="17479060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3308C-4757-4407-863B-EE192794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LE 5 V DEL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58177-3422-47B8-908F-842C3128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V — VERACITY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8830E-3EDD-4991-81AB-38672F15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E1DAD-9CCB-4ADA-9D54-588FFDC1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000250" cy="25717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9CA80-F22F-43DB-A1D3-29A6D068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142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0B1F33"/>
                </a:solidFill>
              </a:defRPr>
            </a:pPr>
            <a:r>
              <a:rPr sz="8400" b="1">
                <a:solidFill>
                  <a:srgbClr val="0B1F33"/>
                </a:solidFill>
              </a:rPr>
              <a:t>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0D93D-1FAA-456B-9FCC-1F86727B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Quanto possiamo fidarci del dato?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FF50A-83F6-4899-AA99-27E5A188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8D4DE"/>
                </a:solidFill>
              </a:defRPr>
            </a:pPr>
            <a:r>
              <a:rPr sz="2025" b="0">
                <a:solidFill>
                  <a:srgbClr val="C8D4DE"/>
                </a:solidFill>
              </a:rPr>
              <a:t>Duplicati, errori, valori mancanti, bot e sorgenti incoerenti.</a:t>
            </a:r>
          </a:p>
        </p:txBody>
      </p:sp>
    </p:spTree>
    <p:extLst>
      <p:ext uri="{BB962C8B-B14F-4D97-AF65-F5344CB8AC3E}">
        <p14:creationId xmlns:p14="http://schemas.microsoft.com/office/powerpoint/2010/main" val="6922972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F87CA-1075-47B3-89BB-336C3C92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LE 5 V DEL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BC205-8C48-4C26-BBE8-E3F8CA0F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V —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0FF86-0C59-4715-9A77-0128D79C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02FB3-3323-46E3-A811-EA00E1C6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000250" cy="25717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A3C3C-748F-4078-9EA1-5BBA72B9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142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0B1F33"/>
                </a:solidFill>
              </a:defRPr>
            </a:pPr>
            <a:r>
              <a:rPr sz="8400" b="1">
                <a:solidFill>
                  <a:srgbClr val="0B1F33"/>
                </a:solidFill>
              </a:rPr>
              <a:t>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9B64B-DFD5-4914-BA90-0E1F510D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Quale decisione o risultato produce?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7D9F5-C1FE-475C-80FC-D5FE7B1A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8D4DE"/>
                </a:solidFill>
              </a:defRPr>
            </a:pPr>
            <a:r>
              <a:rPr sz="2025" b="0">
                <a:solidFill>
                  <a:srgbClr val="C8D4DE"/>
                </a:solidFill>
              </a:rPr>
              <a:t>Recommendation, qualità del servizio, sicurezza e nuove opportunità.</a:t>
            </a:r>
          </a:p>
        </p:txBody>
      </p:sp>
    </p:spTree>
    <p:extLst>
      <p:ext uri="{BB962C8B-B14F-4D97-AF65-F5344CB8AC3E}">
        <p14:creationId xmlns:p14="http://schemas.microsoft.com/office/powerpoint/2010/main" val="1234563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C7CB6-90E7-4413-8FEE-59A41E77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BIG DATA • LEZIONE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3B543-EFA6-491D-BC3D-1A0E87A9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Le V lavorano insieme, non in isolamento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2344E-0A4A-4582-AAFC-C0126346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D837A-8A36-47EC-970D-282718E6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VOLUME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526B7-0B29-4A9C-A99D-C8124008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VELOCITY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D99D4-44B4-42B9-B193-98426131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VARIETY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C7889-649B-4DB6-9EC2-1842E3BD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767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VERACITY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5AF87-BCDF-4C3F-B56D-8D617B88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71DAB-7720-486A-9986-CE8DD556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C2081-C7AD-4827-AC87-5702221F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3875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06D"/>
                </a:solidFill>
              </a:defRPr>
            </a:pPr>
            <a:r>
              <a:rPr sz="1650" b="1">
                <a:solidFill>
                  <a:srgbClr val="52606D"/>
                </a:solidFill>
              </a:rPr>
              <a:t>Il valore è il motivo per cui affrontiamo la complessità.</a:t>
            </a:r>
          </a:p>
        </p:txBody>
      </p:sp>
    </p:spTree>
    <p:extLst>
      <p:ext uri="{BB962C8B-B14F-4D97-AF65-F5344CB8AC3E}">
        <p14:creationId xmlns:p14="http://schemas.microsoft.com/office/powerpoint/2010/main" val="1537311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6F8CA-5B33-4F33-A594-40E7E310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BIG DATA • LEZIONE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67B6B-4225-403A-92A0-DC5B7BF5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Due V aggiuntive aiutano a leggere il mondo reale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56AEE-D518-4A6B-B5CE-12681BAB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14A82-F052-4C83-A7C0-53208FB1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143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DA873-821C-46A8-B456-DAE5B9D0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336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VARIABILITY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50C40-907A-4386-8897-ABF75134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9562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Il significato e il ritmo dei dati cambiano nel tempo.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550B7-7D2D-453D-9BFC-A9BF4AA7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5143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32074-6C9F-4F21-B806-3906FD14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336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VISUALIZATION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952D9-3BF0-488B-BEAF-8D05882C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9562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Rendere comprensibili pattern, anomalie e decisioni.</a:t>
            </a:r>
          </a:p>
        </p:txBody>
      </p:sp>
    </p:spTree>
    <p:extLst>
      <p:ext uri="{BB962C8B-B14F-4D97-AF65-F5344CB8AC3E}">
        <p14:creationId xmlns:p14="http://schemas.microsoft.com/office/powerpoint/2010/main" val="12549039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93C83-2CB4-432E-AA5B-E5DFA3D7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BIG DATA • LEZIONE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11FF5-099A-45DE-AB5B-A751C0F8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Lo stesso concetto cambia settore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D89FE-9746-4A08-9625-21A7499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57637-B720-4BA9-9611-C3344049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381250" cy="261937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36B49-B637-418A-AE67-68B95701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BANCA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E7BB4-9668-4E95-90CC-A8813104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transazioni • frodi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CE913-82C5-449B-BFDE-D5752D4B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47875"/>
            <a:ext cx="2381250" cy="261937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ABC73-D11B-441C-8408-5DA35C80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622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OSPEDALE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29118-CBC0-4C8A-A983-05F44B47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referti • immagini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8E5A4-69FF-477A-A436-C7674A41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47875"/>
            <a:ext cx="2381250" cy="261937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F1366-95D2-47F4-A4B0-82702A2A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SMART 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DB626-E87B-4231-9214-F2169D36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sensori • traffico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84BE3-6619-4349-A4BA-5F476436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47875"/>
            <a:ext cx="2381250" cy="261937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21FB9-9053-4107-BB61-F692DB19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SOC CYBER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632E9-6638-4ADD-B1AF-3AB41E94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log • alert</a:t>
            </a:r>
          </a:p>
        </p:txBody>
      </p:sp>
    </p:spTree>
    <p:extLst>
      <p:ext uri="{BB962C8B-B14F-4D97-AF65-F5344CB8AC3E}">
        <p14:creationId xmlns:p14="http://schemas.microsoft.com/office/powerpoint/2010/main" val="204440689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A0B12-190C-4357-9042-BDFF61FD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BIG DATA • LEZIONE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E760B-D254-441D-92F8-96AE65EA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Big Data non è sempre la risposta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98BC2-9B7A-48DD-AD04-D2244556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7D89E-B767-4BA4-8A66-DC6CC13D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3E638-D47B-41CB-88FF-1A931826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F8EC5-586E-416A-9645-D005BE99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USA STRUMENTI SEMPLICI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43A32-9B2A-4A47-BF27-2F44CE7A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4286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Dataset gestibile</a:t>
            </a:r>
          </a:p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Query prevedibili</a:t>
            </a:r>
          </a:p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Decisioni periodiche</a:t>
            </a:r>
          </a:p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Costi contenuti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97FD8-9E0E-4783-972C-BADE6AB9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VALUTA BIG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DB1D5-FEFE-454F-94F8-85713A1E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4286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Scala distribuita</a:t>
            </a:r>
          </a:p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Flussi veloci</a:t>
            </a:r>
          </a:p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Formati eterogenei</a:t>
            </a:r>
          </a:p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Elaborazioni parallele</a:t>
            </a:r>
          </a:p>
        </p:txBody>
      </p:sp>
    </p:spTree>
    <p:extLst>
      <p:ext uri="{BB962C8B-B14F-4D97-AF65-F5344CB8AC3E}">
        <p14:creationId xmlns:p14="http://schemas.microsoft.com/office/powerpoint/2010/main" val="12261939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DABB4-248A-49D8-B0A0-BB5D0840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ATTIVITÀ • 10 MINUTI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A413A-7C54-4C0B-9294-51DA610A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Challenge: è davvero Big Data?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E6CD4-85C3-464E-91B9-6A1D4A93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C52FD-689F-44E7-BB64-342CB0C4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0B8D9"/>
                </a:solidFill>
              </a:defRPr>
            </a:pPr>
            <a:r>
              <a:rPr sz="3900" b="1">
                <a:solidFill>
                  <a:srgbClr val="00B8D9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89D9D-A5B8-4783-8FB7-5CE5B0F1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4787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Un CSV da 8 GB aggiornato ogni mese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1D082-4D2E-4C5B-9ECE-8AEA89AD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8A4C"/>
                </a:solidFill>
              </a:defRPr>
            </a:pPr>
            <a:r>
              <a:rPr sz="3900" b="1">
                <a:solidFill>
                  <a:srgbClr val="FF8A4C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96EBF-43EB-48A5-80C2-3CA73E01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9087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100.000 sensori che inviano dati ogni secondo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840F8-6AD2-4071-A0F0-A0B7D1EC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B7E34B"/>
                </a:solidFill>
              </a:defRPr>
            </a:pPr>
            <a:r>
              <a:rPr sz="3900" b="1">
                <a:solidFill>
                  <a:srgbClr val="B7E34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AF08C-3220-4438-AD43-9BBA7CD3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3387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10 milioni di video da classificare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DB2F2-9416-4FEC-ABDD-A618BA6E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816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2606D"/>
                </a:solidFill>
              </a:defRPr>
            </a:pPr>
            <a:r>
              <a:rPr sz="1800" b="1">
                <a:solidFill>
                  <a:srgbClr val="52606D"/>
                </a:solidFill>
              </a:rPr>
              <a:t>Scegli • motiva • indica le V dominanti</a:t>
            </a:r>
          </a:p>
        </p:txBody>
      </p:sp>
    </p:spTree>
    <p:extLst>
      <p:ext uri="{BB962C8B-B14F-4D97-AF65-F5344CB8AC3E}">
        <p14:creationId xmlns:p14="http://schemas.microsoft.com/office/powerpoint/2010/main" val="9296855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6D166-3A0C-4742-8836-F76F9BF5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LAB • LAVORO DI SQUADRA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6FBA3-0538-4733-A92F-94820884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Laboratorio — Data Detective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A33E4-AB35-4F28-8063-C740E1E9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C5852-861A-42C6-8AFB-F55C65A5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Ogni squadra riceve un’azienda.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54CC3-442C-4BAF-9512-B2D2B76E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B8D9"/>
                </a:solidFill>
              </a:defRPr>
            </a:pPr>
            <a:r>
              <a:rPr sz="1425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11364-E0AA-4A2A-AF83-F0C43235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860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Identifica i dati prodotti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9A733-9931-42DB-A7BA-2F3AE6EF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480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B8D9"/>
                </a:solidFill>
              </a:defRPr>
            </a:pPr>
            <a:r>
              <a:rPr sz="1425" b="1">
                <a:solidFill>
                  <a:srgbClr val="00B8D9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1245C-8637-4B02-B1F8-115F343A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194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Classifica formato e velocità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AB3B9-695A-4F3B-ACFE-9C955EB0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814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B8D9"/>
                </a:solidFill>
              </a:defRPr>
            </a:pPr>
            <a:r>
              <a:rPr sz="1425" b="1">
                <a:solidFill>
                  <a:srgbClr val="00B8D9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EF5DC-4DA0-41CF-8C24-2D24A191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528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Trova le V dominanti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C8A55-A5C3-43C0-B71E-4FE2E748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148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B8D9"/>
                </a:solidFill>
              </a:defRPr>
            </a:pPr>
            <a:r>
              <a:rPr sz="1425" b="1">
                <a:solidFill>
                  <a:srgbClr val="00B8D9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39FA5-B970-43FA-8AAF-C6FB71AB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862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Proponi dove conservarli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67FCE-30A6-4773-9EAB-C31FAF5D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482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B8D9"/>
                </a:solidFill>
              </a:defRPr>
            </a:pPr>
            <a:r>
              <a:rPr sz="1425" b="1">
                <a:solidFill>
                  <a:srgbClr val="00B8D9"/>
                </a:solidFill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4C21C-5975-482A-AA19-13FE1351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196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Spiega quale valore generano</a:t>
            </a:r>
          </a:p>
        </p:txBody>
      </p:sp>
    </p:spTree>
    <p:extLst>
      <p:ext uri="{BB962C8B-B14F-4D97-AF65-F5344CB8AC3E}">
        <p14:creationId xmlns:p14="http://schemas.microsoft.com/office/powerpoint/2010/main" val="199253464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054FFA-00F2-4EE5-8DA8-DF52A9A1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LAB • DATA DETECTIVE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CD2DA-B916-44FE-98D9-67684B67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La scheda di indagine guida il ragionamento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A2DC6-FA5C-4042-BBE0-D701F37E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9C8AF-526C-423C-B920-2CEBDEA0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37CF7-B725-4CF6-B689-A1270A0D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Chi produce il dato?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DA08B-9F6F-4D75-9FEB-A055FF38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050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8A4C"/>
                </a:solidFill>
              </a:defRPr>
            </a:pPr>
            <a:r>
              <a:rPr sz="195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C9405-E50F-4B2C-85E4-DD3E376E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786C0-E028-4617-AC98-93009250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In quale formato nasce?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D2490-0B80-484D-8B17-9A8FD56D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479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8A4C"/>
                </a:solidFill>
              </a:defRPr>
            </a:pPr>
            <a:r>
              <a:rPr sz="195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A2F47-5683-4424-B738-14CF1F7B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D81E3-F160-49E2-94E9-F842470F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Con quale frequenza arriva?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A3001-129D-4022-B050-5515AD02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90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8A4C"/>
                </a:solidFill>
              </a:defRPr>
            </a:pPr>
            <a:r>
              <a:rPr sz="195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BBF72-33EB-44AD-819A-73C6047C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F81B8-4192-4357-8AB8-20EA871A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Dove viene conservato?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6D6B5-8B95-471F-831F-66FCF6A3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338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8A4C"/>
                </a:solidFill>
              </a:defRPr>
            </a:pPr>
            <a:r>
              <a:rPr sz="195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ACCC8-7FBB-4239-B46B-EF6601F4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0B1B5-6A93-4A79-B666-CB138619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Quale decisione abilita?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8FC2E-109F-43FE-B798-4F142A33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8768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8A4C"/>
                </a:solidFill>
              </a:defRPr>
            </a:pPr>
            <a:r>
              <a:rPr sz="1950" b="1">
                <a:solidFill>
                  <a:srgbClr val="FF8A4C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05476686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0146DF-6B3D-4DDF-911B-D91EE5EC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BIG DATA • LEZIONE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E1EA5-82D1-47C7-9BBD-5B19FEC4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Cosa rende forte una presentazione di squadra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53D9B-0D4D-4155-ADB6-6A1F2D76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567EE-88FA-40B4-B39A-5D1009CE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25241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C5AED-312D-4F7D-BCD1-8B266170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CHIAREZZA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5F689-457D-43AF-B6F4-B7FE6DA6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Il problema è comprensibile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5AA1D-A08A-4C1F-AA1F-E26DADE6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95500"/>
            <a:ext cx="2381250" cy="25241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9D458-421F-4631-98BE-4BA07922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EVIDENZA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99636-91E7-43DD-8666-772CC333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432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Gli esempi supportano la scelta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63F4E-356A-401B-8FEF-271C7238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2381250" cy="25241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74BC1-6FF8-4116-993F-42ACEAE3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TRADE-OFF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43F6C-A732-4DE7-AF22-2A3E79B9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Mostra limiti e costi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8AB64-1254-4136-B8B1-8ABDC2BE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95500"/>
            <a:ext cx="2381250" cy="25241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6571A-00EC-48A1-B9D4-9C0E2C68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81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VALORE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8337E-3D71-41CD-A5A1-0BA8A431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Collega dati e decisioni</a:t>
            </a:r>
          </a:p>
        </p:txBody>
      </p:sp>
    </p:spTree>
    <p:extLst>
      <p:ext uri="{BB962C8B-B14F-4D97-AF65-F5344CB8AC3E}">
        <p14:creationId xmlns:p14="http://schemas.microsoft.com/office/powerpoint/2010/main" val="57024751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D30E3-FD4A-4D88-8822-EE2CAF20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VERIFICA • INDIVIDUALE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5F557-BE0B-4083-A9B0-F6A6DA46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Quiz finale — 5 domande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55422-1DA4-4E45-99A1-F1BF29F1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BA773-42C3-4CBD-A33F-C53407E4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1. Dato e informazione sono sinonimi?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B5BD3-F071-41E5-9DA6-327DD247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050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2. JSON è sempre un dato non strutturato?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25FEA-B8F7-490D-BD4E-BACF26EE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4802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3. Quale V riguarda affidabilità e qualità?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AD122-B0B0-4198-96EA-6DDCEE50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4. Un file enorme è automaticamente Big Data?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75AFC-F5B5-4C16-B56B-5992BE11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3392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5. Perché Value è fondamentale?</a:t>
            </a:r>
          </a:p>
        </p:txBody>
      </p:sp>
    </p:spTree>
    <p:extLst>
      <p:ext uri="{BB962C8B-B14F-4D97-AF65-F5344CB8AC3E}">
        <p14:creationId xmlns:p14="http://schemas.microsoft.com/office/powerpoint/2010/main" val="97798880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D4D31-BFA6-400B-B565-482377F0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QUIZ • CORREZIONE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451F8-D905-479A-8C20-9DF35B83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Le risposte corrette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CE74D-7EB8-4A61-AFB8-A0C92911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7B4B0-DF08-45D4-9C90-C1826E18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8A4C"/>
                </a:solidFill>
              </a:defRPr>
            </a:pPr>
            <a:r>
              <a:rPr sz="2100" b="1">
                <a:solidFill>
                  <a:srgbClr val="FF8A4C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DE60C-DCEC-4B98-8BC8-B581B39D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762125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No: il contesto crea informazione.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03090-19B1-4BE7-B158-02F4E0AE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8A4C"/>
                </a:solidFill>
              </a:defRPr>
            </a:pPr>
            <a:r>
              <a:rPr sz="2100" b="1">
                <a:solidFill>
                  <a:srgbClr val="FF8A4C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D210A-B8BB-4ED7-BC1D-A523A6BD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05075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No: JSON è semi-strutturato.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CEB80-97DA-440A-A642-8B855C56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480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8A4C"/>
                </a:solidFill>
              </a:defRPr>
            </a:pPr>
            <a:r>
              <a:rPr sz="2100" b="1">
                <a:solidFill>
                  <a:srgbClr val="FF8A4C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5902A-D17F-45CF-89BB-045CF9FF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48025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Veracity.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9385E-E681-4FA3-A48C-1C24ED2C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909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8A4C"/>
                </a:solidFill>
              </a:defRPr>
            </a:pPr>
            <a:r>
              <a:rPr sz="2100" b="1">
                <a:solidFill>
                  <a:srgbClr val="FF8A4C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CC947-5362-4F45-937B-32A16D30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90975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No: contano requisiti e combinazione delle V.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673ED-29F8-4649-8E63-65DF12E6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8A4C"/>
                </a:solidFill>
              </a:defRPr>
            </a:pPr>
            <a:r>
              <a:rPr sz="2100" b="1">
                <a:solidFill>
                  <a:srgbClr val="FF8A4C"/>
                </a:solidFill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FB780-5F4B-42FE-B641-3C11DA13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33925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Senza valore, i dati sono soltanto costo e rischio.</a:t>
            </a:r>
          </a:p>
        </p:txBody>
      </p:sp>
    </p:spTree>
    <p:extLst>
      <p:ext uri="{BB962C8B-B14F-4D97-AF65-F5344CB8AC3E}">
        <p14:creationId xmlns:p14="http://schemas.microsoft.com/office/powerpoint/2010/main" val="168610508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BF9F3-0739-4F86-90EA-E87839CA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BIG DATA • LEZIONE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199E3-6C28-49B7-A209-02286D7E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Oggi abbiamo costruito le fondamenta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5E69B-85C7-4473-89A6-1EE4BB9E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54E2C-167F-48DE-B79E-12D75D91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B8D9"/>
                </a:solidFill>
              </a:defRPr>
            </a:pPr>
            <a:r>
              <a:rPr sz="2100" b="1">
                <a:solidFill>
                  <a:srgbClr val="00B8D9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28FDC-89C2-4E44-AFDD-597FF663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8097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</a:defRPr>
            </a:pPr>
            <a:r>
              <a:rPr sz="1950" b="0">
                <a:solidFill>
                  <a:srgbClr val="111827"/>
                </a:solidFill>
              </a:rPr>
              <a:t>Dato → informazione → decisione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672A0-AEC0-47C9-AD19-13BECF73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B8D9"/>
                </a:solidFill>
              </a:defRPr>
            </a:pPr>
            <a:r>
              <a:rPr sz="2100" b="1">
                <a:solidFill>
                  <a:srgbClr val="00B8D9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CFD09-E4BA-4128-A986-7646B10F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24125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</a:defRPr>
            </a:pPr>
            <a:r>
              <a:rPr sz="1950" b="0">
                <a:solidFill>
                  <a:srgbClr val="111827"/>
                </a:solidFill>
              </a:rPr>
              <a:t>Strutturato • semi-strutturato • non strutturato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E3870-9CF9-41EB-9B33-A3581AA5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B8D9"/>
                </a:solidFill>
              </a:defRPr>
            </a:pPr>
            <a:r>
              <a:rPr sz="2100" b="1">
                <a:solidFill>
                  <a:srgbClr val="00B8D9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98D67-3A20-4353-A060-413BFAF2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38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</a:defRPr>
            </a:pPr>
            <a:r>
              <a:rPr sz="1950" b="0">
                <a:solidFill>
                  <a:srgbClr val="111827"/>
                </a:solidFill>
              </a:rPr>
              <a:t>Big Data ≠ file molto grande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80DEB-DA8A-4CCB-9432-72539BD0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528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B8D9"/>
                </a:solidFill>
              </a:defRPr>
            </a:pPr>
            <a:r>
              <a:rPr sz="2100" b="1">
                <a:solidFill>
                  <a:srgbClr val="00B8D9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18436-C864-4492-8B96-B37BDCB9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52875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</a:defRPr>
            </a:pPr>
            <a:r>
              <a:rPr sz="1950" b="0">
                <a:solidFill>
                  <a:srgbClr val="111827"/>
                </a:solidFill>
              </a:rPr>
              <a:t>5 V: Volume, Velocity, Variety, Veracity,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0A24E-BB1B-46A5-955C-2F514433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672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B8D9"/>
                </a:solidFill>
              </a:defRPr>
            </a:pPr>
            <a:r>
              <a:rPr sz="2100" b="1">
                <a:solidFill>
                  <a:srgbClr val="00B8D9"/>
                </a:solidFill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6BF8D-AF42-492A-86BC-222B8FAE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672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La tecnologia nasce dal problema</a:t>
            </a:r>
          </a:p>
        </p:txBody>
      </p:sp>
    </p:spTree>
    <p:extLst>
      <p:ext uri="{BB962C8B-B14F-4D97-AF65-F5344CB8AC3E}">
        <p14:creationId xmlns:p14="http://schemas.microsoft.com/office/powerpoint/2010/main" val="200886280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D930D-FE58-4582-A9F9-8505E813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IL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5727B-6652-4F7C-9614-FC1B299F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 prossima domanda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1BF0B-0731-4E5B-A0CE-454390B3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B476C-41BC-4DA2-B7F1-08CB7066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B7E34B"/>
                </a:solidFill>
              </a:defRPr>
            </a:pPr>
            <a:r>
              <a:rPr sz="8250" b="1">
                <a:solidFill>
                  <a:srgbClr val="B7E34B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01115-08E0-4002-A02F-834E685F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8858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Cosa succede quando DATAFLIX passa da 10.000 a 50 milioni di utenti?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AC8CD-0FBC-4E36-9399-67CA9647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910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ADF36-9BB2-4E4A-8BFA-30CC2AF4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00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0BF"/>
                </a:solidFill>
              </a:defRPr>
            </a:pPr>
            <a:r>
              <a:rPr sz="1200" b="1">
                <a:solidFill>
                  <a:srgbClr val="9FB0BF"/>
                </a:solidFill>
              </a:rPr>
              <a:t>PROSSIMA LEZIONE • SCALABILITÀ</a:t>
            </a:r>
          </a:p>
        </p:txBody>
      </p:sp>
    </p:spTree>
    <p:extLst>
      <p:ext uri="{BB962C8B-B14F-4D97-AF65-F5344CB8AC3E}">
        <p14:creationId xmlns:p14="http://schemas.microsoft.com/office/powerpoint/2010/main" val="1334650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2026-09-02T18:37:18.6150000Z</dcterms:created>
  <dcterms:modified xsi:type="dcterms:W3CDTF">2026-09-02T18:37:18.6150000Z</dcterms:modified>
</coreProperties>
</file>