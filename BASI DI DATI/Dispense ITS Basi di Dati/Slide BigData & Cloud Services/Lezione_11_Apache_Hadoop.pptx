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0" roundtripDataSignature="AMtx7mic3JatDKeR61NLnb5FvuXUm0ae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Apri collegandoti alla Lezione 10: abbiamo deciso dove vivono i dati. Ora dobbiamo elaborarli quando volume, tempo e affidabilità superano i limiti di una sola macchina.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Overview: https://hadoop.apache.org/docs/current/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Non nominare subito Hadoop. Fai emergere i limiti di CPU, disco, memoria, rete e finestra temporale. Hadoop entrerà come risposta architetturale, non come definizione da imparare.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 valori derivati sono approssimazioni dello scenario didattico: cinque miliardi diviso 86.400 secondi. Servono a far ragionare su media, picco e capacità, non a descrivere una piattaforma reale.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Riprendi scale-up e scale-out. Un server più grande può essere utile, ma mantiene limiti fisici, costo concentrato e failure domain unico. Hadoop nasce per dividere il lavoro.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 semplice divisione non basta: bisogna sapere dove sono i dati, assegnare risorse, seguire i task e reagire ai guasti. Le componenti Hadoop separano queste responsabilità.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94" name="Google Shape;9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Presenta Hadoop come insieme di componenti coordinati. HDFS, YARN e MapReduce rispondono a problemi diversi; Hadoop Common offre il terreno condiviso.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Overview: https://hadoop.apache.org/docs/current/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HDFS Architecture: https://hadoop.apache.org/docs/current/hadoop-project-dist/hadoop-hdfs/HdfsDesign.html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YARN Architecture: https://hadoop.apache.org/docs/current/hadoop-yarn/hadoop-yarn-site/YARN.html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MapReduce Tutorial: https://hadoop.apache.org/docs/current/hadoop-mapreduce-client/hadoop-mapreduce-client-core/MapReduceTutorial.html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Correggi subito l’equivoco più comune. Hadoop può contenere file e supportare elaborazioni; non sostituisce automaticamente PostgreSQL, MongoDB o i sistemi operativi progettati nel Modulo 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37" name="Google Shape;13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Le assunzioni HDFS spiegano decisioni che altrimenti sembrano strane: preferenza per throughput, file grandi, batch e località del calcolo. Il guasto è previsto, non eccezionale.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HDFS Architecture: https://hadoop.apache.org/docs/current/hadoop-project-dist/hadoop-hdfs/HdfsDesign.html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48" name="Google Shape;14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Usa questi quattro verbi come mappa della lezione. Chiedi agli studenti quale componente potrebbe occuparsi di ciascuno.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86" name="Google Shape;18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 pila non significa che ogni applicazione usi obbligatoriamente tutti i livelli nello stesso modo. Serve a separare ruoli: persistenza, risorse, engine e strumenti.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Overview: https://hadoop.apache.org/docs/current/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07" name="Google Shape;20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Common non è la parte più visibile, ma rende coerenti configurazione, I/O e comunicazione. Evita di ridurlo a “una libreria”.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Overview: https://hadoop.apache.org/docs/current/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Cluster Setup: https://hadoop.apache.org/docs/current/hadoop-project-dist/hadoop-common/ClusterSetup.html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30" name="Google Shape;23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Fornisci soltanto la vista necessaria per capire Hadoop. Il client chiede metadata al NameNode e scambia i dati con i DataNode. Approfondiremo HDFS nella prossima lezione.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HDFS Architecture: https://hadoop.apache.org/docs/current/hadoop-project-dist/hadoop-hdfs/HdfsDesign.html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68" name="Google Shape;26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YARN separa resource management da scheduling e monitoring delle applicazioni. ResourceManager è globale; ogni applicazione ha un ApplicationMaster; ogni macchina ha un NodeManager.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YARN Architecture: https://hadoop.apache.org/docs/current/hadoop-yarn/hadoop-yarn-site/YARN.html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93" name="Google Shape;293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Non insegnare ancora l’algoritmo in dettaglio. Qui interessa il ruolo di MapReduce nell’ecosistema e il fatto che il framework gestisca scheduling, monitoraggio e retry. La Lezione 13 lo renderà concreto.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MapReduce Tutorial: https://hadoop.apache.org/docs/current/hadoop-mapreduce-client/hadoop-mapreduce-client-core/MapReduceTutorial.html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18" name="Google Shape;318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Questa distinzione evita molte confusioni nel laboratorio. Un nodo può eseguire più daemon; un daemon non è un container Docker; un container YARN è un’allocazione di risorse.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39" name="Google Shape;339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 documentazione di cluster setup colloca tipicamente NameNode e ResourceManager sui master, mentre i restanti nodi agiscono sia da DataNode sia da NodeManager.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Cluster Setup: https://hadoop.apache.org/docs/current/hadoop-project-dist/hadoop-common/ClusterSetup.html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83" name="Google Shape;383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8" name="Google Shape;408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Usa il confronto per spiegare perché i master non devono diventare il percorso di tutti i byte. Il NameNode governa metadata; i dati fluiscono tra client e DataNode.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409" name="Google Shape;409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5" name="Google Shape;425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Spiega il NameNode come indice e autorità del namespace. I dati utente non passano attraverso di lui; questo evita un collo di bottiglia centrale sul payload.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HDFS Architecture: https://hadoop.apache.org/docs/current/hadoop-project-dist/hadoop-hdfs/HdfsDesign.html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426" name="Google Shape;426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4" name="Google Shape;454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Il DataNode gestisce lo storage collegato alla macchina e risponde alle richieste dati. Riceve dal NameNode istruzioni di creazione, eliminazione e replica.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HDFS Architecture: https://hadoop.apache.org/docs/current/hadoop-project-dist/hadoop-hdfs/HdfsDesign.html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455" name="Google Shape;455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6" name="Google Shape;486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Il ResourceManager ha Scheduler e ApplicationsManager. Lo Scheduler assegna risorse, mentre il monitoraggio dettagliato del job è responsabilità dell’ApplicationMaster.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YARN Architecture: https://hadoop.apache.org/docs/current/hadoop-yarn/hadoop-yarn-site/YARN.html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487" name="Google Shape;487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4" name="Google Shape;504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Il NodeManager è l’agente per macchina. Gestisce container, monitora uso delle risorse e riferisce al ResourceManager. Non è un worker applicativo unico: ospita più esecuzioni.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YARN Architecture: https://hadoop.apache.org/docs/current/hadoop-yarn/hadoop-yarn-site/YARN.html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505" name="Google Shape;505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9" name="Google Shape;529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L’ApplicationMaster è specifico del framework e dell’applicazione. Negozia risorse e segue l’esecuzione. Questo separa la politica globale dal coordinamento del singolo job.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YARN Architecture: https://hadoop.apache.org/docs/current/hadoop-yarn/hadoop-yarn-site/YARN.html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530" name="Google Shape;530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0" name="Google Shape;550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Questo chiarimento è essenziale perché il laboratorio usa Docker per ospitare Hadoop. Dentro Docker, YARN continuerà a parlare dei propri container come allocazioni di risorse.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551" name="Google Shape;551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7" name="Google Shape;567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Fai leggere la sequenza da sinistra a destra. Il client invia, il ResourceManager avvia l’AM, l’AM negozia, i NodeManager lanciano e il job viene monitorato fino al completamento.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YARN Architecture: https://hadoop.apache.org/docs/current/hadoop-yarn/hadoop-yarn-site/YARN.html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568" name="Google Shape;568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5" name="Google Shape;605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 configurazione tipica esegue HDFS e YARN sui medesimi worker. Il framework può così scegliere un nodo che possiede già il blocco richiesto.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Cluster Setup: https://hadoop.apache.org/docs/current/hadoop-project-dist/hadoop-common/ClusterSetup.html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MapReduce Tutorial: https://hadoop.apache.org/docs/current/hadoop-mapreduce-client/hadoop-mapreduce-client-core/MapReduceTutorial.html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606" name="Google Shape;606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4" name="Google Shape;624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HDFS esplicita il principio che spesso è più efficiente muovere il calcolo vicino ai dati. Non significa che la rete sparisca: shuffle e replica continueranno a usarla.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HDFS Architecture: https://hadoop.apache.org/docs/current/hadoop-project-dist/hadoop-hdfs/HdfsDesign.html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MapReduce Tutorial: https://hadoop.apache.org/docs/current/hadoop-mapreduce-client/hadoop-mapreduce-client-core/MapReduceTutorial.html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625" name="Google Shape;625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1" name="Google Shape;641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Evita l’idea che Hadoop elimini il traffico di rete. Lo riduce e lo pianifica dove possibile; shuffle, replica, ingest e output rimangono costi fondamentali.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642" name="Google Shape;642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9" name="Google Shape;679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Questa è una delle frasi chiave della lezione. HDFS assume che l’hardware failure sia la norma e progetta detection e recovery automatici come obiettivi centrali.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HDFS Architecture: https://hadoop.apache.org/docs/current/hadoop-project-dist/hadoop-hdfs/HdfsDesign.html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680" name="Google Shape;680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0" name="Google Shape;690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Separa chiaramente recovery dello storage e del compute. Un blocco mancante richiede re-replication; un task fallito può essere rieseguito. Non sono la stessa cosa.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HDFS Architecture: https://hadoop.apache.org/docs/current/hadoop-project-dist/hadoop-hdfs/HdfsDesign.html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MapReduce Tutorial: https://hadoop.apache.org/docs/current/hadoop-mapreduce-client/hadoop-mapreduce-client-core/MapReduceTutorial.html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691" name="Google Shape;691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1" name="Google Shape;711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Mostra solo il concetto: il block size e il replication factor sono configurabili. Evita di approfondire pipeline di scrittura e rack awareness, che appartengono alla prossima lezione.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HDFS Architecture: https://hadoop.apache.org/docs/current/hadoop-project-dist/hadoop-hdfs/HdfsDesign.html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712" name="Google Shape;712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6" name="Google Shape;736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Per default Hadoop può operare in modalità non distribuita come singolo processo Java. Serve per debugging, non per sperimentare il comportamento del cluster.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Single Node Setup: https://hadoop.apache.org/docs/current/hadoop-project-dist/hadoop-common/SingleCluster.html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737" name="Google Shape;737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9" name="Google Shape;749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In pseudo-distributed mode ogni daemon gira in un processo Java separato. È la modalità scelta per il laboratorio perché rende visibili ruoli e interfacce senza dipendere da più host.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Single Node Setup: https://hadoop.apache.org/docs/current/hadoop-project-dist/hadoop-common/SingleCluster.html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750" name="Google Shape;750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8" name="Google Shape;778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Un cluster fully distributed distribuisce daemon su host diversi. La documentazione di setup copre da pochi a migliaia di nodi, ma alta affidabilità e security richiedono progettazione ulteriore.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Cluster Setup: https://hadoop.apache.org/docs/current/hadoop-project-dist/hadoop-common/ClusterSetup.html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779" name="Google Shape;779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5" name="Google Shape;805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Hadoop distingue default read-only e configurazione site-specific. Mostra che un cluster è comportamento dichiarato, non un insieme di comandi manuali.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Cluster Setup: https://hadoop.apache.org/docs/current/hadoop-project-dist/hadoop-common/ClusterSetup.html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Single Node Setup: https://hadoop.apache.org/docs/current/hadoop-project-dist/hadoop-common/SingleCluster.html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806" name="Google Shape;806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9" name="Google Shape;849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Le porte indicate sono i default documentati per il single-node setup. Nel laboratorio la UI serve a collegare i concetti ai processi reali.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Single Node Setup: https://hadoop.apache.org/docs/current/hadoop-project-dist/hadoop-common/SingleCluster.html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850" name="Google Shape;850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6" name="Google Shape;866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Nel laboratorio chiedi sempre una prova: output di jps, report HDFS, lista YARN, pagina UI o log. Il “sembra avviato” non è una verifica.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867" name="Google Shape;867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4" name="Google Shape;904;p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Apache avverte che senza autenticazione chi raggiunge HDFS o YARN può leggere/scrivere dati e inviare lavoro. Il laboratorio deve rimanere locale e usare dati sintetici.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Overview: https://hadoop.apache.org/docs/current/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Single Node Setup: https://hadoop.apache.org/docs/current/hadoop-project-dist/hadoop-common/SingleCluster.html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Cluster Setup: https://hadoop.apache.org/docs/current/hadoop-project-dist/hadoop-common/ClusterSetup.html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905" name="Google Shape;905;p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0" name="Google Shape;920;p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Bilancia entusiasmo e rigore. Lo scale-out risolve alcuni limiti e ne introduce altri. Il valore nasce quando workload e assunzioni corrispondono al modello.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921" name="Google Shape;921;p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1" name="Google Shape;931;p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HDFS è orientato a grandi dataset e accesso streaming/batch, non a qualsiasi carico. Insegna agli studenti a riconoscere quando non usarlo.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HDFS Architecture: https://hadoop.apache.org/docs/current/hadoop-project-dist/hadoop-hdfs/HdfsDesign.html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932" name="Google Shape;932;p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5" name="Google Shape;975;p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Non presentare il confronto come vincitore unico. Hadoop 3.5 documenta filesystem compatibili per S3, Azure, GCS e altri object store. La scelta dipende dall’architettura.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Overview: https://hadoop.apache.org/docs/current/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976" name="Google Shape;976;p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2" name="Google Shape;992;p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Spiega che Spark non sostituisce ogni componente Hadoop: può leggere da HDFS o object storage e può essere eseguito con YARN. Il confronto corretto dipende dal livello considerato.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Overview: https://hadoop.apache.org/docs/current/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YARN Architecture: https://hadoop.apache.org/docs/current/hadoop-yarn/hadoop-yarn-site/YARN.html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993" name="Google Shape;993;p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7" name="Google Shape;1017;p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Ricollega il Modulo 1. I sistemi autorevoli continuano a gestire comandi e invarianti; Hadoop riceve grandi dataset ed eventi per elaborazioni analitiche e ricostruzioni.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018" name="Google Shape;1018;p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2" name="Google Shape;1062;p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 guida docente contiene prerequisiti, configurazione completa, comandi, output attesi e troubleshooting. Gli studenti lavorano a coppie: operator e observer.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Single Node Setup: https://hadoop.apache.org/docs/current/hadoop-project-dist/hadoop-common/SingleCluster.html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official container image: https://hub.docker.com/r/apache/hadoop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063" name="Google Shape;1063;p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5" name="Google Shape;1095;p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Ogni coppia consegna le sei prove nel worksheet. Se un checkpoint fallisce, non procedere alla cieca: usare la matrice di troubleshooting della guida.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096" name="Google Shape;1096;p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9" name="Google Shape;1109;p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Chiudi con un exit ticket: “Quale componente sa dove si trova un blocco, e quale conserva davvero i byte?”. La risposta apre la Lezione 12: NameNode e DataNode.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Apache Hadoop 3.5.0 — HDFS Architecture: https://hadoop.apache.org/docs/current/hadoop-project-dist/hadoop-hdfs/HdfsDesign.html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110" name="Google Shape;1110;p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85800" y="4953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B8D9"/>
                </a:solidFill>
              </a:rPr>
              <a:t>BIG DATA &amp; CLOUD SERVICES</a:t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800" y="1314450"/>
            <a:ext cx="72390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rgbClr val="FFFFFF"/>
                </a:solidFill>
              </a:rPr>
              <a:t>Apache Hadoop</a:t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23900" y="2714625"/>
            <a:ext cx="7524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C8D4DE"/>
                </a:solidFill>
              </a:rPr>
              <a:t>Quando una macchina non basta più</a:t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667750" y="1123950"/>
            <a:ext cx="2190750" cy="2381250"/>
          </a:xfrm>
          <a:prstGeom prst="roundRect">
            <a:avLst>
              <a:gd fmla="val 3478" name="adj"/>
            </a:avLst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8877300" y="1524000"/>
            <a:ext cx="17716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50">
                <a:solidFill>
                  <a:srgbClr val="0B1F33"/>
                </a:solidFill>
              </a:rPr>
              <a:t>11</a:t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723900" y="6000750"/>
            <a:ext cx="495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9FB0BF"/>
                </a:solidFill>
              </a:rPr>
              <a:t>Lezione 11 • apertura Modulo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DATAFLIX • IL PROBLEMA DISTRIBUITO</a:t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La domanda lasciata aperta</a:t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02</a:t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742950" y="1714500"/>
            <a:ext cx="857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0">
                <a:solidFill>
                  <a:srgbClr val="B7E34B"/>
                </a:solidFill>
              </a:rPr>
              <a:t>“</a:t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1676400" y="1952625"/>
            <a:ext cx="90487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FFFFFF"/>
                </a:solidFill>
              </a:rPr>
              <a:t>Come elaboriamo miliardi di eventi senza affidare tempo, capacità e affidabilità a un solo computer?</a:t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1676400" y="4762500"/>
            <a:ext cx="3048000" cy="7620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DATAFLIX • SCALA DIDATTICA</a:t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Cinque miliardi di eventi cambiano il problema</a:t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03</a:t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685800" y="1666875"/>
            <a:ext cx="3238500" cy="142875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685800" y="1666875"/>
            <a:ext cx="3238500" cy="85725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895350" y="18764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VOLUME</a:t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895350" y="22383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8A4C"/>
                </a:solidFill>
              </a:rPr>
              <a:t>≈ 58.000 eventi/s medi</a:t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895350" y="2505075"/>
            <a:ext cx="2819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5 miliardi / giorno</a:t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4305300" y="1666875"/>
            <a:ext cx="3238500" cy="142875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4305300" y="1666875"/>
            <a:ext cx="3238500" cy="85725"/>
          </a:xfrm>
          <a:prstGeom prst="rect">
            <a:avLst/>
          </a:prstGeom>
          <a:solidFill>
            <a:srgbClr val="EF5A5A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4514850" y="18764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PICCO</a:t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4514850" y="22383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EF5A5A"/>
                </a:solidFill>
              </a:rPr>
              <a:t>≈ 580.000 eventi/s</a:t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4514850" y="2505075"/>
            <a:ext cx="2819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10× la media</a:t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7924800" y="1666875"/>
            <a:ext cx="3238500" cy="142875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7924800" y="1666875"/>
            <a:ext cx="3238500" cy="85725"/>
          </a:xfrm>
          <a:prstGeom prst="rect">
            <a:avLst/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8134350" y="18764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STORIA</a:t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8134350" y="22383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7C6EE6"/>
                </a:solidFill>
              </a:rPr>
              <a:t>petabyte potenziali</a:t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8134350" y="2505075"/>
            <a:ext cx="2819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mesi o anni</a:t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685800" y="3429000"/>
            <a:ext cx="3238500" cy="142875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685800" y="3429000"/>
            <a:ext cx="3238500" cy="85725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895350" y="3638550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DOMANDE</a:t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895350" y="4000500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B8D9"/>
                </a:solidFill>
              </a:rPr>
              <a:t>job concorrenti</a:t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895350" y="4267200"/>
            <a:ext cx="2819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molte analisi</a:t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4305300" y="3429000"/>
            <a:ext cx="3238500" cy="142875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305300" y="3429000"/>
            <a:ext cx="3238500" cy="85725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4514850" y="3638550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GUASTI</a:t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514850" y="4000500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B7E34B"/>
                </a:solidFill>
              </a:rPr>
              <a:t>qualcosa fallirà</a:t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514850" y="4267200"/>
            <a:ext cx="2819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componenti numerosi</a:t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7924800" y="3429000"/>
            <a:ext cx="3238500" cy="142875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7924800" y="3429000"/>
            <a:ext cx="3238500" cy="85725"/>
          </a:xfrm>
          <a:prstGeom prst="rect">
            <a:avLst/>
          </a:prstGeom>
          <a:solidFill>
            <a:srgbClr val="27A36A"/>
          </a:solidFill>
          <a:ln cap="flat" cmpd="sng" w="9525">
            <a:solidFill>
              <a:srgbClr val="27A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8134350" y="3638550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TEMPO</a:t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8134350" y="4000500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7A36A"/>
                </a:solidFill>
              </a:rPr>
              <a:t>finire prima del dato nuovo</a:t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8134350" y="4267200"/>
            <a:ext cx="2819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finestra limitata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LA PARETE DELLO SCALE-UP</a:t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Il server più grande rimane un singolo punto di limite</a:t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04</a:t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333875" y="1809750"/>
            <a:ext cx="3524250" cy="1952625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4486275" y="2000250"/>
            <a:ext cx="3219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SERVER XXL</a:t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486275" y="2362200"/>
            <a:ext cx="3219450" cy="126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CPU • RAM • DISCO • RETE</a:t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952500" y="2381250"/>
            <a:ext cx="209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25">
                <a:solidFill>
                  <a:srgbClr val="FF8A4C"/>
                </a:solidFill>
              </a:rPr>
              <a:t>10 TB</a:t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3048000" y="2647950"/>
            <a:ext cx="1143000" cy="3810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4038600" y="24765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FF8A4C"/>
                </a:solidFill>
              </a:rPr>
              <a:t>›</a:t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3048000" y="230505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8A4C"/>
                </a:solidFill>
              </a:rPr>
              <a:t>input</a:t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9048750" y="2381250"/>
            <a:ext cx="209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25">
                <a:solidFill>
                  <a:srgbClr val="EF5A5A"/>
                </a:solidFill>
              </a:rPr>
              <a:t>12 ORE</a:t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7858125" y="2647950"/>
            <a:ext cx="1047750" cy="38100"/>
          </a:xfrm>
          <a:prstGeom prst="rect">
            <a:avLst/>
          </a:prstGeom>
          <a:solidFill>
            <a:srgbClr val="EF5A5A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8753475" y="24765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EF5A5A"/>
                </a:solidFill>
              </a:rPr>
              <a:t>›</a:t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7858125" y="230505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F5A5A"/>
                </a:solidFill>
              </a:rPr>
              <a:t>output</a:t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2095500" y="4810125"/>
            <a:ext cx="800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Più potente non significa infinito, parallelo o tollerante ai guasti.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L’IDEA SCALE-OUT</a:t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Dividere il dato permette di dividere il lavoro</a:t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05</a:t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809625" y="2095500"/>
            <a:ext cx="1857375" cy="1143000"/>
          </a:xfrm>
          <a:prstGeom prst="roundRect">
            <a:avLst>
              <a:gd fmla="val 6667" name="adj"/>
            </a:avLst>
          </a:prstGeom>
          <a:solidFill>
            <a:srgbClr val="0B1F33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962025" y="2286000"/>
            <a:ext cx="15525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WORKER 1</a:t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962025" y="2647950"/>
            <a:ext cx="1552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blocco + task</a:t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3714750" y="2095500"/>
            <a:ext cx="1857375" cy="1143000"/>
          </a:xfrm>
          <a:prstGeom prst="roundRect">
            <a:avLst>
              <a:gd fmla="val 6667" name="adj"/>
            </a:avLst>
          </a:prstGeom>
          <a:solidFill>
            <a:srgbClr val="0B1F33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3867150" y="2286000"/>
            <a:ext cx="15525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WORKER 2</a:t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3867150" y="2647950"/>
            <a:ext cx="1552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blocco + task</a:t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6619875" y="2095500"/>
            <a:ext cx="1857375" cy="1143000"/>
          </a:xfrm>
          <a:prstGeom prst="roundRect">
            <a:avLst>
              <a:gd fmla="val 6667" name="adj"/>
            </a:avLst>
          </a:prstGeom>
          <a:solidFill>
            <a:srgbClr val="0B1F33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6772275" y="2286000"/>
            <a:ext cx="15525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WORKER 3</a:t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6772275" y="2647950"/>
            <a:ext cx="1552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blocco + task</a:t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9525000" y="2095500"/>
            <a:ext cx="1857375" cy="1143000"/>
          </a:xfrm>
          <a:prstGeom prst="roundRect">
            <a:avLst>
              <a:gd fmla="val 6667" name="adj"/>
            </a:avLst>
          </a:prstGeom>
          <a:solidFill>
            <a:srgbClr val="0B1F33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9677400" y="2286000"/>
            <a:ext cx="15525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WORKER 4</a:t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9677400" y="2647950"/>
            <a:ext cx="1552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blocco + task</a:t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762000" y="4095750"/>
            <a:ext cx="2000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FFFFF"/>
                </a:solidFill>
              </a:rPr>
              <a:t>DATASET</a:t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2857500" y="4267200"/>
            <a:ext cx="6477000" cy="38100"/>
          </a:xfrm>
          <a:prstGeom prst="rect">
            <a:avLst/>
          </a:prstGeom>
          <a:solidFill>
            <a:srgbClr val="F4C84A"/>
          </a:solidFill>
          <a:ln cap="flat" cmpd="sng" w="9525">
            <a:solidFill>
              <a:srgbClr val="F4C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9182100" y="409575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F4C84A"/>
                </a:solidFill>
              </a:rPr>
              <a:t>›</a:t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2857500" y="39243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4C84A"/>
                </a:solidFill>
              </a:rPr>
              <a:t>partizioni indipendenti</a:t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9429750" y="4095750"/>
            <a:ext cx="2000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FFFFF"/>
                </a:solidFill>
              </a:rPr>
              <a:t>RISULTATO</a:t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2381250" y="538162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</a:rPr>
              <a:t>Il parallelismo utile richiede coordinamento, località e recupero.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UNA PIATTAFORMA, PIÙ RESPONSABILITÀ</a:t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Hadoop coordina storage e calcolo distribuiti</a:t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06</a:t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685800" y="1809750"/>
            <a:ext cx="5143500" cy="3429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6362700" y="1809750"/>
            <a:ext cx="5143500" cy="3429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685800" y="1809750"/>
            <a:ext cx="5143500" cy="76200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6362700" y="1809750"/>
            <a:ext cx="5143500" cy="7620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1028700" y="2143125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STORAGE DISTRIBUITO</a:t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1028700" y="2809875"/>
            <a:ext cx="433387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HDFS suddivide file in blocchi, li distribuisce e protegge con copie.</a:t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6705600" y="2143125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CALCOLO DISTRIBUITO</a:t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6705600" y="2809875"/>
            <a:ext cx="433387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YARN assegna risorse; MapReduce divide, esegue e ricompone il lavoro.</a:t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3048000" y="5619750"/>
            <a:ext cx="6096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Hadoop Common fornisce librerie e servizi condivisi.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DATAFLIX • IL PROBLEMA DISTRIBUITO</a:t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Hadoop non è un database</a:t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07</a:t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742950" y="1714500"/>
            <a:ext cx="857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0">
                <a:solidFill>
                  <a:srgbClr val="00B8D9"/>
                </a:solidFill>
              </a:rPr>
              <a:t>“</a:t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1676400" y="1952625"/>
            <a:ext cx="90487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FFFFFF"/>
                </a:solidFill>
              </a:rPr>
              <a:t>È un ecosistema per conservare e processare grandi dataset in modo distribuito. I dati applicativi continuano ad avere owner e sistemi autorevoli.</a:t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1676400" y="4762500"/>
            <a:ext cx="3048000" cy="76200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HDFS • DESIGN ASSUMPTIONS</a:t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Il progetto parte da assunzioni precise</a:t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08</a:t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685800" y="16668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685800" y="1666875"/>
            <a:ext cx="3238500" cy="85725"/>
          </a:xfrm>
          <a:prstGeom prst="rect">
            <a:avLst/>
          </a:prstGeom>
          <a:solidFill>
            <a:srgbClr val="EF5A5A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895350" y="18764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FAILURE</a:t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895350" y="22383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EF5A5A"/>
                </a:solidFill>
              </a:rPr>
              <a:t>rilevare + recuperare</a:t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895350" y="2505075"/>
            <a:ext cx="2819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hardware che si guasta</a:t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4305300" y="16668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4305300" y="1666875"/>
            <a:ext cx="3238500" cy="85725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4514850" y="1896478"/>
            <a:ext cx="2819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LARGE DATA</a:t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4514850" y="22383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B8D9"/>
                </a:solidFill>
              </a:rPr>
              <a:t>throughput aggregato</a:t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4514850" y="2505075"/>
            <a:ext cx="2819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file e dataset grandi</a:t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7924800" y="16668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7924800" y="1666875"/>
            <a:ext cx="3238500" cy="85725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8134350" y="18764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STREAMING</a:t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8134350" y="22383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8A4C"/>
                </a:solidFill>
              </a:rPr>
              <a:t>batch prima di latency</a:t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8134350" y="2505075"/>
            <a:ext cx="2819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letture sequenziali</a:t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685800" y="33813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685800" y="3381375"/>
            <a:ext cx="3238500" cy="85725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895350" y="35909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LOCALITY</a:t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895350" y="39528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B7E34B"/>
                </a:solidFill>
              </a:rPr>
              <a:t>meno rete</a:t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895350" y="4219575"/>
            <a:ext cx="2819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calcolo vicino ai dati</a:t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4305300" y="33813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4305300" y="3381375"/>
            <a:ext cx="3238500" cy="85725"/>
          </a:xfrm>
          <a:prstGeom prst="rect">
            <a:avLst/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4514850" y="35909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COMMODITY</a:t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4514850" y="39528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7C6EE6"/>
                </a:solidFill>
              </a:rPr>
              <a:t>scala orizzontale</a:t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4514850" y="4219575"/>
            <a:ext cx="2819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molti nodi ordinari</a:t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7924800" y="33813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7924800" y="3381375"/>
            <a:ext cx="3238500" cy="85725"/>
          </a:xfrm>
          <a:prstGeom prst="rect">
            <a:avLst/>
          </a:prstGeom>
          <a:solidFill>
            <a:srgbClr val="27A36A"/>
          </a:solidFill>
          <a:ln cap="flat" cmpd="sng" w="9525">
            <a:solidFill>
              <a:srgbClr val="27A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8134350" y="35909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PORTABILITY</a:t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8134350" y="39528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7A36A"/>
                </a:solidFill>
              </a:rPr>
              <a:t>cluster eterogenei</a:t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8134350" y="4219575"/>
            <a:ext cx="2819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Java + Linux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MODELLO MENTALE</a:t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Quattro principi tengono insieme il sistema</a:t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09</a:t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781050" y="1666875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8D9"/>
                </a:solidFill>
              </a:rPr>
              <a:t>01</a:t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1666875" y="1666875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DISTRIBUIRE</a:t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4762500" y="1666875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spezzare dati e lavoro tra nodi</a:t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781050" y="2476500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7E34B"/>
                </a:solidFill>
              </a:rPr>
              <a:t>02</a:t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1666875" y="24765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LOCALIZZARE</a:t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4762500" y="2476500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portare il task vicino al blocco</a:t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781050" y="3286125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8A4C"/>
                </a:solidFill>
              </a:rPr>
              <a:t>03</a:t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1666875" y="3286125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COORDINARE</a:t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4762500" y="3286125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assegnare risorse e monitorare job</a:t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781050" y="4095750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F5A5A"/>
                </a:solidFill>
              </a:rPr>
              <a:t>04</a:t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1666875" y="409575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RECUPERARE</a:t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4762500" y="4095750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replicare dati e rieseguire task</a:t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2381250" y="5381625"/>
            <a:ext cx="7429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F33"/>
                </a:solidFill>
              </a:rPr>
              <a:t>Se manca uno dei quattro, abbiamo soltanto molti computer.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HADOOP CORE</a:t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Lo stack separa dati, risorse e processing</a:t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10</a:t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1666875" y="1619250"/>
            <a:ext cx="8858250" cy="5905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1905000" y="1781175"/>
            <a:ext cx="304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APPLICAZIONI</a:t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5143500" y="1781175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11827"/>
                </a:solidFill>
              </a:rPr>
              <a:t>Hive • Spark • job custom</a:t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1666875" y="2400300"/>
            <a:ext cx="8858250" cy="5905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1905000" y="2562225"/>
            <a:ext cx="304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PROCESSING</a:t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5143500" y="2562225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11827"/>
                </a:solidFill>
              </a:rPr>
              <a:t>MapReduce e altri framework</a:t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1666875" y="3181350"/>
            <a:ext cx="8858250" cy="5905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1905000" y="3343275"/>
            <a:ext cx="304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RESOURCE MANAGEMENT</a:t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5143500" y="3343275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11827"/>
                </a:solidFill>
              </a:rPr>
              <a:t>YARN</a:t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1666875" y="3962400"/>
            <a:ext cx="8858250" cy="5905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1905000" y="4124325"/>
            <a:ext cx="304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DISTRIBUTED STORAGE</a:t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5143500" y="4124325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11827"/>
                </a:solidFill>
              </a:rPr>
              <a:t>HDFS</a:t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1666875" y="4743450"/>
            <a:ext cx="8858250" cy="59055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1905000" y="4905375"/>
            <a:ext cx="304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COMMON</a:t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5143500" y="4905375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C8D4DE"/>
                </a:solidFill>
              </a:rPr>
              <a:t>configurazione • RPC • librerie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COMMON SERVICES</a:t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Hadoop Common è il terreno condiviso</a:t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11</a:t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685800" y="16668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685800" y="1666875"/>
            <a:ext cx="3238500" cy="85725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895350" y="18764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CONFIG</a:t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895350" y="22383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B8D9"/>
                </a:solidFill>
              </a:rPr>
              <a:t>site-specific</a:t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895350" y="2505075"/>
            <a:ext cx="2819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XML + environment</a:t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4305300" y="16668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4305300" y="1666875"/>
            <a:ext cx="3238500" cy="85725"/>
          </a:xfrm>
          <a:prstGeom prst="rect">
            <a:avLst/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4514850" y="18764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I/O</a:t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4514850" y="22383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7C6EE6"/>
                </a:solidFill>
              </a:rPr>
              <a:t>codec + serialization</a:t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4514850" y="2505075"/>
            <a:ext cx="2819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filesystem API</a:t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7924800" y="16668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7924800" y="1666875"/>
            <a:ext cx="3238500" cy="85725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8134350" y="18764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RPC</a:t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8134350" y="22383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8A4C"/>
                </a:solidFill>
              </a:rPr>
              <a:t>client + daemon</a:t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8134350" y="2505075"/>
            <a:ext cx="2819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comunicazione remota</a:t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685800" y="33813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685800" y="3381375"/>
            <a:ext cx="3238500" cy="85725"/>
          </a:xfrm>
          <a:prstGeom prst="rect">
            <a:avLst/>
          </a:prstGeom>
          <a:solidFill>
            <a:srgbClr val="EF5A5A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895350" y="35909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SECURITY</a:t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895350" y="39528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EF5A5A"/>
                </a:solidFill>
              </a:rPr>
              <a:t>Kerberos in produzione</a:t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895350" y="4219575"/>
            <a:ext cx="2819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identity + auth</a:t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4305300" y="33813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4305300" y="3381375"/>
            <a:ext cx="3238500" cy="85725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4514850" y="35909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UTILITIES</a:t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4514850" y="39528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B7E34B"/>
                </a:solidFill>
              </a:rPr>
              <a:t>operazioni cluster</a:t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4514850" y="4219575"/>
            <a:ext cx="2819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script + shell</a:t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7924800" y="33813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7924800" y="3381375"/>
            <a:ext cx="3238500" cy="85725"/>
          </a:xfrm>
          <a:prstGeom prst="rect">
            <a:avLst/>
          </a:prstGeom>
          <a:solidFill>
            <a:srgbClr val="27A36A"/>
          </a:solidFill>
          <a:ln cap="flat" cmpd="sng" w="9525">
            <a:solidFill>
              <a:srgbClr val="27A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8134350" y="35909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COMPATIBILITY</a:t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8134350" y="39528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7A36A"/>
                </a:solidFill>
              </a:rPr>
              <a:t>componenti interoperabili</a:t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8134350" y="4219575"/>
            <a:ext cx="2819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contratti comuni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HDFS • STORAGE LAYER</a:t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HDFS conserva file grandi come blocchi distribuiti</a:t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12</a:t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2857500" y="2552700"/>
            <a:ext cx="1143000" cy="38100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3848100" y="238125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00B8D9"/>
                </a:solidFill>
              </a:rPr>
              <a:t>›</a:t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2857500" y="22098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B8D9"/>
                </a:solidFill>
              </a:rPr>
              <a:t>metadata</a:t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6858000" y="2552700"/>
            <a:ext cx="1143000" cy="3810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7848600" y="238125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B7E34B"/>
                </a:solidFill>
              </a:rPr>
              <a:t>›</a:t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6858000" y="22098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7E34B"/>
                </a:solidFill>
              </a:rPr>
              <a:t>blocks</a:t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714375" y="1952625"/>
            <a:ext cx="2143125" cy="1143000"/>
          </a:xfrm>
          <a:prstGeom prst="roundRect">
            <a:avLst>
              <a:gd fmla="val 6667" name="adj"/>
            </a:avLst>
          </a:prstGeom>
          <a:solidFill>
            <a:srgbClr val="0B1F33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866775" y="2143125"/>
            <a:ext cx="1838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CLIENT</a:t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866775" y="2505075"/>
            <a:ext cx="18383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file path</a:t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4000500" y="1952625"/>
            <a:ext cx="2857500" cy="1143000"/>
          </a:xfrm>
          <a:prstGeom prst="roundRect">
            <a:avLst>
              <a:gd fmla="val 6667" name="adj"/>
            </a:avLst>
          </a:prstGeom>
          <a:solidFill>
            <a:srgbClr val="0B1F33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4152900" y="2143125"/>
            <a:ext cx="2552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NAMENODE</a:t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4152900" y="2505075"/>
            <a:ext cx="255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namespace + block map</a:t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8001000" y="1952625"/>
            <a:ext cx="3143250" cy="1143000"/>
          </a:xfrm>
          <a:prstGeom prst="roundRect">
            <a:avLst>
              <a:gd fmla="val 6667" name="adj"/>
            </a:avLst>
          </a:prstGeom>
          <a:solidFill>
            <a:srgbClr val="0B1F33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8153400" y="2143125"/>
            <a:ext cx="283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DATANODES</a:t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8153400" y="2505075"/>
            <a:ext cx="2838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blocchi + replica</a:t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3286125" y="4238625"/>
            <a:ext cx="5619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FFFFF"/>
                </a:solidFill>
              </a:rPr>
              <a:t>I dati non attraversano il NameNode.</a:t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2667000" y="5000625"/>
            <a:ext cx="685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C8D4DE"/>
                </a:solidFill>
              </a:rPr>
              <a:t>Lezione 12: blocchi, replica, lettura, scrittura e guasti.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YARN • RESOURCE MANAGEMENT</a:t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YARN decide chi usa CPU e memoria</a:t>
            </a: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13</a:t>
            </a:r>
            <a:endParaRPr/>
          </a:p>
        </p:txBody>
      </p:sp>
      <p:sp>
        <p:nvSpPr>
          <p:cNvPr id="298" name="Google Shape;298;p13"/>
          <p:cNvSpPr/>
          <p:nvPr/>
        </p:nvSpPr>
        <p:spPr>
          <a:xfrm>
            <a:off x="952500" y="2047875"/>
            <a:ext cx="2571750" cy="1190625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1104900" y="2238375"/>
            <a:ext cx="2266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RESOURCE MANAGER</a:t>
            </a: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1104900" y="2600325"/>
            <a:ext cx="22669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autorità globale</a:t>
            </a: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3524250" y="2552700"/>
            <a:ext cx="1428750" cy="3810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"/>
          <p:cNvSpPr/>
          <p:nvPr/>
        </p:nvSpPr>
        <p:spPr>
          <a:xfrm>
            <a:off x="4800600" y="238125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FF8A4C"/>
                </a:solidFill>
              </a:rPr>
              <a:t>›</a:t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3524250" y="2209800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8A4C"/>
                </a:solidFill>
              </a:rPr>
              <a:t>alloca</a:t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4953000" y="2047875"/>
            <a:ext cx="2476500" cy="1190625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5105400" y="2238375"/>
            <a:ext cx="2171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APPLICATION MASTER</a:t>
            </a:r>
            <a:endParaRPr/>
          </a:p>
        </p:txBody>
      </p:sp>
      <p:sp>
        <p:nvSpPr>
          <p:cNvPr id="306" name="Google Shape;306;p13"/>
          <p:cNvSpPr/>
          <p:nvPr/>
        </p:nvSpPr>
        <p:spPr>
          <a:xfrm>
            <a:off x="5105400" y="2600325"/>
            <a:ext cx="21717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coordina un job</a:t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7429500" y="2552700"/>
            <a:ext cx="1428750" cy="3810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8705850" y="238125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FF8A4C"/>
                </a:solidFill>
              </a:rPr>
              <a:t>›</a:t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7429500" y="2209800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8A4C"/>
                </a:solidFill>
              </a:rPr>
              <a:t>richiede</a:t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8858250" y="2047875"/>
            <a:ext cx="2381250" cy="1190625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3"/>
          <p:cNvSpPr/>
          <p:nvPr/>
        </p:nvSpPr>
        <p:spPr>
          <a:xfrm>
            <a:off x="9010650" y="2238375"/>
            <a:ext cx="2076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NODE MANAGERS</a:t>
            </a:r>
            <a:endParaRPr/>
          </a:p>
        </p:txBody>
      </p:sp>
      <p:sp>
        <p:nvSpPr>
          <p:cNvPr id="312" name="Google Shape;312;p13"/>
          <p:cNvSpPr/>
          <p:nvPr/>
        </p:nvSpPr>
        <p:spPr>
          <a:xfrm>
            <a:off x="9010650" y="2600325"/>
            <a:ext cx="2076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eseguono container</a:t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3000375" y="4191000"/>
            <a:ext cx="6191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Un’applicazione può essere un job o un DAG di job.</a:t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3286125" y="4905375"/>
            <a:ext cx="5619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EF5A5A"/>
                </a:solidFill>
              </a:rPr>
              <a:t>Risorsa ≠ dato: YARN orchestra il calcolo.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MAPREDUCE • PROCESSING</a:t>
            </a:r>
            <a:endParaRPr/>
          </a:p>
        </p:txBody>
      </p:sp>
      <p:sp>
        <p:nvSpPr>
          <p:cNvPr id="321" name="Google Shape;321;p14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MapReduce divide un job in task paralleli</a:t>
            </a:r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14</a:t>
            </a: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781050" y="1666875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8D9"/>
                </a:solidFill>
              </a:rPr>
              <a:t>01</a:t>
            </a:r>
            <a:endParaRPr/>
          </a:p>
        </p:txBody>
      </p:sp>
      <p:sp>
        <p:nvSpPr>
          <p:cNvPr id="324" name="Google Shape;324;p14"/>
          <p:cNvSpPr/>
          <p:nvPr/>
        </p:nvSpPr>
        <p:spPr>
          <a:xfrm>
            <a:off x="1666875" y="1666875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SPLIT</a:t>
            </a:r>
            <a:endParaRPr/>
          </a:p>
        </p:txBody>
      </p:sp>
      <p:sp>
        <p:nvSpPr>
          <p:cNvPr id="325" name="Google Shape;325;p14"/>
          <p:cNvSpPr/>
          <p:nvPr/>
        </p:nvSpPr>
        <p:spPr>
          <a:xfrm>
            <a:off x="4762500" y="1666875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divide l’input in parti indipendenti</a:t>
            </a:r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781050" y="2476500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8A4C"/>
                </a:solidFill>
              </a:rPr>
              <a:t>02</a:t>
            </a:r>
            <a:endParaRPr/>
          </a:p>
        </p:txBody>
      </p:sp>
      <p:sp>
        <p:nvSpPr>
          <p:cNvPr id="327" name="Google Shape;327;p14"/>
          <p:cNvSpPr/>
          <p:nvPr/>
        </p:nvSpPr>
        <p:spPr>
          <a:xfrm>
            <a:off x="1666875" y="24765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MAP</a:t>
            </a: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4762500" y="2476500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trasforma record in coppie intermedie</a:t>
            </a:r>
            <a:endParaRPr/>
          </a:p>
        </p:txBody>
      </p:sp>
      <p:sp>
        <p:nvSpPr>
          <p:cNvPr id="329" name="Google Shape;329;p14"/>
          <p:cNvSpPr/>
          <p:nvPr/>
        </p:nvSpPr>
        <p:spPr>
          <a:xfrm>
            <a:off x="781050" y="3286125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C6EE6"/>
                </a:solidFill>
              </a:rPr>
              <a:t>03</a:t>
            </a:r>
            <a:endParaRPr/>
          </a:p>
        </p:txBody>
      </p:sp>
      <p:sp>
        <p:nvSpPr>
          <p:cNvPr id="330" name="Google Shape;330;p14"/>
          <p:cNvSpPr/>
          <p:nvPr/>
        </p:nvSpPr>
        <p:spPr>
          <a:xfrm>
            <a:off x="1666875" y="3286125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SHUFFLE</a:t>
            </a:r>
            <a:endParaRPr/>
          </a:p>
        </p:txBody>
      </p:sp>
      <p:sp>
        <p:nvSpPr>
          <p:cNvPr id="331" name="Google Shape;331;p14"/>
          <p:cNvSpPr/>
          <p:nvPr/>
        </p:nvSpPr>
        <p:spPr>
          <a:xfrm>
            <a:off x="4762500" y="3286125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raggruppa e ordina per chiave</a:t>
            </a:r>
            <a:endParaRPr/>
          </a:p>
        </p:txBody>
      </p:sp>
      <p:sp>
        <p:nvSpPr>
          <p:cNvPr id="332" name="Google Shape;332;p14"/>
          <p:cNvSpPr/>
          <p:nvPr/>
        </p:nvSpPr>
        <p:spPr>
          <a:xfrm>
            <a:off x="781050" y="4095750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7E34B"/>
                </a:solidFill>
              </a:rPr>
              <a:t>04</a:t>
            </a:r>
            <a:endParaRPr/>
          </a:p>
        </p:txBody>
      </p:sp>
      <p:sp>
        <p:nvSpPr>
          <p:cNvPr id="333" name="Google Shape;333;p14"/>
          <p:cNvSpPr/>
          <p:nvPr/>
        </p:nvSpPr>
        <p:spPr>
          <a:xfrm>
            <a:off x="1666875" y="409575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REDUCE</a:t>
            </a:r>
            <a:endParaRPr/>
          </a:p>
        </p:txBody>
      </p:sp>
      <p:sp>
        <p:nvSpPr>
          <p:cNvPr id="334" name="Google Shape;334;p14"/>
          <p:cNvSpPr/>
          <p:nvPr/>
        </p:nvSpPr>
        <p:spPr>
          <a:xfrm>
            <a:off x="4762500" y="4095750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combina e scrive il risultato</a:t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2381250" y="5381625"/>
            <a:ext cx="7429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F33"/>
                </a:solidFill>
              </a:rPr>
              <a:t>Il framework pianifica, monitora e riesegue i task falliti.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5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VOCABOLARIO OPERATIVO</a:t>
            </a:r>
            <a:endParaRPr/>
          </a:p>
        </p:txBody>
      </p:sp>
      <p:sp>
        <p:nvSpPr>
          <p:cNvPr id="342" name="Google Shape;342;p15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Nodo, daemon e servizio non sono sinonimi</a:t>
            </a:r>
            <a:endParaRPr/>
          </a:p>
        </p:txBody>
      </p:sp>
      <p:sp>
        <p:nvSpPr>
          <p:cNvPr id="343" name="Google Shape;343;p15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15</a:t>
            </a:r>
            <a:endParaRPr/>
          </a:p>
        </p:txBody>
      </p:sp>
      <p:sp>
        <p:nvSpPr>
          <p:cNvPr id="344" name="Google Shape;344;p15"/>
          <p:cNvSpPr/>
          <p:nvPr/>
        </p:nvSpPr>
        <p:spPr>
          <a:xfrm>
            <a:off x="619125" y="1619250"/>
            <a:ext cx="247650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5"/>
          <p:cNvSpPr/>
          <p:nvPr/>
        </p:nvSpPr>
        <p:spPr>
          <a:xfrm>
            <a:off x="714375" y="1752600"/>
            <a:ext cx="2286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</a:rPr>
              <a:t>Termine</a:t>
            </a:r>
            <a:endParaRPr/>
          </a:p>
        </p:txBody>
      </p:sp>
      <p:sp>
        <p:nvSpPr>
          <p:cNvPr id="346" name="Google Shape;346;p15"/>
          <p:cNvSpPr/>
          <p:nvPr/>
        </p:nvSpPr>
        <p:spPr>
          <a:xfrm>
            <a:off x="3095625" y="1619250"/>
            <a:ext cx="476250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5"/>
          <p:cNvSpPr/>
          <p:nvPr/>
        </p:nvSpPr>
        <p:spPr>
          <a:xfrm>
            <a:off x="3190875" y="1752600"/>
            <a:ext cx="4572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</a:rPr>
              <a:t>Significato</a:t>
            </a:r>
            <a:endParaRPr/>
          </a:p>
        </p:txBody>
      </p:sp>
      <p:sp>
        <p:nvSpPr>
          <p:cNvPr id="348" name="Google Shape;348;p15"/>
          <p:cNvSpPr/>
          <p:nvPr/>
        </p:nvSpPr>
        <p:spPr>
          <a:xfrm>
            <a:off x="7858125" y="1619250"/>
            <a:ext cx="3381375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5"/>
          <p:cNvSpPr/>
          <p:nvPr/>
        </p:nvSpPr>
        <p:spPr>
          <a:xfrm>
            <a:off x="7953375" y="1752600"/>
            <a:ext cx="3190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</a:rPr>
              <a:t>Esempio</a:t>
            </a:r>
            <a:endParaRPr/>
          </a:p>
        </p:txBody>
      </p:sp>
      <p:sp>
        <p:nvSpPr>
          <p:cNvPr id="350" name="Google Shape;350;p15"/>
          <p:cNvSpPr/>
          <p:nvPr/>
        </p:nvSpPr>
        <p:spPr>
          <a:xfrm>
            <a:off x="619125" y="2114550"/>
            <a:ext cx="2476500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5"/>
          <p:cNvSpPr/>
          <p:nvPr/>
        </p:nvSpPr>
        <p:spPr>
          <a:xfrm>
            <a:off x="752475" y="2266950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Nodo</a:t>
            </a:r>
            <a:endParaRPr/>
          </a:p>
        </p:txBody>
      </p:sp>
      <p:sp>
        <p:nvSpPr>
          <p:cNvPr id="352" name="Google Shape;352;p15"/>
          <p:cNvSpPr/>
          <p:nvPr/>
        </p:nvSpPr>
        <p:spPr>
          <a:xfrm>
            <a:off x="3095625" y="2114550"/>
            <a:ext cx="4762500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5"/>
          <p:cNvSpPr/>
          <p:nvPr/>
        </p:nvSpPr>
        <p:spPr>
          <a:xfrm>
            <a:off x="3228975" y="2266950"/>
            <a:ext cx="4495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macchina fisica o virtuale</a:t>
            </a:r>
            <a:endParaRPr/>
          </a:p>
        </p:txBody>
      </p:sp>
      <p:sp>
        <p:nvSpPr>
          <p:cNvPr id="354" name="Google Shape;354;p15"/>
          <p:cNvSpPr/>
          <p:nvPr/>
        </p:nvSpPr>
        <p:spPr>
          <a:xfrm>
            <a:off x="7858125" y="2114550"/>
            <a:ext cx="3381375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7991475" y="2266950"/>
            <a:ext cx="311467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worker-02</a:t>
            </a: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619125" y="2819400"/>
            <a:ext cx="2476500" cy="704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752475" y="2971800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Daemon</a:t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3095625" y="2819400"/>
            <a:ext cx="4762500" cy="704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5"/>
          <p:cNvSpPr/>
          <p:nvPr/>
        </p:nvSpPr>
        <p:spPr>
          <a:xfrm>
            <a:off x="3228975" y="2971800"/>
            <a:ext cx="4495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processo Java a lunga vita</a:t>
            </a: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7858125" y="2819400"/>
            <a:ext cx="3381375" cy="704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7991475" y="2971800"/>
            <a:ext cx="311467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DataNode</a:t>
            </a: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619125" y="3524250"/>
            <a:ext cx="2476500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5"/>
          <p:cNvSpPr/>
          <p:nvPr/>
        </p:nvSpPr>
        <p:spPr>
          <a:xfrm>
            <a:off x="752475" y="3676650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Servizio</a:t>
            </a: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3095625" y="3524250"/>
            <a:ext cx="4762500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3228975" y="3676650"/>
            <a:ext cx="4495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capacità offerta dal cluster</a:t>
            </a:r>
            <a:endParaRPr/>
          </a:p>
        </p:txBody>
      </p:sp>
      <p:sp>
        <p:nvSpPr>
          <p:cNvPr id="366" name="Google Shape;366;p15"/>
          <p:cNvSpPr/>
          <p:nvPr/>
        </p:nvSpPr>
        <p:spPr>
          <a:xfrm>
            <a:off x="7858125" y="3524250"/>
            <a:ext cx="3381375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7991475" y="3676650"/>
            <a:ext cx="311467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HDFS</a:t>
            </a: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619125" y="4229100"/>
            <a:ext cx="2476500" cy="704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5"/>
          <p:cNvSpPr/>
          <p:nvPr/>
        </p:nvSpPr>
        <p:spPr>
          <a:xfrm>
            <a:off x="752475" y="4381500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Container YARN</a:t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3095625" y="4229100"/>
            <a:ext cx="4762500" cy="704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3228975" y="4381500"/>
            <a:ext cx="4495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quota di risorse per un task</a:t>
            </a: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7858125" y="4229100"/>
            <a:ext cx="3381375" cy="704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7991475" y="4381500"/>
            <a:ext cx="311467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2 vCPU + 4 GB</a:t>
            </a: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619125" y="4933950"/>
            <a:ext cx="2476500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5"/>
          <p:cNvSpPr/>
          <p:nvPr/>
        </p:nvSpPr>
        <p:spPr>
          <a:xfrm>
            <a:off x="752475" y="5086350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Job</a:t>
            </a: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3095625" y="4933950"/>
            <a:ext cx="4762500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3228975" y="5086350"/>
            <a:ext cx="4495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lavoro richiesto dall’utente</a:t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7858125" y="4933950"/>
            <a:ext cx="3381375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7991475" y="5086350"/>
            <a:ext cx="311467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WordCount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6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CLUSTER ROLES</a:t>
            </a:r>
            <a:endParaRPr/>
          </a:p>
        </p:txBody>
      </p:sp>
      <p:sp>
        <p:nvSpPr>
          <p:cNvPr id="386" name="Google Shape;386;p16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Master e worker separano decisione ed esecuzione</a:t>
            </a:r>
            <a:endParaRPr/>
          </a:p>
        </p:txBody>
      </p:sp>
      <p:sp>
        <p:nvSpPr>
          <p:cNvPr id="387" name="Google Shape;387;p16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16</a:t>
            </a:r>
            <a:endParaRPr/>
          </a:p>
        </p:txBody>
      </p:sp>
      <p:sp>
        <p:nvSpPr>
          <p:cNvPr id="388" name="Google Shape;388;p16"/>
          <p:cNvSpPr/>
          <p:nvPr/>
        </p:nvSpPr>
        <p:spPr>
          <a:xfrm>
            <a:off x="1047750" y="1762125"/>
            <a:ext cx="4000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0B8D9"/>
                </a:solidFill>
              </a:rPr>
              <a:t>MASTERS</a:t>
            </a:r>
            <a:endParaRPr/>
          </a:p>
        </p:txBody>
      </p:sp>
      <p:sp>
        <p:nvSpPr>
          <p:cNvPr id="389" name="Google Shape;389;p16"/>
          <p:cNvSpPr/>
          <p:nvPr/>
        </p:nvSpPr>
        <p:spPr>
          <a:xfrm>
            <a:off x="7143750" y="1762125"/>
            <a:ext cx="4000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B7E34B"/>
                </a:solidFill>
              </a:rPr>
              <a:t>WORKERS</a:t>
            </a:r>
            <a:endParaRPr/>
          </a:p>
        </p:txBody>
      </p:sp>
      <p:sp>
        <p:nvSpPr>
          <p:cNvPr id="390" name="Google Shape;390;p16"/>
          <p:cNvSpPr/>
          <p:nvPr/>
        </p:nvSpPr>
        <p:spPr>
          <a:xfrm>
            <a:off x="1143000" y="2476500"/>
            <a:ext cx="1809750" cy="1047750"/>
          </a:xfrm>
          <a:prstGeom prst="roundRect">
            <a:avLst>
              <a:gd fmla="val 7273" name="adj"/>
            </a:avLst>
          </a:prstGeom>
          <a:solidFill>
            <a:srgbClr val="0B1F33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6"/>
          <p:cNvSpPr/>
          <p:nvPr/>
        </p:nvSpPr>
        <p:spPr>
          <a:xfrm>
            <a:off x="1295400" y="2667000"/>
            <a:ext cx="1504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NAMENODE</a:t>
            </a:r>
            <a:endParaRPr/>
          </a:p>
        </p:txBody>
      </p:sp>
      <p:sp>
        <p:nvSpPr>
          <p:cNvPr id="392" name="Google Shape;392;p16"/>
          <p:cNvSpPr/>
          <p:nvPr/>
        </p:nvSpPr>
        <p:spPr>
          <a:xfrm>
            <a:off x="1295400" y="3028950"/>
            <a:ext cx="15049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metadata</a:t>
            </a:r>
            <a:endParaRPr/>
          </a:p>
        </p:txBody>
      </p:sp>
      <p:sp>
        <p:nvSpPr>
          <p:cNvPr id="393" name="Google Shape;393;p16"/>
          <p:cNvSpPr/>
          <p:nvPr/>
        </p:nvSpPr>
        <p:spPr>
          <a:xfrm>
            <a:off x="3190875" y="2476500"/>
            <a:ext cx="1809750" cy="1047750"/>
          </a:xfrm>
          <a:prstGeom prst="roundRect">
            <a:avLst>
              <a:gd fmla="val 7273" name="adj"/>
            </a:avLst>
          </a:prstGeom>
          <a:solidFill>
            <a:srgbClr val="0B1F33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6"/>
          <p:cNvSpPr/>
          <p:nvPr/>
        </p:nvSpPr>
        <p:spPr>
          <a:xfrm>
            <a:off x="3343275" y="2667000"/>
            <a:ext cx="1504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RESOURCE MANAGER</a:t>
            </a:r>
            <a:endParaRPr/>
          </a:p>
        </p:txBody>
      </p:sp>
      <p:sp>
        <p:nvSpPr>
          <p:cNvPr id="395" name="Google Shape;395;p16"/>
          <p:cNvSpPr/>
          <p:nvPr/>
        </p:nvSpPr>
        <p:spPr>
          <a:xfrm>
            <a:off x="3343275" y="3028950"/>
            <a:ext cx="15049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risorse</a:t>
            </a:r>
            <a:endParaRPr/>
          </a:p>
        </p:txBody>
      </p:sp>
      <p:sp>
        <p:nvSpPr>
          <p:cNvPr id="396" name="Google Shape;396;p16"/>
          <p:cNvSpPr/>
          <p:nvPr/>
        </p:nvSpPr>
        <p:spPr>
          <a:xfrm>
            <a:off x="7191375" y="2476500"/>
            <a:ext cx="1809750" cy="1047750"/>
          </a:xfrm>
          <a:prstGeom prst="roundRect">
            <a:avLst>
              <a:gd fmla="val 7273" name="adj"/>
            </a:avLst>
          </a:prstGeom>
          <a:solidFill>
            <a:srgbClr val="0B1F33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6"/>
          <p:cNvSpPr/>
          <p:nvPr/>
        </p:nvSpPr>
        <p:spPr>
          <a:xfrm>
            <a:off x="7343775" y="2667000"/>
            <a:ext cx="1504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DATANODE</a:t>
            </a:r>
            <a:endParaRPr/>
          </a:p>
        </p:txBody>
      </p:sp>
      <p:sp>
        <p:nvSpPr>
          <p:cNvPr id="398" name="Google Shape;398;p16"/>
          <p:cNvSpPr/>
          <p:nvPr/>
        </p:nvSpPr>
        <p:spPr>
          <a:xfrm>
            <a:off x="7343775" y="3028950"/>
            <a:ext cx="15049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blocchi</a:t>
            </a:r>
            <a:endParaRPr/>
          </a:p>
        </p:txBody>
      </p:sp>
      <p:sp>
        <p:nvSpPr>
          <p:cNvPr id="399" name="Google Shape;399;p16"/>
          <p:cNvSpPr/>
          <p:nvPr/>
        </p:nvSpPr>
        <p:spPr>
          <a:xfrm>
            <a:off x="9239250" y="2476500"/>
            <a:ext cx="1809750" cy="1047750"/>
          </a:xfrm>
          <a:prstGeom prst="roundRect">
            <a:avLst>
              <a:gd fmla="val 7273" name="adj"/>
            </a:avLst>
          </a:prstGeom>
          <a:solidFill>
            <a:srgbClr val="0B1F33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6"/>
          <p:cNvSpPr/>
          <p:nvPr/>
        </p:nvSpPr>
        <p:spPr>
          <a:xfrm>
            <a:off x="9391650" y="2667000"/>
            <a:ext cx="1504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NODE MANAGER</a:t>
            </a:r>
            <a:endParaRPr/>
          </a:p>
        </p:txBody>
      </p:sp>
      <p:sp>
        <p:nvSpPr>
          <p:cNvPr id="401" name="Google Shape;401;p16"/>
          <p:cNvSpPr/>
          <p:nvPr/>
        </p:nvSpPr>
        <p:spPr>
          <a:xfrm>
            <a:off x="9391650" y="3028950"/>
            <a:ext cx="15049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task</a:t>
            </a:r>
            <a:endParaRPr/>
          </a:p>
        </p:txBody>
      </p:sp>
      <p:sp>
        <p:nvSpPr>
          <p:cNvPr id="402" name="Google Shape;402;p16"/>
          <p:cNvSpPr/>
          <p:nvPr/>
        </p:nvSpPr>
        <p:spPr>
          <a:xfrm>
            <a:off x="5000625" y="3028950"/>
            <a:ext cx="2095500" cy="38100"/>
          </a:xfrm>
          <a:prstGeom prst="rect">
            <a:avLst/>
          </a:prstGeom>
          <a:solidFill>
            <a:srgbClr val="F4C84A"/>
          </a:solidFill>
          <a:ln cap="flat" cmpd="sng" w="9525">
            <a:solidFill>
              <a:srgbClr val="F4C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6"/>
          <p:cNvSpPr/>
          <p:nvPr/>
        </p:nvSpPr>
        <p:spPr>
          <a:xfrm>
            <a:off x="6943725" y="28575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F4C84A"/>
                </a:solidFill>
              </a:rPr>
              <a:t>›</a:t>
            </a:r>
            <a:endParaRPr/>
          </a:p>
        </p:txBody>
      </p:sp>
      <p:sp>
        <p:nvSpPr>
          <p:cNvPr id="404" name="Google Shape;404;p16"/>
          <p:cNvSpPr/>
          <p:nvPr/>
        </p:nvSpPr>
        <p:spPr>
          <a:xfrm>
            <a:off x="5000625" y="268605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4C84A"/>
                </a:solidFill>
              </a:rPr>
              <a:t>coordination</a:t>
            </a:r>
            <a:endParaRPr/>
          </a:p>
        </p:txBody>
      </p:sp>
      <p:sp>
        <p:nvSpPr>
          <p:cNvPr id="405" name="Google Shape;405;p16"/>
          <p:cNvSpPr/>
          <p:nvPr/>
        </p:nvSpPr>
        <p:spPr>
          <a:xfrm>
            <a:off x="2476500" y="4667250"/>
            <a:ext cx="7239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FFFFFF"/>
                </a:solidFill>
              </a:rPr>
              <a:t>In un cluster reale i worker ospitano spesso storage e compute.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7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CONTROL PLANE + DATA PLANE</a:t>
            </a:r>
            <a:endParaRPr/>
          </a:p>
        </p:txBody>
      </p:sp>
      <p:sp>
        <p:nvSpPr>
          <p:cNvPr id="412" name="Google Shape;412;p17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Due piani attraversano lo stesso cluster</a:t>
            </a:r>
            <a:endParaRPr/>
          </a:p>
        </p:txBody>
      </p:sp>
      <p:sp>
        <p:nvSpPr>
          <p:cNvPr id="413" name="Google Shape;413;p17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17</a:t>
            </a:r>
            <a:endParaRPr/>
          </a:p>
        </p:txBody>
      </p:sp>
      <p:sp>
        <p:nvSpPr>
          <p:cNvPr id="414" name="Google Shape;414;p17"/>
          <p:cNvSpPr/>
          <p:nvPr/>
        </p:nvSpPr>
        <p:spPr>
          <a:xfrm>
            <a:off x="685800" y="1809750"/>
            <a:ext cx="5143500" cy="3429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6362700" y="1809750"/>
            <a:ext cx="5143500" cy="3429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7"/>
          <p:cNvSpPr/>
          <p:nvPr/>
        </p:nvSpPr>
        <p:spPr>
          <a:xfrm>
            <a:off x="685800" y="1809750"/>
            <a:ext cx="5143500" cy="76200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7"/>
          <p:cNvSpPr/>
          <p:nvPr/>
        </p:nvSpPr>
        <p:spPr>
          <a:xfrm>
            <a:off x="6362700" y="1809750"/>
            <a:ext cx="5143500" cy="7620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7"/>
          <p:cNvSpPr/>
          <p:nvPr/>
        </p:nvSpPr>
        <p:spPr>
          <a:xfrm>
            <a:off x="1028700" y="2143125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CONTROL PLANE</a:t>
            </a:r>
            <a:endParaRPr/>
          </a:p>
        </p:txBody>
      </p:sp>
      <p:sp>
        <p:nvSpPr>
          <p:cNvPr id="419" name="Google Shape;419;p17"/>
          <p:cNvSpPr/>
          <p:nvPr/>
        </p:nvSpPr>
        <p:spPr>
          <a:xfrm>
            <a:off x="1028700" y="2809875"/>
            <a:ext cx="433387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Namespace, block map, scheduling, stato applicazioni e decisioni di allocazione.</a:t>
            </a:r>
            <a:endParaRPr/>
          </a:p>
        </p:txBody>
      </p:sp>
      <p:sp>
        <p:nvSpPr>
          <p:cNvPr id="420" name="Google Shape;420;p17"/>
          <p:cNvSpPr/>
          <p:nvPr/>
        </p:nvSpPr>
        <p:spPr>
          <a:xfrm>
            <a:off x="6705600" y="2143125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DATA PLANE</a:t>
            </a:r>
            <a:endParaRPr/>
          </a:p>
        </p:txBody>
      </p:sp>
      <p:sp>
        <p:nvSpPr>
          <p:cNvPr id="421" name="Google Shape;421;p17"/>
          <p:cNvSpPr/>
          <p:nvPr/>
        </p:nvSpPr>
        <p:spPr>
          <a:xfrm>
            <a:off x="6705600" y="2809875"/>
            <a:ext cx="433387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Blocchi letti e scritti, task eseguiti, shuffle e output prodotti dai worker.</a:t>
            </a:r>
            <a:endParaRPr/>
          </a:p>
        </p:txBody>
      </p:sp>
      <p:sp>
        <p:nvSpPr>
          <p:cNvPr id="422" name="Google Shape;422;p17"/>
          <p:cNvSpPr/>
          <p:nvPr/>
        </p:nvSpPr>
        <p:spPr>
          <a:xfrm>
            <a:off x="2476500" y="5619750"/>
            <a:ext cx="723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Il controllo decide; i worker spostano dati ed eseguono lavoro.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8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HDFS MASTER</a:t>
            </a:r>
            <a:endParaRPr/>
          </a:p>
        </p:txBody>
      </p:sp>
      <p:sp>
        <p:nvSpPr>
          <p:cNvPr id="429" name="Google Shape;429;p18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Il NameNode conosce il filesystem, non conserva i file</a:t>
            </a:r>
            <a:endParaRPr/>
          </a:p>
        </p:txBody>
      </p:sp>
      <p:sp>
        <p:nvSpPr>
          <p:cNvPr id="430" name="Google Shape;430;p18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18</a:t>
            </a:r>
            <a:endParaRPr/>
          </a:p>
        </p:txBody>
      </p:sp>
      <p:sp>
        <p:nvSpPr>
          <p:cNvPr id="431" name="Google Shape;431;p18"/>
          <p:cNvSpPr/>
          <p:nvPr/>
        </p:nvSpPr>
        <p:spPr>
          <a:xfrm>
            <a:off x="685800" y="1762125"/>
            <a:ext cx="5095875" cy="13335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8"/>
          <p:cNvSpPr/>
          <p:nvPr/>
        </p:nvSpPr>
        <p:spPr>
          <a:xfrm>
            <a:off x="685800" y="1762125"/>
            <a:ext cx="5095875" cy="85725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8"/>
          <p:cNvSpPr/>
          <p:nvPr/>
        </p:nvSpPr>
        <p:spPr>
          <a:xfrm>
            <a:off x="895350" y="1971675"/>
            <a:ext cx="46767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NAMESPACE</a:t>
            </a:r>
            <a:endParaRPr/>
          </a:p>
        </p:txBody>
      </p:sp>
      <p:sp>
        <p:nvSpPr>
          <p:cNvPr id="434" name="Google Shape;434;p18"/>
          <p:cNvSpPr/>
          <p:nvPr/>
        </p:nvSpPr>
        <p:spPr>
          <a:xfrm>
            <a:off x="895350" y="2333625"/>
            <a:ext cx="4676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B8D9"/>
                </a:solidFill>
              </a:rPr>
              <a:t>create • rename • delete</a:t>
            </a:r>
            <a:endParaRPr/>
          </a:p>
        </p:txBody>
      </p:sp>
      <p:sp>
        <p:nvSpPr>
          <p:cNvPr id="435" name="Google Shape;435;p18"/>
          <p:cNvSpPr/>
          <p:nvPr/>
        </p:nvSpPr>
        <p:spPr>
          <a:xfrm>
            <a:off x="895350" y="2600325"/>
            <a:ext cx="46767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cartelle + nomi</a:t>
            </a:r>
            <a:endParaRPr/>
          </a:p>
        </p:txBody>
      </p:sp>
      <p:sp>
        <p:nvSpPr>
          <p:cNvPr id="436" name="Google Shape;436;p18"/>
          <p:cNvSpPr/>
          <p:nvPr/>
        </p:nvSpPr>
        <p:spPr>
          <a:xfrm>
            <a:off x="6115050" y="1762125"/>
            <a:ext cx="5095875" cy="13335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8"/>
          <p:cNvSpPr/>
          <p:nvPr/>
        </p:nvSpPr>
        <p:spPr>
          <a:xfrm>
            <a:off x="6115050" y="1762125"/>
            <a:ext cx="5095875" cy="85725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8"/>
          <p:cNvSpPr/>
          <p:nvPr/>
        </p:nvSpPr>
        <p:spPr>
          <a:xfrm>
            <a:off x="6324600" y="1971675"/>
            <a:ext cx="46767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BLOCK MAP</a:t>
            </a:r>
            <a:endParaRPr/>
          </a:p>
        </p:txBody>
      </p:sp>
      <p:sp>
        <p:nvSpPr>
          <p:cNvPr id="439" name="Google Shape;439;p18"/>
          <p:cNvSpPr/>
          <p:nvPr/>
        </p:nvSpPr>
        <p:spPr>
          <a:xfrm>
            <a:off x="6324600" y="2333625"/>
            <a:ext cx="4676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8A4C"/>
                </a:solidFill>
              </a:rPr>
              <a:t>localizzazione</a:t>
            </a:r>
            <a:endParaRPr/>
          </a:p>
        </p:txBody>
      </p:sp>
      <p:sp>
        <p:nvSpPr>
          <p:cNvPr id="440" name="Google Shape;440;p18"/>
          <p:cNvSpPr/>
          <p:nvPr/>
        </p:nvSpPr>
        <p:spPr>
          <a:xfrm>
            <a:off x="6324600" y="2600325"/>
            <a:ext cx="46767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file → blocchi → nodi</a:t>
            </a:r>
            <a:endParaRPr/>
          </a:p>
        </p:txBody>
      </p:sp>
      <p:sp>
        <p:nvSpPr>
          <p:cNvPr id="441" name="Google Shape;441;p18"/>
          <p:cNvSpPr/>
          <p:nvPr/>
        </p:nvSpPr>
        <p:spPr>
          <a:xfrm>
            <a:off x="685800" y="3429000"/>
            <a:ext cx="5095875" cy="13335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8"/>
          <p:cNvSpPr/>
          <p:nvPr/>
        </p:nvSpPr>
        <p:spPr>
          <a:xfrm>
            <a:off x="685800" y="3429000"/>
            <a:ext cx="5095875" cy="85725"/>
          </a:xfrm>
          <a:prstGeom prst="rect">
            <a:avLst/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8"/>
          <p:cNvSpPr/>
          <p:nvPr/>
        </p:nvSpPr>
        <p:spPr>
          <a:xfrm>
            <a:off x="895350" y="3638550"/>
            <a:ext cx="46767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POLICY</a:t>
            </a:r>
            <a:endParaRPr/>
          </a:p>
        </p:txBody>
      </p:sp>
      <p:sp>
        <p:nvSpPr>
          <p:cNvPr id="444" name="Google Shape;444;p18"/>
          <p:cNvSpPr/>
          <p:nvPr/>
        </p:nvSpPr>
        <p:spPr>
          <a:xfrm>
            <a:off x="895350" y="4000500"/>
            <a:ext cx="4676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7C6EE6"/>
                </a:solidFill>
              </a:rPr>
              <a:t>placement</a:t>
            </a:r>
            <a:endParaRPr/>
          </a:p>
        </p:txBody>
      </p:sp>
      <p:sp>
        <p:nvSpPr>
          <p:cNvPr id="445" name="Google Shape;445;p18"/>
          <p:cNvSpPr/>
          <p:nvPr/>
        </p:nvSpPr>
        <p:spPr>
          <a:xfrm>
            <a:off x="895350" y="4267200"/>
            <a:ext cx="46767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replication factor</a:t>
            </a:r>
            <a:endParaRPr/>
          </a:p>
        </p:txBody>
      </p:sp>
      <p:sp>
        <p:nvSpPr>
          <p:cNvPr id="446" name="Google Shape;446;p18"/>
          <p:cNvSpPr/>
          <p:nvPr/>
        </p:nvSpPr>
        <p:spPr>
          <a:xfrm>
            <a:off x="6115050" y="3429000"/>
            <a:ext cx="5095875" cy="13335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8"/>
          <p:cNvSpPr/>
          <p:nvPr/>
        </p:nvSpPr>
        <p:spPr>
          <a:xfrm>
            <a:off x="6115050" y="3429000"/>
            <a:ext cx="5095875" cy="85725"/>
          </a:xfrm>
          <a:prstGeom prst="rect">
            <a:avLst/>
          </a:prstGeom>
          <a:solidFill>
            <a:srgbClr val="EF5A5A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8"/>
          <p:cNvSpPr/>
          <p:nvPr/>
        </p:nvSpPr>
        <p:spPr>
          <a:xfrm>
            <a:off x="6324600" y="3638550"/>
            <a:ext cx="46767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HEALTH</a:t>
            </a:r>
            <a:endParaRPr/>
          </a:p>
        </p:txBody>
      </p:sp>
      <p:sp>
        <p:nvSpPr>
          <p:cNvPr id="449" name="Google Shape;449;p18"/>
          <p:cNvSpPr/>
          <p:nvPr/>
        </p:nvSpPr>
        <p:spPr>
          <a:xfrm>
            <a:off x="6324600" y="4000500"/>
            <a:ext cx="4676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EF5A5A"/>
                </a:solidFill>
              </a:rPr>
              <a:t>decisioni di recovery</a:t>
            </a:r>
            <a:endParaRPr/>
          </a:p>
        </p:txBody>
      </p:sp>
      <p:sp>
        <p:nvSpPr>
          <p:cNvPr id="450" name="Google Shape;450;p18"/>
          <p:cNvSpPr/>
          <p:nvPr/>
        </p:nvSpPr>
        <p:spPr>
          <a:xfrm>
            <a:off x="6324600" y="4267200"/>
            <a:ext cx="46767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heartbeat + report</a:t>
            </a:r>
            <a:endParaRPr/>
          </a:p>
        </p:txBody>
      </p:sp>
      <p:sp>
        <p:nvSpPr>
          <p:cNvPr id="451" name="Google Shape;451;p18"/>
          <p:cNvSpPr/>
          <p:nvPr/>
        </p:nvSpPr>
        <p:spPr>
          <a:xfrm>
            <a:off x="3381375" y="5429250"/>
            <a:ext cx="5429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User data never flows through the NameNode.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9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HDFS WORKER</a:t>
            </a:r>
            <a:endParaRPr/>
          </a:p>
        </p:txBody>
      </p:sp>
      <p:sp>
        <p:nvSpPr>
          <p:cNvPr id="458" name="Google Shape;458;p19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Il DataNode conserva blocchi e serve il traffico dati</a:t>
            </a:r>
            <a:endParaRPr/>
          </a:p>
        </p:txBody>
      </p:sp>
      <p:sp>
        <p:nvSpPr>
          <p:cNvPr id="459" name="Google Shape;459;p19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19</a:t>
            </a:r>
            <a:endParaRPr/>
          </a:p>
        </p:txBody>
      </p:sp>
      <p:sp>
        <p:nvSpPr>
          <p:cNvPr id="460" name="Google Shape;460;p19"/>
          <p:cNvSpPr/>
          <p:nvPr/>
        </p:nvSpPr>
        <p:spPr>
          <a:xfrm>
            <a:off x="685800" y="16668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9"/>
          <p:cNvSpPr/>
          <p:nvPr/>
        </p:nvSpPr>
        <p:spPr>
          <a:xfrm>
            <a:off x="685800" y="1666875"/>
            <a:ext cx="3238500" cy="85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9"/>
          <p:cNvSpPr/>
          <p:nvPr/>
        </p:nvSpPr>
        <p:spPr>
          <a:xfrm>
            <a:off x="895350" y="18764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STORE</a:t>
            </a:r>
            <a:endParaRPr/>
          </a:p>
        </p:txBody>
      </p:sp>
      <p:sp>
        <p:nvSpPr>
          <p:cNvPr id="463" name="Google Shape;463;p19"/>
          <p:cNvSpPr/>
          <p:nvPr/>
        </p:nvSpPr>
        <p:spPr>
          <a:xfrm>
            <a:off x="895350" y="2390775"/>
            <a:ext cx="2819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blocchi su dischi locali</a:t>
            </a:r>
            <a:endParaRPr/>
          </a:p>
        </p:txBody>
      </p:sp>
      <p:sp>
        <p:nvSpPr>
          <p:cNvPr id="464" name="Google Shape;464;p19"/>
          <p:cNvSpPr/>
          <p:nvPr/>
        </p:nvSpPr>
        <p:spPr>
          <a:xfrm>
            <a:off x="4305300" y="16668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9"/>
          <p:cNvSpPr/>
          <p:nvPr/>
        </p:nvSpPr>
        <p:spPr>
          <a:xfrm>
            <a:off x="4305300" y="1666875"/>
            <a:ext cx="3238500" cy="85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9"/>
          <p:cNvSpPr/>
          <p:nvPr/>
        </p:nvSpPr>
        <p:spPr>
          <a:xfrm>
            <a:off x="4514850" y="18764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SERVE</a:t>
            </a:r>
            <a:endParaRPr/>
          </a:p>
        </p:txBody>
      </p:sp>
      <p:sp>
        <p:nvSpPr>
          <p:cNvPr id="467" name="Google Shape;467;p19"/>
          <p:cNvSpPr/>
          <p:nvPr/>
        </p:nvSpPr>
        <p:spPr>
          <a:xfrm>
            <a:off x="4514850" y="2390775"/>
            <a:ext cx="2819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read e write del client</a:t>
            </a:r>
            <a:endParaRPr/>
          </a:p>
        </p:txBody>
      </p:sp>
      <p:sp>
        <p:nvSpPr>
          <p:cNvPr id="468" name="Google Shape;468;p19"/>
          <p:cNvSpPr/>
          <p:nvPr/>
        </p:nvSpPr>
        <p:spPr>
          <a:xfrm>
            <a:off x="7924800" y="16668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9"/>
          <p:cNvSpPr/>
          <p:nvPr/>
        </p:nvSpPr>
        <p:spPr>
          <a:xfrm>
            <a:off x="7924800" y="1666875"/>
            <a:ext cx="3238500" cy="85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9"/>
          <p:cNvSpPr/>
          <p:nvPr/>
        </p:nvSpPr>
        <p:spPr>
          <a:xfrm>
            <a:off x="8134350" y="18764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REPORT</a:t>
            </a:r>
            <a:endParaRPr/>
          </a:p>
        </p:txBody>
      </p:sp>
      <p:sp>
        <p:nvSpPr>
          <p:cNvPr id="471" name="Google Shape;471;p19"/>
          <p:cNvSpPr/>
          <p:nvPr/>
        </p:nvSpPr>
        <p:spPr>
          <a:xfrm>
            <a:off x="8134350" y="2390775"/>
            <a:ext cx="2819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block report al NameNode</a:t>
            </a:r>
            <a:endParaRPr/>
          </a:p>
        </p:txBody>
      </p:sp>
      <p:sp>
        <p:nvSpPr>
          <p:cNvPr id="472" name="Google Shape;472;p19"/>
          <p:cNvSpPr/>
          <p:nvPr/>
        </p:nvSpPr>
        <p:spPr>
          <a:xfrm>
            <a:off x="685800" y="33813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9"/>
          <p:cNvSpPr/>
          <p:nvPr/>
        </p:nvSpPr>
        <p:spPr>
          <a:xfrm>
            <a:off x="685800" y="3381375"/>
            <a:ext cx="3238500" cy="85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9"/>
          <p:cNvSpPr/>
          <p:nvPr/>
        </p:nvSpPr>
        <p:spPr>
          <a:xfrm>
            <a:off x="895350" y="35909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HEARTBEAT</a:t>
            </a:r>
            <a:endParaRPr/>
          </a:p>
        </p:txBody>
      </p:sp>
      <p:sp>
        <p:nvSpPr>
          <p:cNvPr id="475" name="Google Shape;475;p19"/>
          <p:cNvSpPr/>
          <p:nvPr/>
        </p:nvSpPr>
        <p:spPr>
          <a:xfrm>
            <a:off x="895350" y="4105275"/>
            <a:ext cx="2819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segnale di vita</a:t>
            </a:r>
            <a:endParaRPr/>
          </a:p>
        </p:txBody>
      </p:sp>
      <p:sp>
        <p:nvSpPr>
          <p:cNvPr id="476" name="Google Shape;476;p19"/>
          <p:cNvSpPr/>
          <p:nvPr/>
        </p:nvSpPr>
        <p:spPr>
          <a:xfrm>
            <a:off x="4305300" y="33813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9"/>
          <p:cNvSpPr/>
          <p:nvPr/>
        </p:nvSpPr>
        <p:spPr>
          <a:xfrm>
            <a:off x="4305300" y="3381375"/>
            <a:ext cx="3238500" cy="85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9"/>
          <p:cNvSpPr/>
          <p:nvPr/>
        </p:nvSpPr>
        <p:spPr>
          <a:xfrm>
            <a:off x="4514850" y="35909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REPLICATE</a:t>
            </a:r>
            <a:endParaRPr/>
          </a:p>
        </p:txBody>
      </p:sp>
      <p:sp>
        <p:nvSpPr>
          <p:cNvPr id="479" name="Google Shape;479;p19"/>
          <p:cNvSpPr/>
          <p:nvPr/>
        </p:nvSpPr>
        <p:spPr>
          <a:xfrm>
            <a:off x="4514850" y="4105275"/>
            <a:ext cx="2819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crea o elimina copie</a:t>
            </a:r>
            <a:endParaRPr/>
          </a:p>
        </p:txBody>
      </p:sp>
      <p:sp>
        <p:nvSpPr>
          <p:cNvPr id="480" name="Google Shape;480;p19"/>
          <p:cNvSpPr/>
          <p:nvPr/>
        </p:nvSpPr>
        <p:spPr>
          <a:xfrm>
            <a:off x="7924800" y="33813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9"/>
          <p:cNvSpPr/>
          <p:nvPr/>
        </p:nvSpPr>
        <p:spPr>
          <a:xfrm>
            <a:off x="7924800" y="3381375"/>
            <a:ext cx="3238500" cy="85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9"/>
          <p:cNvSpPr/>
          <p:nvPr/>
        </p:nvSpPr>
        <p:spPr>
          <a:xfrm>
            <a:off x="8134350" y="35909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VERIFY</a:t>
            </a:r>
            <a:endParaRPr/>
          </a:p>
        </p:txBody>
      </p:sp>
      <p:sp>
        <p:nvSpPr>
          <p:cNvPr id="483" name="Google Shape;483;p19"/>
          <p:cNvSpPr/>
          <p:nvPr/>
        </p:nvSpPr>
        <p:spPr>
          <a:xfrm>
            <a:off x="8134350" y="4105275"/>
            <a:ext cx="2819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checksum dei blocchi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0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YARN MASTER</a:t>
            </a:r>
            <a:endParaRPr/>
          </a:p>
        </p:txBody>
      </p:sp>
      <p:sp>
        <p:nvSpPr>
          <p:cNvPr id="490" name="Google Shape;490;p20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Il ResourceManager arbitra risorse globali</a:t>
            </a:r>
            <a:endParaRPr/>
          </a:p>
        </p:txBody>
      </p:sp>
      <p:sp>
        <p:nvSpPr>
          <p:cNvPr id="491" name="Google Shape;491;p20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20</a:t>
            </a:r>
            <a:endParaRPr/>
          </a:p>
        </p:txBody>
      </p:sp>
      <p:sp>
        <p:nvSpPr>
          <p:cNvPr id="492" name="Google Shape;492;p20"/>
          <p:cNvSpPr/>
          <p:nvPr/>
        </p:nvSpPr>
        <p:spPr>
          <a:xfrm>
            <a:off x="1476375" y="1762125"/>
            <a:ext cx="9239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B1F33"/>
                </a:solidFill>
              </a:rPr>
              <a:t>CLUSTER CAPACITY</a:t>
            </a:r>
            <a:endParaRPr/>
          </a:p>
        </p:txBody>
      </p:sp>
      <p:sp>
        <p:nvSpPr>
          <p:cNvPr id="493" name="Google Shape;493;p20"/>
          <p:cNvSpPr/>
          <p:nvPr/>
        </p:nvSpPr>
        <p:spPr>
          <a:xfrm>
            <a:off x="1619250" y="2428875"/>
            <a:ext cx="8953500" cy="523875"/>
          </a:xfrm>
          <a:prstGeom prst="rect">
            <a:avLst/>
          </a:prstGeom>
          <a:solidFill>
            <a:srgbClr val="D8DDE3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0"/>
          <p:cNvSpPr/>
          <p:nvPr/>
        </p:nvSpPr>
        <p:spPr>
          <a:xfrm>
            <a:off x="1619250" y="2428875"/>
            <a:ext cx="4095750" cy="523875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0"/>
          <p:cNvSpPr/>
          <p:nvPr/>
        </p:nvSpPr>
        <p:spPr>
          <a:xfrm>
            <a:off x="5715000" y="2428875"/>
            <a:ext cx="2714625" cy="523875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0"/>
          <p:cNvSpPr/>
          <p:nvPr/>
        </p:nvSpPr>
        <p:spPr>
          <a:xfrm>
            <a:off x="8429625" y="2428875"/>
            <a:ext cx="1428750" cy="523875"/>
          </a:xfrm>
          <a:prstGeom prst="rect">
            <a:avLst/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0"/>
          <p:cNvSpPr/>
          <p:nvPr/>
        </p:nvSpPr>
        <p:spPr>
          <a:xfrm>
            <a:off x="2714625" y="25717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APP A</a:t>
            </a:r>
            <a:endParaRPr/>
          </a:p>
        </p:txBody>
      </p:sp>
      <p:sp>
        <p:nvSpPr>
          <p:cNvPr id="498" name="Google Shape;498;p20"/>
          <p:cNvSpPr/>
          <p:nvPr/>
        </p:nvSpPr>
        <p:spPr>
          <a:xfrm>
            <a:off x="6143625" y="2571750"/>
            <a:ext cx="1857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APP B</a:t>
            </a:r>
            <a:endParaRPr/>
          </a:p>
        </p:txBody>
      </p:sp>
      <p:sp>
        <p:nvSpPr>
          <p:cNvPr id="499" name="Google Shape;499;p20"/>
          <p:cNvSpPr/>
          <p:nvPr/>
        </p:nvSpPr>
        <p:spPr>
          <a:xfrm>
            <a:off x="8477250" y="257175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</a:rPr>
              <a:t>APP C</a:t>
            </a:r>
            <a:endParaRPr/>
          </a:p>
        </p:txBody>
      </p:sp>
      <p:sp>
        <p:nvSpPr>
          <p:cNvPr id="500" name="Google Shape;500;p20"/>
          <p:cNvSpPr/>
          <p:nvPr/>
        </p:nvSpPr>
        <p:spPr>
          <a:xfrm>
            <a:off x="2095500" y="3857625"/>
            <a:ext cx="8001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B1F33"/>
                </a:solidFill>
              </a:rPr>
              <a:t>Scheduler: assegna container secondo capacità, code e policy.</a:t>
            </a:r>
            <a:endParaRPr/>
          </a:p>
        </p:txBody>
      </p:sp>
      <p:sp>
        <p:nvSpPr>
          <p:cNvPr id="501" name="Google Shape;501;p20"/>
          <p:cNvSpPr/>
          <p:nvPr/>
        </p:nvSpPr>
        <p:spPr>
          <a:xfrm>
            <a:off x="1857375" y="4572000"/>
            <a:ext cx="8477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11827"/>
                </a:solidFill>
              </a:rPr>
              <a:t>ApplicationsManager: accetta submission e avvia l’ApplicationMaster.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1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YARN WORKER</a:t>
            </a:r>
            <a:endParaRPr/>
          </a:p>
        </p:txBody>
      </p:sp>
      <p:sp>
        <p:nvSpPr>
          <p:cNvPr id="508" name="Google Shape;508;p21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Ogni NodeManager governa una macchina</a:t>
            </a:r>
            <a:endParaRPr/>
          </a:p>
        </p:txBody>
      </p:sp>
      <p:sp>
        <p:nvSpPr>
          <p:cNvPr id="509" name="Google Shape;509;p21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21</a:t>
            </a:r>
            <a:endParaRPr/>
          </a:p>
        </p:txBody>
      </p:sp>
      <p:sp>
        <p:nvSpPr>
          <p:cNvPr id="510" name="Google Shape;510;p21"/>
          <p:cNvSpPr/>
          <p:nvPr/>
        </p:nvSpPr>
        <p:spPr>
          <a:xfrm>
            <a:off x="1047750" y="1952625"/>
            <a:ext cx="257175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1"/>
          <p:cNvSpPr/>
          <p:nvPr/>
        </p:nvSpPr>
        <p:spPr>
          <a:xfrm>
            <a:off x="1200150" y="2143125"/>
            <a:ext cx="2266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NODE MANAGER</a:t>
            </a:r>
            <a:endParaRPr/>
          </a:p>
        </p:txBody>
      </p:sp>
      <p:sp>
        <p:nvSpPr>
          <p:cNvPr id="512" name="Google Shape;512;p21"/>
          <p:cNvSpPr/>
          <p:nvPr/>
        </p:nvSpPr>
        <p:spPr>
          <a:xfrm>
            <a:off x="1200150" y="2505075"/>
            <a:ext cx="226695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cpu • memory • disk • network</a:t>
            </a:r>
            <a:endParaRPr/>
          </a:p>
        </p:txBody>
      </p:sp>
      <p:sp>
        <p:nvSpPr>
          <p:cNvPr id="513" name="Google Shape;513;p21"/>
          <p:cNvSpPr/>
          <p:nvPr/>
        </p:nvSpPr>
        <p:spPr>
          <a:xfrm>
            <a:off x="3619500" y="2552700"/>
            <a:ext cx="952500" cy="3810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1"/>
          <p:cNvSpPr/>
          <p:nvPr/>
        </p:nvSpPr>
        <p:spPr>
          <a:xfrm>
            <a:off x="4419600" y="238125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FF8A4C"/>
                </a:solidFill>
              </a:rPr>
              <a:t>›</a:t>
            </a:r>
            <a:endParaRPr/>
          </a:p>
        </p:txBody>
      </p:sp>
      <p:sp>
        <p:nvSpPr>
          <p:cNvPr id="515" name="Google Shape;515;p21"/>
          <p:cNvSpPr/>
          <p:nvPr/>
        </p:nvSpPr>
        <p:spPr>
          <a:xfrm>
            <a:off x="3619500" y="22098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8A4C"/>
                </a:solidFill>
              </a:rPr>
              <a:t>launch</a:t>
            </a:r>
            <a:endParaRPr/>
          </a:p>
        </p:txBody>
      </p:sp>
      <p:sp>
        <p:nvSpPr>
          <p:cNvPr id="516" name="Google Shape;516;p21"/>
          <p:cNvSpPr/>
          <p:nvPr/>
        </p:nvSpPr>
        <p:spPr>
          <a:xfrm>
            <a:off x="4572000" y="1952625"/>
            <a:ext cx="22860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1"/>
          <p:cNvSpPr/>
          <p:nvPr/>
        </p:nvSpPr>
        <p:spPr>
          <a:xfrm>
            <a:off x="4724400" y="2143125"/>
            <a:ext cx="1981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CONTAINER 1</a:t>
            </a:r>
            <a:endParaRPr/>
          </a:p>
        </p:txBody>
      </p:sp>
      <p:sp>
        <p:nvSpPr>
          <p:cNvPr id="518" name="Google Shape;518;p21"/>
          <p:cNvSpPr/>
          <p:nvPr/>
        </p:nvSpPr>
        <p:spPr>
          <a:xfrm>
            <a:off x="4724400" y="2505075"/>
            <a:ext cx="19812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map task</a:t>
            </a:r>
            <a:endParaRPr/>
          </a:p>
        </p:txBody>
      </p:sp>
      <p:sp>
        <p:nvSpPr>
          <p:cNvPr id="519" name="Google Shape;519;p21"/>
          <p:cNvSpPr/>
          <p:nvPr/>
        </p:nvSpPr>
        <p:spPr>
          <a:xfrm>
            <a:off x="7334250" y="1952625"/>
            <a:ext cx="22860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1"/>
          <p:cNvSpPr/>
          <p:nvPr/>
        </p:nvSpPr>
        <p:spPr>
          <a:xfrm>
            <a:off x="7486650" y="2143125"/>
            <a:ext cx="1981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CONTAINER 2</a:t>
            </a:r>
            <a:endParaRPr/>
          </a:p>
        </p:txBody>
      </p:sp>
      <p:sp>
        <p:nvSpPr>
          <p:cNvPr id="521" name="Google Shape;521;p21"/>
          <p:cNvSpPr/>
          <p:nvPr/>
        </p:nvSpPr>
        <p:spPr>
          <a:xfrm>
            <a:off x="7486650" y="2505075"/>
            <a:ext cx="19812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reduce task</a:t>
            </a:r>
            <a:endParaRPr/>
          </a:p>
        </p:txBody>
      </p:sp>
      <p:sp>
        <p:nvSpPr>
          <p:cNvPr id="522" name="Google Shape;522;p21"/>
          <p:cNvSpPr/>
          <p:nvPr/>
        </p:nvSpPr>
        <p:spPr>
          <a:xfrm>
            <a:off x="10096500" y="1952625"/>
            <a:ext cx="142875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1"/>
          <p:cNvSpPr/>
          <p:nvPr/>
        </p:nvSpPr>
        <p:spPr>
          <a:xfrm>
            <a:off x="10248900" y="2143125"/>
            <a:ext cx="1123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LOGS</a:t>
            </a:r>
            <a:endParaRPr/>
          </a:p>
        </p:txBody>
      </p:sp>
      <p:sp>
        <p:nvSpPr>
          <p:cNvPr id="524" name="Google Shape;524;p21"/>
          <p:cNvSpPr/>
          <p:nvPr/>
        </p:nvSpPr>
        <p:spPr>
          <a:xfrm>
            <a:off x="10248900" y="2505075"/>
            <a:ext cx="112395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status</a:t>
            </a:r>
            <a:endParaRPr/>
          </a:p>
        </p:txBody>
      </p:sp>
      <p:sp>
        <p:nvSpPr>
          <p:cNvPr id="525" name="Google Shape;525;p21"/>
          <p:cNvSpPr/>
          <p:nvPr/>
        </p:nvSpPr>
        <p:spPr>
          <a:xfrm>
            <a:off x="2095500" y="4333875"/>
            <a:ext cx="800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Avvia container, misura risorse e riferisce al ResourceManager.</a:t>
            </a:r>
            <a:endParaRPr/>
          </a:p>
        </p:txBody>
      </p:sp>
      <p:sp>
        <p:nvSpPr>
          <p:cNvPr id="526" name="Google Shape;526;p21"/>
          <p:cNvSpPr/>
          <p:nvPr/>
        </p:nvSpPr>
        <p:spPr>
          <a:xfrm>
            <a:off x="3143250" y="5048250"/>
            <a:ext cx="5905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EF5A5A"/>
                </a:solidFill>
              </a:rPr>
              <a:t>Il NodeManager non decide l’algoritmo del job.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2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APPLICATION MASTER</a:t>
            </a:r>
            <a:endParaRPr/>
          </a:p>
        </p:txBody>
      </p:sp>
      <p:sp>
        <p:nvSpPr>
          <p:cNvPr id="533" name="Google Shape;533;p22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Ogni applicazione riceve un proprio coordinatore</a:t>
            </a:r>
            <a:endParaRPr/>
          </a:p>
        </p:txBody>
      </p:sp>
      <p:sp>
        <p:nvSpPr>
          <p:cNvPr id="534" name="Google Shape;534;p22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22</a:t>
            </a:r>
            <a:endParaRPr/>
          </a:p>
        </p:txBody>
      </p:sp>
      <p:sp>
        <p:nvSpPr>
          <p:cNvPr id="535" name="Google Shape;535;p22"/>
          <p:cNvSpPr/>
          <p:nvPr/>
        </p:nvSpPr>
        <p:spPr>
          <a:xfrm>
            <a:off x="781050" y="1666875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8D9"/>
                </a:solidFill>
              </a:rPr>
              <a:t>01</a:t>
            </a:r>
            <a:endParaRPr/>
          </a:p>
        </p:txBody>
      </p:sp>
      <p:sp>
        <p:nvSpPr>
          <p:cNvPr id="536" name="Google Shape;536;p22"/>
          <p:cNvSpPr/>
          <p:nvPr/>
        </p:nvSpPr>
        <p:spPr>
          <a:xfrm>
            <a:off x="1666875" y="1666875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NEGOTIATE</a:t>
            </a:r>
            <a:endParaRPr/>
          </a:p>
        </p:txBody>
      </p:sp>
      <p:sp>
        <p:nvSpPr>
          <p:cNvPr id="537" name="Google Shape;537;p22"/>
          <p:cNvSpPr/>
          <p:nvPr/>
        </p:nvSpPr>
        <p:spPr>
          <a:xfrm>
            <a:off x="4762500" y="1666875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richiede container al ResourceManager</a:t>
            </a:r>
            <a:endParaRPr/>
          </a:p>
        </p:txBody>
      </p:sp>
      <p:sp>
        <p:nvSpPr>
          <p:cNvPr id="538" name="Google Shape;538;p22"/>
          <p:cNvSpPr/>
          <p:nvPr/>
        </p:nvSpPr>
        <p:spPr>
          <a:xfrm>
            <a:off x="781050" y="2476500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8A4C"/>
                </a:solidFill>
              </a:rPr>
              <a:t>02</a:t>
            </a:r>
            <a:endParaRPr/>
          </a:p>
        </p:txBody>
      </p:sp>
      <p:sp>
        <p:nvSpPr>
          <p:cNvPr id="539" name="Google Shape;539;p22"/>
          <p:cNvSpPr/>
          <p:nvPr/>
        </p:nvSpPr>
        <p:spPr>
          <a:xfrm>
            <a:off x="1666875" y="24765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LAUNCH</a:t>
            </a:r>
            <a:endParaRPr/>
          </a:p>
        </p:txBody>
      </p:sp>
      <p:sp>
        <p:nvSpPr>
          <p:cNvPr id="540" name="Google Shape;540;p22"/>
          <p:cNvSpPr/>
          <p:nvPr/>
        </p:nvSpPr>
        <p:spPr>
          <a:xfrm>
            <a:off x="4762500" y="2476500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collabora con i NodeManager</a:t>
            </a:r>
            <a:endParaRPr/>
          </a:p>
        </p:txBody>
      </p:sp>
      <p:sp>
        <p:nvSpPr>
          <p:cNvPr id="541" name="Google Shape;541;p22"/>
          <p:cNvSpPr/>
          <p:nvPr/>
        </p:nvSpPr>
        <p:spPr>
          <a:xfrm>
            <a:off x="781050" y="3286125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C6EE6"/>
                </a:solidFill>
              </a:rPr>
              <a:t>03</a:t>
            </a:r>
            <a:endParaRPr/>
          </a:p>
        </p:txBody>
      </p:sp>
      <p:sp>
        <p:nvSpPr>
          <p:cNvPr id="542" name="Google Shape;542;p22"/>
          <p:cNvSpPr/>
          <p:nvPr/>
        </p:nvSpPr>
        <p:spPr>
          <a:xfrm>
            <a:off x="1666875" y="3286125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TRACK</a:t>
            </a:r>
            <a:endParaRPr/>
          </a:p>
        </p:txBody>
      </p:sp>
      <p:sp>
        <p:nvSpPr>
          <p:cNvPr id="543" name="Google Shape;543;p22"/>
          <p:cNvSpPr/>
          <p:nvPr/>
        </p:nvSpPr>
        <p:spPr>
          <a:xfrm>
            <a:off x="4762500" y="3286125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segue task, progresso e stato</a:t>
            </a:r>
            <a:endParaRPr/>
          </a:p>
        </p:txBody>
      </p:sp>
      <p:sp>
        <p:nvSpPr>
          <p:cNvPr id="544" name="Google Shape;544;p22"/>
          <p:cNvSpPr/>
          <p:nvPr/>
        </p:nvSpPr>
        <p:spPr>
          <a:xfrm>
            <a:off x="781050" y="4095750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F5A5A"/>
                </a:solidFill>
              </a:rPr>
              <a:t>04</a:t>
            </a:r>
            <a:endParaRPr/>
          </a:p>
        </p:txBody>
      </p:sp>
      <p:sp>
        <p:nvSpPr>
          <p:cNvPr id="545" name="Google Shape;545;p22"/>
          <p:cNvSpPr/>
          <p:nvPr/>
        </p:nvSpPr>
        <p:spPr>
          <a:xfrm>
            <a:off x="1666875" y="409575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RECOVER</a:t>
            </a:r>
            <a:endParaRPr/>
          </a:p>
        </p:txBody>
      </p:sp>
      <p:sp>
        <p:nvSpPr>
          <p:cNvPr id="546" name="Google Shape;546;p22"/>
          <p:cNvSpPr/>
          <p:nvPr/>
        </p:nvSpPr>
        <p:spPr>
          <a:xfrm>
            <a:off x="4762500" y="4095750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riprogramma lavoro quando serve</a:t>
            </a:r>
            <a:endParaRPr/>
          </a:p>
        </p:txBody>
      </p:sp>
      <p:sp>
        <p:nvSpPr>
          <p:cNvPr id="547" name="Google Shape;547;p22"/>
          <p:cNvSpPr/>
          <p:nvPr/>
        </p:nvSpPr>
        <p:spPr>
          <a:xfrm>
            <a:off x="2571750" y="5381625"/>
            <a:ext cx="7048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F33"/>
                </a:solidFill>
              </a:rPr>
              <a:t>Un ApplicationMaster vive per la durata dell’applicazione.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3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RESOURCE CONTAINER</a:t>
            </a:r>
            <a:endParaRPr/>
          </a:p>
        </p:txBody>
      </p:sp>
      <p:sp>
        <p:nvSpPr>
          <p:cNvPr id="554" name="Google Shape;554;p23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Un container YARN è una quota, non un’immagine Docker</a:t>
            </a:r>
            <a:endParaRPr/>
          </a:p>
        </p:txBody>
      </p:sp>
      <p:sp>
        <p:nvSpPr>
          <p:cNvPr id="555" name="Google Shape;555;p23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23</a:t>
            </a:r>
            <a:endParaRPr/>
          </a:p>
        </p:txBody>
      </p:sp>
      <p:sp>
        <p:nvSpPr>
          <p:cNvPr id="556" name="Google Shape;556;p23"/>
          <p:cNvSpPr/>
          <p:nvPr/>
        </p:nvSpPr>
        <p:spPr>
          <a:xfrm>
            <a:off x="685800" y="1809750"/>
            <a:ext cx="5143500" cy="3429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3"/>
          <p:cNvSpPr/>
          <p:nvPr/>
        </p:nvSpPr>
        <p:spPr>
          <a:xfrm>
            <a:off x="6362700" y="1809750"/>
            <a:ext cx="5143500" cy="3429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3"/>
          <p:cNvSpPr/>
          <p:nvPr/>
        </p:nvSpPr>
        <p:spPr>
          <a:xfrm>
            <a:off x="685800" y="1809750"/>
            <a:ext cx="5143500" cy="7620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3"/>
          <p:cNvSpPr/>
          <p:nvPr/>
        </p:nvSpPr>
        <p:spPr>
          <a:xfrm>
            <a:off x="6362700" y="1809750"/>
            <a:ext cx="5143500" cy="76200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3"/>
          <p:cNvSpPr/>
          <p:nvPr/>
        </p:nvSpPr>
        <p:spPr>
          <a:xfrm>
            <a:off x="1028700" y="2143125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YARN CONTAINER</a:t>
            </a:r>
            <a:endParaRPr/>
          </a:p>
        </p:txBody>
      </p:sp>
      <p:sp>
        <p:nvSpPr>
          <p:cNvPr id="561" name="Google Shape;561;p23"/>
          <p:cNvSpPr/>
          <p:nvPr/>
        </p:nvSpPr>
        <p:spPr>
          <a:xfrm>
            <a:off x="1028700" y="2809875"/>
            <a:ext cx="433387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Memoria, CPU e altre risorse concesse su un nodo per eseguire un task.</a:t>
            </a:r>
            <a:endParaRPr/>
          </a:p>
        </p:txBody>
      </p:sp>
      <p:sp>
        <p:nvSpPr>
          <p:cNvPr id="562" name="Google Shape;562;p23"/>
          <p:cNvSpPr/>
          <p:nvPr/>
        </p:nvSpPr>
        <p:spPr>
          <a:xfrm>
            <a:off x="6705600" y="2143125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DOCKER CONTAINER</a:t>
            </a:r>
            <a:endParaRPr/>
          </a:p>
        </p:txBody>
      </p:sp>
      <p:sp>
        <p:nvSpPr>
          <p:cNvPr id="563" name="Google Shape;563;p23"/>
          <p:cNvSpPr/>
          <p:nvPr/>
        </p:nvSpPr>
        <p:spPr>
          <a:xfrm>
            <a:off x="6705600" y="2809875"/>
            <a:ext cx="433387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Isolamento e packaging di un processo tramite image, runtime e namespace.</a:t>
            </a:r>
            <a:endParaRPr/>
          </a:p>
        </p:txBody>
      </p:sp>
      <p:sp>
        <p:nvSpPr>
          <p:cNvPr id="564" name="Google Shape;564;p23"/>
          <p:cNvSpPr/>
          <p:nvPr/>
        </p:nvSpPr>
        <p:spPr>
          <a:xfrm>
            <a:off x="3619500" y="5619750"/>
            <a:ext cx="4953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F5A5A"/>
                </a:solidFill>
              </a:rPr>
              <a:t>Stesso termine, responsabilità differenti.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4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APPLICATION LIFECYCLE</a:t>
            </a:r>
            <a:endParaRPr/>
          </a:p>
        </p:txBody>
      </p:sp>
      <p:sp>
        <p:nvSpPr>
          <p:cNvPr id="571" name="Google Shape;571;p24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Un job attraversa una sequenza osservabile</a:t>
            </a:r>
            <a:endParaRPr/>
          </a:p>
        </p:txBody>
      </p:sp>
      <p:sp>
        <p:nvSpPr>
          <p:cNvPr id="572" name="Google Shape;572;p24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24</a:t>
            </a:r>
            <a:endParaRPr/>
          </a:p>
        </p:txBody>
      </p:sp>
      <p:sp>
        <p:nvSpPr>
          <p:cNvPr id="573" name="Google Shape;573;p24"/>
          <p:cNvSpPr/>
          <p:nvPr/>
        </p:nvSpPr>
        <p:spPr>
          <a:xfrm>
            <a:off x="2000250" y="2838450"/>
            <a:ext cx="381000" cy="38100"/>
          </a:xfrm>
          <a:prstGeom prst="rect">
            <a:avLst/>
          </a:prstGeom>
          <a:solidFill>
            <a:srgbClr val="D8DDE3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4"/>
          <p:cNvSpPr/>
          <p:nvPr/>
        </p:nvSpPr>
        <p:spPr>
          <a:xfrm>
            <a:off x="2228850" y="26670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D8DDE3"/>
                </a:solidFill>
              </a:rPr>
              <a:t>›</a:t>
            </a:r>
            <a:endParaRPr/>
          </a:p>
        </p:txBody>
      </p:sp>
      <p:sp>
        <p:nvSpPr>
          <p:cNvPr id="575" name="Google Shape;575;p24"/>
          <p:cNvSpPr/>
          <p:nvPr/>
        </p:nvSpPr>
        <p:spPr>
          <a:xfrm>
            <a:off x="428625" y="2238375"/>
            <a:ext cx="1571625" cy="952500"/>
          </a:xfrm>
          <a:prstGeom prst="roundRect">
            <a:avLst>
              <a:gd fmla="val 8000" name="adj"/>
            </a:avLst>
          </a:prstGeom>
          <a:solidFill>
            <a:srgbClr val="0B1F33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4"/>
          <p:cNvSpPr/>
          <p:nvPr/>
        </p:nvSpPr>
        <p:spPr>
          <a:xfrm>
            <a:off x="581025" y="2428875"/>
            <a:ext cx="1266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1 • SUBMIT</a:t>
            </a:r>
            <a:endParaRPr/>
          </a:p>
        </p:txBody>
      </p:sp>
      <p:sp>
        <p:nvSpPr>
          <p:cNvPr id="577" name="Google Shape;577;p24"/>
          <p:cNvSpPr/>
          <p:nvPr/>
        </p:nvSpPr>
        <p:spPr>
          <a:xfrm>
            <a:off x="581025" y="2790825"/>
            <a:ext cx="1266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client</a:t>
            </a:r>
            <a:endParaRPr/>
          </a:p>
        </p:txBody>
      </p:sp>
      <p:sp>
        <p:nvSpPr>
          <p:cNvPr id="578" name="Google Shape;578;p24"/>
          <p:cNvSpPr/>
          <p:nvPr/>
        </p:nvSpPr>
        <p:spPr>
          <a:xfrm>
            <a:off x="3952875" y="2838450"/>
            <a:ext cx="381000" cy="38100"/>
          </a:xfrm>
          <a:prstGeom prst="rect">
            <a:avLst/>
          </a:prstGeom>
          <a:solidFill>
            <a:srgbClr val="D8DDE3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4"/>
          <p:cNvSpPr/>
          <p:nvPr/>
        </p:nvSpPr>
        <p:spPr>
          <a:xfrm>
            <a:off x="4181475" y="26670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D8DDE3"/>
                </a:solidFill>
              </a:rPr>
              <a:t>›</a:t>
            </a:r>
            <a:endParaRPr/>
          </a:p>
        </p:txBody>
      </p:sp>
      <p:sp>
        <p:nvSpPr>
          <p:cNvPr id="580" name="Google Shape;580;p24"/>
          <p:cNvSpPr/>
          <p:nvPr/>
        </p:nvSpPr>
        <p:spPr>
          <a:xfrm>
            <a:off x="2381250" y="2238375"/>
            <a:ext cx="1571625" cy="952500"/>
          </a:xfrm>
          <a:prstGeom prst="roundRect">
            <a:avLst>
              <a:gd fmla="val 8000" name="adj"/>
            </a:avLst>
          </a:prstGeom>
          <a:solidFill>
            <a:srgbClr val="0B1F33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4"/>
          <p:cNvSpPr/>
          <p:nvPr/>
        </p:nvSpPr>
        <p:spPr>
          <a:xfrm>
            <a:off x="2533650" y="2428875"/>
            <a:ext cx="1266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2 • AM START</a:t>
            </a:r>
            <a:endParaRPr/>
          </a:p>
        </p:txBody>
      </p:sp>
      <p:sp>
        <p:nvSpPr>
          <p:cNvPr id="582" name="Google Shape;582;p24"/>
          <p:cNvSpPr/>
          <p:nvPr/>
        </p:nvSpPr>
        <p:spPr>
          <a:xfrm>
            <a:off x="2533650" y="2790825"/>
            <a:ext cx="1266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RM</a:t>
            </a:r>
            <a:endParaRPr/>
          </a:p>
        </p:txBody>
      </p:sp>
      <p:sp>
        <p:nvSpPr>
          <p:cNvPr id="583" name="Google Shape;583;p24"/>
          <p:cNvSpPr/>
          <p:nvPr/>
        </p:nvSpPr>
        <p:spPr>
          <a:xfrm>
            <a:off x="5905500" y="2838450"/>
            <a:ext cx="381000" cy="38100"/>
          </a:xfrm>
          <a:prstGeom prst="rect">
            <a:avLst/>
          </a:prstGeom>
          <a:solidFill>
            <a:srgbClr val="D8DDE3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4"/>
          <p:cNvSpPr/>
          <p:nvPr/>
        </p:nvSpPr>
        <p:spPr>
          <a:xfrm>
            <a:off x="6134100" y="26670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D8DDE3"/>
                </a:solidFill>
              </a:rPr>
              <a:t>›</a:t>
            </a:r>
            <a:endParaRPr/>
          </a:p>
        </p:txBody>
      </p:sp>
      <p:sp>
        <p:nvSpPr>
          <p:cNvPr id="585" name="Google Shape;585;p24"/>
          <p:cNvSpPr/>
          <p:nvPr/>
        </p:nvSpPr>
        <p:spPr>
          <a:xfrm>
            <a:off x="4333875" y="2238375"/>
            <a:ext cx="1571625" cy="952500"/>
          </a:xfrm>
          <a:prstGeom prst="roundRect">
            <a:avLst>
              <a:gd fmla="val 8000" name="adj"/>
            </a:avLst>
          </a:prstGeom>
          <a:solidFill>
            <a:srgbClr val="0B1F33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4"/>
          <p:cNvSpPr/>
          <p:nvPr/>
        </p:nvSpPr>
        <p:spPr>
          <a:xfrm>
            <a:off x="4486275" y="2428875"/>
            <a:ext cx="1266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3 • REQUEST</a:t>
            </a:r>
            <a:endParaRPr/>
          </a:p>
        </p:txBody>
      </p:sp>
      <p:sp>
        <p:nvSpPr>
          <p:cNvPr id="587" name="Google Shape;587;p24"/>
          <p:cNvSpPr/>
          <p:nvPr/>
        </p:nvSpPr>
        <p:spPr>
          <a:xfrm>
            <a:off x="4486275" y="2790825"/>
            <a:ext cx="1266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scheduler</a:t>
            </a:r>
            <a:endParaRPr/>
          </a:p>
        </p:txBody>
      </p:sp>
      <p:sp>
        <p:nvSpPr>
          <p:cNvPr id="588" name="Google Shape;588;p24"/>
          <p:cNvSpPr/>
          <p:nvPr/>
        </p:nvSpPr>
        <p:spPr>
          <a:xfrm>
            <a:off x="7858125" y="2838450"/>
            <a:ext cx="381000" cy="38100"/>
          </a:xfrm>
          <a:prstGeom prst="rect">
            <a:avLst/>
          </a:prstGeom>
          <a:solidFill>
            <a:srgbClr val="D8DDE3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4"/>
          <p:cNvSpPr/>
          <p:nvPr/>
        </p:nvSpPr>
        <p:spPr>
          <a:xfrm>
            <a:off x="8086725" y="26670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D8DDE3"/>
                </a:solidFill>
              </a:rPr>
              <a:t>›</a:t>
            </a:r>
            <a:endParaRPr/>
          </a:p>
        </p:txBody>
      </p:sp>
      <p:sp>
        <p:nvSpPr>
          <p:cNvPr id="590" name="Google Shape;590;p24"/>
          <p:cNvSpPr/>
          <p:nvPr/>
        </p:nvSpPr>
        <p:spPr>
          <a:xfrm>
            <a:off x="6286500" y="2238375"/>
            <a:ext cx="1571625" cy="952500"/>
          </a:xfrm>
          <a:prstGeom prst="roundRect">
            <a:avLst>
              <a:gd fmla="val 8000" name="adj"/>
            </a:avLst>
          </a:prstGeom>
          <a:solidFill>
            <a:srgbClr val="0B1F33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4"/>
          <p:cNvSpPr/>
          <p:nvPr/>
        </p:nvSpPr>
        <p:spPr>
          <a:xfrm>
            <a:off x="6438900" y="2428875"/>
            <a:ext cx="1266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4 • LAUNCH</a:t>
            </a:r>
            <a:endParaRPr/>
          </a:p>
        </p:txBody>
      </p:sp>
      <p:sp>
        <p:nvSpPr>
          <p:cNvPr id="592" name="Google Shape;592;p24"/>
          <p:cNvSpPr/>
          <p:nvPr/>
        </p:nvSpPr>
        <p:spPr>
          <a:xfrm>
            <a:off x="6438900" y="2790825"/>
            <a:ext cx="1266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NM</a:t>
            </a:r>
            <a:endParaRPr/>
          </a:p>
        </p:txBody>
      </p:sp>
      <p:sp>
        <p:nvSpPr>
          <p:cNvPr id="593" name="Google Shape;593;p24"/>
          <p:cNvSpPr/>
          <p:nvPr/>
        </p:nvSpPr>
        <p:spPr>
          <a:xfrm>
            <a:off x="9810750" y="2838450"/>
            <a:ext cx="381000" cy="38100"/>
          </a:xfrm>
          <a:prstGeom prst="rect">
            <a:avLst/>
          </a:prstGeom>
          <a:solidFill>
            <a:srgbClr val="D8DDE3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4"/>
          <p:cNvSpPr/>
          <p:nvPr/>
        </p:nvSpPr>
        <p:spPr>
          <a:xfrm>
            <a:off x="10039350" y="26670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D8DDE3"/>
                </a:solidFill>
              </a:rPr>
              <a:t>›</a:t>
            </a:r>
            <a:endParaRPr/>
          </a:p>
        </p:txBody>
      </p:sp>
      <p:sp>
        <p:nvSpPr>
          <p:cNvPr id="595" name="Google Shape;595;p24"/>
          <p:cNvSpPr/>
          <p:nvPr/>
        </p:nvSpPr>
        <p:spPr>
          <a:xfrm>
            <a:off x="8239125" y="2238375"/>
            <a:ext cx="1571625" cy="952500"/>
          </a:xfrm>
          <a:prstGeom prst="roundRect">
            <a:avLst>
              <a:gd fmla="val 8000" name="adj"/>
            </a:avLst>
          </a:prstGeom>
          <a:solidFill>
            <a:srgbClr val="0B1F33"/>
          </a:solidFill>
          <a:ln cap="flat" cmpd="sng" w="9525">
            <a:solidFill>
              <a:srgbClr val="F4C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4"/>
          <p:cNvSpPr/>
          <p:nvPr/>
        </p:nvSpPr>
        <p:spPr>
          <a:xfrm>
            <a:off x="8391525" y="2428875"/>
            <a:ext cx="1266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5 • MONITOR</a:t>
            </a:r>
            <a:endParaRPr/>
          </a:p>
        </p:txBody>
      </p:sp>
      <p:sp>
        <p:nvSpPr>
          <p:cNvPr id="597" name="Google Shape;597;p24"/>
          <p:cNvSpPr/>
          <p:nvPr/>
        </p:nvSpPr>
        <p:spPr>
          <a:xfrm>
            <a:off x="8391525" y="2790825"/>
            <a:ext cx="1266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status</a:t>
            </a:r>
            <a:endParaRPr/>
          </a:p>
        </p:txBody>
      </p:sp>
      <p:sp>
        <p:nvSpPr>
          <p:cNvPr id="598" name="Google Shape;598;p24"/>
          <p:cNvSpPr/>
          <p:nvPr/>
        </p:nvSpPr>
        <p:spPr>
          <a:xfrm>
            <a:off x="10191750" y="2238375"/>
            <a:ext cx="1571625" cy="952500"/>
          </a:xfrm>
          <a:prstGeom prst="roundRect">
            <a:avLst>
              <a:gd fmla="val 8000" name="adj"/>
            </a:avLst>
          </a:prstGeom>
          <a:solidFill>
            <a:srgbClr val="0B1F33"/>
          </a:solidFill>
          <a:ln cap="flat" cmpd="sng" w="9525">
            <a:solidFill>
              <a:srgbClr val="27A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4"/>
          <p:cNvSpPr/>
          <p:nvPr/>
        </p:nvSpPr>
        <p:spPr>
          <a:xfrm>
            <a:off x="10344150" y="2428875"/>
            <a:ext cx="1266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6 • FINISH</a:t>
            </a:r>
            <a:endParaRPr/>
          </a:p>
        </p:txBody>
      </p:sp>
      <p:sp>
        <p:nvSpPr>
          <p:cNvPr id="600" name="Google Shape;600;p24"/>
          <p:cNvSpPr/>
          <p:nvPr/>
        </p:nvSpPr>
        <p:spPr>
          <a:xfrm>
            <a:off x="10344150" y="2790825"/>
            <a:ext cx="1266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status</a:t>
            </a:r>
            <a:endParaRPr/>
          </a:p>
        </p:txBody>
      </p:sp>
      <p:sp>
        <p:nvSpPr>
          <p:cNvPr id="601" name="Google Shape;601;p24"/>
          <p:cNvSpPr/>
          <p:nvPr/>
        </p:nvSpPr>
        <p:spPr>
          <a:xfrm>
            <a:off x="3095625" y="4333875"/>
            <a:ext cx="6000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FFFFF"/>
                </a:solidFill>
              </a:rPr>
              <a:t>Ogni passaggio lascia stato, metriche e log.</a:t>
            </a:r>
            <a:endParaRPr/>
          </a:p>
        </p:txBody>
      </p:sp>
      <p:sp>
        <p:nvSpPr>
          <p:cNvPr id="602" name="Google Shape;602;p24"/>
          <p:cNvSpPr/>
          <p:nvPr/>
        </p:nvSpPr>
        <p:spPr>
          <a:xfrm>
            <a:off x="2571750" y="5048250"/>
            <a:ext cx="7048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C8D4DE"/>
                </a:solidFill>
              </a:rPr>
              <a:t>Nel laboratorio seguiremo questo percorso dalla UI YARN.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5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CO-LOCATION</a:t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Storage e compute spesso condividono gli stessi worker</a:t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25</a:t>
            </a: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1047750" y="1952625"/>
            <a:ext cx="2714625" cy="17145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1200150" y="2143125"/>
            <a:ext cx="2409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WORKER A</a:t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1200150" y="2505075"/>
            <a:ext cx="24098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DataNode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NodeManager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Block 7</a:t>
            </a:r>
            <a:endParaRPr/>
          </a:p>
        </p:txBody>
      </p:sp>
      <p:sp>
        <p:nvSpPr>
          <p:cNvPr id="614" name="Google Shape;614;p25"/>
          <p:cNvSpPr/>
          <p:nvPr/>
        </p:nvSpPr>
        <p:spPr>
          <a:xfrm>
            <a:off x="4762500" y="1952625"/>
            <a:ext cx="2714625" cy="17145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5"/>
          <p:cNvSpPr/>
          <p:nvPr/>
        </p:nvSpPr>
        <p:spPr>
          <a:xfrm>
            <a:off x="4914900" y="2143125"/>
            <a:ext cx="2409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WORKER B</a:t>
            </a:r>
            <a:endParaRPr/>
          </a:p>
        </p:txBody>
      </p:sp>
      <p:sp>
        <p:nvSpPr>
          <p:cNvPr id="616" name="Google Shape;616;p25"/>
          <p:cNvSpPr/>
          <p:nvPr/>
        </p:nvSpPr>
        <p:spPr>
          <a:xfrm>
            <a:off x="4914900" y="2505075"/>
            <a:ext cx="24098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DataNode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NodeManager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Block 2</a:t>
            </a:r>
            <a:endParaRPr/>
          </a:p>
        </p:txBody>
      </p:sp>
      <p:sp>
        <p:nvSpPr>
          <p:cNvPr id="617" name="Google Shape;617;p25"/>
          <p:cNvSpPr/>
          <p:nvPr/>
        </p:nvSpPr>
        <p:spPr>
          <a:xfrm>
            <a:off x="8477250" y="1952625"/>
            <a:ext cx="2714625" cy="17145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5"/>
          <p:cNvSpPr/>
          <p:nvPr/>
        </p:nvSpPr>
        <p:spPr>
          <a:xfrm>
            <a:off x="8629650" y="2143125"/>
            <a:ext cx="2409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WORKER C</a:t>
            </a:r>
            <a:endParaRPr/>
          </a:p>
        </p:txBody>
      </p:sp>
      <p:sp>
        <p:nvSpPr>
          <p:cNvPr id="619" name="Google Shape;619;p25"/>
          <p:cNvSpPr/>
          <p:nvPr/>
        </p:nvSpPr>
        <p:spPr>
          <a:xfrm>
            <a:off x="8629650" y="2505075"/>
            <a:ext cx="24098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DataNode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NodeManager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Block 7</a:t>
            </a:r>
            <a:endParaRPr/>
          </a:p>
        </p:txBody>
      </p:sp>
      <p:sp>
        <p:nvSpPr>
          <p:cNvPr id="620" name="Google Shape;620;p25"/>
          <p:cNvSpPr/>
          <p:nvPr/>
        </p:nvSpPr>
        <p:spPr>
          <a:xfrm>
            <a:off x="2905125" y="4333875"/>
            <a:ext cx="6381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B1F33"/>
                </a:solidFill>
              </a:rPr>
              <a:t>Il task sul Block 7 preferisce A o C.</a:t>
            </a:r>
            <a:endParaRPr/>
          </a:p>
        </p:txBody>
      </p:sp>
      <p:sp>
        <p:nvSpPr>
          <p:cNvPr id="621" name="Google Shape;621;p25"/>
          <p:cNvSpPr/>
          <p:nvPr/>
        </p:nvSpPr>
        <p:spPr>
          <a:xfrm>
            <a:off x="3571875" y="5048250"/>
            <a:ext cx="5048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F8A4C"/>
                </a:solidFill>
              </a:rPr>
              <a:t>Questa co-location crea data locality.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6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DATA LOCALITY</a:t>
            </a:r>
            <a:endParaRPr/>
          </a:p>
        </p:txBody>
      </p:sp>
      <p:sp>
        <p:nvSpPr>
          <p:cNvPr id="628" name="Google Shape;628;p26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Portare il calcolo ai dati protegge la rete</a:t>
            </a:r>
            <a:endParaRPr/>
          </a:p>
        </p:txBody>
      </p:sp>
      <p:sp>
        <p:nvSpPr>
          <p:cNvPr id="629" name="Google Shape;629;p26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26</a:t>
            </a:r>
            <a:endParaRPr/>
          </a:p>
        </p:txBody>
      </p:sp>
      <p:sp>
        <p:nvSpPr>
          <p:cNvPr id="630" name="Google Shape;630;p26"/>
          <p:cNvSpPr/>
          <p:nvPr/>
        </p:nvSpPr>
        <p:spPr>
          <a:xfrm>
            <a:off x="685800" y="1809750"/>
            <a:ext cx="5143500" cy="3429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6"/>
          <p:cNvSpPr/>
          <p:nvPr/>
        </p:nvSpPr>
        <p:spPr>
          <a:xfrm>
            <a:off x="6362700" y="1809750"/>
            <a:ext cx="5143500" cy="3429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6"/>
          <p:cNvSpPr/>
          <p:nvPr/>
        </p:nvSpPr>
        <p:spPr>
          <a:xfrm>
            <a:off x="685800" y="1809750"/>
            <a:ext cx="5143500" cy="76200"/>
          </a:xfrm>
          <a:prstGeom prst="rect">
            <a:avLst/>
          </a:prstGeom>
          <a:solidFill>
            <a:srgbClr val="EF5A5A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6"/>
          <p:cNvSpPr/>
          <p:nvPr/>
        </p:nvSpPr>
        <p:spPr>
          <a:xfrm>
            <a:off x="6362700" y="1809750"/>
            <a:ext cx="5143500" cy="7620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6"/>
          <p:cNvSpPr/>
          <p:nvPr/>
        </p:nvSpPr>
        <p:spPr>
          <a:xfrm>
            <a:off x="1028700" y="2143125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MUOVERE 1 TB</a:t>
            </a:r>
            <a:endParaRPr/>
          </a:p>
        </p:txBody>
      </p:sp>
      <p:sp>
        <p:nvSpPr>
          <p:cNvPr id="635" name="Google Shape;635;p26"/>
          <p:cNvSpPr/>
          <p:nvPr/>
        </p:nvSpPr>
        <p:spPr>
          <a:xfrm>
            <a:off x="1028700" y="2809875"/>
            <a:ext cx="433387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Trasferire il dataset attraverso la rete prima di calcolare. Tempo e congestione crescono con i job concorrenti.</a:t>
            </a:r>
            <a:endParaRPr/>
          </a:p>
        </p:txBody>
      </p:sp>
      <p:sp>
        <p:nvSpPr>
          <p:cNvPr id="636" name="Google Shape;636;p26"/>
          <p:cNvSpPr/>
          <p:nvPr/>
        </p:nvSpPr>
        <p:spPr>
          <a:xfrm>
            <a:off x="6705600" y="2143125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MUOVERE IL TASK</a:t>
            </a:r>
            <a:endParaRPr/>
          </a:p>
        </p:txBody>
      </p:sp>
      <p:sp>
        <p:nvSpPr>
          <p:cNvPr id="637" name="Google Shape;637;p26"/>
          <p:cNvSpPr/>
          <p:nvPr/>
        </p:nvSpPr>
        <p:spPr>
          <a:xfrm>
            <a:off x="6705600" y="2809875"/>
            <a:ext cx="433387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Inviare codice e configurazione al nodo che possiede il blocco. Il risultato intermedio è molto più piccolo.</a:t>
            </a:r>
            <a:endParaRPr/>
          </a:p>
        </p:txBody>
      </p:sp>
      <p:sp>
        <p:nvSpPr>
          <p:cNvPr id="638" name="Google Shape;638;p26"/>
          <p:cNvSpPr/>
          <p:nvPr/>
        </p:nvSpPr>
        <p:spPr>
          <a:xfrm>
            <a:off x="3429000" y="561975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Data locality è una scelta di scheduling.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7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AGGREGATE BANDWIDTH</a:t>
            </a:r>
            <a:endParaRPr/>
          </a:p>
        </p:txBody>
      </p:sp>
      <p:sp>
        <p:nvSpPr>
          <p:cNvPr id="645" name="Google Shape;645;p27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La rete è una risorsa condivisa del cluster</a:t>
            </a:r>
            <a:endParaRPr/>
          </a:p>
        </p:txBody>
      </p:sp>
      <p:sp>
        <p:nvSpPr>
          <p:cNvPr id="646" name="Google Shape;646;p27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27</a:t>
            </a:r>
            <a:endParaRPr/>
          </a:p>
        </p:txBody>
      </p:sp>
      <p:sp>
        <p:nvSpPr>
          <p:cNvPr id="647" name="Google Shape;647;p27"/>
          <p:cNvSpPr/>
          <p:nvPr/>
        </p:nvSpPr>
        <p:spPr>
          <a:xfrm>
            <a:off x="685800" y="16668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7"/>
          <p:cNvSpPr/>
          <p:nvPr/>
        </p:nvSpPr>
        <p:spPr>
          <a:xfrm>
            <a:off x="685800" y="1666875"/>
            <a:ext cx="3238500" cy="85725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7"/>
          <p:cNvSpPr/>
          <p:nvPr/>
        </p:nvSpPr>
        <p:spPr>
          <a:xfrm>
            <a:off x="895350" y="18764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READ LOCAL</a:t>
            </a:r>
            <a:endParaRPr/>
          </a:p>
        </p:txBody>
      </p:sp>
      <p:sp>
        <p:nvSpPr>
          <p:cNvPr id="650" name="Google Shape;650;p27"/>
          <p:cNvSpPr/>
          <p:nvPr/>
        </p:nvSpPr>
        <p:spPr>
          <a:xfrm>
            <a:off x="895350" y="22383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B7E34B"/>
                </a:solidFill>
              </a:rPr>
              <a:t>rete minima</a:t>
            </a:r>
            <a:endParaRPr/>
          </a:p>
        </p:txBody>
      </p:sp>
      <p:sp>
        <p:nvSpPr>
          <p:cNvPr id="651" name="Google Shape;651;p27"/>
          <p:cNvSpPr/>
          <p:nvPr/>
        </p:nvSpPr>
        <p:spPr>
          <a:xfrm>
            <a:off x="895350" y="2505075"/>
            <a:ext cx="2819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blocco sul nodo</a:t>
            </a:r>
            <a:endParaRPr/>
          </a:p>
        </p:txBody>
      </p:sp>
      <p:sp>
        <p:nvSpPr>
          <p:cNvPr id="652" name="Google Shape;652;p27"/>
          <p:cNvSpPr/>
          <p:nvPr/>
        </p:nvSpPr>
        <p:spPr>
          <a:xfrm>
            <a:off x="4305300" y="16668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7"/>
          <p:cNvSpPr/>
          <p:nvPr/>
        </p:nvSpPr>
        <p:spPr>
          <a:xfrm>
            <a:off x="4305300" y="1666875"/>
            <a:ext cx="3238500" cy="85725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7"/>
          <p:cNvSpPr/>
          <p:nvPr/>
        </p:nvSpPr>
        <p:spPr>
          <a:xfrm>
            <a:off x="4514850" y="18764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READ RACK</a:t>
            </a:r>
            <a:endParaRPr/>
          </a:p>
        </p:txBody>
      </p:sp>
      <p:sp>
        <p:nvSpPr>
          <p:cNvPr id="655" name="Google Shape;655;p27"/>
          <p:cNvSpPr/>
          <p:nvPr/>
        </p:nvSpPr>
        <p:spPr>
          <a:xfrm>
            <a:off x="4514850" y="22383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B8D9"/>
                </a:solidFill>
              </a:rPr>
              <a:t>rete di rack</a:t>
            </a:r>
            <a:endParaRPr/>
          </a:p>
        </p:txBody>
      </p:sp>
      <p:sp>
        <p:nvSpPr>
          <p:cNvPr id="656" name="Google Shape;656;p27"/>
          <p:cNvSpPr/>
          <p:nvPr/>
        </p:nvSpPr>
        <p:spPr>
          <a:xfrm>
            <a:off x="4514850" y="2505075"/>
            <a:ext cx="2819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blocco vicino</a:t>
            </a:r>
            <a:endParaRPr/>
          </a:p>
        </p:txBody>
      </p:sp>
      <p:sp>
        <p:nvSpPr>
          <p:cNvPr id="657" name="Google Shape;657;p27"/>
          <p:cNvSpPr/>
          <p:nvPr/>
        </p:nvSpPr>
        <p:spPr>
          <a:xfrm>
            <a:off x="7924800" y="16668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7"/>
          <p:cNvSpPr/>
          <p:nvPr/>
        </p:nvSpPr>
        <p:spPr>
          <a:xfrm>
            <a:off x="7924800" y="1666875"/>
            <a:ext cx="3238500" cy="85725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7"/>
          <p:cNvSpPr/>
          <p:nvPr/>
        </p:nvSpPr>
        <p:spPr>
          <a:xfrm>
            <a:off x="8134350" y="18764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REMOTE READ</a:t>
            </a:r>
            <a:endParaRPr/>
          </a:p>
        </p:txBody>
      </p:sp>
      <p:sp>
        <p:nvSpPr>
          <p:cNvPr id="660" name="Google Shape;660;p27"/>
          <p:cNvSpPr/>
          <p:nvPr/>
        </p:nvSpPr>
        <p:spPr>
          <a:xfrm>
            <a:off x="8134350" y="22383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8A4C"/>
                </a:solidFill>
              </a:rPr>
              <a:t>costo maggiore</a:t>
            </a:r>
            <a:endParaRPr/>
          </a:p>
        </p:txBody>
      </p:sp>
      <p:sp>
        <p:nvSpPr>
          <p:cNvPr id="661" name="Google Shape;661;p27"/>
          <p:cNvSpPr/>
          <p:nvPr/>
        </p:nvSpPr>
        <p:spPr>
          <a:xfrm>
            <a:off x="8134350" y="2505075"/>
            <a:ext cx="2819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blocco lontano</a:t>
            </a:r>
            <a:endParaRPr/>
          </a:p>
        </p:txBody>
      </p:sp>
      <p:sp>
        <p:nvSpPr>
          <p:cNvPr id="662" name="Google Shape;662;p27"/>
          <p:cNvSpPr/>
          <p:nvPr/>
        </p:nvSpPr>
        <p:spPr>
          <a:xfrm>
            <a:off x="685800" y="33813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7"/>
          <p:cNvSpPr/>
          <p:nvPr/>
        </p:nvSpPr>
        <p:spPr>
          <a:xfrm>
            <a:off x="685800" y="3381375"/>
            <a:ext cx="3238500" cy="85725"/>
          </a:xfrm>
          <a:prstGeom prst="rect">
            <a:avLst/>
          </a:prstGeom>
          <a:solidFill>
            <a:srgbClr val="EF5A5A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7"/>
          <p:cNvSpPr/>
          <p:nvPr/>
        </p:nvSpPr>
        <p:spPr>
          <a:xfrm>
            <a:off x="895350" y="35909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SHUFFLE</a:t>
            </a:r>
            <a:endParaRPr/>
          </a:p>
        </p:txBody>
      </p:sp>
      <p:sp>
        <p:nvSpPr>
          <p:cNvPr id="665" name="Google Shape;665;p27"/>
          <p:cNvSpPr/>
          <p:nvPr/>
        </p:nvSpPr>
        <p:spPr>
          <a:xfrm>
            <a:off x="895350" y="39528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EF5A5A"/>
                </a:solidFill>
              </a:rPr>
              <a:t>rete intensa</a:t>
            </a:r>
            <a:endParaRPr/>
          </a:p>
        </p:txBody>
      </p:sp>
      <p:sp>
        <p:nvSpPr>
          <p:cNvPr id="666" name="Google Shape;666;p27"/>
          <p:cNvSpPr/>
          <p:nvPr/>
        </p:nvSpPr>
        <p:spPr>
          <a:xfrm>
            <a:off x="895350" y="4219575"/>
            <a:ext cx="2819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map → reduce</a:t>
            </a:r>
            <a:endParaRPr/>
          </a:p>
        </p:txBody>
      </p:sp>
      <p:sp>
        <p:nvSpPr>
          <p:cNvPr id="667" name="Google Shape;667;p27"/>
          <p:cNvSpPr/>
          <p:nvPr/>
        </p:nvSpPr>
        <p:spPr>
          <a:xfrm>
            <a:off x="4305300" y="33813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7"/>
          <p:cNvSpPr/>
          <p:nvPr/>
        </p:nvSpPr>
        <p:spPr>
          <a:xfrm>
            <a:off x="4305300" y="3381375"/>
            <a:ext cx="3238500" cy="85725"/>
          </a:xfrm>
          <a:prstGeom prst="rect">
            <a:avLst/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7"/>
          <p:cNvSpPr/>
          <p:nvPr/>
        </p:nvSpPr>
        <p:spPr>
          <a:xfrm>
            <a:off x="4514850" y="35909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REPLICATION</a:t>
            </a:r>
            <a:endParaRPr/>
          </a:p>
        </p:txBody>
      </p:sp>
      <p:sp>
        <p:nvSpPr>
          <p:cNvPr id="670" name="Google Shape;670;p27"/>
          <p:cNvSpPr/>
          <p:nvPr/>
        </p:nvSpPr>
        <p:spPr>
          <a:xfrm>
            <a:off x="4514850" y="39528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7C6EE6"/>
                </a:solidFill>
              </a:rPr>
              <a:t>traffico controllato</a:t>
            </a:r>
            <a:endParaRPr/>
          </a:p>
        </p:txBody>
      </p:sp>
      <p:sp>
        <p:nvSpPr>
          <p:cNvPr id="671" name="Google Shape;671;p27"/>
          <p:cNvSpPr/>
          <p:nvPr/>
        </p:nvSpPr>
        <p:spPr>
          <a:xfrm>
            <a:off x="4514850" y="4219575"/>
            <a:ext cx="2819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copie dei blocchi</a:t>
            </a:r>
            <a:endParaRPr/>
          </a:p>
        </p:txBody>
      </p:sp>
      <p:sp>
        <p:nvSpPr>
          <p:cNvPr id="672" name="Google Shape;672;p27"/>
          <p:cNvSpPr/>
          <p:nvPr/>
        </p:nvSpPr>
        <p:spPr>
          <a:xfrm>
            <a:off x="7924800" y="33813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7"/>
          <p:cNvSpPr/>
          <p:nvPr/>
        </p:nvSpPr>
        <p:spPr>
          <a:xfrm>
            <a:off x="7924800" y="3381375"/>
            <a:ext cx="3238500" cy="85725"/>
          </a:xfrm>
          <a:prstGeom prst="rect">
            <a:avLst/>
          </a:prstGeom>
          <a:solidFill>
            <a:srgbClr val="27A36A"/>
          </a:solidFill>
          <a:ln cap="flat" cmpd="sng" w="9525">
            <a:solidFill>
              <a:srgbClr val="27A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7"/>
          <p:cNvSpPr/>
          <p:nvPr/>
        </p:nvSpPr>
        <p:spPr>
          <a:xfrm>
            <a:off x="8134350" y="35909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CLIENT I/O</a:t>
            </a:r>
            <a:endParaRPr/>
          </a:p>
        </p:txBody>
      </p:sp>
      <p:sp>
        <p:nvSpPr>
          <p:cNvPr id="675" name="Google Shape;675;p27"/>
          <p:cNvSpPr/>
          <p:nvPr/>
        </p:nvSpPr>
        <p:spPr>
          <a:xfrm>
            <a:off x="8134350" y="39528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7A36A"/>
                </a:solidFill>
              </a:rPr>
              <a:t>confine cluster</a:t>
            </a:r>
            <a:endParaRPr/>
          </a:p>
        </p:txBody>
      </p:sp>
      <p:sp>
        <p:nvSpPr>
          <p:cNvPr id="676" name="Google Shape;676;p27"/>
          <p:cNvSpPr/>
          <p:nvPr/>
        </p:nvSpPr>
        <p:spPr>
          <a:xfrm>
            <a:off x="8134350" y="4219575"/>
            <a:ext cx="2819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ingest + export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8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DATAFLIX • IL PROBLEMA DISTRIBUITO</a:t>
            </a:r>
            <a:endParaRPr/>
          </a:p>
        </p:txBody>
      </p:sp>
      <p:sp>
        <p:nvSpPr>
          <p:cNvPr id="683" name="Google Shape;683;p28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Il guasto è normale</a:t>
            </a:r>
            <a:endParaRPr/>
          </a:p>
        </p:txBody>
      </p:sp>
      <p:sp>
        <p:nvSpPr>
          <p:cNvPr id="684" name="Google Shape;684;p28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28</a:t>
            </a:r>
            <a:endParaRPr/>
          </a:p>
        </p:txBody>
      </p:sp>
      <p:sp>
        <p:nvSpPr>
          <p:cNvPr id="685" name="Google Shape;685;p28"/>
          <p:cNvSpPr/>
          <p:nvPr/>
        </p:nvSpPr>
        <p:spPr>
          <a:xfrm>
            <a:off x="742950" y="1714500"/>
            <a:ext cx="857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0">
                <a:solidFill>
                  <a:srgbClr val="EF5A5A"/>
                </a:solidFill>
              </a:rPr>
              <a:t>“</a:t>
            </a:r>
            <a:endParaRPr/>
          </a:p>
        </p:txBody>
      </p:sp>
      <p:sp>
        <p:nvSpPr>
          <p:cNvPr id="686" name="Google Shape;686;p28"/>
          <p:cNvSpPr/>
          <p:nvPr/>
        </p:nvSpPr>
        <p:spPr>
          <a:xfrm>
            <a:off x="1676400" y="1952625"/>
            <a:ext cx="90487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FFFFFF"/>
                </a:solidFill>
              </a:rPr>
              <a:t>In un cluster di centinaia o migliaia di componenti, qualcosa sarà sempre non disponibile. L’architettura deve rilevarlo e continuare.</a:t>
            </a:r>
            <a:endParaRPr/>
          </a:p>
        </p:txBody>
      </p:sp>
      <p:sp>
        <p:nvSpPr>
          <p:cNvPr id="687" name="Google Shape;687;p28"/>
          <p:cNvSpPr/>
          <p:nvPr/>
        </p:nvSpPr>
        <p:spPr>
          <a:xfrm>
            <a:off x="1676400" y="4762500"/>
            <a:ext cx="3048000" cy="76200"/>
          </a:xfrm>
          <a:prstGeom prst="rect">
            <a:avLst/>
          </a:prstGeom>
          <a:solidFill>
            <a:srgbClr val="EF5A5A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9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DETECT → DECIDE → RECOVER</a:t>
            </a:r>
            <a:endParaRPr/>
          </a:p>
        </p:txBody>
      </p:sp>
      <p:sp>
        <p:nvSpPr>
          <p:cNvPr id="694" name="Google Shape;694;p29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Heartbeat, stato e retry trasformano il guasto</a:t>
            </a:r>
            <a:endParaRPr/>
          </a:p>
        </p:txBody>
      </p:sp>
      <p:sp>
        <p:nvSpPr>
          <p:cNvPr id="695" name="Google Shape;695;p29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29</a:t>
            </a:r>
            <a:endParaRPr/>
          </a:p>
        </p:txBody>
      </p:sp>
      <p:sp>
        <p:nvSpPr>
          <p:cNvPr id="696" name="Google Shape;696;p29"/>
          <p:cNvSpPr/>
          <p:nvPr/>
        </p:nvSpPr>
        <p:spPr>
          <a:xfrm>
            <a:off x="781050" y="1666875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F5A5A"/>
                </a:solidFill>
              </a:rPr>
              <a:t>01</a:t>
            </a:r>
            <a:endParaRPr/>
          </a:p>
        </p:txBody>
      </p:sp>
      <p:sp>
        <p:nvSpPr>
          <p:cNvPr id="697" name="Google Shape;697;p29"/>
          <p:cNvSpPr/>
          <p:nvPr/>
        </p:nvSpPr>
        <p:spPr>
          <a:xfrm>
            <a:off x="1666875" y="1666875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DETECT</a:t>
            </a:r>
            <a:endParaRPr/>
          </a:p>
        </p:txBody>
      </p:sp>
      <p:sp>
        <p:nvSpPr>
          <p:cNvPr id="698" name="Google Shape;698;p29"/>
          <p:cNvSpPr/>
          <p:nvPr/>
        </p:nvSpPr>
        <p:spPr>
          <a:xfrm>
            <a:off x="4762500" y="1666875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heartbeat mancante o task fallito</a:t>
            </a:r>
            <a:endParaRPr/>
          </a:p>
        </p:txBody>
      </p:sp>
      <p:sp>
        <p:nvSpPr>
          <p:cNvPr id="699" name="Google Shape;699;p29"/>
          <p:cNvSpPr/>
          <p:nvPr/>
        </p:nvSpPr>
        <p:spPr>
          <a:xfrm>
            <a:off x="781050" y="2476500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8A4C"/>
                </a:solidFill>
              </a:rPr>
              <a:t>02</a:t>
            </a:r>
            <a:endParaRPr/>
          </a:p>
        </p:txBody>
      </p:sp>
      <p:sp>
        <p:nvSpPr>
          <p:cNvPr id="700" name="Google Shape;700;p29"/>
          <p:cNvSpPr/>
          <p:nvPr/>
        </p:nvSpPr>
        <p:spPr>
          <a:xfrm>
            <a:off x="1666875" y="24765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DECIDE</a:t>
            </a:r>
            <a:endParaRPr/>
          </a:p>
        </p:txBody>
      </p:sp>
      <p:sp>
        <p:nvSpPr>
          <p:cNvPr id="701" name="Google Shape;701;p29"/>
          <p:cNvSpPr/>
          <p:nvPr/>
        </p:nvSpPr>
        <p:spPr>
          <a:xfrm>
            <a:off x="4762500" y="2476500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master aggiorna la vista del cluster</a:t>
            </a:r>
            <a:endParaRPr/>
          </a:p>
        </p:txBody>
      </p:sp>
      <p:sp>
        <p:nvSpPr>
          <p:cNvPr id="702" name="Google Shape;702;p29"/>
          <p:cNvSpPr/>
          <p:nvPr/>
        </p:nvSpPr>
        <p:spPr>
          <a:xfrm>
            <a:off x="781050" y="3286125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8D9"/>
                </a:solidFill>
              </a:rPr>
              <a:t>03</a:t>
            </a:r>
            <a:endParaRPr/>
          </a:p>
        </p:txBody>
      </p:sp>
      <p:sp>
        <p:nvSpPr>
          <p:cNvPr id="703" name="Google Shape;703;p29"/>
          <p:cNvSpPr/>
          <p:nvPr/>
        </p:nvSpPr>
        <p:spPr>
          <a:xfrm>
            <a:off x="1666875" y="3286125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RECOVER DATA</a:t>
            </a:r>
            <a:endParaRPr/>
          </a:p>
        </p:txBody>
      </p:sp>
      <p:sp>
        <p:nvSpPr>
          <p:cNvPr id="704" name="Google Shape;704;p29"/>
          <p:cNvSpPr/>
          <p:nvPr/>
        </p:nvSpPr>
        <p:spPr>
          <a:xfrm>
            <a:off x="4762500" y="3286125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ricrea le copie richieste</a:t>
            </a:r>
            <a:endParaRPr/>
          </a:p>
        </p:txBody>
      </p:sp>
      <p:sp>
        <p:nvSpPr>
          <p:cNvPr id="705" name="Google Shape;705;p29"/>
          <p:cNvSpPr/>
          <p:nvPr/>
        </p:nvSpPr>
        <p:spPr>
          <a:xfrm>
            <a:off x="781050" y="4095750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7E34B"/>
                </a:solidFill>
              </a:rPr>
              <a:t>04</a:t>
            </a:r>
            <a:endParaRPr/>
          </a:p>
        </p:txBody>
      </p:sp>
      <p:sp>
        <p:nvSpPr>
          <p:cNvPr id="706" name="Google Shape;706;p29"/>
          <p:cNvSpPr/>
          <p:nvPr/>
        </p:nvSpPr>
        <p:spPr>
          <a:xfrm>
            <a:off x="1666875" y="409575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RECOVER WORK</a:t>
            </a:r>
            <a:endParaRPr/>
          </a:p>
        </p:txBody>
      </p:sp>
      <p:sp>
        <p:nvSpPr>
          <p:cNvPr id="707" name="Google Shape;707;p29"/>
          <p:cNvSpPr/>
          <p:nvPr/>
        </p:nvSpPr>
        <p:spPr>
          <a:xfrm>
            <a:off x="4762500" y="4095750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riesegue il task su un altro nodo</a:t>
            </a:r>
            <a:endParaRPr/>
          </a:p>
        </p:txBody>
      </p:sp>
      <p:sp>
        <p:nvSpPr>
          <p:cNvPr id="708" name="Google Shape;708;p29"/>
          <p:cNvSpPr/>
          <p:nvPr/>
        </p:nvSpPr>
        <p:spPr>
          <a:xfrm>
            <a:off x="2952750" y="5381625"/>
            <a:ext cx="6286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F33"/>
                </a:solidFill>
              </a:rPr>
              <a:t>Replica protegge i dati; retry protegge il lavoro.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30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HDFS • ANTICIPAZIONE</a:t>
            </a:r>
            <a:endParaRPr/>
          </a:p>
        </p:txBody>
      </p:sp>
      <p:sp>
        <p:nvSpPr>
          <p:cNvPr id="715" name="Google Shape;715;p30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La replica crea più percorsi verso lo stesso blocco</a:t>
            </a:r>
            <a:endParaRPr/>
          </a:p>
        </p:txBody>
      </p:sp>
      <p:sp>
        <p:nvSpPr>
          <p:cNvPr id="716" name="Google Shape;716;p30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30</a:t>
            </a:r>
            <a:endParaRPr/>
          </a:p>
        </p:txBody>
      </p:sp>
      <p:sp>
        <p:nvSpPr>
          <p:cNvPr id="717" name="Google Shape;717;p30"/>
          <p:cNvSpPr/>
          <p:nvPr/>
        </p:nvSpPr>
        <p:spPr>
          <a:xfrm>
            <a:off x="857250" y="2333625"/>
            <a:ext cx="2095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0B1F33"/>
                </a:solidFill>
              </a:rPr>
              <a:t>BLOCK A</a:t>
            </a:r>
            <a:endParaRPr/>
          </a:p>
        </p:txBody>
      </p:sp>
      <p:sp>
        <p:nvSpPr>
          <p:cNvPr id="718" name="Google Shape;718;p30"/>
          <p:cNvSpPr/>
          <p:nvPr/>
        </p:nvSpPr>
        <p:spPr>
          <a:xfrm>
            <a:off x="2905125" y="2647950"/>
            <a:ext cx="1143000" cy="38100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0"/>
          <p:cNvSpPr/>
          <p:nvPr/>
        </p:nvSpPr>
        <p:spPr>
          <a:xfrm>
            <a:off x="3895725" y="24765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00B8D9"/>
                </a:solidFill>
              </a:rPr>
              <a:t>›</a:t>
            </a:r>
            <a:endParaRPr/>
          </a:p>
        </p:txBody>
      </p:sp>
      <p:sp>
        <p:nvSpPr>
          <p:cNvPr id="720" name="Google Shape;720;p30"/>
          <p:cNvSpPr/>
          <p:nvPr/>
        </p:nvSpPr>
        <p:spPr>
          <a:xfrm>
            <a:off x="2905125" y="230505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B8D9"/>
                </a:solidFill>
              </a:rPr>
              <a:t>copy</a:t>
            </a:r>
            <a:endParaRPr/>
          </a:p>
        </p:txBody>
      </p:sp>
      <p:sp>
        <p:nvSpPr>
          <p:cNvPr id="721" name="Google Shape;721;p30"/>
          <p:cNvSpPr/>
          <p:nvPr/>
        </p:nvSpPr>
        <p:spPr>
          <a:xfrm>
            <a:off x="5619750" y="2647950"/>
            <a:ext cx="1143000" cy="3810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0"/>
          <p:cNvSpPr/>
          <p:nvPr/>
        </p:nvSpPr>
        <p:spPr>
          <a:xfrm>
            <a:off x="6610350" y="24765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FF8A4C"/>
                </a:solidFill>
              </a:rPr>
              <a:t>›</a:t>
            </a:r>
            <a:endParaRPr/>
          </a:p>
        </p:txBody>
      </p:sp>
      <p:sp>
        <p:nvSpPr>
          <p:cNvPr id="723" name="Google Shape;723;p30"/>
          <p:cNvSpPr/>
          <p:nvPr/>
        </p:nvSpPr>
        <p:spPr>
          <a:xfrm>
            <a:off x="5619750" y="230505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8A4C"/>
                </a:solidFill>
              </a:rPr>
              <a:t>copy</a:t>
            </a:r>
            <a:endParaRPr/>
          </a:p>
        </p:txBody>
      </p:sp>
      <p:sp>
        <p:nvSpPr>
          <p:cNvPr id="724" name="Google Shape;724;p30"/>
          <p:cNvSpPr/>
          <p:nvPr/>
        </p:nvSpPr>
        <p:spPr>
          <a:xfrm>
            <a:off x="4048125" y="2047875"/>
            <a:ext cx="1571625" cy="11430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0"/>
          <p:cNvSpPr/>
          <p:nvPr/>
        </p:nvSpPr>
        <p:spPr>
          <a:xfrm>
            <a:off x="4200525" y="2238375"/>
            <a:ext cx="1266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DN 1</a:t>
            </a:r>
            <a:endParaRPr/>
          </a:p>
        </p:txBody>
      </p:sp>
      <p:sp>
        <p:nvSpPr>
          <p:cNvPr id="726" name="Google Shape;726;p30"/>
          <p:cNvSpPr/>
          <p:nvPr/>
        </p:nvSpPr>
        <p:spPr>
          <a:xfrm>
            <a:off x="4200525" y="2600325"/>
            <a:ext cx="1266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A</a:t>
            </a:r>
            <a:endParaRPr/>
          </a:p>
        </p:txBody>
      </p:sp>
      <p:sp>
        <p:nvSpPr>
          <p:cNvPr id="727" name="Google Shape;727;p30"/>
          <p:cNvSpPr/>
          <p:nvPr/>
        </p:nvSpPr>
        <p:spPr>
          <a:xfrm>
            <a:off x="6762750" y="2047875"/>
            <a:ext cx="1571625" cy="11430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0"/>
          <p:cNvSpPr/>
          <p:nvPr/>
        </p:nvSpPr>
        <p:spPr>
          <a:xfrm>
            <a:off x="6915150" y="2238375"/>
            <a:ext cx="1266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DN 2</a:t>
            </a:r>
            <a:endParaRPr/>
          </a:p>
        </p:txBody>
      </p:sp>
      <p:sp>
        <p:nvSpPr>
          <p:cNvPr id="729" name="Google Shape;729;p30"/>
          <p:cNvSpPr/>
          <p:nvPr/>
        </p:nvSpPr>
        <p:spPr>
          <a:xfrm>
            <a:off x="6915150" y="2600325"/>
            <a:ext cx="1266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A</a:t>
            </a:r>
            <a:endParaRPr/>
          </a:p>
        </p:txBody>
      </p:sp>
      <p:sp>
        <p:nvSpPr>
          <p:cNvPr id="730" name="Google Shape;730;p30"/>
          <p:cNvSpPr/>
          <p:nvPr/>
        </p:nvSpPr>
        <p:spPr>
          <a:xfrm>
            <a:off x="9477375" y="2047875"/>
            <a:ext cx="1571625" cy="11430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30"/>
          <p:cNvSpPr/>
          <p:nvPr/>
        </p:nvSpPr>
        <p:spPr>
          <a:xfrm>
            <a:off x="9629775" y="2238375"/>
            <a:ext cx="1266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DN 3</a:t>
            </a:r>
            <a:endParaRPr/>
          </a:p>
        </p:txBody>
      </p:sp>
      <p:sp>
        <p:nvSpPr>
          <p:cNvPr id="732" name="Google Shape;732;p30"/>
          <p:cNvSpPr/>
          <p:nvPr/>
        </p:nvSpPr>
        <p:spPr>
          <a:xfrm>
            <a:off x="9629775" y="2600325"/>
            <a:ext cx="1266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A</a:t>
            </a:r>
            <a:endParaRPr/>
          </a:p>
        </p:txBody>
      </p:sp>
      <p:sp>
        <p:nvSpPr>
          <p:cNvPr id="733" name="Google Shape;733;p30"/>
          <p:cNvSpPr/>
          <p:nvPr/>
        </p:nvSpPr>
        <p:spPr>
          <a:xfrm>
            <a:off x="1666875" y="4476750"/>
            <a:ext cx="885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B1F33"/>
                </a:solidFill>
              </a:rPr>
              <a:t>Replication factor, placement e re-replication saranno il cuore della Lezione 12.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1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MODALITÀ 1 • DEBUG</a:t>
            </a:r>
            <a:endParaRPr/>
          </a:p>
        </p:txBody>
      </p:sp>
      <p:sp>
        <p:nvSpPr>
          <p:cNvPr id="740" name="Google Shape;740;p31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Standalone: un processo, nessuna distribuzione</a:t>
            </a:r>
            <a:endParaRPr/>
          </a:p>
        </p:txBody>
      </p:sp>
      <p:sp>
        <p:nvSpPr>
          <p:cNvPr id="741" name="Google Shape;741;p31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31</a:t>
            </a:r>
            <a:endParaRPr/>
          </a:p>
        </p:txBody>
      </p:sp>
      <p:sp>
        <p:nvSpPr>
          <p:cNvPr id="742" name="Google Shape;742;p31"/>
          <p:cNvSpPr/>
          <p:nvPr/>
        </p:nvSpPr>
        <p:spPr>
          <a:xfrm>
            <a:off x="3476625" y="1952625"/>
            <a:ext cx="5238750" cy="161925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1"/>
          <p:cNvSpPr/>
          <p:nvPr/>
        </p:nvSpPr>
        <p:spPr>
          <a:xfrm>
            <a:off x="3629025" y="2143125"/>
            <a:ext cx="4933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HADOOP LOCAL MODE</a:t>
            </a:r>
            <a:endParaRPr/>
          </a:p>
        </p:txBody>
      </p:sp>
      <p:sp>
        <p:nvSpPr>
          <p:cNvPr id="744" name="Google Shape;744;p31"/>
          <p:cNvSpPr/>
          <p:nvPr/>
        </p:nvSpPr>
        <p:spPr>
          <a:xfrm>
            <a:off x="3629025" y="2505075"/>
            <a:ext cx="493395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un solo processo Java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filesystem locale</a:t>
            </a:r>
            <a:endParaRPr/>
          </a:p>
        </p:txBody>
      </p:sp>
      <p:sp>
        <p:nvSpPr>
          <p:cNvPr id="745" name="Google Shape;745;p31"/>
          <p:cNvSpPr/>
          <p:nvPr/>
        </p:nvSpPr>
        <p:spPr>
          <a:xfrm>
            <a:off x="3333750" y="4191000"/>
            <a:ext cx="552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0B1F33"/>
                </a:solidFill>
              </a:rPr>
              <a:t>Utile per testare codice e logica.</a:t>
            </a:r>
            <a:endParaRPr/>
          </a:p>
        </p:txBody>
      </p:sp>
      <p:sp>
        <p:nvSpPr>
          <p:cNvPr id="746" name="Google Shape;746;p31"/>
          <p:cNvSpPr/>
          <p:nvPr/>
        </p:nvSpPr>
        <p:spPr>
          <a:xfrm>
            <a:off x="3190875" y="4905375"/>
            <a:ext cx="5810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EF5A5A"/>
                </a:solidFill>
              </a:rPr>
              <a:t>Non esercita HDFS né daemon distribuiti.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2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MODALITÀ 2 • LABORATORIO</a:t>
            </a:r>
            <a:endParaRPr/>
          </a:p>
        </p:txBody>
      </p:sp>
      <p:sp>
        <p:nvSpPr>
          <p:cNvPr id="753" name="Google Shape;753;p32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Pseudo-distributed: un nodo, processi separati</a:t>
            </a:r>
            <a:endParaRPr/>
          </a:p>
        </p:txBody>
      </p:sp>
      <p:sp>
        <p:nvSpPr>
          <p:cNvPr id="754" name="Google Shape;754;p32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32</a:t>
            </a:r>
            <a:endParaRPr/>
          </a:p>
        </p:txBody>
      </p:sp>
      <p:sp>
        <p:nvSpPr>
          <p:cNvPr id="755" name="Google Shape;755;p32"/>
          <p:cNvSpPr/>
          <p:nvPr/>
        </p:nvSpPr>
        <p:spPr>
          <a:xfrm>
            <a:off x="685800" y="1762125"/>
            <a:ext cx="5095875" cy="13335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2"/>
          <p:cNvSpPr/>
          <p:nvPr/>
        </p:nvSpPr>
        <p:spPr>
          <a:xfrm>
            <a:off x="685800" y="1762125"/>
            <a:ext cx="5095875" cy="85725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2"/>
          <p:cNvSpPr/>
          <p:nvPr/>
        </p:nvSpPr>
        <p:spPr>
          <a:xfrm>
            <a:off x="895350" y="1971675"/>
            <a:ext cx="46767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NAMENODE</a:t>
            </a:r>
            <a:endParaRPr/>
          </a:p>
        </p:txBody>
      </p:sp>
      <p:sp>
        <p:nvSpPr>
          <p:cNvPr id="758" name="Google Shape;758;p32"/>
          <p:cNvSpPr/>
          <p:nvPr/>
        </p:nvSpPr>
        <p:spPr>
          <a:xfrm>
            <a:off x="895350" y="2333625"/>
            <a:ext cx="4676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B8D9"/>
                </a:solidFill>
              </a:rPr>
              <a:t>processo Java</a:t>
            </a:r>
            <a:endParaRPr/>
          </a:p>
        </p:txBody>
      </p:sp>
      <p:sp>
        <p:nvSpPr>
          <p:cNvPr id="759" name="Google Shape;759;p32"/>
          <p:cNvSpPr/>
          <p:nvPr/>
        </p:nvSpPr>
        <p:spPr>
          <a:xfrm>
            <a:off x="895350" y="2600325"/>
            <a:ext cx="46767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HDFS master</a:t>
            </a:r>
            <a:endParaRPr/>
          </a:p>
        </p:txBody>
      </p:sp>
      <p:sp>
        <p:nvSpPr>
          <p:cNvPr id="760" name="Google Shape;760;p32"/>
          <p:cNvSpPr/>
          <p:nvPr/>
        </p:nvSpPr>
        <p:spPr>
          <a:xfrm>
            <a:off x="6115050" y="1762125"/>
            <a:ext cx="5095875" cy="13335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32"/>
          <p:cNvSpPr/>
          <p:nvPr/>
        </p:nvSpPr>
        <p:spPr>
          <a:xfrm>
            <a:off x="6115050" y="1762125"/>
            <a:ext cx="5095875" cy="85725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32"/>
          <p:cNvSpPr/>
          <p:nvPr/>
        </p:nvSpPr>
        <p:spPr>
          <a:xfrm>
            <a:off x="6324600" y="1971675"/>
            <a:ext cx="46767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DATANODE</a:t>
            </a:r>
            <a:endParaRPr/>
          </a:p>
        </p:txBody>
      </p:sp>
      <p:sp>
        <p:nvSpPr>
          <p:cNvPr id="763" name="Google Shape;763;p32"/>
          <p:cNvSpPr/>
          <p:nvPr/>
        </p:nvSpPr>
        <p:spPr>
          <a:xfrm>
            <a:off x="6324600" y="2333625"/>
            <a:ext cx="4676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B7E34B"/>
                </a:solidFill>
              </a:rPr>
              <a:t>processo Java</a:t>
            </a:r>
            <a:endParaRPr/>
          </a:p>
        </p:txBody>
      </p:sp>
      <p:sp>
        <p:nvSpPr>
          <p:cNvPr id="764" name="Google Shape;764;p32"/>
          <p:cNvSpPr/>
          <p:nvPr/>
        </p:nvSpPr>
        <p:spPr>
          <a:xfrm>
            <a:off x="6324600" y="2600325"/>
            <a:ext cx="46767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HDFS worker</a:t>
            </a:r>
            <a:endParaRPr/>
          </a:p>
        </p:txBody>
      </p:sp>
      <p:sp>
        <p:nvSpPr>
          <p:cNvPr id="765" name="Google Shape;765;p32"/>
          <p:cNvSpPr/>
          <p:nvPr/>
        </p:nvSpPr>
        <p:spPr>
          <a:xfrm>
            <a:off x="685800" y="3429000"/>
            <a:ext cx="5095875" cy="13335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2"/>
          <p:cNvSpPr/>
          <p:nvPr/>
        </p:nvSpPr>
        <p:spPr>
          <a:xfrm>
            <a:off x="685800" y="3429000"/>
            <a:ext cx="5095875" cy="85725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2"/>
          <p:cNvSpPr/>
          <p:nvPr/>
        </p:nvSpPr>
        <p:spPr>
          <a:xfrm>
            <a:off x="895350" y="3638550"/>
            <a:ext cx="46767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RESOURCE MANAGER</a:t>
            </a:r>
            <a:endParaRPr/>
          </a:p>
        </p:txBody>
      </p:sp>
      <p:sp>
        <p:nvSpPr>
          <p:cNvPr id="768" name="Google Shape;768;p32"/>
          <p:cNvSpPr/>
          <p:nvPr/>
        </p:nvSpPr>
        <p:spPr>
          <a:xfrm>
            <a:off x="895350" y="4000500"/>
            <a:ext cx="4676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8A4C"/>
                </a:solidFill>
              </a:rPr>
              <a:t>processo Java</a:t>
            </a:r>
            <a:endParaRPr/>
          </a:p>
        </p:txBody>
      </p:sp>
      <p:sp>
        <p:nvSpPr>
          <p:cNvPr id="769" name="Google Shape;769;p32"/>
          <p:cNvSpPr/>
          <p:nvPr/>
        </p:nvSpPr>
        <p:spPr>
          <a:xfrm>
            <a:off x="895350" y="4267200"/>
            <a:ext cx="46767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YARN master</a:t>
            </a:r>
            <a:endParaRPr/>
          </a:p>
        </p:txBody>
      </p:sp>
      <p:sp>
        <p:nvSpPr>
          <p:cNvPr id="770" name="Google Shape;770;p32"/>
          <p:cNvSpPr/>
          <p:nvPr/>
        </p:nvSpPr>
        <p:spPr>
          <a:xfrm>
            <a:off x="6115050" y="3429000"/>
            <a:ext cx="5095875" cy="13335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2"/>
          <p:cNvSpPr/>
          <p:nvPr/>
        </p:nvSpPr>
        <p:spPr>
          <a:xfrm>
            <a:off x="6115050" y="3429000"/>
            <a:ext cx="5095875" cy="85725"/>
          </a:xfrm>
          <a:prstGeom prst="rect">
            <a:avLst/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2"/>
          <p:cNvSpPr/>
          <p:nvPr/>
        </p:nvSpPr>
        <p:spPr>
          <a:xfrm>
            <a:off x="6324600" y="3638550"/>
            <a:ext cx="46767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NODE MANAGER</a:t>
            </a:r>
            <a:endParaRPr/>
          </a:p>
        </p:txBody>
      </p:sp>
      <p:sp>
        <p:nvSpPr>
          <p:cNvPr id="773" name="Google Shape;773;p32"/>
          <p:cNvSpPr/>
          <p:nvPr/>
        </p:nvSpPr>
        <p:spPr>
          <a:xfrm>
            <a:off x="6324600" y="4000500"/>
            <a:ext cx="4676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7C6EE6"/>
                </a:solidFill>
              </a:rPr>
              <a:t>processo Java</a:t>
            </a:r>
            <a:endParaRPr/>
          </a:p>
        </p:txBody>
      </p:sp>
      <p:sp>
        <p:nvSpPr>
          <p:cNvPr id="774" name="Google Shape;774;p32"/>
          <p:cNvSpPr/>
          <p:nvPr/>
        </p:nvSpPr>
        <p:spPr>
          <a:xfrm>
            <a:off x="6324600" y="4267200"/>
            <a:ext cx="46767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YARN worker</a:t>
            </a:r>
            <a:endParaRPr/>
          </a:p>
        </p:txBody>
      </p:sp>
      <p:sp>
        <p:nvSpPr>
          <p:cNvPr id="775" name="Google Shape;775;p32"/>
          <p:cNvSpPr/>
          <p:nvPr/>
        </p:nvSpPr>
        <p:spPr>
          <a:xfrm>
            <a:off x="3190875" y="5429250"/>
            <a:ext cx="5810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Stessa macchina, responsabilità osservabili.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33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MODALITÀ 3 • PRODUZIONE</a:t>
            </a:r>
            <a:endParaRPr/>
          </a:p>
        </p:txBody>
      </p:sp>
      <p:sp>
        <p:nvSpPr>
          <p:cNvPr id="782" name="Google Shape;782;p33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Fully distributed: ruoli su più macchine</a:t>
            </a:r>
            <a:endParaRPr/>
          </a:p>
        </p:txBody>
      </p:sp>
      <p:sp>
        <p:nvSpPr>
          <p:cNvPr id="783" name="Google Shape;783;p33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33</a:t>
            </a:r>
            <a:endParaRPr/>
          </a:p>
        </p:txBody>
      </p:sp>
      <p:sp>
        <p:nvSpPr>
          <p:cNvPr id="784" name="Google Shape;784;p33"/>
          <p:cNvSpPr/>
          <p:nvPr/>
        </p:nvSpPr>
        <p:spPr>
          <a:xfrm>
            <a:off x="762000" y="1809750"/>
            <a:ext cx="2286000" cy="1095375"/>
          </a:xfrm>
          <a:prstGeom prst="roundRect">
            <a:avLst>
              <a:gd fmla="val 6957" name="adj"/>
            </a:avLst>
          </a:prstGeom>
          <a:solidFill>
            <a:srgbClr val="0B1F33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33"/>
          <p:cNvSpPr/>
          <p:nvPr/>
        </p:nvSpPr>
        <p:spPr>
          <a:xfrm>
            <a:off x="914400" y="2000250"/>
            <a:ext cx="1981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NAMENODE</a:t>
            </a:r>
            <a:endParaRPr/>
          </a:p>
        </p:txBody>
      </p:sp>
      <p:sp>
        <p:nvSpPr>
          <p:cNvPr id="786" name="Google Shape;786;p33"/>
          <p:cNvSpPr/>
          <p:nvPr/>
        </p:nvSpPr>
        <p:spPr>
          <a:xfrm>
            <a:off x="914400" y="2362200"/>
            <a:ext cx="1981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master dedicato</a:t>
            </a:r>
            <a:endParaRPr/>
          </a:p>
        </p:txBody>
      </p:sp>
      <p:sp>
        <p:nvSpPr>
          <p:cNvPr id="787" name="Google Shape;787;p33"/>
          <p:cNvSpPr/>
          <p:nvPr/>
        </p:nvSpPr>
        <p:spPr>
          <a:xfrm>
            <a:off x="3524250" y="1809750"/>
            <a:ext cx="2286000" cy="1095375"/>
          </a:xfrm>
          <a:prstGeom prst="roundRect">
            <a:avLst>
              <a:gd fmla="val 6957" name="adj"/>
            </a:avLst>
          </a:prstGeom>
          <a:solidFill>
            <a:srgbClr val="0B1F33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33"/>
          <p:cNvSpPr/>
          <p:nvPr/>
        </p:nvSpPr>
        <p:spPr>
          <a:xfrm>
            <a:off x="3676650" y="2000250"/>
            <a:ext cx="1981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RESOURCE MANAGER</a:t>
            </a:r>
            <a:endParaRPr/>
          </a:p>
        </p:txBody>
      </p:sp>
      <p:sp>
        <p:nvSpPr>
          <p:cNvPr id="789" name="Google Shape;789;p33"/>
          <p:cNvSpPr/>
          <p:nvPr/>
        </p:nvSpPr>
        <p:spPr>
          <a:xfrm>
            <a:off x="3676650" y="2362200"/>
            <a:ext cx="1981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master dedicato</a:t>
            </a:r>
            <a:endParaRPr/>
          </a:p>
        </p:txBody>
      </p:sp>
      <p:sp>
        <p:nvSpPr>
          <p:cNvPr id="790" name="Google Shape;790;p33"/>
          <p:cNvSpPr/>
          <p:nvPr/>
        </p:nvSpPr>
        <p:spPr>
          <a:xfrm>
            <a:off x="1047750" y="4000500"/>
            <a:ext cx="2476500" cy="1000125"/>
          </a:xfrm>
          <a:prstGeom prst="roundRect">
            <a:avLst>
              <a:gd fmla="val 7619" name="adj"/>
            </a:avLst>
          </a:prstGeom>
          <a:solidFill>
            <a:srgbClr val="0B1F33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33"/>
          <p:cNvSpPr/>
          <p:nvPr/>
        </p:nvSpPr>
        <p:spPr>
          <a:xfrm>
            <a:off x="1200150" y="4191000"/>
            <a:ext cx="2171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WORKER 1</a:t>
            </a:r>
            <a:endParaRPr/>
          </a:p>
        </p:txBody>
      </p:sp>
      <p:sp>
        <p:nvSpPr>
          <p:cNvPr id="792" name="Google Shape;792;p33"/>
          <p:cNvSpPr/>
          <p:nvPr/>
        </p:nvSpPr>
        <p:spPr>
          <a:xfrm>
            <a:off x="1200150" y="4552950"/>
            <a:ext cx="21717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DN + NM</a:t>
            </a:r>
            <a:endParaRPr/>
          </a:p>
        </p:txBody>
      </p:sp>
      <p:sp>
        <p:nvSpPr>
          <p:cNvPr id="793" name="Google Shape;793;p33"/>
          <p:cNvSpPr/>
          <p:nvPr/>
        </p:nvSpPr>
        <p:spPr>
          <a:xfrm>
            <a:off x="4857750" y="4000500"/>
            <a:ext cx="2476500" cy="1000125"/>
          </a:xfrm>
          <a:prstGeom prst="roundRect">
            <a:avLst>
              <a:gd fmla="val 7619" name="adj"/>
            </a:avLst>
          </a:prstGeom>
          <a:solidFill>
            <a:srgbClr val="0B1F33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3"/>
          <p:cNvSpPr/>
          <p:nvPr/>
        </p:nvSpPr>
        <p:spPr>
          <a:xfrm>
            <a:off x="5010150" y="4191000"/>
            <a:ext cx="2171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WORKER 2</a:t>
            </a:r>
            <a:endParaRPr/>
          </a:p>
        </p:txBody>
      </p:sp>
      <p:sp>
        <p:nvSpPr>
          <p:cNvPr id="795" name="Google Shape;795;p33"/>
          <p:cNvSpPr/>
          <p:nvPr/>
        </p:nvSpPr>
        <p:spPr>
          <a:xfrm>
            <a:off x="5010150" y="4552950"/>
            <a:ext cx="21717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DN + NM</a:t>
            </a:r>
            <a:endParaRPr/>
          </a:p>
        </p:txBody>
      </p:sp>
      <p:sp>
        <p:nvSpPr>
          <p:cNvPr id="796" name="Google Shape;796;p33"/>
          <p:cNvSpPr/>
          <p:nvPr/>
        </p:nvSpPr>
        <p:spPr>
          <a:xfrm>
            <a:off x="8667750" y="4000500"/>
            <a:ext cx="2476500" cy="1000125"/>
          </a:xfrm>
          <a:prstGeom prst="roundRect">
            <a:avLst>
              <a:gd fmla="val 7619" name="adj"/>
            </a:avLst>
          </a:prstGeom>
          <a:solidFill>
            <a:srgbClr val="0B1F33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3"/>
          <p:cNvSpPr/>
          <p:nvPr/>
        </p:nvSpPr>
        <p:spPr>
          <a:xfrm>
            <a:off x="8820150" y="4191000"/>
            <a:ext cx="2171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WORKER N</a:t>
            </a:r>
            <a:endParaRPr/>
          </a:p>
        </p:txBody>
      </p:sp>
      <p:sp>
        <p:nvSpPr>
          <p:cNvPr id="798" name="Google Shape;798;p33"/>
          <p:cNvSpPr/>
          <p:nvPr/>
        </p:nvSpPr>
        <p:spPr>
          <a:xfrm>
            <a:off x="8820150" y="4552950"/>
            <a:ext cx="21717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DN + NM</a:t>
            </a:r>
            <a:endParaRPr/>
          </a:p>
        </p:txBody>
      </p:sp>
      <p:sp>
        <p:nvSpPr>
          <p:cNvPr id="799" name="Google Shape;799;p33"/>
          <p:cNvSpPr/>
          <p:nvPr/>
        </p:nvSpPr>
        <p:spPr>
          <a:xfrm>
            <a:off x="2857500" y="3028950"/>
            <a:ext cx="6572250" cy="38100"/>
          </a:xfrm>
          <a:prstGeom prst="rect">
            <a:avLst/>
          </a:prstGeom>
          <a:solidFill>
            <a:srgbClr val="F4C84A"/>
          </a:solidFill>
          <a:ln cap="flat" cmpd="sng" w="9525">
            <a:solidFill>
              <a:srgbClr val="F4C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3"/>
          <p:cNvSpPr/>
          <p:nvPr/>
        </p:nvSpPr>
        <p:spPr>
          <a:xfrm>
            <a:off x="9277350" y="28575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F4C84A"/>
                </a:solidFill>
              </a:rPr>
              <a:t>›</a:t>
            </a:r>
            <a:endParaRPr/>
          </a:p>
        </p:txBody>
      </p:sp>
      <p:sp>
        <p:nvSpPr>
          <p:cNvPr id="801" name="Google Shape;801;p33"/>
          <p:cNvSpPr/>
          <p:nvPr/>
        </p:nvSpPr>
        <p:spPr>
          <a:xfrm>
            <a:off x="2857500" y="2686050"/>
            <a:ext cx="6572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4C84A"/>
                </a:solidFill>
              </a:rPr>
              <a:t>control + reports</a:t>
            </a:r>
            <a:endParaRPr/>
          </a:p>
        </p:txBody>
      </p:sp>
      <p:sp>
        <p:nvSpPr>
          <p:cNvPr id="802" name="Google Shape;802;p33"/>
          <p:cNvSpPr/>
          <p:nvPr/>
        </p:nvSpPr>
        <p:spPr>
          <a:xfrm>
            <a:off x="2286000" y="5429250"/>
            <a:ext cx="7620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FFFFF"/>
                </a:solidFill>
              </a:rPr>
              <a:t>Produzione richiede anche HA, capacity, security e operations.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34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CONFIGURATION MAP</a:t>
            </a:r>
            <a:endParaRPr/>
          </a:p>
        </p:txBody>
      </p:sp>
      <p:sp>
        <p:nvSpPr>
          <p:cNvPr id="809" name="Google Shape;809;p34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Quattro file site-specific definiscono il cluster</a:t>
            </a:r>
            <a:endParaRPr/>
          </a:p>
        </p:txBody>
      </p:sp>
      <p:sp>
        <p:nvSpPr>
          <p:cNvPr id="810" name="Google Shape;810;p34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34</a:t>
            </a:r>
            <a:endParaRPr/>
          </a:p>
        </p:txBody>
      </p:sp>
      <p:sp>
        <p:nvSpPr>
          <p:cNvPr id="811" name="Google Shape;811;p34"/>
          <p:cNvSpPr/>
          <p:nvPr/>
        </p:nvSpPr>
        <p:spPr>
          <a:xfrm>
            <a:off x="666750" y="1619250"/>
            <a:ext cx="285750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4"/>
          <p:cNvSpPr/>
          <p:nvPr/>
        </p:nvSpPr>
        <p:spPr>
          <a:xfrm>
            <a:off x="762000" y="1752600"/>
            <a:ext cx="2667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</a:rPr>
              <a:t>File</a:t>
            </a:r>
            <a:endParaRPr/>
          </a:p>
        </p:txBody>
      </p:sp>
      <p:sp>
        <p:nvSpPr>
          <p:cNvPr id="813" name="Google Shape;813;p34"/>
          <p:cNvSpPr/>
          <p:nvPr/>
        </p:nvSpPr>
        <p:spPr>
          <a:xfrm>
            <a:off x="3524250" y="1619250"/>
            <a:ext cx="466725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4"/>
          <p:cNvSpPr/>
          <p:nvPr/>
        </p:nvSpPr>
        <p:spPr>
          <a:xfrm>
            <a:off x="3619500" y="1752600"/>
            <a:ext cx="4476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</a:rPr>
              <a:t>Responsabilità</a:t>
            </a:r>
            <a:endParaRPr/>
          </a:p>
        </p:txBody>
      </p:sp>
      <p:sp>
        <p:nvSpPr>
          <p:cNvPr id="815" name="Google Shape;815;p34"/>
          <p:cNvSpPr/>
          <p:nvPr/>
        </p:nvSpPr>
        <p:spPr>
          <a:xfrm>
            <a:off x="8191500" y="1619250"/>
            <a:ext cx="314325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34"/>
          <p:cNvSpPr/>
          <p:nvPr/>
        </p:nvSpPr>
        <p:spPr>
          <a:xfrm>
            <a:off x="8286750" y="1752600"/>
            <a:ext cx="2952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</a:rPr>
              <a:t>Esempio</a:t>
            </a:r>
            <a:endParaRPr/>
          </a:p>
        </p:txBody>
      </p:sp>
      <p:sp>
        <p:nvSpPr>
          <p:cNvPr id="817" name="Google Shape;817;p34"/>
          <p:cNvSpPr/>
          <p:nvPr/>
        </p:nvSpPr>
        <p:spPr>
          <a:xfrm>
            <a:off x="666750" y="2114550"/>
            <a:ext cx="2857500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4"/>
          <p:cNvSpPr/>
          <p:nvPr/>
        </p:nvSpPr>
        <p:spPr>
          <a:xfrm>
            <a:off x="800100" y="2266950"/>
            <a:ext cx="259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core-site.xml</a:t>
            </a:r>
            <a:endParaRPr/>
          </a:p>
        </p:txBody>
      </p:sp>
      <p:sp>
        <p:nvSpPr>
          <p:cNvPr id="819" name="Google Shape;819;p34"/>
          <p:cNvSpPr/>
          <p:nvPr/>
        </p:nvSpPr>
        <p:spPr>
          <a:xfrm>
            <a:off x="3524250" y="2114550"/>
            <a:ext cx="4667250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34"/>
          <p:cNvSpPr/>
          <p:nvPr/>
        </p:nvSpPr>
        <p:spPr>
          <a:xfrm>
            <a:off x="3657600" y="2266950"/>
            <a:ext cx="44005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filesystem e proprietà comuni</a:t>
            </a:r>
            <a:endParaRPr/>
          </a:p>
        </p:txBody>
      </p:sp>
      <p:sp>
        <p:nvSpPr>
          <p:cNvPr id="821" name="Google Shape;821;p34"/>
          <p:cNvSpPr/>
          <p:nvPr/>
        </p:nvSpPr>
        <p:spPr>
          <a:xfrm>
            <a:off x="8191500" y="2114550"/>
            <a:ext cx="3143250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34"/>
          <p:cNvSpPr/>
          <p:nvPr/>
        </p:nvSpPr>
        <p:spPr>
          <a:xfrm>
            <a:off x="8324850" y="2266950"/>
            <a:ext cx="28765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fs.defaultFS</a:t>
            </a:r>
            <a:endParaRPr/>
          </a:p>
        </p:txBody>
      </p:sp>
      <p:sp>
        <p:nvSpPr>
          <p:cNvPr id="823" name="Google Shape;823;p34"/>
          <p:cNvSpPr/>
          <p:nvPr/>
        </p:nvSpPr>
        <p:spPr>
          <a:xfrm>
            <a:off x="666750" y="2819400"/>
            <a:ext cx="2857500" cy="704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34"/>
          <p:cNvSpPr/>
          <p:nvPr/>
        </p:nvSpPr>
        <p:spPr>
          <a:xfrm>
            <a:off x="800100" y="2971800"/>
            <a:ext cx="259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hdfs-site.xml</a:t>
            </a:r>
            <a:endParaRPr/>
          </a:p>
        </p:txBody>
      </p:sp>
      <p:sp>
        <p:nvSpPr>
          <p:cNvPr id="825" name="Google Shape;825;p34"/>
          <p:cNvSpPr/>
          <p:nvPr/>
        </p:nvSpPr>
        <p:spPr>
          <a:xfrm>
            <a:off x="3524250" y="2819400"/>
            <a:ext cx="4667250" cy="704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4"/>
          <p:cNvSpPr/>
          <p:nvPr/>
        </p:nvSpPr>
        <p:spPr>
          <a:xfrm>
            <a:off x="3657600" y="2971800"/>
            <a:ext cx="44005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storage HDFS</a:t>
            </a:r>
            <a:endParaRPr/>
          </a:p>
        </p:txBody>
      </p:sp>
      <p:sp>
        <p:nvSpPr>
          <p:cNvPr id="827" name="Google Shape;827;p34"/>
          <p:cNvSpPr/>
          <p:nvPr/>
        </p:nvSpPr>
        <p:spPr>
          <a:xfrm>
            <a:off x="8191500" y="2819400"/>
            <a:ext cx="3143250" cy="704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34"/>
          <p:cNvSpPr/>
          <p:nvPr/>
        </p:nvSpPr>
        <p:spPr>
          <a:xfrm>
            <a:off x="8324850" y="2971800"/>
            <a:ext cx="28765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dfs.replication</a:t>
            </a:r>
            <a:endParaRPr/>
          </a:p>
        </p:txBody>
      </p:sp>
      <p:sp>
        <p:nvSpPr>
          <p:cNvPr id="829" name="Google Shape;829;p34"/>
          <p:cNvSpPr/>
          <p:nvPr/>
        </p:nvSpPr>
        <p:spPr>
          <a:xfrm>
            <a:off x="666750" y="3524250"/>
            <a:ext cx="2857500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34"/>
          <p:cNvSpPr/>
          <p:nvPr/>
        </p:nvSpPr>
        <p:spPr>
          <a:xfrm>
            <a:off x="800100" y="3676650"/>
            <a:ext cx="259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yarn-site.xml</a:t>
            </a:r>
            <a:endParaRPr/>
          </a:p>
        </p:txBody>
      </p:sp>
      <p:sp>
        <p:nvSpPr>
          <p:cNvPr id="831" name="Google Shape;831;p34"/>
          <p:cNvSpPr/>
          <p:nvPr/>
        </p:nvSpPr>
        <p:spPr>
          <a:xfrm>
            <a:off x="3524250" y="3524250"/>
            <a:ext cx="4667250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34"/>
          <p:cNvSpPr/>
          <p:nvPr/>
        </p:nvSpPr>
        <p:spPr>
          <a:xfrm>
            <a:off x="3657600" y="3676650"/>
            <a:ext cx="44005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resource management</a:t>
            </a:r>
            <a:endParaRPr/>
          </a:p>
        </p:txBody>
      </p:sp>
      <p:sp>
        <p:nvSpPr>
          <p:cNvPr id="833" name="Google Shape;833;p34"/>
          <p:cNvSpPr/>
          <p:nvPr/>
        </p:nvSpPr>
        <p:spPr>
          <a:xfrm>
            <a:off x="8191500" y="3524250"/>
            <a:ext cx="3143250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4"/>
          <p:cNvSpPr/>
          <p:nvPr/>
        </p:nvSpPr>
        <p:spPr>
          <a:xfrm>
            <a:off x="8324850" y="3676650"/>
            <a:ext cx="28765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aux-services</a:t>
            </a:r>
            <a:endParaRPr/>
          </a:p>
        </p:txBody>
      </p:sp>
      <p:sp>
        <p:nvSpPr>
          <p:cNvPr id="835" name="Google Shape;835;p34"/>
          <p:cNvSpPr/>
          <p:nvPr/>
        </p:nvSpPr>
        <p:spPr>
          <a:xfrm>
            <a:off x="666750" y="4229100"/>
            <a:ext cx="2857500" cy="704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34"/>
          <p:cNvSpPr/>
          <p:nvPr/>
        </p:nvSpPr>
        <p:spPr>
          <a:xfrm>
            <a:off x="800100" y="4381500"/>
            <a:ext cx="259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mapred-site.xml</a:t>
            </a:r>
            <a:endParaRPr/>
          </a:p>
        </p:txBody>
      </p:sp>
      <p:sp>
        <p:nvSpPr>
          <p:cNvPr id="837" name="Google Shape;837;p34"/>
          <p:cNvSpPr/>
          <p:nvPr/>
        </p:nvSpPr>
        <p:spPr>
          <a:xfrm>
            <a:off x="3524250" y="4229100"/>
            <a:ext cx="4667250" cy="704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34"/>
          <p:cNvSpPr/>
          <p:nvPr/>
        </p:nvSpPr>
        <p:spPr>
          <a:xfrm>
            <a:off x="3657600" y="4381500"/>
            <a:ext cx="44005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framework MapReduce</a:t>
            </a:r>
            <a:endParaRPr/>
          </a:p>
        </p:txBody>
      </p:sp>
      <p:sp>
        <p:nvSpPr>
          <p:cNvPr id="839" name="Google Shape;839;p34"/>
          <p:cNvSpPr/>
          <p:nvPr/>
        </p:nvSpPr>
        <p:spPr>
          <a:xfrm>
            <a:off x="8191500" y="4229100"/>
            <a:ext cx="3143250" cy="704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34"/>
          <p:cNvSpPr/>
          <p:nvPr/>
        </p:nvSpPr>
        <p:spPr>
          <a:xfrm>
            <a:off x="8324850" y="4381500"/>
            <a:ext cx="28765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framework.name</a:t>
            </a:r>
            <a:endParaRPr/>
          </a:p>
        </p:txBody>
      </p:sp>
      <p:sp>
        <p:nvSpPr>
          <p:cNvPr id="841" name="Google Shape;841;p34"/>
          <p:cNvSpPr/>
          <p:nvPr/>
        </p:nvSpPr>
        <p:spPr>
          <a:xfrm>
            <a:off x="666750" y="4933950"/>
            <a:ext cx="2857500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34"/>
          <p:cNvSpPr/>
          <p:nvPr/>
        </p:nvSpPr>
        <p:spPr>
          <a:xfrm>
            <a:off x="800100" y="5086350"/>
            <a:ext cx="259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hadoop-env.sh</a:t>
            </a:r>
            <a:endParaRPr/>
          </a:p>
        </p:txBody>
      </p:sp>
      <p:sp>
        <p:nvSpPr>
          <p:cNvPr id="843" name="Google Shape;843;p34"/>
          <p:cNvSpPr/>
          <p:nvPr/>
        </p:nvSpPr>
        <p:spPr>
          <a:xfrm>
            <a:off x="3524250" y="4933950"/>
            <a:ext cx="4667250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34"/>
          <p:cNvSpPr/>
          <p:nvPr/>
        </p:nvSpPr>
        <p:spPr>
          <a:xfrm>
            <a:off x="3657600" y="5086350"/>
            <a:ext cx="44005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ambiente dei daemon</a:t>
            </a:r>
            <a:endParaRPr/>
          </a:p>
        </p:txBody>
      </p:sp>
      <p:sp>
        <p:nvSpPr>
          <p:cNvPr id="845" name="Google Shape;845;p34"/>
          <p:cNvSpPr/>
          <p:nvPr/>
        </p:nvSpPr>
        <p:spPr>
          <a:xfrm>
            <a:off x="8191500" y="4933950"/>
            <a:ext cx="3143250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34"/>
          <p:cNvSpPr/>
          <p:nvPr/>
        </p:nvSpPr>
        <p:spPr>
          <a:xfrm>
            <a:off x="8324850" y="5086350"/>
            <a:ext cx="28765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JAVA_HOME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35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OPERATING SURFACES</a:t>
            </a:r>
            <a:endParaRPr/>
          </a:p>
        </p:txBody>
      </p:sp>
      <p:sp>
        <p:nvSpPr>
          <p:cNvPr id="853" name="Google Shape;853;p35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Le interfacce web rendono visibile il sistema</a:t>
            </a:r>
            <a:endParaRPr/>
          </a:p>
        </p:txBody>
      </p:sp>
      <p:sp>
        <p:nvSpPr>
          <p:cNvPr id="854" name="Google Shape;854;p35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35</a:t>
            </a:r>
            <a:endParaRPr/>
          </a:p>
        </p:txBody>
      </p:sp>
      <p:sp>
        <p:nvSpPr>
          <p:cNvPr id="855" name="Google Shape;855;p35"/>
          <p:cNvSpPr/>
          <p:nvPr/>
        </p:nvSpPr>
        <p:spPr>
          <a:xfrm>
            <a:off x="685800" y="1809750"/>
            <a:ext cx="5143500" cy="3429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35"/>
          <p:cNvSpPr/>
          <p:nvPr/>
        </p:nvSpPr>
        <p:spPr>
          <a:xfrm>
            <a:off x="6362700" y="1809750"/>
            <a:ext cx="5143500" cy="3429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35"/>
          <p:cNvSpPr/>
          <p:nvPr/>
        </p:nvSpPr>
        <p:spPr>
          <a:xfrm>
            <a:off x="685800" y="1809750"/>
            <a:ext cx="5143500" cy="76200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35"/>
          <p:cNvSpPr/>
          <p:nvPr/>
        </p:nvSpPr>
        <p:spPr>
          <a:xfrm>
            <a:off x="6362700" y="1809750"/>
            <a:ext cx="5143500" cy="7620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35"/>
          <p:cNvSpPr/>
          <p:nvPr/>
        </p:nvSpPr>
        <p:spPr>
          <a:xfrm>
            <a:off x="1028700" y="2143125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NAMENODE UI • 9870</a:t>
            </a:r>
            <a:endParaRPr/>
          </a:p>
        </p:txBody>
      </p:sp>
      <p:sp>
        <p:nvSpPr>
          <p:cNvPr id="860" name="Google Shape;860;p35"/>
          <p:cNvSpPr/>
          <p:nvPr/>
        </p:nvSpPr>
        <p:spPr>
          <a:xfrm>
            <a:off x="1028700" y="2809875"/>
            <a:ext cx="433387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Capacity, DataNode live/dead, blocchi, namespace e stato HDFS.</a:t>
            </a:r>
            <a:endParaRPr/>
          </a:p>
        </p:txBody>
      </p:sp>
      <p:sp>
        <p:nvSpPr>
          <p:cNvPr id="861" name="Google Shape;861;p35"/>
          <p:cNvSpPr/>
          <p:nvPr/>
        </p:nvSpPr>
        <p:spPr>
          <a:xfrm>
            <a:off x="6705600" y="2143125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RESOURCE MANAGER UI • 8088</a:t>
            </a:r>
            <a:endParaRPr/>
          </a:p>
        </p:txBody>
      </p:sp>
      <p:sp>
        <p:nvSpPr>
          <p:cNvPr id="862" name="Google Shape;862;p35"/>
          <p:cNvSpPr/>
          <p:nvPr/>
        </p:nvSpPr>
        <p:spPr>
          <a:xfrm>
            <a:off x="6705600" y="2809875"/>
            <a:ext cx="433387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Applicazioni, code, container, nodi, progresso e log.</a:t>
            </a:r>
            <a:endParaRPr/>
          </a:p>
        </p:txBody>
      </p:sp>
      <p:sp>
        <p:nvSpPr>
          <p:cNvPr id="863" name="Google Shape;863;p35"/>
          <p:cNvSpPr/>
          <p:nvPr/>
        </p:nvSpPr>
        <p:spPr>
          <a:xfrm>
            <a:off x="3476625" y="5619750"/>
            <a:ext cx="5238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UI per capire; CLI e metriche per operare.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6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LOG + METRICHE + STATO</a:t>
            </a:r>
            <a:endParaRPr/>
          </a:p>
        </p:txBody>
      </p:sp>
      <p:sp>
        <p:nvSpPr>
          <p:cNvPr id="870" name="Google Shape;870;p36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Osservare significa poter spiegare un rallentamento</a:t>
            </a:r>
            <a:endParaRPr/>
          </a:p>
        </p:txBody>
      </p:sp>
      <p:sp>
        <p:nvSpPr>
          <p:cNvPr id="871" name="Google Shape;871;p36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36</a:t>
            </a:r>
            <a:endParaRPr/>
          </a:p>
        </p:txBody>
      </p:sp>
      <p:sp>
        <p:nvSpPr>
          <p:cNvPr id="872" name="Google Shape;872;p36"/>
          <p:cNvSpPr/>
          <p:nvPr/>
        </p:nvSpPr>
        <p:spPr>
          <a:xfrm>
            <a:off x="685800" y="16668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6"/>
          <p:cNvSpPr/>
          <p:nvPr/>
        </p:nvSpPr>
        <p:spPr>
          <a:xfrm>
            <a:off x="685800" y="1666875"/>
            <a:ext cx="3238500" cy="85725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36"/>
          <p:cNvSpPr/>
          <p:nvPr/>
        </p:nvSpPr>
        <p:spPr>
          <a:xfrm>
            <a:off x="895350" y="18764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HDFS</a:t>
            </a:r>
            <a:endParaRPr/>
          </a:p>
        </p:txBody>
      </p:sp>
      <p:sp>
        <p:nvSpPr>
          <p:cNvPr id="875" name="Google Shape;875;p36"/>
          <p:cNvSpPr/>
          <p:nvPr/>
        </p:nvSpPr>
        <p:spPr>
          <a:xfrm>
            <a:off x="895350" y="22383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B8D9"/>
                </a:solidFill>
              </a:rPr>
              <a:t>capacity + blocks</a:t>
            </a:r>
            <a:endParaRPr/>
          </a:p>
        </p:txBody>
      </p:sp>
      <p:sp>
        <p:nvSpPr>
          <p:cNvPr id="876" name="Google Shape;876;p36"/>
          <p:cNvSpPr/>
          <p:nvPr/>
        </p:nvSpPr>
        <p:spPr>
          <a:xfrm>
            <a:off x="895350" y="2505075"/>
            <a:ext cx="2819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live/dead nodes</a:t>
            </a:r>
            <a:endParaRPr/>
          </a:p>
        </p:txBody>
      </p:sp>
      <p:sp>
        <p:nvSpPr>
          <p:cNvPr id="877" name="Google Shape;877;p36"/>
          <p:cNvSpPr/>
          <p:nvPr/>
        </p:nvSpPr>
        <p:spPr>
          <a:xfrm>
            <a:off x="4305300" y="16668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36"/>
          <p:cNvSpPr/>
          <p:nvPr/>
        </p:nvSpPr>
        <p:spPr>
          <a:xfrm>
            <a:off x="4305300" y="1666875"/>
            <a:ext cx="3238500" cy="85725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36"/>
          <p:cNvSpPr/>
          <p:nvPr/>
        </p:nvSpPr>
        <p:spPr>
          <a:xfrm>
            <a:off x="4514850" y="18764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YARN</a:t>
            </a:r>
            <a:endParaRPr/>
          </a:p>
        </p:txBody>
      </p:sp>
      <p:sp>
        <p:nvSpPr>
          <p:cNvPr id="880" name="Google Shape;880;p36"/>
          <p:cNvSpPr/>
          <p:nvPr/>
        </p:nvSpPr>
        <p:spPr>
          <a:xfrm>
            <a:off x="4514850" y="22383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8A4C"/>
                </a:solidFill>
              </a:rPr>
              <a:t>allocated resources</a:t>
            </a:r>
            <a:endParaRPr/>
          </a:p>
        </p:txBody>
      </p:sp>
      <p:sp>
        <p:nvSpPr>
          <p:cNvPr id="881" name="Google Shape;881;p36"/>
          <p:cNvSpPr/>
          <p:nvPr/>
        </p:nvSpPr>
        <p:spPr>
          <a:xfrm>
            <a:off x="4514850" y="2505075"/>
            <a:ext cx="2819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apps + nodes</a:t>
            </a:r>
            <a:endParaRPr/>
          </a:p>
        </p:txBody>
      </p:sp>
      <p:sp>
        <p:nvSpPr>
          <p:cNvPr id="882" name="Google Shape;882;p36"/>
          <p:cNvSpPr/>
          <p:nvPr/>
        </p:nvSpPr>
        <p:spPr>
          <a:xfrm>
            <a:off x="7924800" y="16668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36"/>
          <p:cNvSpPr/>
          <p:nvPr/>
        </p:nvSpPr>
        <p:spPr>
          <a:xfrm>
            <a:off x="7924800" y="1666875"/>
            <a:ext cx="3238500" cy="85725"/>
          </a:xfrm>
          <a:prstGeom prst="rect">
            <a:avLst/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36"/>
          <p:cNvSpPr/>
          <p:nvPr/>
        </p:nvSpPr>
        <p:spPr>
          <a:xfrm>
            <a:off x="8134350" y="18764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JOB</a:t>
            </a:r>
            <a:endParaRPr/>
          </a:p>
        </p:txBody>
      </p:sp>
      <p:sp>
        <p:nvSpPr>
          <p:cNvPr id="885" name="Google Shape;885;p36"/>
          <p:cNvSpPr/>
          <p:nvPr/>
        </p:nvSpPr>
        <p:spPr>
          <a:xfrm>
            <a:off x="8134350" y="22383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7C6EE6"/>
                </a:solidFill>
              </a:rPr>
              <a:t>failed attempts</a:t>
            </a:r>
            <a:endParaRPr/>
          </a:p>
        </p:txBody>
      </p:sp>
      <p:sp>
        <p:nvSpPr>
          <p:cNvPr id="886" name="Google Shape;886;p36"/>
          <p:cNvSpPr/>
          <p:nvPr/>
        </p:nvSpPr>
        <p:spPr>
          <a:xfrm>
            <a:off x="8134350" y="2505075"/>
            <a:ext cx="2819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progress + counters</a:t>
            </a:r>
            <a:endParaRPr/>
          </a:p>
        </p:txBody>
      </p:sp>
      <p:sp>
        <p:nvSpPr>
          <p:cNvPr id="887" name="Google Shape;887;p36"/>
          <p:cNvSpPr/>
          <p:nvPr/>
        </p:nvSpPr>
        <p:spPr>
          <a:xfrm>
            <a:off x="685800" y="33813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36"/>
          <p:cNvSpPr/>
          <p:nvPr/>
        </p:nvSpPr>
        <p:spPr>
          <a:xfrm>
            <a:off x="685800" y="3381375"/>
            <a:ext cx="3238500" cy="85725"/>
          </a:xfrm>
          <a:prstGeom prst="rect">
            <a:avLst/>
          </a:prstGeom>
          <a:solidFill>
            <a:srgbClr val="EF5A5A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36"/>
          <p:cNvSpPr/>
          <p:nvPr/>
        </p:nvSpPr>
        <p:spPr>
          <a:xfrm>
            <a:off x="895350" y="35909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DAEMON</a:t>
            </a:r>
            <a:endParaRPr/>
          </a:p>
        </p:txBody>
      </p:sp>
      <p:sp>
        <p:nvSpPr>
          <p:cNvPr id="890" name="Google Shape;890;p36"/>
          <p:cNvSpPr/>
          <p:nvPr/>
        </p:nvSpPr>
        <p:spPr>
          <a:xfrm>
            <a:off x="895350" y="39528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EF5A5A"/>
                </a:solidFill>
              </a:rPr>
              <a:t>startup errors</a:t>
            </a:r>
            <a:endParaRPr/>
          </a:p>
        </p:txBody>
      </p:sp>
      <p:sp>
        <p:nvSpPr>
          <p:cNvPr id="891" name="Google Shape;891;p36"/>
          <p:cNvSpPr/>
          <p:nvPr/>
        </p:nvSpPr>
        <p:spPr>
          <a:xfrm>
            <a:off x="895350" y="4219575"/>
            <a:ext cx="2819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log + PID</a:t>
            </a:r>
            <a:endParaRPr/>
          </a:p>
        </p:txBody>
      </p:sp>
      <p:sp>
        <p:nvSpPr>
          <p:cNvPr id="892" name="Google Shape;892;p36"/>
          <p:cNvSpPr/>
          <p:nvPr/>
        </p:nvSpPr>
        <p:spPr>
          <a:xfrm>
            <a:off x="4305300" y="33813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36"/>
          <p:cNvSpPr/>
          <p:nvPr/>
        </p:nvSpPr>
        <p:spPr>
          <a:xfrm>
            <a:off x="4305300" y="3381375"/>
            <a:ext cx="3238500" cy="85725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6"/>
          <p:cNvSpPr/>
          <p:nvPr/>
        </p:nvSpPr>
        <p:spPr>
          <a:xfrm>
            <a:off x="4514850" y="35909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OS</a:t>
            </a:r>
            <a:endParaRPr/>
          </a:p>
        </p:txBody>
      </p:sp>
      <p:sp>
        <p:nvSpPr>
          <p:cNvPr id="895" name="Google Shape;895;p36"/>
          <p:cNvSpPr/>
          <p:nvPr/>
        </p:nvSpPr>
        <p:spPr>
          <a:xfrm>
            <a:off x="4514850" y="39528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B7E34B"/>
                </a:solidFill>
              </a:rPr>
              <a:t>disk + network</a:t>
            </a:r>
            <a:endParaRPr/>
          </a:p>
        </p:txBody>
      </p:sp>
      <p:sp>
        <p:nvSpPr>
          <p:cNvPr id="896" name="Google Shape;896;p36"/>
          <p:cNvSpPr/>
          <p:nvPr/>
        </p:nvSpPr>
        <p:spPr>
          <a:xfrm>
            <a:off x="4514850" y="4219575"/>
            <a:ext cx="2819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cpu + memory</a:t>
            </a:r>
            <a:endParaRPr/>
          </a:p>
        </p:txBody>
      </p:sp>
      <p:sp>
        <p:nvSpPr>
          <p:cNvPr id="897" name="Google Shape;897;p36"/>
          <p:cNvSpPr/>
          <p:nvPr/>
        </p:nvSpPr>
        <p:spPr>
          <a:xfrm>
            <a:off x="7924800" y="33813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6"/>
          <p:cNvSpPr/>
          <p:nvPr/>
        </p:nvSpPr>
        <p:spPr>
          <a:xfrm>
            <a:off x="7924800" y="3381375"/>
            <a:ext cx="3238500" cy="85725"/>
          </a:xfrm>
          <a:prstGeom prst="rect">
            <a:avLst/>
          </a:prstGeom>
          <a:solidFill>
            <a:srgbClr val="27A36A"/>
          </a:solidFill>
          <a:ln cap="flat" cmpd="sng" w="9525">
            <a:solidFill>
              <a:srgbClr val="27A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36"/>
          <p:cNvSpPr/>
          <p:nvPr/>
        </p:nvSpPr>
        <p:spPr>
          <a:xfrm>
            <a:off x="8134350" y="35909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SLO</a:t>
            </a:r>
            <a:endParaRPr/>
          </a:p>
        </p:txBody>
      </p:sp>
      <p:sp>
        <p:nvSpPr>
          <p:cNvPr id="900" name="Google Shape;900;p36"/>
          <p:cNvSpPr/>
          <p:nvPr/>
        </p:nvSpPr>
        <p:spPr>
          <a:xfrm>
            <a:off x="8134350" y="39528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7A36A"/>
                </a:solidFill>
              </a:rPr>
              <a:t>freshness output</a:t>
            </a:r>
            <a:endParaRPr/>
          </a:p>
        </p:txBody>
      </p:sp>
      <p:sp>
        <p:nvSpPr>
          <p:cNvPr id="901" name="Google Shape;901;p36"/>
          <p:cNvSpPr/>
          <p:nvPr/>
        </p:nvSpPr>
        <p:spPr>
          <a:xfrm>
            <a:off x="8134350" y="4219575"/>
            <a:ext cx="2819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duration + throughput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7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SECURITY BOUNDARY</a:t>
            </a:r>
            <a:endParaRPr/>
          </a:p>
        </p:txBody>
      </p:sp>
      <p:sp>
        <p:nvSpPr>
          <p:cNvPr id="908" name="Google Shape;908;p37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Un cluster non sicuro è solo un laboratorio locale</a:t>
            </a:r>
            <a:endParaRPr/>
          </a:p>
        </p:txBody>
      </p:sp>
      <p:sp>
        <p:nvSpPr>
          <p:cNvPr id="909" name="Google Shape;909;p37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37</a:t>
            </a:r>
            <a:endParaRPr/>
          </a:p>
        </p:txBody>
      </p:sp>
      <p:sp>
        <p:nvSpPr>
          <p:cNvPr id="910" name="Google Shape;910;p37"/>
          <p:cNvSpPr/>
          <p:nvPr/>
        </p:nvSpPr>
        <p:spPr>
          <a:xfrm>
            <a:off x="857250" y="2333625"/>
            <a:ext cx="2286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EF5A5A"/>
                </a:solidFill>
              </a:rPr>
              <a:t>INTERNET</a:t>
            </a:r>
            <a:endParaRPr/>
          </a:p>
        </p:txBody>
      </p:sp>
      <p:sp>
        <p:nvSpPr>
          <p:cNvPr id="911" name="Google Shape;911;p37"/>
          <p:cNvSpPr/>
          <p:nvPr/>
        </p:nvSpPr>
        <p:spPr>
          <a:xfrm>
            <a:off x="3476625" y="2238375"/>
            <a:ext cx="5143500" cy="76200"/>
          </a:xfrm>
          <a:prstGeom prst="rect">
            <a:avLst/>
          </a:prstGeom>
          <a:solidFill>
            <a:srgbClr val="EF5A5A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7"/>
          <p:cNvSpPr/>
          <p:nvPr/>
        </p:nvSpPr>
        <p:spPr>
          <a:xfrm>
            <a:off x="4619625" y="1714500"/>
            <a:ext cx="2857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EF5A5A"/>
                </a:solidFill>
              </a:rPr>
              <a:t>DO NOT EXPOSE</a:t>
            </a:r>
            <a:endParaRPr/>
          </a:p>
        </p:txBody>
      </p:sp>
      <p:sp>
        <p:nvSpPr>
          <p:cNvPr id="913" name="Google Shape;913;p37"/>
          <p:cNvSpPr/>
          <p:nvPr/>
        </p:nvSpPr>
        <p:spPr>
          <a:xfrm>
            <a:off x="8858250" y="1905000"/>
            <a:ext cx="2381250" cy="142875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37"/>
          <p:cNvSpPr/>
          <p:nvPr/>
        </p:nvSpPr>
        <p:spPr>
          <a:xfrm>
            <a:off x="9010650" y="2095500"/>
            <a:ext cx="2076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HADOOP LAB</a:t>
            </a:r>
            <a:endParaRPr/>
          </a:p>
        </p:txBody>
      </p:sp>
      <p:sp>
        <p:nvSpPr>
          <p:cNvPr id="915" name="Google Shape;915;p37"/>
          <p:cNvSpPr/>
          <p:nvPr/>
        </p:nvSpPr>
        <p:spPr>
          <a:xfrm>
            <a:off x="9010650" y="2457450"/>
            <a:ext cx="20764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localhost only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no production data</a:t>
            </a:r>
            <a:endParaRPr/>
          </a:p>
        </p:txBody>
      </p:sp>
      <p:sp>
        <p:nvSpPr>
          <p:cNvPr id="916" name="Google Shape;916;p37"/>
          <p:cNvSpPr/>
          <p:nvPr/>
        </p:nvSpPr>
        <p:spPr>
          <a:xfrm>
            <a:off x="2143125" y="4333875"/>
            <a:ext cx="7905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Produzione: Kerberos, rete privata, autorizzazioni e auditing.</a:t>
            </a:r>
            <a:endParaRPr/>
          </a:p>
        </p:txBody>
      </p:sp>
      <p:sp>
        <p:nvSpPr>
          <p:cNvPr id="917" name="Google Shape;917;p37"/>
          <p:cNvSpPr/>
          <p:nvPr/>
        </p:nvSpPr>
        <p:spPr>
          <a:xfrm>
            <a:off x="2905125" y="5095875"/>
            <a:ext cx="6381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EF5A5A"/>
                </a:solidFill>
              </a:rPr>
              <a:t>La sicurezza non si aggiunge dopo il deployment.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38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DATAFLIX • IL PROBLEMA DISTRIBUITO</a:t>
            </a:r>
            <a:endParaRPr/>
          </a:p>
        </p:txBody>
      </p:sp>
      <p:sp>
        <p:nvSpPr>
          <p:cNvPr id="924" name="Google Shape;924;p38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Hadoop non è magia</a:t>
            </a:r>
            <a:endParaRPr/>
          </a:p>
        </p:txBody>
      </p:sp>
      <p:sp>
        <p:nvSpPr>
          <p:cNvPr id="925" name="Google Shape;925;p38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38</a:t>
            </a:r>
            <a:endParaRPr/>
          </a:p>
        </p:txBody>
      </p:sp>
      <p:sp>
        <p:nvSpPr>
          <p:cNvPr id="926" name="Google Shape;926;p38"/>
          <p:cNvSpPr/>
          <p:nvPr/>
        </p:nvSpPr>
        <p:spPr>
          <a:xfrm>
            <a:off x="742950" y="1714500"/>
            <a:ext cx="857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0">
                <a:solidFill>
                  <a:srgbClr val="FF8A4C"/>
                </a:solidFill>
              </a:rPr>
              <a:t>“</a:t>
            </a:r>
            <a:endParaRPr/>
          </a:p>
        </p:txBody>
      </p:sp>
      <p:sp>
        <p:nvSpPr>
          <p:cNvPr id="927" name="Google Shape;927;p38"/>
          <p:cNvSpPr/>
          <p:nvPr/>
        </p:nvSpPr>
        <p:spPr>
          <a:xfrm>
            <a:off x="1676400" y="1952625"/>
            <a:ext cx="90487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FFFFFF"/>
                </a:solidFill>
              </a:rPr>
              <a:t>Distribuire aumenta capacità e resilienza, ma aggiunge rete, configurazione, sicurezza, consistenza operativa e failure mode.</a:t>
            </a:r>
            <a:endParaRPr/>
          </a:p>
        </p:txBody>
      </p:sp>
      <p:sp>
        <p:nvSpPr>
          <p:cNvPr id="928" name="Google Shape;928;p38"/>
          <p:cNvSpPr/>
          <p:nvPr/>
        </p:nvSpPr>
        <p:spPr>
          <a:xfrm>
            <a:off x="1676400" y="4762500"/>
            <a:ext cx="3048000" cy="7620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9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FIT CHECK</a:t>
            </a:r>
            <a:endParaRPr/>
          </a:p>
        </p:txBody>
      </p:sp>
      <p:sp>
        <p:nvSpPr>
          <p:cNvPr id="935" name="Google Shape;935;p39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Alcuni workload non sono il suo punto forte</a:t>
            </a:r>
            <a:endParaRPr/>
          </a:p>
        </p:txBody>
      </p:sp>
      <p:sp>
        <p:nvSpPr>
          <p:cNvPr id="936" name="Google Shape;936;p39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39</a:t>
            </a:r>
            <a:endParaRPr/>
          </a:p>
        </p:txBody>
      </p:sp>
      <p:sp>
        <p:nvSpPr>
          <p:cNvPr id="937" name="Google Shape;937;p39"/>
          <p:cNvSpPr/>
          <p:nvPr/>
        </p:nvSpPr>
        <p:spPr>
          <a:xfrm>
            <a:off x="571500" y="1571625"/>
            <a:ext cx="295275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39"/>
          <p:cNvSpPr/>
          <p:nvPr/>
        </p:nvSpPr>
        <p:spPr>
          <a:xfrm>
            <a:off x="666750" y="1704975"/>
            <a:ext cx="2762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</a:rPr>
              <a:t>Workload</a:t>
            </a:r>
            <a:endParaRPr/>
          </a:p>
        </p:txBody>
      </p:sp>
      <p:sp>
        <p:nvSpPr>
          <p:cNvPr id="939" name="Google Shape;939;p39"/>
          <p:cNvSpPr/>
          <p:nvPr/>
        </p:nvSpPr>
        <p:spPr>
          <a:xfrm>
            <a:off x="3524250" y="1571625"/>
            <a:ext cx="390525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39"/>
          <p:cNvSpPr/>
          <p:nvPr/>
        </p:nvSpPr>
        <p:spPr>
          <a:xfrm>
            <a:off x="3619500" y="1704975"/>
            <a:ext cx="3714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</a:rPr>
              <a:t>Perché è difficile</a:t>
            </a:r>
            <a:endParaRPr/>
          </a:p>
        </p:txBody>
      </p:sp>
      <p:sp>
        <p:nvSpPr>
          <p:cNvPr id="941" name="Google Shape;941;p39"/>
          <p:cNvSpPr/>
          <p:nvPr/>
        </p:nvSpPr>
        <p:spPr>
          <a:xfrm>
            <a:off x="7429500" y="1571625"/>
            <a:ext cx="400050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39"/>
          <p:cNvSpPr/>
          <p:nvPr/>
        </p:nvSpPr>
        <p:spPr>
          <a:xfrm>
            <a:off x="7524750" y="1704975"/>
            <a:ext cx="3810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</a:rPr>
              <a:t>Alternativa / mitigazione</a:t>
            </a:r>
            <a:endParaRPr/>
          </a:p>
        </p:txBody>
      </p:sp>
      <p:sp>
        <p:nvSpPr>
          <p:cNvPr id="943" name="Google Shape;943;p39"/>
          <p:cNvSpPr/>
          <p:nvPr/>
        </p:nvSpPr>
        <p:spPr>
          <a:xfrm>
            <a:off x="571500" y="2066925"/>
            <a:ext cx="2952750" cy="7239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9"/>
          <p:cNvSpPr/>
          <p:nvPr/>
        </p:nvSpPr>
        <p:spPr>
          <a:xfrm>
            <a:off x="704850" y="2219325"/>
            <a:ext cx="26860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Migliaia di file minuscoli</a:t>
            </a:r>
            <a:endParaRPr/>
          </a:p>
        </p:txBody>
      </p:sp>
      <p:sp>
        <p:nvSpPr>
          <p:cNvPr id="945" name="Google Shape;945;p39"/>
          <p:cNvSpPr/>
          <p:nvPr/>
        </p:nvSpPr>
        <p:spPr>
          <a:xfrm>
            <a:off x="3524250" y="2066925"/>
            <a:ext cx="3905250" cy="7239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39"/>
          <p:cNvSpPr/>
          <p:nvPr/>
        </p:nvSpPr>
        <p:spPr>
          <a:xfrm>
            <a:off x="3657600" y="2219325"/>
            <a:ext cx="36385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metadata e overhead</a:t>
            </a:r>
            <a:endParaRPr/>
          </a:p>
        </p:txBody>
      </p:sp>
      <p:sp>
        <p:nvSpPr>
          <p:cNvPr id="947" name="Google Shape;947;p39"/>
          <p:cNvSpPr/>
          <p:nvPr/>
        </p:nvSpPr>
        <p:spPr>
          <a:xfrm>
            <a:off x="7429500" y="2066925"/>
            <a:ext cx="4000500" cy="7239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39"/>
          <p:cNvSpPr/>
          <p:nvPr/>
        </p:nvSpPr>
        <p:spPr>
          <a:xfrm>
            <a:off x="7562850" y="2219325"/>
            <a:ext cx="3733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compattare / formati container</a:t>
            </a:r>
            <a:endParaRPr/>
          </a:p>
        </p:txBody>
      </p:sp>
      <p:sp>
        <p:nvSpPr>
          <p:cNvPr id="949" name="Google Shape;949;p39"/>
          <p:cNvSpPr/>
          <p:nvPr/>
        </p:nvSpPr>
        <p:spPr>
          <a:xfrm>
            <a:off x="571500" y="2790825"/>
            <a:ext cx="2952750" cy="72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39"/>
          <p:cNvSpPr/>
          <p:nvPr/>
        </p:nvSpPr>
        <p:spPr>
          <a:xfrm>
            <a:off x="704850" y="2943225"/>
            <a:ext cx="26860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Lookup millisecondi</a:t>
            </a:r>
            <a:endParaRPr/>
          </a:p>
        </p:txBody>
      </p:sp>
      <p:sp>
        <p:nvSpPr>
          <p:cNvPr id="951" name="Google Shape;951;p39"/>
          <p:cNvSpPr/>
          <p:nvPr/>
        </p:nvSpPr>
        <p:spPr>
          <a:xfrm>
            <a:off x="3524250" y="2790825"/>
            <a:ext cx="3905250" cy="72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39"/>
          <p:cNvSpPr/>
          <p:nvPr/>
        </p:nvSpPr>
        <p:spPr>
          <a:xfrm>
            <a:off x="3657600" y="2943225"/>
            <a:ext cx="36385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HDFS privilegia throughput</a:t>
            </a:r>
            <a:endParaRPr/>
          </a:p>
        </p:txBody>
      </p:sp>
      <p:sp>
        <p:nvSpPr>
          <p:cNvPr id="953" name="Google Shape;953;p39"/>
          <p:cNvSpPr/>
          <p:nvPr/>
        </p:nvSpPr>
        <p:spPr>
          <a:xfrm>
            <a:off x="7429500" y="2790825"/>
            <a:ext cx="4000500" cy="72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9"/>
          <p:cNvSpPr/>
          <p:nvPr/>
        </p:nvSpPr>
        <p:spPr>
          <a:xfrm>
            <a:off x="7562850" y="2943225"/>
            <a:ext cx="3733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serving database</a:t>
            </a:r>
            <a:endParaRPr/>
          </a:p>
        </p:txBody>
      </p:sp>
      <p:sp>
        <p:nvSpPr>
          <p:cNvPr id="955" name="Google Shape;955;p39"/>
          <p:cNvSpPr/>
          <p:nvPr/>
        </p:nvSpPr>
        <p:spPr>
          <a:xfrm>
            <a:off x="571500" y="3514725"/>
            <a:ext cx="2952750" cy="7239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9"/>
          <p:cNvSpPr/>
          <p:nvPr/>
        </p:nvSpPr>
        <p:spPr>
          <a:xfrm>
            <a:off x="704850" y="3667125"/>
            <a:ext cx="26860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Update casuali frequenti</a:t>
            </a:r>
            <a:endParaRPr/>
          </a:p>
        </p:txBody>
      </p:sp>
      <p:sp>
        <p:nvSpPr>
          <p:cNvPr id="957" name="Google Shape;957;p39"/>
          <p:cNvSpPr/>
          <p:nvPr/>
        </p:nvSpPr>
        <p:spPr>
          <a:xfrm>
            <a:off x="3524250" y="3514725"/>
            <a:ext cx="3905250" cy="7239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9"/>
          <p:cNvSpPr/>
          <p:nvPr/>
        </p:nvSpPr>
        <p:spPr>
          <a:xfrm>
            <a:off x="3657600" y="3667125"/>
            <a:ext cx="36385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modello append/batch</a:t>
            </a:r>
            <a:endParaRPr/>
          </a:p>
        </p:txBody>
      </p:sp>
      <p:sp>
        <p:nvSpPr>
          <p:cNvPr id="959" name="Google Shape;959;p39"/>
          <p:cNvSpPr/>
          <p:nvPr/>
        </p:nvSpPr>
        <p:spPr>
          <a:xfrm>
            <a:off x="7429500" y="3514725"/>
            <a:ext cx="4000500" cy="7239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39"/>
          <p:cNvSpPr/>
          <p:nvPr/>
        </p:nvSpPr>
        <p:spPr>
          <a:xfrm>
            <a:off x="7562850" y="3667125"/>
            <a:ext cx="3733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database operativo</a:t>
            </a:r>
            <a:endParaRPr/>
          </a:p>
        </p:txBody>
      </p:sp>
      <p:sp>
        <p:nvSpPr>
          <p:cNvPr id="961" name="Google Shape;961;p39"/>
          <p:cNvSpPr/>
          <p:nvPr/>
        </p:nvSpPr>
        <p:spPr>
          <a:xfrm>
            <a:off x="571500" y="4238625"/>
            <a:ext cx="2952750" cy="72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39"/>
          <p:cNvSpPr/>
          <p:nvPr/>
        </p:nvSpPr>
        <p:spPr>
          <a:xfrm>
            <a:off x="704850" y="4391025"/>
            <a:ext cx="26860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Dataset piccolo</a:t>
            </a:r>
            <a:endParaRPr/>
          </a:p>
        </p:txBody>
      </p:sp>
      <p:sp>
        <p:nvSpPr>
          <p:cNvPr id="963" name="Google Shape;963;p39"/>
          <p:cNvSpPr/>
          <p:nvPr/>
        </p:nvSpPr>
        <p:spPr>
          <a:xfrm>
            <a:off x="3524250" y="4238625"/>
            <a:ext cx="3905250" cy="72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39"/>
          <p:cNvSpPr/>
          <p:nvPr/>
        </p:nvSpPr>
        <p:spPr>
          <a:xfrm>
            <a:off x="3657600" y="4391025"/>
            <a:ext cx="36385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overhead cluster</a:t>
            </a:r>
            <a:endParaRPr/>
          </a:p>
        </p:txBody>
      </p:sp>
      <p:sp>
        <p:nvSpPr>
          <p:cNvPr id="965" name="Google Shape;965;p39"/>
          <p:cNvSpPr/>
          <p:nvPr/>
        </p:nvSpPr>
        <p:spPr>
          <a:xfrm>
            <a:off x="7429500" y="4238625"/>
            <a:ext cx="4000500" cy="72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39"/>
          <p:cNvSpPr/>
          <p:nvPr/>
        </p:nvSpPr>
        <p:spPr>
          <a:xfrm>
            <a:off x="7562850" y="4391025"/>
            <a:ext cx="3733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singolo nodo / SQL</a:t>
            </a:r>
            <a:endParaRPr/>
          </a:p>
        </p:txBody>
      </p:sp>
      <p:sp>
        <p:nvSpPr>
          <p:cNvPr id="967" name="Google Shape;967;p39"/>
          <p:cNvSpPr/>
          <p:nvPr/>
        </p:nvSpPr>
        <p:spPr>
          <a:xfrm>
            <a:off x="571500" y="4962525"/>
            <a:ext cx="2952750" cy="7239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39"/>
          <p:cNvSpPr/>
          <p:nvPr/>
        </p:nvSpPr>
        <p:spPr>
          <a:xfrm>
            <a:off x="704850" y="5114925"/>
            <a:ext cx="26860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Molti job brevi</a:t>
            </a:r>
            <a:endParaRPr/>
          </a:p>
        </p:txBody>
      </p:sp>
      <p:sp>
        <p:nvSpPr>
          <p:cNvPr id="969" name="Google Shape;969;p39"/>
          <p:cNvSpPr/>
          <p:nvPr/>
        </p:nvSpPr>
        <p:spPr>
          <a:xfrm>
            <a:off x="3524250" y="4962525"/>
            <a:ext cx="3905250" cy="7239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39"/>
          <p:cNvSpPr/>
          <p:nvPr/>
        </p:nvSpPr>
        <p:spPr>
          <a:xfrm>
            <a:off x="3657600" y="5114925"/>
            <a:ext cx="36385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startup e scheduling</a:t>
            </a:r>
            <a:endParaRPr/>
          </a:p>
        </p:txBody>
      </p:sp>
      <p:sp>
        <p:nvSpPr>
          <p:cNvPr id="971" name="Google Shape;971;p39"/>
          <p:cNvSpPr/>
          <p:nvPr/>
        </p:nvSpPr>
        <p:spPr>
          <a:xfrm>
            <a:off x="7429500" y="4962525"/>
            <a:ext cx="4000500" cy="7239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39"/>
          <p:cNvSpPr/>
          <p:nvPr/>
        </p:nvSpPr>
        <p:spPr>
          <a:xfrm>
            <a:off x="7562850" y="5114925"/>
            <a:ext cx="3733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engine interattivo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40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MODERN DATA PLATFORM</a:t>
            </a:r>
            <a:endParaRPr/>
          </a:p>
        </p:txBody>
      </p:sp>
      <p:sp>
        <p:nvSpPr>
          <p:cNvPr id="979" name="Google Shape;979;p40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HDFS e object storage rispondono a contesti diversi</a:t>
            </a:r>
            <a:endParaRPr/>
          </a:p>
        </p:txBody>
      </p:sp>
      <p:sp>
        <p:nvSpPr>
          <p:cNvPr id="980" name="Google Shape;980;p40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40</a:t>
            </a:r>
            <a:endParaRPr/>
          </a:p>
        </p:txBody>
      </p:sp>
      <p:sp>
        <p:nvSpPr>
          <p:cNvPr id="981" name="Google Shape;981;p40"/>
          <p:cNvSpPr/>
          <p:nvPr/>
        </p:nvSpPr>
        <p:spPr>
          <a:xfrm>
            <a:off x="685800" y="1809750"/>
            <a:ext cx="5143500" cy="3429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40"/>
          <p:cNvSpPr/>
          <p:nvPr/>
        </p:nvSpPr>
        <p:spPr>
          <a:xfrm>
            <a:off x="6362700" y="1809750"/>
            <a:ext cx="5143500" cy="3429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40"/>
          <p:cNvSpPr/>
          <p:nvPr/>
        </p:nvSpPr>
        <p:spPr>
          <a:xfrm>
            <a:off x="685800" y="1809750"/>
            <a:ext cx="5143500" cy="76200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40"/>
          <p:cNvSpPr/>
          <p:nvPr/>
        </p:nvSpPr>
        <p:spPr>
          <a:xfrm>
            <a:off x="6362700" y="1809750"/>
            <a:ext cx="5143500" cy="76200"/>
          </a:xfrm>
          <a:prstGeom prst="rect">
            <a:avLst/>
          </a:prstGeom>
          <a:solidFill>
            <a:srgbClr val="27A36A"/>
          </a:solidFill>
          <a:ln cap="flat" cmpd="sng" w="9525">
            <a:solidFill>
              <a:srgbClr val="27A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40"/>
          <p:cNvSpPr/>
          <p:nvPr/>
        </p:nvSpPr>
        <p:spPr>
          <a:xfrm>
            <a:off x="1028700" y="2143125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HDFS</a:t>
            </a:r>
            <a:endParaRPr/>
          </a:p>
        </p:txBody>
      </p:sp>
      <p:sp>
        <p:nvSpPr>
          <p:cNvPr id="986" name="Google Shape;986;p40"/>
          <p:cNvSpPr/>
          <p:nvPr/>
        </p:nvSpPr>
        <p:spPr>
          <a:xfrm>
            <a:off x="1028700" y="2809875"/>
            <a:ext cx="433387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Blocchi distribuiti sui nodi del cluster, data locality e amministrazione dello storage.</a:t>
            </a:r>
            <a:endParaRPr/>
          </a:p>
        </p:txBody>
      </p:sp>
      <p:sp>
        <p:nvSpPr>
          <p:cNvPr id="987" name="Google Shape;987;p40"/>
          <p:cNvSpPr/>
          <p:nvPr/>
        </p:nvSpPr>
        <p:spPr>
          <a:xfrm>
            <a:off x="6705600" y="2143125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OBJECT STORAGE</a:t>
            </a:r>
            <a:endParaRPr/>
          </a:p>
        </p:txBody>
      </p:sp>
      <p:sp>
        <p:nvSpPr>
          <p:cNvPr id="988" name="Google Shape;988;p40"/>
          <p:cNvSpPr/>
          <p:nvPr/>
        </p:nvSpPr>
        <p:spPr>
          <a:xfrm>
            <a:off x="6705600" y="2809875"/>
            <a:ext cx="433387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Bucket e oggetti disaccoppiati dal compute; elasticità cloud e accesso tramite connector.</a:t>
            </a:r>
            <a:endParaRPr/>
          </a:p>
        </p:txBody>
      </p:sp>
      <p:sp>
        <p:nvSpPr>
          <p:cNvPr id="989" name="Google Shape;989;p40"/>
          <p:cNvSpPr/>
          <p:nvPr/>
        </p:nvSpPr>
        <p:spPr>
          <a:xfrm>
            <a:off x="2381250" y="5619750"/>
            <a:ext cx="7429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Hadoop supporta anche filesystem compatibili con cloud storage.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41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HADOOP NEL PERCORSO DEL CORSO</a:t>
            </a:r>
            <a:endParaRPr/>
          </a:p>
        </p:txBody>
      </p:sp>
      <p:sp>
        <p:nvSpPr>
          <p:cNvPr id="996" name="Google Shape;996;p41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Spark può usare risorse e storage dell’ecosistema</a:t>
            </a:r>
            <a:endParaRPr/>
          </a:p>
        </p:txBody>
      </p:sp>
      <p:sp>
        <p:nvSpPr>
          <p:cNvPr id="997" name="Google Shape;997;p41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41</a:t>
            </a:r>
            <a:endParaRPr/>
          </a:p>
        </p:txBody>
      </p:sp>
      <p:sp>
        <p:nvSpPr>
          <p:cNvPr id="998" name="Google Shape;998;p41"/>
          <p:cNvSpPr/>
          <p:nvPr/>
        </p:nvSpPr>
        <p:spPr>
          <a:xfrm>
            <a:off x="3048000" y="2552700"/>
            <a:ext cx="1238250" cy="38100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41"/>
          <p:cNvSpPr/>
          <p:nvPr/>
        </p:nvSpPr>
        <p:spPr>
          <a:xfrm>
            <a:off x="4133850" y="238125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00B8D9"/>
                </a:solidFill>
              </a:rPr>
              <a:t>›</a:t>
            </a:r>
            <a:endParaRPr/>
          </a:p>
        </p:txBody>
      </p:sp>
      <p:sp>
        <p:nvSpPr>
          <p:cNvPr id="1000" name="Google Shape;1000;p41"/>
          <p:cNvSpPr/>
          <p:nvPr/>
        </p:nvSpPr>
        <p:spPr>
          <a:xfrm>
            <a:off x="3048000" y="2209800"/>
            <a:ext cx="1238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B8D9"/>
                </a:solidFill>
              </a:rPr>
              <a:t>files</a:t>
            </a:r>
            <a:endParaRPr/>
          </a:p>
        </p:txBody>
      </p:sp>
      <p:sp>
        <p:nvSpPr>
          <p:cNvPr id="1001" name="Google Shape;1001;p41"/>
          <p:cNvSpPr/>
          <p:nvPr/>
        </p:nvSpPr>
        <p:spPr>
          <a:xfrm>
            <a:off x="7048500" y="2552700"/>
            <a:ext cx="1238250" cy="3810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41"/>
          <p:cNvSpPr/>
          <p:nvPr/>
        </p:nvSpPr>
        <p:spPr>
          <a:xfrm>
            <a:off x="8134350" y="238125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B7E34B"/>
                </a:solidFill>
              </a:rPr>
              <a:t>›</a:t>
            </a:r>
            <a:endParaRPr/>
          </a:p>
        </p:txBody>
      </p:sp>
      <p:sp>
        <p:nvSpPr>
          <p:cNvPr id="1003" name="Google Shape;1003;p41"/>
          <p:cNvSpPr/>
          <p:nvPr/>
        </p:nvSpPr>
        <p:spPr>
          <a:xfrm>
            <a:off x="7048500" y="2209800"/>
            <a:ext cx="1238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7E34B"/>
                </a:solidFill>
              </a:rPr>
              <a:t>resources</a:t>
            </a:r>
            <a:endParaRPr/>
          </a:p>
        </p:txBody>
      </p:sp>
      <p:sp>
        <p:nvSpPr>
          <p:cNvPr id="1004" name="Google Shape;1004;p41"/>
          <p:cNvSpPr/>
          <p:nvPr/>
        </p:nvSpPr>
        <p:spPr>
          <a:xfrm>
            <a:off x="762000" y="1952625"/>
            <a:ext cx="2286000" cy="1143000"/>
          </a:xfrm>
          <a:prstGeom prst="roundRect">
            <a:avLst>
              <a:gd fmla="val 6667" name="adj"/>
            </a:avLst>
          </a:prstGeom>
          <a:solidFill>
            <a:srgbClr val="0B1F33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41"/>
          <p:cNvSpPr/>
          <p:nvPr/>
        </p:nvSpPr>
        <p:spPr>
          <a:xfrm>
            <a:off x="914400" y="2143125"/>
            <a:ext cx="1981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HDFS / OBJECT STORE</a:t>
            </a:r>
            <a:endParaRPr/>
          </a:p>
        </p:txBody>
      </p:sp>
      <p:sp>
        <p:nvSpPr>
          <p:cNvPr id="1006" name="Google Shape;1006;p41"/>
          <p:cNvSpPr/>
          <p:nvPr/>
        </p:nvSpPr>
        <p:spPr>
          <a:xfrm>
            <a:off x="914400" y="25050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dataset</a:t>
            </a:r>
            <a:endParaRPr/>
          </a:p>
        </p:txBody>
      </p:sp>
      <p:sp>
        <p:nvSpPr>
          <p:cNvPr id="1007" name="Google Shape;1007;p41"/>
          <p:cNvSpPr/>
          <p:nvPr/>
        </p:nvSpPr>
        <p:spPr>
          <a:xfrm>
            <a:off x="4286250" y="1952625"/>
            <a:ext cx="2762250" cy="1143000"/>
          </a:xfrm>
          <a:prstGeom prst="roundRect">
            <a:avLst>
              <a:gd fmla="val 6667" name="adj"/>
            </a:avLst>
          </a:prstGeom>
          <a:solidFill>
            <a:srgbClr val="0B1F33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41"/>
          <p:cNvSpPr/>
          <p:nvPr/>
        </p:nvSpPr>
        <p:spPr>
          <a:xfrm>
            <a:off x="4438650" y="2143125"/>
            <a:ext cx="2457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SPARK / MAPREDUCE</a:t>
            </a:r>
            <a:endParaRPr/>
          </a:p>
        </p:txBody>
      </p:sp>
      <p:sp>
        <p:nvSpPr>
          <p:cNvPr id="1009" name="Google Shape;1009;p41"/>
          <p:cNvSpPr/>
          <p:nvPr/>
        </p:nvSpPr>
        <p:spPr>
          <a:xfrm>
            <a:off x="4438650" y="2505075"/>
            <a:ext cx="2457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processing engine</a:t>
            </a:r>
            <a:endParaRPr/>
          </a:p>
        </p:txBody>
      </p:sp>
      <p:sp>
        <p:nvSpPr>
          <p:cNvPr id="1010" name="Google Shape;1010;p41"/>
          <p:cNvSpPr/>
          <p:nvPr/>
        </p:nvSpPr>
        <p:spPr>
          <a:xfrm>
            <a:off x="8286750" y="1952625"/>
            <a:ext cx="2952750" cy="1143000"/>
          </a:xfrm>
          <a:prstGeom prst="roundRect">
            <a:avLst>
              <a:gd fmla="val 6667" name="adj"/>
            </a:avLst>
          </a:prstGeom>
          <a:solidFill>
            <a:srgbClr val="0B1F33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41"/>
          <p:cNvSpPr/>
          <p:nvPr/>
        </p:nvSpPr>
        <p:spPr>
          <a:xfrm>
            <a:off x="8439150" y="2143125"/>
            <a:ext cx="2647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YARN</a:t>
            </a:r>
            <a:endParaRPr/>
          </a:p>
        </p:txBody>
      </p:sp>
      <p:sp>
        <p:nvSpPr>
          <p:cNvPr id="1012" name="Google Shape;1012;p41"/>
          <p:cNvSpPr/>
          <p:nvPr/>
        </p:nvSpPr>
        <p:spPr>
          <a:xfrm>
            <a:off x="8439150" y="2505075"/>
            <a:ext cx="2647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cluster manager</a:t>
            </a:r>
            <a:endParaRPr/>
          </a:p>
        </p:txBody>
      </p:sp>
      <p:sp>
        <p:nvSpPr>
          <p:cNvPr id="1013" name="Google Shape;1013;p41"/>
          <p:cNvSpPr/>
          <p:nvPr/>
        </p:nvSpPr>
        <p:spPr>
          <a:xfrm>
            <a:off x="2000250" y="4238625"/>
            <a:ext cx="819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FFFFF"/>
                </a:solidFill>
              </a:rPr>
              <a:t>“Hadoop vs Spark” confonde storage, resource manager ed engine.</a:t>
            </a:r>
            <a:endParaRPr/>
          </a:p>
        </p:txBody>
      </p:sp>
      <p:sp>
        <p:nvSpPr>
          <p:cNvPr id="1014" name="Google Shape;1014;p41"/>
          <p:cNvSpPr/>
          <p:nvPr/>
        </p:nvSpPr>
        <p:spPr>
          <a:xfrm>
            <a:off x="4095750" y="5095875"/>
            <a:ext cx="4000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C8D4DE"/>
                </a:solidFill>
              </a:rPr>
              <a:t>Lezione 15: Spark e PySpark.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2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ARCHITECTURE FIT</a:t>
            </a:r>
            <a:endParaRPr/>
          </a:p>
        </p:txBody>
      </p:sp>
      <p:sp>
        <p:nvSpPr>
          <p:cNvPr id="1021" name="Google Shape;1021;p42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DATAFLIX assegna a Hadoop un compito preciso</a:t>
            </a:r>
            <a:endParaRPr/>
          </a:p>
        </p:txBody>
      </p:sp>
      <p:sp>
        <p:nvSpPr>
          <p:cNvPr id="1022" name="Google Shape;1022;p42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42</a:t>
            </a:r>
            <a:endParaRPr/>
          </a:p>
        </p:txBody>
      </p:sp>
      <p:sp>
        <p:nvSpPr>
          <p:cNvPr id="1023" name="Google Shape;1023;p42"/>
          <p:cNvSpPr/>
          <p:nvPr/>
        </p:nvSpPr>
        <p:spPr>
          <a:xfrm>
            <a:off x="666750" y="1619250"/>
            <a:ext cx="333375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42"/>
          <p:cNvSpPr/>
          <p:nvPr/>
        </p:nvSpPr>
        <p:spPr>
          <a:xfrm>
            <a:off x="762000" y="1752600"/>
            <a:ext cx="3143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</a:rPr>
              <a:t>Input</a:t>
            </a:r>
            <a:endParaRPr/>
          </a:p>
        </p:txBody>
      </p:sp>
      <p:sp>
        <p:nvSpPr>
          <p:cNvPr id="1025" name="Google Shape;1025;p42"/>
          <p:cNvSpPr/>
          <p:nvPr/>
        </p:nvSpPr>
        <p:spPr>
          <a:xfrm>
            <a:off x="4000500" y="1619250"/>
            <a:ext cx="409575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42"/>
          <p:cNvSpPr/>
          <p:nvPr/>
        </p:nvSpPr>
        <p:spPr>
          <a:xfrm>
            <a:off x="4095750" y="1752600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</a:rPr>
              <a:t>Elaborazione</a:t>
            </a:r>
            <a:endParaRPr/>
          </a:p>
        </p:txBody>
      </p:sp>
      <p:sp>
        <p:nvSpPr>
          <p:cNvPr id="1027" name="Google Shape;1027;p42"/>
          <p:cNvSpPr/>
          <p:nvPr/>
        </p:nvSpPr>
        <p:spPr>
          <a:xfrm>
            <a:off x="8096250" y="1619250"/>
            <a:ext cx="323850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42"/>
          <p:cNvSpPr/>
          <p:nvPr/>
        </p:nvSpPr>
        <p:spPr>
          <a:xfrm>
            <a:off x="8191500" y="1752600"/>
            <a:ext cx="3048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</a:rPr>
              <a:t>Output</a:t>
            </a:r>
            <a:endParaRPr/>
          </a:p>
        </p:txBody>
      </p:sp>
      <p:sp>
        <p:nvSpPr>
          <p:cNvPr id="1029" name="Google Shape;1029;p42"/>
          <p:cNvSpPr/>
          <p:nvPr/>
        </p:nvSpPr>
        <p:spPr>
          <a:xfrm>
            <a:off x="666750" y="2114550"/>
            <a:ext cx="3333750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42"/>
          <p:cNvSpPr/>
          <p:nvPr/>
        </p:nvSpPr>
        <p:spPr>
          <a:xfrm>
            <a:off x="800100" y="2266950"/>
            <a:ext cx="3067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Raw view events</a:t>
            </a:r>
            <a:endParaRPr/>
          </a:p>
        </p:txBody>
      </p:sp>
      <p:sp>
        <p:nvSpPr>
          <p:cNvPr id="1031" name="Google Shape;1031;p42"/>
          <p:cNvSpPr/>
          <p:nvPr/>
        </p:nvSpPr>
        <p:spPr>
          <a:xfrm>
            <a:off x="4000500" y="2114550"/>
            <a:ext cx="4095750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42"/>
          <p:cNvSpPr/>
          <p:nvPr/>
        </p:nvSpPr>
        <p:spPr>
          <a:xfrm>
            <a:off x="4133850" y="2266950"/>
            <a:ext cx="3829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conteggi e aggregazioni</a:t>
            </a:r>
            <a:endParaRPr/>
          </a:p>
        </p:txBody>
      </p:sp>
      <p:sp>
        <p:nvSpPr>
          <p:cNvPr id="1033" name="Google Shape;1033;p42"/>
          <p:cNvSpPr/>
          <p:nvPr/>
        </p:nvSpPr>
        <p:spPr>
          <a:xfrm>
            <a:off x="8096250" y="2114550"/>
            <a:ext cx="3238500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42"/>
          <p:cNvSpPr/>
          <p:nvPr/>
        </p:nvSpPr>
        <p:spPr>
          <a:xfrm>
            <a:off x="8229600" y="2266950"/>
            <a:ext cx="2971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top film</a:t>
            </a:r>
            <a:endParaRPr/>
          </a:p>
        </p:txBody>
      </p:sp>
      <p:sp>
        <p:nvSpPr>
          <p:cNvPr id="1035" name="Google Shape;1035;p42"/>
          <p:cNvSpPr/>
          <p:nvPr/>
        </p:nvSpPr>
        <p:spPr>
          <a:xfrm>
            <a:off x="666750" y="2819400"/>
            <a:ext cx="3333750" cy="704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42"/>
          <p:cNvSpPr/>
          <p:nvPr/>
        </p:nvSpPr>
        <p:spPr>
          <a:xfrm>
            <a:off x="800100" y="2971800"/>
            <a:ext cx="3067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HTTP logs</a:t>
            </a:r>
            <a:endParaRPr/>
          </a:p>
        </p:txBody>
      </p:sp>
      <p:sp>
        <p:nvSpPr>
          <p:cNvPr id="1037" name="Google Shape;1037;p42"/>
          <p:cNvSpPr/>
          <p:nvPr/>
        </p:nvSpPr>
        <p:spPr>
          <a:xfrm>
            <a:off x="4000500" y="2819400"/>
            <a:ext cx="4095750" cy="704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42"/>
          <p:cNvSpPr/>
          <p:nvPr/>
        </p:nvSpPr>
        <p:spPr>
          <a:xfrm>
            <a:off x="4133850" y="2971800"/>
            <a:ext cx="3829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pattern e status</a:t>
            </a:r>
            <a:endParaRPr/>
          </a:p>
        </p:txBody>
      </p:sp>
      <p:sp>
        <p:nvSpPr>
          <p:cNvPr id="1039" name="Google Shape;1039;p42"/>
          <p:cNvSpPr/>
          <p:nvPr/>
        </p:nvSpPr>
        <p:spPr>
          <a:xfrm>
            <a:off x="8096250" y="2819400"/>
            <a:ext cx="3238500" cy="704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42"/>
          <p:cNvSpPr/>
          <p:nvPr/>
        </p:nvSpPr>
        <p:spPr>
          <a:xfrm>
            <a:off x="8229600" y="2971800"/>
            <a:ext cx="2971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incident report</a:t>
            </a:r>
            <a:endParaRPr/>
          </a:p>
        </p:txBody>
      </p:sp>
      <p:sp>
        <p:nvSpPr>
          <p:cNvPr id="1041" name="Google Shape;1041;p42"/>
          <p:cNvSpPr/>
          <p:nvPr/>
        </p:nvSpPr>
        <p:spPr>
          <a:xfrm>
            <a:off x="666750" y="3524250"/>
            <a:ext cx="3333750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42"/>
          <p:cNvSpPr/>
          <p:nvPr/>
        </p:nvSpPr>
        <p:spPr>
          <a:xfrm>
            <a:off x="800100" y="3676650"/>
            <a:ext cx="3067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Playback telemetry</a:t>
            </a:r>
            <a:endParaRPr/>
          </a:p>
        </p:txBody>
      </p:sp>
      <p:sp>
        <p:nvSpPr>
          <p:cNvPr id="1043" name="Google Shape;1043;p42"/>
          <p:cNvSpPr/>
          <p:nvPr/>
        </p:nvSpPr>
        <p:spPr>
          <a:xfrm>
            <a:off x="4000500" y="3524250"/>
            <a:ext cx="4095750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42"/>
          <p:cNvSpPr/>
          <p:nvPr/>
        </p:nvSpPr>
        <p:spPr>
          <a:xfrm>
            <a:off x="4133850" y="3676650"/>
            <a:ext cx="3829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finestra e anomalie</a:t>
            </a:r>
            <a:endParaRPr/>
          </a:p>
        </p:txBody>
      </p:sp>
      <p:sp>
        <p:nvSpPr>
          <p:cNvPr id="1045" name="Google Shape;1045;p42"/>
          <p:cNvSpPr/>
          <p:nvPr/>
        </p:nvSpPr>
        <p:spPr>
          <a:xfrm>
            <a:off x="8096250" y="3524250"/>
            <a:ext cx="3238500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42"/>
          <p:cNvSpPr/>
          <p:nvPr/>
        </p:nvSpPr>
        <p:spPr>
          <a:xfrm>
            <a:off x="8229600" y="3676650"/>
            <a:ext cx="2971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quality metrics</a:t>
            </a:r>
            <a:endParaRPr/>
          </a:p>
        </p:txBody>
      </p:sp>
      <p:sp>
        <p:nvSpPr>
          <p:cNvPr id="1047" name="Google Shape;1047;p42"/>
          <p:cNvSpPr/>
          <p:nvPr/>
        </p:nvSpPr>
        <p:spPr>
          <a:xfrm>
            <a:off x="666750" y="4229100"/>
            <a:ext cx="3333750" cy="704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42"/>
          <p:cNvSpPr/>
          <p:nvPr/>
        </p:nvSpPr>
        <p:spPr>
          <a:xfrm>
            <a:off x="800100" y="4381500"/>
            <a:ext cx="3067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Catalog snapshots</a:t>
            </a:r>
            <a:endParaRPr/>
          </a:p>
        </p:txBody>
      </p:sp>
      <p:sp>
        <p:nvSpPr>
          <p:cNvPr id="1049" name="Google Shape;1049;p42"/>
          <p:cNvSpPr/>
          <p:nvPr/>
        </p:nvSpPr>
        <p:spPr>
          <a:xfrm>
            <a:off x="4000500" y="4229100"/>
            <a:ext cx="4095750" cy="704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42"/>
          <p:cNvSpPr/>
          <p:nvPr/>
        </p:nvSpPr>
        <p:spPr>
          <a:xfrm>
            <a:off x="4133850" y="4381500"/>
            <a:ext cx="3829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join e controllo</a:t>
            </a:r>
            <a:endParaRPr/>
          </a:p>
        </p:txBody>
      </p:sp>
      <p:sp>
        <p:nvSpPr>
          <p:cNvPr id="1051" name="Google Shape;1051;p42"/>
          <p:cNvSpPr/>
          <p:nvPr/>
        </p:nvSpPr>
        <p:spPr>
          <a:xfrm>
            <a:off x="8096250" y="4229100"/>
            <a:ext cx="3238500" cy="704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42"/>
          <p:cNvSpPr/>
          <p:nvPr/>
        </p:nvSpPr>
        <p:spPr>
          <a:xfrm>
            <a:off x="8229600" y="4381500"/>
            <a:ext cx="2971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data quality</a:t>
            </a:r>
            <a:endParaRPr/>
          </a:p>
        </p:txBody>
      </p:sp>
      <p:sp>
        <p:nvSpPr>
          <p:cNvPr id="1053" name="Google Shape;1053;p42"/>
          <p:cNvSpPr/>
          <p:nvPr/>
        </p:nvSpPr>
        <p:spPr>
          <a:xfrm>
            <a:off x="666750" y="4933950"/>
            <a:ext cx="3333750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42"/>
          <p:cNvSpPr/>
          <p:nvPr/>
        </p:nvSpPr>
        <p:spPr>
          <a:xfrm>
            <a:off x="800100" y="5086350"/>
            <a:ext cx="3067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Historical ratings</a:t>
            </a:r>
            <a:endParaRPr/>
          </a:p>
        </p:txBody>
      </p:sp>
      <p:sp>
        <p:nvSpPr>
          <p:cNvPr id="1055" name="Google Shape;1055;p42"/>
          <p:cNvSpPr/>
          <p:nvPr/>
        </p:nvSpPr>
        <p:spPr>
          <a:xfrm>
            <a:off x="4000500" y="4933950"/>
            <a:ext cx="4095750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42"/>
          <p:cNvSpPr/>
          <p:nvPr/>
        </p:nvSpPr>
        <p:spPr>
          <a:xfrm>
            <a:off x="4133850" y="5086350"/>
            <a:ext cx="3829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batch recommendation</a:t>
            </a:r>
            <a:endParaRPr/>
          </a:p>
        </p:txBody>
      </p:sp>
      <p:sp>
        <p:nvSpPr>
          <p:cNvPr id="1057" name="Google Shape;1057;p42"/>
          <p:cNvSpPr/>
          <p:nvPr/>
        </p:nvSpPr>
        <p:spPr>
          <a:xfrm>
            <a:off x="8096250" y="4933950"/>
            <a:ext cx="3238500" cy="7048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42"/>
          <p:cNvSpPr/>
          <p:nvPr/>
        </p:nvSpPr>
        <p:spPr>
          <a:xfrm>
            <a:off x="8229600" y="5086350"/>
            <a:ext cx="2971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candidate lists</a:t>
            </a:r>
            <a:endParaRPr/>
          </a:p>
        </p:txBody>
      </p:sp>
      <p:sp>
        <p:nvSpPr>
          <p:cNvPr id="1059" name="Google Shape;1059;p42"/>
          <p:cNvSpPr/>
          <p:nvPr/>
        </p:nvSpPr>
        <p:spPr>
          <a:xfrm>
            <a:off x="2000250" y="5619750"/>
            <a:ext cx="8191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EF5A5A"/>
                </a:solidFill>
              </a:rPr>
              <a:t>Hadoop elabora copie analitiche; non autorizza pagamenti o login.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43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MISSIONE • 95 MINUTI</a:t>
            </a:r>
            <a:endParaRPr/>
          </a:p>
        </p:txBody>
      </p:sp>
      <p:sp>
        <p:nvSpPr>
          <p:cNvPr id="1066" name="Google Shape;1066;p43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Laboratorio: rendere visibile un mini-cluster</a:t>
            </a:r>
            <a:endParaRPr/>
          </a:p>
        </p:txBody>
      </p:sp>
      <p:sp>
        <p:nvSpPr>
          <p:cNvPr id="1067" name="Google Shape;1067;p43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43</a:t>
            </a:r>
            <a:endParaRPr/>
          </a:p>
        </p:txBody>
      </p:sp>
      <p:sp>
        <p:nvSpPr>
          <p:cNvPr id="1068" name="Google Shape;1068;p43"/>
          <p:cNvSpPr/>
          <p:nvPr/>
        </p:nvSpPr>
        <p:spPr>
          <a:xfrm>
            <a:off x="685800" y="16668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43"/>
          <p:cNvSpPr/>
          <p:nvPr/>
        </p:nvSpPr>
        <p:spPr>
          <a:xfrm>
            <a:off x="685800" y="1666875"/>
            <a:ext cx="3238500" cy="85725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43"/>
          <p:cNvSpPr/>
          <p:nvPr/>
        </p:nvSpPr>
        <p:spPr>
          <a:xfrm>
            <a:off x="895350" y="18764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1 • START</a:t>
            </a:r>
            <a:endParaRPr/>
          </a:p>
        </p:txBody>
      </p:sp>
      <p:sp>
        <p:nvSpPr>
          <p:cNvPr id="1071" name="Google Shape;1071;p43"/>
          <p:cNvSpPr/>
          <p:nvPr/>
        </p:nvSpPr>
        <p:spPr>
          <a:xfrm>
            <a:off x="895350" y="2390775"/>
            <a:ext cx="2819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container + 4 daemon</a:t>
            </a:r>
            <a:endParaRPr/>
          </a:p>
        </p:txBody>
      </p:sp>
      <p:sp>
        <p:nvSpPr>
          <p:cNvPr id="1072" name="Google Shape;1072;p43"/>
          <p:cNvSpPr/>
          <p:nvPr/>
        </p:nvSpPr>
        <p:spPr>
          <a:xfrm>
            <a:off x="4305300" y="16668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43"/>
          <p:cNvSpPr/>
          <p:nvPr/>
        </p:nvSpPr>
        <p:spPr>
          <a:xfrm>
            <a:off x="4305300" y="1666875"/>
            <a:ext cx="3238500" cy="85725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43"/>
          <p:cNvSpPr/>
          <p:nvPr/>
        </p:nvSpPr>
        <p:spPr>
          <a:xfrm>
            <a:off x="4514850" y="18764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2 • PROVE</a:t>
            </a:r>
            <a:endParaRPr/>
          </a:p>
        </p:txBody>
      </p:sp>
      <p:sp>
        <p:nvSpPr>
          <p:cNvPr id="1075" name="Google Shape;1075;p43"/>
          <p:cNvSpPr/>
          <p:nvPr/>
        </p:nvSpPr>
        <p:spPr>
          <a:xfrm>
            <a:off x="4514850" y="2390775"/>
            <a:ext cx="2819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jps + report + UI</a:t>
            </a:r>
            <a:endParaRPr/>
          </a:p>
        </p:txBody>
      </p:sp>
      <p:sp>
        <p:nvSpPr>
          <p:cNvPr id="1076" name="Google Shape;1076;p43"/>
          <p:cNvSpPr/>
          <p:nvPr/>
        </p:nvSpPr>
        <p:spPr>
          <a:xfrm>
            <a:off x="7924800" y="16668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43"/>
          <p:cNvSpPr/>
          <p:nvPr/>
        </p:nvSpPr>
        <p:spPr>
          <a:xfrm>
            <a:off x="7924800" y="1666875"/>
            <a:ext cx="3238500" cy="85725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43"/>
          <p:cNvSpPr/>
          <p:nvPr/>
        </p:nvSpPr>
        <p:spPr>
          <a:xfrm>
            <a:off x="8134350" y="18764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3 • DATA</a:t>
            </a:r>
            <a:endParaRPr/>
          </a:p>
        </p:txBody>
      </p:sp>
      <p:sp>
        <p:nvSpPr>
          <p:cNvPr id="1079" name="Google Shape;1079;p43"/>
          <p:cNvSpPr/>
          <p:nvPr/>
        </p:nvSpPr>
        <p:spPr>
          <a:xfrm>
            <a:off x="8134350" y="2390775"/>
            <a:ext cx="2819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crea directory + upload</a:t>
            </a:r>
            <a:endParaRPr/>
          </a:p>
        </p:txBody>
      </p:sp>
      <p:sp>
        <p:nvSpPr>
          <p:cNvPr id="1080" name="Google Shape;1080;p43"/>
          <p:cNvSpPr/>
          <p:nvPr/>
        </p:nvSpPr>
        <p:spPr>
          <a:xfrm>
            <a:off x="685800" y="33813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43"/>
          <p:cNvSpPr/>
          <p:nvPr/>
        </p:nvSpPr>
        <p:spPr>
          <a:xfrm>
            <a:off x="685800" y="3381375"/>
            <a:ext cx="3238500" cy="85725"/>
          </a:xfrm>
          <a:prstGeom prst="rect">
            <a:avLst/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43"/>
          <p:cNvSpPr/>
          <p:nvPr/>
        </p:nvSpPr>
        <p:spPr>
          <a:xfrm>
            <a:off x="895350" y="35909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4 • JOB</a:t>
            </a:r>
            <a:endParaRPr/>
          </a:p>
        </p:txBody>
      </p:sp>
      <p:sp>
        <p:nvSpPr>
          <p:cNvPr id="1083" name="Google Shape;1083;p43"/>
          <p:cNvSpPr/>
          <p:nvPr/>
        </p:nvSpPr>
        <p:spPr>
          <a:xfrm>
            <a:off x="895350" y="4105275"/>
            <a:ext cx="2819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lancia esempio</a:t>
            </a:r>
            <a:endParaRPr/>
          </a:p>
        </p:txBody>
      </p:sp>
      <p:sp>
        <p:nvSpPr>
          <p:cNvPr id="1084" name="Google Shape;1084;p43"/>
          <p:cNvSpPr/>
          <p:nvPr/>
        </p:nvSpPr>
        <p:spPr>
          <a:xfrm>
            <a:off x="4305300" y="33813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43"/>
          <p:cNvSpPr/>
          <p:nvPr/>
        </p:nvSpPr>
        <p:spPr>
          <a:xfrm>
            <a:off x="4305300" y="3381375"/>
            <a:ext cx="3238500" cy="85725"/>
          </a:xfrm>
          <a:prstGeom prst="rect">
            <a:avLst/>
          </a:prstGeom>
          <a:solidFill>
            <a:srgbClr val="F4C84A"/>
          </a:solidFill>
          <a:ln cap="flat" cmpd="sng" w="9525">
            <a:solidFill>
              <a:srgbClr val="F4C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43"/>
          <p:cNvSpPr/>
          <p:nvPr/>
        </p:nvSpPr>
        <p:spPr>
          <a:xfrm>
            <a:off x="4514850" y="35909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5 • TRACE</a:t>
            </a:r>
            <a:endParaRPr/>
          </a:p>
        </p:txBody>
      </p:sp>
      <p:sp>
        <p:nvSpPr>
          <p:cNvPr id="1087" name="Google Shape;1087;p43"/>
          <p:cNvSpPr/>
          <p:nvPr/>
        </p:nvSpPr>
        <p:spPr>
          <a:xfrm>
            <a:off x="4514850" y="4105275"/>
            <a:ext cx="2819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segui application</a:t>
            </a:r>
            <a:endParaRPr/>
          </a:p>
        </p:txBody>
      </p:sp>
      <p:sp>
        <p:nvSpPr>
          <p:cNvPr id="1088" name="Google Shape;1088;p43"/>
          <p:cNvSpPr/>
          <p:nvPr/>
        </p:nvSpPr>
        <p:spPr>
          <a:xfrm>
            <a:off x="7924800" y="3381375"/>
            <a:ext cx="3238500" cy="1381125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43"/>
          <p:cNvSpPr/>
          <p:nvPr/>
        </p:nvSpPr>
        <p:spPr>
          <a:xfrm>
            <a:off x="7924800" y="3381375"/>
            <a:ext cx="3238500" cy="85725"/>
          </a:xfrm>
          <a:prstGeom prst="rect">
            <a:avLst/>
          </a:prstGeom>
          <a:solidFill>
            <a:srgbClr val="EF5A5A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43"/>
          <p:cNvSpPr/>
          <p:nvPr/>
        </p:nvSpPr>
        <p:spPr>
          <a:xfrm>
            <a:off x="8134350" y="35909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6 • STOP</a:t>
            </a:r>
            <a:endParaRPr/>
          </a:p>
        </p:txBody>
      </p:sp>
      <p:sp>
        <p:nvSpPr>
          <p:cNvPr id="1091" name="Google Shape;1091;p43"/>
          <p:cNvSpPr/>
          <p:nvPr/>
        </p:nvSpPr>
        <p:spPr>
          <a:xfrm>
            <a:off x="8134350" y="4105275"/>
            <a:ext cx="2819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daemon + cleanup</a:t>
            </a:r>
            <a:endParaRPr/>
          </a:p>
        </p:txBody>
      </p:sp>
      <p:sp>
        <p:nvSpPr>
          <p:cNvPr id="1092" name="Google Shape;1092;p43"/>
          <p:cNvSpPr/>
          <p:nvPr/>
        </p:nvSpPr>
        <p:spPr>
          <a:xfrm>
            <a:off x="2571750" y="5429250"/>
            <a:ext cx="7048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</a:rPr>
              <a:t>Modalità pseudo-distribuita • dati sintetici • localhost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44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EVIDENZE, NON IMPRESSIONI</a:t>
            </a:r>
            <a:endParaRPr/>
          </a:p>
        </p:txBody>
      </p:sp>
      <p:sp>
        <p:nvSpPr>
          <p:cNvPr id="1099" name="Google Shape;1099;p44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Il laboratorio supera sei checkpoint</a:t>
            </a:r>
            <a:endParaRPr/>
          </a:p>
        </p:txBody>
      </p:sp>
      <p:sp>
        <p:nvSpPr>
          <p:cNvPr id="1100" name="Google Shape;1100;p44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44</a:t>
            </a:r>
            <a:endParaRPr/>
          </a:p>
        </p:txBody>
      </p:sp>
      <p:sp>
        <p:nvSpPr>
          <p:cNvPr id="1101" name="Google Shape;1101;p44"/>
          <p:cNvSpPr/>
          <p:nvPr/>
        </p:nvSpPr>
        <p:spPr>
          <a:xfrm>
            <a:off x="1047750" y="1571625"/>
            <a:ext cx="10096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1. Quattro daemon visibili con jps</a:t>
            </a:r>
            <a:endParaRPr/>
          </a:p>
        </p:txBody>
      </p:sp>
      <p:sp>
        <p:nvSpPr>
          <p:cNvPr id="1102" name="Google Shape;1102;p44"/>
          <p:cNvSpPr/>
          <p:nvPr/>
        </p:nvSpPr>
        <p:spPr>
          <a:xfrm>
            <a:off x="1047750" y="2238375"/>
            <a:ext cx="10096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2. NameNode UI raggiungibile su 9870</a:t>
            </a:r>
            <a:endParaRPr/>
          </a:p>
        </p:txBody>
      </p:sp>
      <p:sp>
        <p:nvSpPr>
          <p:cNvPr id="1103" name="Google Shape;1103;p44"/>
          <p:cNvSpPr/>
          <p:nvPr/>
        </p:nvSpPr>
        <p:spPr>
          <a:xfrm>
            <a:off x="1047750" y="2905125"/>
            <a:ext cx="10096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3. ResourceManager UI su 8088</a:t>
            </a:r>
            <a:endParaRPr/>
          </a:p>
        </p:txBody>
      </p:sp>
      <p:sp>
        <p:nvSpPr>
          <p:cNvPr id="1104" name="Google Shape;1104;p44"/>
          <p:cNvSpPr/>
          <p:nvPr/>
        </p:nvSpPr>
        <p:spPr>
          <a:xfrm>
            <a:off x="1047750" y="3571875"/>
            <a:ext cx="10096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4. hdfs dfsadmin -report mostra il DataNode</a:t>
            </a:r>
            <a:endParaRPr/>
          </a:p>
        </p:txBody>
      </p:sp>
      <p:sp>
        <p:nvSpPr>
          <p:cNvPr id="1105" name="Google Shape;1105;p44"/>
          <p:cNvSpPr/>
          <p:nvPr/>
        </p:nvSpPr>
        <p:spPr>
          <a:xfrm>
            <a:off x="1047750" y="4238625"/>
            <a:ext cx="10096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11827"/>
                </a:solidFill>
              </a:rPr>
              <a:t>5. yarn node -list mostra il NodeManager</a:t>
            </a:r>
            <a:endParaRPr/>
          </a:p>
        </p:txBody>
      </p:sp>
      <p:sp>
        <p:nvSpPr>
          <p:cNvPr id="1106" name="Google Shape;1106;p44"/>
          <p:cNvSpPr/>
          <p:nvPr/>
        </p:nvSpPr>
        <p:spPr>
          <a:xfrm>
            <a:off x="1047750" y="4905375"/>
            <a:ext cx="10096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6. Job FINISHED e output leggibile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45"/>
          <p:cNvSpPr/>
          <p:nvPr/>
        </p:nvSpPr>
        <p:spPr>
          <a:xfrm>
            <a:off x="685800" y="361950"/>
            <a:ext cx="885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DATAFLIX • IL PROBLEMA DISTRIBUITO</a:t>
            </a:r>
            <a:endParaRPr/>
          </a:p>
        </p:txBody>
      </p:sp>
      <p:sp>
        <p:nvSpPr>
          <p:cNvPr id="1113" name="Google Shape;1113;p45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Il prossimo livello</a:t>
            </a:r>
            <a:endParaRPr/>
          </a:p>
        </p:txBody>
      </p:sp>
      <p:sp>
        <p:nvSpPr>
          <p:cNvPr id="1114" name="Google Shape;1114;p45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45</a:t>
            </a:r>
            <a:endParaRPr/>
          </a:p>
        </p:txBody>
      </p:sp>
      <p:sp>
        <p:nvSpPr>
          <p:cNvPr id="1115" name="Google Shape;1115;p45"/>
          <p:cNvSpPr/>
          <p:nvPr/>
        </p:nvSpPr>
        <p:spPr>
          <a:xfrm>
            <a:off x="742950" y="1714500"/>
            <a:ext cx="857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0">
                <a:solidFill>
                  <a:srgbClr val="B7E34B"/>
                </a:solidFill>
              </a:rPr>
              <a:t>“</a:t>
            </a:r>
            <a:endParaRPr/>
          </a:p>
        </p:txBody>
      </p:sp>
      <p:sp>
        <p:nvSpPr>
          <p:cNvPr id="1116" name="Google Shape;1116;p45"/>
          <p:cNvSpPr/>
          <p:nvPr/>
        </p:nvSpPr>
        <p:spPr>
          <a:xfrm>
            <a:off x="1676400" y="1952625"/>
            <a:ext cx="90487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FFFFFF"/>
                </a:solidFill>
              </a:rPr>
              <a:t>Oggi abbiamo visto il cluster. Ora apriamo HDFS e seguiamo un file: blocchi, replica, lettura, scrittura e morte di un DataNode.</a:t>
            </a:r>
            <a:endParaRPr/>
          </a:p>
        </p:txBody>
      </p:sp>
      <p:sp>
        <p:nvSpPr>
          <p:cNvPr id="1117" name="Google Shape;1117;p45"/>
          <p:cNvSpPr/>
          <p:nvPr/>
        </p:nvSpPr>
        <p:spPr>
          <a:xfrm>
            <a:off x="1676400" y="4762500"/>
            <a:ext cx="3048000" cy="7620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45"/>
          <p:cNvSpPr/>
          <p:nvPr/>
        </p:nvSpPr>
        <p:spPr>
          <a:xfrm>
            <a:off x="1676400" y="5095875"/>
            <a:ext cx="6858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B0BF"/>
                </a:solidFill>
              </a:rPr>
              <a:t>PROSSIMA LEZIONE • HDFS E KILL THE NODE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