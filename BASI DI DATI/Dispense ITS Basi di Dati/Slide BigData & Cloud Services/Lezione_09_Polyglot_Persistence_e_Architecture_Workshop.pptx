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2e51c28b534146" /><Relationship Type="http://schemas.openxmlformats.org/officeDocument/2006/relationships/extended-properties" Target="/docProps/app.xml" Id="Rd14f43b72d17464f" /><Relationship Type="http://schemas.openxmlformats.org/officeDocument/2006/relationships/officeDocument" Target="/ppt/presentation.xml" Id="Rdd1f0bd824964311" /></Relationships>
</file>

<file path=ppt/presentation.xml><?xml version="1.0" encoding="utf-8"?>
<p:presentation xmlns:p="http://schemas.openxmlformats.org/presentationml/2006/main">
  <p:sldMasterIdLst>
    <p:sldMasterId xmlns:r="http://schemas.openxmlformats.org/officeDocument/2006/relationships" id="2147483648" r:id="Re53f81fad63f4ff6"/>
  </p:sldMasterIdLst>
  <p:notesMasterIdLst>
    <p:notesMasterId xmlns:r="http://schemas.openxmlformats.org/officeDocument/2006/relationships" r:id="R91ec843b38d2482a"/>
  </p:notesMasterIdLst>
  <p:sldIdLst>
    <p:sldId xmlns:r="http://schemas.openxmlformats.org/officeDocument/2006/relationships" id="256" r:id="R3fdeb87cfa174500"/>
    <p:sldId xmlns:r="http://schemas.openxmlformats.org/officeDocument/2006/relationships" id="257" r:id="R57eef85046d04064"/>
    <p:sldId xmlns:r="http://schemas.openxmlformats.org/officeDocument/2006/relationships" id="258" r:id="R9c35861ce1624771"/>
    <p:sldId xmlns:r="http://schemas.openxmlformats.org/officeDocument/2006/relationships" id="259" r:id="R78a88552574a4e5b"/>
    <p:sldId xmlns:r="http://schemas.openxmlformats.org/officeDocument/2006/relationships" id="260" r:id="Rba5224ef20aa40aa"/>
    <p:sldId xmlns:r="http://schemas.openxmlformats.org/officeDocument/2006/relationships" id="261" r:id="Rb87d3657abc84968"/>
    <p:sldId xmlns:r="http://schemas.openxmlformats.org/officeDocument/2006/relationships" id="262" r:id="R2535972a85cc48fa"/>
    <p:sldId xmlns:r="http://schemas.openxmlformats.org/officeDocument/2006/relationships" id="263" r:id="R97e6c1f123074479"/>
    <p:sldId xmlns:r="http://schemas.openxmlformats.org/officeDocument/2006/relationships" id="264" r:id="R7aaa5f94cc5f4db1"/>
    <p:sldId xmlns:r="http://schemas.openxmlformats.org/officeDocument/2006/relationships" id="265" r:id="Rec2381838fcd463a"/>
    <p:sldId xmlns:r="http://schemas.openxmlformats.org/officeDocument/2006/relationships" id="266" r:id="R5d2be2a109a44783"/>
    <p:sldId xmlns:r="http://schemas.openxmlformats.org/officeDocument/2006/relationships" id="267" r:id="R37c8783ad9594269"/>
    <p:sldId xmlns:r="http://schemas.openxmlformats.org/officeDocument/2006/relationships" id="268" r:id="R3783e816d41d4e1e"/>
    <p:sldId xmlns:r="http://schemas.openxmlformats.org/officeDocument/2006/relationships" id="269" r:id="R37aa05f17db64c84"/>
    <p:sldId xmlns:r="http://schemas.openxmlformats.org/officeDocument/2006/relationships" id="270" r:id="R3a82585d095b4a36"/>
    <p:sldId xmlns:r="http://schemas.openxmlformats.org/officeDocument/2006/relationships" id="271" r:id="R2560b0a9d8644ce0"/>
    <p:sldId xmlns:r="http://schemas.openxmlformats.org/officeDocument/2006/relationships" id="272" r:id="R42010ddef5024861"/>
    <p:sldId xmlns:r="http://schemas.openxmlformats.org/officeDocument/2006/relationships" id="273" r:id="Ra4d4fe58c39c4f44"/>
    <p:sldId xmlns:r="http://schemas.openxmlformats.org/officeDocument/2006/relationships" id="274" r:id="R6b4034c70a5743df"/>
    <p:sldId xmlns:r="http://schemas.openxmlformats.org/officeDocument/2006/relationships" id="275" r:id="R1c36945b00eb499c"/>
    <p:sldId xmlns:r="http://schemas.openxmlformats.org/officeDocument/2006/relationships" id="276" r:id="R9dc1c73319f34d10"/>
    <p:sldId xmlns:r="http://schemas.openxmlformats.org/officeDocument/2006/relationships" id="277" r:id="R1dd2eca436e947bc"/>
    <p:sldId xmlns:r="http://schemas.openxmlformats.org/officeDocument/2006/relationships" id="278" r:id="R6cbe0123e3094cae"/>
    <p:sldId xmlns:r="http://schemas.openxmlformats.org/officeDocument/2006/relationships" id="279" r:id="R1eeda28c18f34e56"/>
    <p:sldId xmlns:r="http://schemas.openxmlformats.org/officeDocument/2006/relationships" id="280" r:id="R3ce84073abea4ec2"/>
    <p:sldId xmlns:r="http://schemas.openxmlformats.org/officeDocument/2006/relationships" id="281" r:id="Rcb640af4dc4b4a53"/>
    <p:sldId xmlns:r="http://schemas.openxmlformats.org/officeDocument/2006/relationships" id="282" r:id="R1b3fb93963984ac0"/>
    <p:sldId xmlns:r="http://schemas.openxmlformats.org/officeDocument/2006/relationships" id="283" r:id="R0eb0964d70f3489d"/>
    <p:sldId xmlns:r="http://schemas.openxmlformats.org/officeDocument/2006/relationships" id="284" r:id="R5d81a1ac65554202"/>
    <p:sldId xmlns:r="http://schemas.openxmlformats.org/officeDocument/2006/relationships" id="285" r:id="Reb72e263f0154d34"/>
    <p:sldId xmlns:r="http://schemas.openxmlformats.org/officeDocument/2006/relationships" id="286" r:id="R102fb06629bb49b4"/>
    <p:sldId xmlns:r="http://schemas.openxmlformats.org/officeDocument/2006/relationships" id="287" r:id="Ra900c9b2e1384c25"/>
    <p:sldId xmlns:r="http://schemas.openxmlformats.org/officeDocument/2006/relationships" id="288" r:id="R5ccdaa01fdf947bb"/>
    <p:sldId xmlns:r="http://schemas.openxmlformats.org/officeDocument/2006/relationships" id="289" r:id="R45fab7d874584535"/>
    <p:sldId xmlns:r="http://schemas.openxmlformats.org/officeDocument/2006/relationships" id="290" r:id="Rbfb2c667ab12487c"/>
    <p:sldId xmlns:r="http://schemas.openxmlformats.org/officeDocument/2006/relationships" id="291" r:id="R8551162cb2984786"/>
    <p:sldId xmlns:r="http://schemas.openxmlformats.org/officeDocument/2006/relationships" id="292" r:id="R63a55d2fbc914c12"/>
    <p:sldId xmlns:r="http://schemas.openxmlformats.org/officeDocument/2006/relationships" id="293" r:id="R69b08c3551744b62"/>
    <p:sldId xmlns:r="http://schemas.openxmlformats.org/officeDocument/2006/relationships" id="294" r:id="Rffb234d670c342ae"/>
    <p:sldId xmlns:r="http://schemas.openxmlformats.org/officeDocument/2006/relationships" id="295" r:id="R4ed1b2d8dae8430e"/>
    <p:sldId xmlns:r="http://schemas.openxmlformats.org/officeDocument/2006/relationships" id="296" r:id="R0d3568f65b2949ae"/>
    <p:sldId xmlns:r="http://schemas.openxmlformats.org/officeDocument/2006/relationships" id="297" r:id="Rf322968060c94838"/>
    <p:sldId xmlns:r="http://schemas.openxmlformats.org/officeDocument/2006/relationships" id="298" r:id="R42dc22c5363143f6"/>
    <p:sldId xmlns:r="http://schemas.openxmlformats.org/officeDocument/2006/relationships" id="299" r:id="R7832a9dd843848d5"/>
    <p:sldId xmlns:r="http://schemas.openxmlformats.org/officeDocument/2006/relationships" id="300" r:id="Ra90350479ea543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cd125007074750" /><Relationship Type="http://schemas.openxmlformats.org/officeDocument/2006/relationships/slideMaster" Target="/ppt/slideMasters/slideMaster1.xml" Id="Re53f81fad63f4ff6" /><Relationship Type="http://schemas.openxmlformats.org/officeDocument/2006/relationships/notesMaster" Target="/ppt/notesMasters/notesMaster1.xml" Id="R91ec843b38d2482a" /><Relationship Type="http://schemas.openxmlformats.org/officeDocument/2006/relationships/presProps" Target="/ppt/presProps.xml" Id="Re19ee356cd6d4ac5" /><Relationship Type="http://schemas.openxmlformats.org/officeDocument/2006/relationships/tableStyles" Target="/ppt/tableStyles.xml" Id="R4348bc4c13f24b58" /><Relationship Type="http://schemas.openxmlformats.org/officeDocument/2006/relationships/slide" Target="/ppt/slides/slide1.xml" Id="R3fdeb87cfa174500" /><Relationship Type="http://schemas.openxmlformats.org/officeDocument/2006/relationships/slide" Target="/ppt/slides/slide2.xml" Id="R57eef85046d04064" /><Relationship Type="http://schemas.openxmlformats.org/officeDocument/2006/relationships/slide" Target="/ppt/slides/slide3.xml" Id="R9c35861ce1624771" /><Relationship Type="http://schemas.openxmlformats.org/officeDocument/2006/relationships/slide" Target="/ppt/slides/slide4.xml" Id="R78a88552574a4e5b" /><Relationship Type="http://schemas.openxmlformats.org/officeDocument/2006/relationships/slide" Target="/ppt/slides/slide5.xml" Id="Rba5224ef20aa40aa" /><Relationship Type="http://schemas.openxmlformats.org/officeDocument/2006/relationships/slide" Target="/ppt/slides/slide6.xml" Id="Rb87d3657abc84968" /><Relationship Type="http://schemas.openxmlformats.org/officeDocument/2006/relationships/slide" Target="/ppt/slides/slide7.xml" Id="R2535972a85cc48fa" /><Relationship Type="http://schemas.openxmlformats.org/officeDocument/2006/relationships/slide" Target="/ppt/slides/slide8.xml" Id="R97e6c1f123074479" /><Relationship Type="http://schemas.openxmlformats.org/officeDocument/2006/relationships/slide" Target="/ppt/slides/slide9.xml" Id="R7aaa5f94cc5f4db1" /><Relationship Type="http://schemas.openxmlformats.org/officeDocument/2006/relationships/slide" Target="/ppt/slides/slide10.xml" Id="Rec2381838fcd463a" /><Relationship Type="http://schemas.openxmlformats.org/officeDocument/2006/relationships/slide" Target="/ppt/slides/slide11.xml" Id="R5d2be2a109a44783" /><Relationship Type="http://schemas.openxmlformats.org/officeDocument/2006/relationships/slide" Target="/ppt/slides/slide12.xml" Id="R37c8783ad9594269" /><Relationship Type="http://schemas.openxmlformats.org/officeDocument/2006/relationships/slide" Target="/ppt/slides/slide13.xml" Id="R3783e816d41d4e1e" /><Relationship Type="http://schemas.openxmlformats.org/officeDocument/2006/relationships/slide" Target="/ppt/slides/slide14.xml" Id="R37aa05f17db64c84" /><Relationship Type="http://schemas.openxmlformats.org/officeDocument/2006/relationships/slide" Target="/ppt/slides/slide15.xml" Id="R3a82585d095b4a36" /><Relationship Type="http://schemas.openxmlformats.org/officeDocument/2006/relationships/slide" Target="/ppt/slides/slide16.xml" Id="R2560b0a9d8644ce0" /><Relationship Type="http://schemas.openxmlformats.org/officeDocument/2006/relationships/slide" Target="/ppt/slides/slide17.xml" Id="R42010ddef5024861" /><Relationship Type="http://schemas.openxmlformats.org/officeDocument/2006/relationships/slide" Target="/ppt/slides/slide18.xml" Id="Ra4d4fe58c39c4f44" /><Relationship Type="http://schemas.openxmlformats.org/officeDocument/2006/relationships/slide" Target="/ppt/slides/slide19.xml" Id="R6b4034c70a5743df" /><Relationship Type="http://schemas.openxmlformats.org/officeDocument/2006/relationships/slide" Target="/ppt/slides/slide20.xml" Id="R1c36945b00eb499c" /><Relationship Type="http://schemas.openxmlformats.org/officeDocument/2006/relationships/slide" Target="/ppt/slides/slide21.xml" Id="R9dc1c73319f34d10" /><Relationship Type="http://schemas.openxmlformats.org/officeDocument/2006/relationships/slide" Target="/ppt/slides/slide22.xml" Id="R1dd2eca436e947bc" /><Relationship Type="http://schemas.openxmlformats.org/officeDocument/2006/relationships/slide" Target="/ppt/slides/slide23.xml" Id="R6cbe0123e3094cae" /><Relationship Type="http://schemas.openxmlformats.org/officeDocument/2006/relationships/slide" Target="/ppt/slides/slide24.xml" Id="R1eeda28c18f34e56" /><Relationship Type="http://schemas.openxmlformats.org/officeDocument/2006/relationships/slide" Target="/ppt/slides/slide25.xml" Id="R3ce84073abea4ec2" /><Relationship Type="http://schemas.openxmlformats.org/officeDocument/2006/relationships/slide" Target="/ppt/slides/slide26.xml" Id="Rcb640af4dc4b4a53" /><Relationship Type="http://schemas.openxmlformats.org/officeDocument/2006/relationships/slide" Target="/ppt/slides/slide27.xml" Id="R1b3fb93963984ac0" /><Relationship Type="http://schemas.openxmlformats.org/officeDocument/2006/relationships/slide" Target="/ppt/slides/slide28.xml" Id="R0eb0964d70f3489d" /><Relationship Type="http://schemas.openxmlformats.org/officeDocument/2006/relationships/slide" Target="/ppt/slides/slide29.xml" Id="R5d81a1ac65554202" /><Relationship Type="http://schemas.openxmlformats.org/officeDocument/2006/relationships/slide" Target="/ppt/slides/slide30.xml" Id="Reb72e263f0154d34" /><Relationship Type="http://schemas.openxmlformats.org/officeDocument/2006/relationships/slide" Target="/ppt/slides/slide31.xml" Id="R102fb06629bb49b4" /><Relationship Type="http://schemas.openxmlformats.org/officeDocument/2006/relationships/slide" Target="/ppt/slides/slide32.xml" Id="Ra900c9b2e1384c25" /><Relationship Type="http://schemas.openxmlformats.org/officeDocument/2006/relationships/slide" Target="/ppt/slides/slide33.xml" Id="R5ccdaa01fdf947bb" /><Relationship Type="http://schemas.openxmlformats.org/officeDocument/2006/relationships/slide" Target="/ppt/slides/slide34.xml" Id="R45fab7d874584535" /><Relationship Type="http://schemas.openxmlformats.org/officeDocument/2006/relationships/slide" Target="/ppt/slides/slide35.xml" Id="Rbfb2c667ab12487c" /><Relationship Type="http://schemas.openxmlformats.org/officeDocument/2006/relationships/slide" Target="/ppt/slides/slide36.xml" Id="R8551162cb2984786" /><Relationship Type="http://schemas.openxmlformats.org/officeDocument/2006/relationships/slide" Target="/ppt/slides/slide37.xml" Id="R63a55d2fbc914c12" /><Relationship Type="http://schemas.openxmlformats.org/officeDocument/2006/relationships/slide" Target="/ppt/slides/slide38.xml" Id="R69b08c3551744b62" /><Relationship Type="http://schemas.openxmlformats.org/officeDocument/2006/relationships/slide" Target="/ppt/slides/slide39.xml" Id="Rffb234d670c342ae" /><Relationship Type="http://schemas.openxmlformats.org/officeDocument/2006/relationships/slide" Target="/ppt/slides/slide40.xml" Id="R4ed1b2d8dae8430e" /><Relationship Type="http://schemas.openxmlformats.org/officeDocument/2006/relationships/slide" Target="/ppt/slides/slide41.xml" Id="R0d3568f65b2949ae" /><Relationship Type="http://schemas.openxmlformats.org/officeDocument/2006/relationships/slide" Target="/ppt/slides/slide42.xml" Id="Rf322968060c94838" /><Relationship Type="http://schemas.openxmlformats.org/officeDocument/2006/relationships/slide" Target="/ppt/slides/slide43.xml" Id="R42dc22c5363143f6" /><Relationship Type="http://schemas.openxmlformats.org/officeDocument/2006/relationships/slide" Target="/ppt/slides/slide44.xml" Id="R7832a9dd843848d5" /><Relationship Type="http://schemas.openxmlformats.org/officeDocument/2006/relationships/slide" Target="/ppt/slides/slide45.xml" Id="Ra90350479ea543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7692f0a8d243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2a1be5de38428b" /><Relationship Type="http://schemas.openxmlformats.org/officeDocument/2006/relationships/notesMaster" Target="/ppt/notesMasters/notesMaster1.xml" Id="R8d22c67be7d345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bc599d5c4a4d3d" /><Relationship Type="http://schemas.openxmlformats.org/officeDocument/2006/relationships/notesMaster" Target="/ppt/notesMasters/notesMaster1.xml" Id="R20f50ceb483047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55191d5b3e474b" /><Relationship Type="http://schemas.openxmlformats.org/officeDocument/2006/relationships/notesMaster" Target="/ppt/notesMasters/notesMaster1.xml" Id="Rae3b8a6c25934d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40d94b8ac44c0a" /><Relationship Type="http://schemas.openxmlformats.org/officeDocument/2006/relationships/notesMaster" Target="/ppt/notesMasters/notesMaster1.xml" Id="R1b2ca2fd03e043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ca135eeab74371" /><Relationship Type="http://schemas.openxmlformats.org/officeDocument/2006/relationships/notesMaster" Target="/ppt/notesMasters/notesMaster1.xml" Id="Ra7b9b99235bf46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a93a44238943e0" /><Relationship Type="http://schemas.openxmlformats.org/officeDocument/2006/relationships/notesMaster" Target="/ppt/notesMasters/notesMaster1.xml" Id="R4de5be3312734e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b80e684d58407a" /><Relationship Type="http://schemas.openxmlformats.org/officeDocument/2006/relationships/notesMaster" Target="/ppt/notesMasters/notesMaster1.xml" Id="R138d7e93604c4e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44f310cf0840c1" /><Relationship Type="http://schemas.openxmlformats.org/officeDocument/2006/relationships/notesMaster" Target="/ppt/notesMasters/notesMaster1.xml" Id="Rfca1b791fbee48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42f97b7d274bf0" /><Relationship Type="http://schemas.openxmlformats.org/officeDocument/2006/relationships/notesMaster" Target="/ppt/notesMasters/notesMaster1.xml" Id="R7b914734ec1649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b9210909e546d1" /><Relationship Type="http://schemas.openxmlformats.org/officeDocument/2006/relationships/notesMaster" Target="/ppt/notesMasters/notesMaster1.xml" Id="R01ad708fa98940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f083eddf9a4522" /><Relationship Type="http://schemas.openxmlformats.org/officeDocument/2006/relationships/notesMaster" Target="/ppt/notesMasters/notesMaster1.xml" Id="R78efa268b5f24f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48d1fddb024744" /><Relationship Type="http://schemas.openxmlformats.org/officeDocument/2006/relationships/notesMaster" Target="/ppt/notesMasters/notesMaster1.xml" Id="R2614630efafd41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ca5da25bcd4e4b" /><Relationship Type="http://schemas.openxmlformats.org/officeDocument/2006/relationships/notesMaster" Target="/ppt/notesMasters/notesMaster1.xml" Id="Rd5e856c90d134f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da1f31490d482c" /><Relationship Type="http://schemas.openxmlformats.org/officeDocument/2006/relationships/notesMaster" Target="/ppt/notesMasters/notesMaster1.xml" Id="R0d0a967b3fa74d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4e796027094ba8" /><Relationship Type="http://schemas.openxmlformats.org/officeDocument/2006/relationships/notesMaster" Target="/ppt/notesMasters/notesMaster1.xml" Id="Rc2721f9e3db242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d1b4c494334ecc" /><Relationship Type="http://schemas.openxmlformats.org/officeDocument/2006/relationships/notesMaster" Target="/ppt/notesMasters/notesMaster1.xml" Id="R9e4184029c734f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5db260c1bb462a" /><Relationship Type="http://schemas.openxmlformats.org/officeDocument/2006/relationships/notesMaster" Target="/ppt/notesMasters/notesMaster1.xml" Id="Rbd1a1081645548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3e544a17934880" /><Relationship Type="http://schemas.openxmlformats.org/officeDocument/2006/relationships/notesMaster" Target="/ppt/notesMasters/notesMaster1.xml" Id="R6c785653885a46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c0e3a232d04658" /><Relationship Type="http://schemas.openxmlformats.org/officeDocument/2006/relationships/notesMaster" Target="/ppt/notesMasters/notesMaster1.xml" Id="R3913b6e3a1e049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c27c8deb9c4d98" /><Relationship Type="http://schemas.openxmlformats.org/officeDocument/2006/relationships/notesMaster" Target="/ppt/notesMasters/notesMaster1.xml" Id="Rfae947d26d9d4b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ba3485573146a2" /><Relationship Type="http://schemas.openxmlformats.org/officeDocument/2006/relationships/notesMaster" Target="/ppt/notesMasters/notesMaster1.xml" Id="Rde741142a5e64a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150381554c4f4a" /><Relationship Type="http://schemas.openxmlformats.org/officeDocument/2006/relationships/notesMaster" Target="/ppt/notesMasters/notesMaster1.xml" Id="R139e9b7cc0b848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0845e4ca8b4494" /><Relationship Type="http://schemas.openxmlformats.org/officeDocument/2006/relationships/notesMaster" Target="/ppt/notesMasters/notesMaster1.xml" Id="Rcbe81059e4444b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103cd10fc44590" /><Relationship Type="http://schemas.openxmlformats.org/officeDocument/2006/relationships/notesMaster" Target="/ppt/notesMasters/notesMaster1.xml" Id="R42c71f82672c406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5eccc9669a14da9" /><Relationship Type="http://schemas.openxmlformats.org/officeDocument/2006/relationships/notesMaster" Target="/ppt/notesMasters/notesMaster1.xml" Id="R688939865bae44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cb96e80cfb42d0" /><Relationship Type="http://schemas.openxmlformats.org/officeDocument/2006/relationships/notesMaster" Target="/ppt/notesMasters/notesMaster1.xml" Id="Rb7d4a87799e34a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e2e2590a2894a7d" /><Relationship Type="http://schemas.openxmlformats.org/officeDocument/2006/relationships/notesMaster" Target="/ppt/notesMasters/notesMaster1.xml" Id="R01aea92698d34ab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6647af39b37486e" /><Relationship Type="http://schemas.openxmlformats.org/officeDocument/2006/relationships/notesMaster" Target="/ppt/notesMasters/notesMaster1.xml" Id="R4d840db1227b466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58cfce03d04adf" /><Relationship Type="http://schemas.openxmlformats.org/officeDocument/2006/relationships/notesMaster" Target="/ppt/notesMasters/notesMaster1.xml" Id="R4c18041a25934c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b67ff6b864c4a52" /><Relationship Type="http://schemas.openxmlformats.org/officeDocument/2006/relationships/notesMaster" Target="/ppt/notesMasters/notesMaster1.xml" Id="R9fa5f6dc30c64aa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20b2ddd6514ca1" /><Relationship Type="http://schemas.openxmlformats.org/officeDocument/2006/relationships/notesMaster" Target="/ppt/notesMasters/notesMaster1.xml" Id="Rd06a2d9cb39a4ab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0f9406d10de4dee" /><Relationship Type="http://schemas.openxmlformats.org/officeDocument/2006/relationships/notesMaster" Target="/ppt/notesMasters/notesMaster1.xml" Id="Ra775bdcbc96c448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db86da747c466c" /><Relationship Type="http://schemas.openxmlformats.org/officeDocument/2006/relationships/notesMaster" Target="/ppt/notesMasters/notesMaster1.xml" Id="Rbf0b565e3966415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25c70ab45e8485c" /><Relationship Type="http://schemas.openxmlformats.org/officeDocument/2006/relationships/notesMaster" Target="/ppt/notesMasters/notesMaster1.xml" Id="R8702414465b146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67b8d4f12f47ec" /><Relationship Type="http://schemas.openxmlformats.org/officeDocument/2006/relationships/notesMaster" Target="/ppt/notesMasters/notesMaster1.xml" Id="R3592c29518fd435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a8d1cdff053446f" /><Relationship Type="http://schemas.openxmlformats.org/officeDocument/2006/relationships/notesMaster" Target="/ppt/notesMasters/notesMaster1.xml" Id="R9f538b3987d0419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da6f37fbc7446a0" /><Relationship Type="http://schemas.openxmlformats.org/officeDocument/2006/relationships/notesMaster" Target="/ppt/notesMasters/notesMaster1.xml" Id="R347c7d3e03804d2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3f362581e9848bb" /><Relationship Type="http://schemas.openxmlformats.org/officeDocument/2006/relationships/notesMaster" Target="/ppt/notesMasters/notesMaster1.xml" Id="R8b8e946a8cc441f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dd178246af842e1" /><Relationship Type="http://schemas.openxmlformats.org/officeDocument/2006/relationships/notesMaster" Target="/ppt/notesMasters/notesMaster1.xml" Id="Raae934739f474d3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299f814ef6b4b47" /><Relationship Type="http://schemas.openxmlformats.org/officeDocument/2006/relationships/notesMaster" Target="/ppt/notesMasters/notesMaster1.xml" Id="Rb2899d0dca414a7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eaa483711d3428b" /><Relationship Type="http://schemas.openxmlformats.org/officeDocument/2006/relationships/notesMaster" Target="/ppt/notesMasters/notesMaster1.xml" Id="R0d052e728808477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94eff6e0e9343e2" /><Relationship Type="http://schemas.openxmlformats.org/officeDocument/2006/relationships/notesMaster" Target="/ppt/notesMasters/notesMaster1.xml" Id="Rc388c55f18264fd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0614575c5444d5e" /><Relationship Type="http://schemas.openxmlformats.org/officeDocument/2006/relationships/notesMaster" Target="/ppt/notesMasters/notesMaster1.xml" Id="R3842df51c73a416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127d122c6d34333" /><Relationship Type="http://schemas.openxmlformats.org/officeDocument/2006/relationships/notesMaster" Target="/ppt/notesMasters/notesMaster1.xml" Id="Rebdd692505f44d1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370ed8b11f44bed" /><Relationship Type="http://schemas.openxmlformats.org/officeDocument/2006/relationships/notesMaster" Target="/ppt/notesMasters/notesMaster1.xml" Id="R65be7a9ee85f4b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Apri collegando la Database Battle: nella lezione 8 abbiamo scelto famiglie per singole domande. Oggi dobbiamo farle convivere in un sistema reale senza perdere ownership, affidabilità e capacità di recupero.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Chiedi alla classe quanti datastore potrebbero essere coinvolti. Poi aggiungi il vincolo: la richiesta utente non può attendere che ogni sistema remoto sia perfettamente aggiornato.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Definisci il concetto: un’applicazione usa più tecnologie di persistenza, ciascuna scelta per esigenze specifiche. Evita il messaggio “più database è sempre meglio”: l’integrazione diventa parte del progetto.</a:t>
            </a:r>
          </a:p>
          <a:p xmlns:a="http://schemas.openxmlformats.org/drawingml/2006/main">
            <a:r>
              <a:t/>
            </a:r>
          </a:p>
          <a:p xmlns:a="http://schemas.openxmlformats.org/drawingml/2006/main">
            <a:r>
              <a:t>[Sources]</a:t>
            </a:r>
          </a:p>
          <a:p xmlns:a="http://schemas.openxmlformats.org/drawingml/2006/main">
            <a:r>
              <a:t>- AWS Prescriptive Guidance — Database-per-service pattern: https://docs.aws.amazon.com/prescriptive-guidance/latest/modernization-data-persistence/database-per-service.html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scelta purpose-built associa capacità e workload. Riprendi le famiglie studiate e chiedi sempre latenza, consistenza, query, lifecycle e costo operativo prima di nominare il prodotto.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Nel database-per-service ciascun servizio accede direttamente solo al proprio datastore e gli altri usano API o eventi. Questo sostiene disaccoppiamento, ma rende più difficili query e transazioni trasversali.</a:t>
            </a:r>
          </a:p>
          <a:p xmlns:a="http://schemas.openxmlformats.org/drawingml/2006/main">
            <a:r>
              <a:t/>
            </a:r>
          </a:p>
          <a:p xmlns:a="http://schemas.openxmlformats.org/drawingml/2006/main">
            <a:r>
              <a:t>[Sources]</a:t>
            </a:r>
          </a:p>
          <a:p xmlns:a="http://schemas.openxmlformats.org/drawingml/2006/main">
            <a:r>
              <a:t>- AWS Prescriptive Guidance — Database-per-service pattern: https://docs.aws.amazon.com/prescriptive-guidance/latest/modernization-data-persistence/database-per-service.html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AWS descrive entrambi i pattern. Il database condiviso può essere sensato per semplicità o transazioni forti; database-per-service favorisce autonomia. La migrazione graduale può convivere con entrambi.</a:t>
            </a:r>
          </a:p>
          <a:p xmlns:a="http://schemas.openxmlformats.org/drawingml/2006/main">
            <a:r>
              <a:t/>
            </a:r>
          </a:p>
          <a:p xmlns:a="http://schemas.openxmlformats.org/drawingml/2006/main">
            <a:r>
              <a:t>[Sources]</a:t>
            </a:r>
          </a:p>
          <a:p xmlns:a="http://schemas.openxmlformats.org/drawingml/2006/main">
            <a:r>
              <a:t>- AWS Prescriptive Guidance — Shared-database-per-service pattern: https://docs.aws.amazon.com/prescriptive-guidance/latest/modernization-data-persistence/shared-database.html</a:t>
            </a:r>
          </a:p>
          <a:p xmlns:a="http://schemas.openxmlformats.org/drawingml/2006/main">
            <a:r>
              <a:t>- AWS Prescriptive Guidance — Database-per-service pattern: https://docs.aws.amazon.com/prescriptive-guidance/latest/modernization-data-persistence/database-per-service.html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Introduci bounded context in modo leggero: un confine di responsabilità e linguaggio. Il Catalog decide titolo e disponibilità del film; Search ne conserva una proiezione; Social possiede le relazioni tra utenti e contenuti.</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distinzione evita discussioni astratte sulla duplicazione. Una proiezione non compete con la fonte: serve un’altra query. Chiedi chi può modificare titolo, rating medio e risultato di ricerca.</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 chiedere di memorizzare il diagramma. Fai leggere ogni freccia come un contratto: chi pubblica, chi consuma, che cosa accade se il destinatario è offline, come si riprende e quale lag è accettabile.</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il percorso ideale. La richiesta conclude quando il servizio proprietario ha salvato il comando. Gli altri modelli si aggiornano in modo asincrono. Questo riduce il coupling sincrono ma introduce eventual consistency.</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dual write non è pericoloso perché usa due sistemi; è pericoloso perché non esiste una singola transazione che renda atomici commit e publish. Chiedi quali stati parziali sono possibili.</a:t>
            </a:r>
          </a:p>
          <a:p xmlns:a="http://schemas.openxmlformats.org/drawingml/2006/main">
            <a:r>
              <a:t/>
            </a:r>
          </a:p>
          <a:p xmlns:a="http://schemas.openxmlformats.org/drawingml/2006/main">
            <a:r>
              <a:t>[Sources]</a:t>
            </a:r>
          </a:p>
          <a:p xmlns:a="http://schemas.openxmlformats.org/drawingml/2006/main">
            <a:r>
              <a:t>- AWS Prescriptive Guidance — Transactional outbox pattern: https://docs.aws.amazon.com/prescriptive-guidance/latest/cloud-design-patterns/transactional-outbox.html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Analizza i quattro casi. Se il DB riesce e il publish fallisce, il cambiamento non raggiunge le proiezioni. Se l’evento parte ma il DB fallisce, i consumer vedono un fatto mai avvenuto. Retry introduce duplicati.</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servizio inserisce rating e record outbox nella stessa transazione locale. Un relay separato pubblica il record. Se il relay cade, riparte dalla outbox; non esiste più la finestra stato-senza-evento.</a:t>
            </a:r>
          </a:p>
          <a:p xmlns:a="http://schemas.openxmlformats.org/drawingml/2006/main">
            <a:r>
              <a:t/>
            </a:r>
          </a:p>
          <a:p xmlns:a="http://schemas.openxmlformats.org/drawingml/2006/main">
            <a:r>
              <a:t>[Sources]</a:t>
            </a:r>
          </a:p>
          <a:p xmlns:a="http://schemas.openxmlformats.org/drawingml/2006/main">
            <a:r>
              <a:t>- AWS Prescriptive Guidance — Transactional outbox pattern: https://docs.aws.amazon.com/prescriptive-guidance/latest/cloud-design-patterns/transactional-outbox.html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Spiega i campi senza imporre questo schema come standard universale. event_id identifica l’evento; aggregate_id collega gli eventi della stessa entità; event_type seleziona il contratto; published_at può sostenere un relay basato su polling.</a:t>
            </a:r>
          </a:p>
          <a:p xmlns:a="http://schemas.openxmlformats.org/drawingml/2006/main">
            <a:r>
              <a:t/>
            </a:r>
          </a:p>
          <a:p xmlns:a="http://schemas.openxmlformats.org/drawingml/2006/main">
            <a:r>
              <a:t>[Sources]</a:t>
            </a:r>
          </a:p>
          <a:p xmlns:a="http://schemas.openxmlformats.org/drawingml/2006/main">
            <a:r>
              <a:t>- AWS Prescriptive Guidance — Transactional outbox pattern: https://docs.aws.amazon.com/prescriptive-guidance/latest/cloud-design-patterns/transactional-outbox.html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Debezium può leggere i log di cambiamento e il suo Outbox Event Router trasformare record outbox in eventi. MongoDB offre change streams per sottoscrivere cambiamenti. Il meccanismo concreto dipende dal datastore.</a:t>
            </a:r>
          </a:p>
          <a:p xmlns:a="http://schemas.openxmlformats.org/drawingml/2006/main">
            <a:r>
              <a:t/>
            </a:r>
          </a:p>
          <a:p xmlns:a="http://schemas.openxmlformats.org/drawingml/2006/main">
            <a:r>
              <a:t>[Sources]</a:t>
            </a:r>
          </a:p>
          <a:p xmlns:a="http://schemas.openxmlformats.org/drawingml/2006/main">
            <a:r>
              <a:t>- Debezium Documentation — Outbox Event Router: https://debezium.io/documentation/reference/stable/transformations/outbox-event-router.html</a:t>
            </a:r>
          </a:p>
          <a:p xmlns:a="http://schemas.openxmlformats.org/drawingml/2006/main">
            <a:r>
              <a:t>- MongoDB Manual — Change Streams: https://www.mongodb.com/docs/manual/changeStreams/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 vendere exactly-once come magia end-to-end. Nei sistemi reali retry e failure possono rideliverare. Il consumer deve tollerare duplicati e la business operation deve dichiarare cosa significa ripetizione.</a:t>
            </a:r>
          </a:p>
          <a:p xmlns:a="http://schemas.openxmlformats.org/drawingml/2006/main">
            <a:r>
              <a:t/>
            </a:r>
          </a:p>
          <a:p xmlns:a="http://schemas.openxmlformats.org/drawingml/2006/main">
            <a:r>
              <a:t>[Sources]</a:t>
            </a:r>
          </a:p>
          <a:p xmlns:a="http://schemas.openxmlformats.org/drawingml/2006/main">
            <a:r>
              <a:t>- Apache Kafka Documentation — Message delivery semantics: https://kafka.apache.org/documentation/#semantics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pattern inbox o processed_event registra l’identificatore dell’evento. La parte importante è rendere atomici deduplica ed effetto sul datastore locale. Per contatori o pagamenti serve definire l’idempotenza di dominio, non soltanto tecnica.</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Kafka garantisce ordine all’interno di una partizione. Se eventi dello stesso aggregate_id usano la stessa chiave, possono conservare ordine relativo. Chiedi se il business richiede davvero ordine tra utenti diversi.</a:t>
            </a:r>
          </a:p>
          <a:p xmlns:a="http://schemas.openxmlformats.org/drawingml/2006/main">
            <a:r>
              <a:t/>
            </a:r>
          </a:p>
          <a:p xmlns:a="http://schemas.openxmlformats.org/drawingml/2006/main">
            <a:r>
              <a:t>[Sources]</a:t>
            </a:r>
          </a:p>
          <a:p xmlns:a="http://schemas.openxmlformats.org/drawingml/2006/main">
            <a:r>
              <a:t>- Apache Kafka Documentation — Concepts and terms: https://kafka.apache.org/documentation/#intro_concepts_and_terms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 rifare un indice servono eventi conservati o una lettura completa dalla fonte. Costruisci una nuova projection, verifica, poi cambia il riferimento. Reindex di Elasticsearch copia documenti, ma la sorgente e il mapping devono essere progettati.</a:t>
            </a:r>
          </a:p>
          <a:p xmlns:a="http://schemas.openxmlformats.org/drawingml/2006/main">
            <a:r>
              <a:t/>
            </a:r>
          </a:p>
          <a:p xmlns:a="http://schemas.openxmlformats.org/drawingml/2006/main">
            <a:r>
              <a:t>[Sources]</a:t>
            </a:r>
          </a:p>
          <a:p xmlns:a="http://schemas.openxmlformats.org/drawingml/2006/main">
            <a:r>
              <a:t>- Elasticsearch Reference — Reindex API: https://www.elastic.co/guide/en/elasticsearch/reference/current/docs-reindex.html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Eventual consistency non significa “prima o poi”. Misura il lag dalla generazione dell’evento all’applicazione nella projection; definisci percentile, soglia e allarme. Feature diverse tollerano finestre diverse.</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valori sono esempi didattici, non benchmark. Fai discutere il perché: un pagamento richiede conferma autorevole; una ricerca può tollerare secondi; analytics può tollerare minuti. Ogni team deve definire il proprio budget.</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read-your-writes può essere ottenuto mostrando il risultato locale del comando, leggendo dalla fonte o usando versioni. Per operazioni critiche evita di fingere che una projection stale sia autorevole.</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pattern cache-aside carica su miss e invalida dopo una scrittura alla fonte. TTL, eviction e staleness sono parte della progettazione. La cache non deve diventare una seconda fonte non dichiarata.</a:t>
            </a:r>
          </a:p>
          <a:p xmlns:a="http://schemas.openxmlformats.org/drawingml/2006/main">
            <a:r>
              <a:t/>
            </a:r>
          </a:p>
          <a:p xmlns:a="http://schemas.openxmlformats.org/drawingml/2006/main">
            <a:r>
              <a:t>[Sources]</a:t>
            </a:r>
          </a:p>
          <a:p xmlns:a="http://schemas.openxmlformats.org/drawingml/2006/main">
            <a:r>
              <a:t>- Azure Architecture Center — Cache-Aside pattern: https://learn.microsoft.com/en-us/azure/architecture/patterns/cache-aside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Microsoft documenta l’importanza dell’ordine: invalidare prima dell’update apre una finestra in cui un lettore ripopola la cache con il vecchio valore. Anche update-then-invalidate non elimina ogni race, ma evita questa sequenza specifica.</a:t>
            </a:r>
          </a:p>
          <a:p xmlns:a="http://schemas.openxmlformats.org/drawingml/2006/main">
            <a:r>
              <a:t/>
            </a:r>
          </a:p>
          <a:p xmlns:a="http://schemas.openxmlformats.org/drawingml/2006/main">
            <a:r>
              <a:t>[Sources]</a:t>
            </a:r>
          </a:p>
          <a:p xmlns:a="http://schemas.openxmlformats.org/drawingml/2006/main">
            <a:r>
              <a:t>- Azure Architecture Center — Cache-Aside pattern: https://learn.microsoft.com/en-us/azure/architecture/patterns/cache-aside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L’indice può essere ricostruito dal Catalog o dagli eventi. Devi gestire create, update, delete, mapping incompatibile, reindexing e alias. Un documento indicizzato senza provenienza diventa una copia incontrollata.</a:t>
            </a:r>
          </a:p>
          <a:p xmlns:a="http://schemas.openxmlformats.org/drawingml/2006/main">
            <a:r>
              <a:t/>
            </a:r>
          </a:p>
          <a:p xmlns:a="http://schemas.openxmlformats.org/drawingml/2006/main">
            <a:r>
              <a:t>[Sources]</a:t>
            </a:r>
          </a:p>
          <a:p xmlns:a="http://schemas.openxmlformats.org/drawingml/2006/main">
            <a:r>
              <a:t>- Elasticsearch Reference — Reindex API: https://www.elastic.co/guide/en/elasticsearch/reference/current/docs-reindex.html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CQRS separa comandi e query, anche nello stesso database; la forma più avanzata usa datastore distinti e proiezioni aggiornate da eventi. È utile per requisiti asimmetrici, ma aumenta complessità e consistenza eventuale.</a:t>
            </a:r>
          </a:p>
          <a:p xmlns:a="http://schemas.openxmlformats.org/drawingml/2006/main">
            <a:r>
              <a:t/>
            </a:r>
          </a:p>
          <a:p xmlns:a="http://schemas.openxmlformats.org/drawingml/2006/main">
            <a:r>
              <a:t>[Sources]</a:t>
            </a:r>
          </a:p>
          <a:p xmlns:a="http://schemas.openxmlformats.org/drawingml/2006/main">
            <a:r>
              <a:t>- Azure Architecture Center — CQRS pattern: https://learn.microsoft.com/en-us/azure/architecture/patterns/cqrs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composition chiama più servizi e unisce i risultati. Evita una nuova projection ma somma latenza e dipendenze a runtime. Definisci timeout, fallback, parallelismo e limite al fan-out.</a:t>
            </a:r>
          </a:p>
          <a:p xmlns:a="http://schemas.openxmlformats.org/drawingml/2006/main">
            <a:r>
              <a:t/>
            </a:r>
          </a:p>
          <a:p xmlns:a="http://schemas.openxmlformats.org/drawingml/2006/main">
            <a:r>
              <a:t>[Sources]</a:t>
            </a:r>
          </a:p>
          <a:p xmlns:a="http://schemas.openxmlformats.org/drawingml/2006/main">
            <a:r>
              <a:t>- AWS Prescriptive Guidance — API composition pattern: https://docs.aws.amazon.com/prescriptive-guidance/latest/modernization-data-persistence/api-composition.html</a:t>
            </a:r>
          </a:p>
          <a:p xmlns:a="http://schemas.openxmlformats.org/drawingml/2006/main">
            <a:r>
              <a:t>- AWS Prescriptive Guidance — Database-per-service pattern: https://docs.aws.amazon.com/prescriptive-guidance/latest/modernization-data-persistence/database-per-service.html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home può essere una projection denormalizzata aggiornata da eventi. generatedAt e sourceVersions rendono osservabile la freschezza. Il costo è mantenere e ricostruire la vista.</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Producer e consumer vengono distribuiti in momenti diversi. Cambi additivi e campi opzionali sono spesso più facili da rendere compatibili; rimozioni o cambi semantici richiedono versionamento e migrazione.</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CloudEvents definisce attributi di contesto come id, source, type e time. Aggiungi correlationId come convenzione applicativa per tracciare il flusso. Non inserire dati sensibili senza necessità.</a:t>
            </a:r>
          </a:p>
          <a:p xmlns:a="http://schemas.openxmlformats.org/drawingml/2006/main">
            <a:r>
              <a:t/>
            </a:r>
          </a:p>
          <a:p xmlns:a="http://schemas.openxmlformats.org/drawingml/2006/main">
            <a:r>
              <a:t>[Sources]</a:t>
            </a:r>
          </a:p>
          <a:p xmlns:a="http://schemas.openxmlformats.org/drawingml/2006/main">
            <a:r>
              <a:t>- CloudEvents Specification: https://github.com/cloudevents/spec/blob/main/cloudevents/spec.md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Disegna la matrice: vecchio producer con nuovo consumer e nuovo producer con vecchio consumer. Ogni combinazione prevista va testata. Versionare il nome senza politica di compatibilità non risolve il problema.</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Distinguere errore transitorio e poison event. Il retry deve avere limite, backoff e jitter; la dead-letter queue non è un cimitero silenzioso. Serve ownership, alert e procedura di replay.</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Anche con outbox e idempotenza servono controlli di completezza. Confronta conteggi o checksum per bucket, campiona entità critiche e automatizza backfill. La riconciliazione è una rete di sicurezza, non il flusso primario.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saga coordina transazioni locali e gestisce fallimenti tramite passi compensativi. Non approfondire orchestrazione e coreografia oltre il necessario: il punto è che la consistenza cross-service è un processo, non un rollback globale.</a:t>
            </a:r>
          </a:p>
          <a:p xmlns:a="http://schemas.openxmlformats.org/drawingml/2006/main">
            <a:r>
              <a:t/>
            </a:r>
          </a:p>
          <a:p xmlns:a="http://schemas.openxmlformats.org/drawingml/2006/main">
            <a:r>
              <a:t>[Sources]</a:t>
            </a:r>
          </a:p>
          <a:p xmlns:a="http://schemas.openxmlformats.org/drawingml/2006/main">
            <a:r>
              <a:t>- AWS Prescriptive Guidance — Saga pattern: https://docs.aws.amazon.com/prescriptive-guidance/latest/modernization-data-persistence/saga-pattern.html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separazione può limitare privilegi, ma ogni copia aumenta superficie e governance. Credenziali per servizio, TLS, segmentazione, audit e minimizzazione dei dati sono requisiti del disegno, non hardening finale.</a:t>
            </a:r>
          </a:p>
          <a:p xmlns:a="http://schemas.openxmlformats.org/drawingml/2006/main">
            <a:r>
              <a:t/>
            </a:r>
          </a:p>
          <a:p xmlns:a="http://schemas.openxmlformats.org/drawingml/2006/main">
            <a:r>
              <a:t>[Sources]</a:t>
            </a:r>
          </a:p>
          <a:p xmlns:a="http://schemas.openxmlformats.org/drawingml/2006/main">
            <a:r>
              <a:t>- OWASP Cheat Sheet — Microservices Security: https://cheatsheetseries.owasp.org/cheatsheets/Microservices_Security_Cheat_Sheet.html</a:t>
            </a:r>
          </a:p>
          <a:p xmlns:a="http://schemas.openxmlformats.org/drawingml/2006/main">
            <a:r>
              <a:t>- AWS Prescriptive Guidance — Database-per-service pattern: https://docs.aws.amazon.com/prescriptive-guidance/latest/modernization-data-persistence/database-per-service.html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Senza inventario delle copie non puoi garantire lifecycle coerente. Alcuni sistemi richiedono delete, altri tombstone, altri scadenza o policy di archivio. Definisci chi orchestra e come si verifica il completamento.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Collega ogni failure mode a una metrica. Outbox age segnala publisher fermo; consumer lag segnala projection indietro; DLQ depth segnala eventi non gestiti; rebuild time misura la capacità reale di recupero.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total cost of ownership include persone, on-call, backup, restore, sicurezza, monitoring, contratti e traffico. Se un nuovo motore non risolve un requisito importante, la semplicità vale più della specializzazione.</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scorecard rende la scelta comparabile. Il punteggio è didattico: fit, garanzie, recovery, operations e costo. Nessun totale compensa un requisito critico a zero, come l’impossibilità di garantire un pagamento.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Chiudi la parte teorica con una difesa della semplicità. Parti con un motore generale, misura i limiti e introduci specializzazione quando un requisito reale la giustifica. Polyglot è una strategia, non un obiettivo.</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Spiega che il laboratorio valuta i flussi. Le tecnologie vengono scelte solo dopo query e comandi. Ogni gruppo deve produrre un diagramma, una matrice ownership, due flussi e un piano di failure/recovery.</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Distribuisci scenari differenti per ottenere trade-off diversi. La banca richiede forte autorità transazionale; smart city enfatizza tempo e ingest; Instagram e Spotify enfatizzano feed, search e recommendation.</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guida contiene worksheet, soluzione DATAFLIX, domande di coaching e rubrica. Il review board deve scegliere un failure mode e seguire l’effetto lungo tutte le frecce.</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Concedi dodici minuti. Valuta la capacità di spiegare il failure mode e il recupero, non il vocabolario. Le risposte e gli errori diagnostici sono nella guida.</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Lezione 10 consoliderà il primo modulo. Gli studenti dovranno scegliere tecnologie, ownership, CAP, flussi e failure mode e difendere il disegno davanti a un Architecture Review Board.</a:t>
            </a:r>
          </a:p>
          <a:p xmlns:a="http://schemas.openxmlformats.org/drawingml/2006/main">
            <a:r>
              <a:t/>
            </a:r>
          </a:p>
          <a:p xmlns:a="http://schemas.openxmlformats.org/drawingml/2006/main">
            <a:r>
              <a:t>[Sources]</a:t>
            </a:r>
          </a:p>
          <a:p xmlns:a="http://schemas.openxmlformats.org/drawingml/2006/main">
            <a:r>
              <a:t>- Programma ufficiale “Basi di dati relazionali e non relazionali”, file fornito dal docente.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a57805e6154b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85c627c399479f" /><Relationship Type="http://schemas.openxmlformats.org/officeDocument/2006/relationships/slideLayout" Target="/ppt/slideLayouts/slideLayout1.xml" Id="R3758fee391ff4f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58fee391ff4f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d724a36a9f4651" /><Relationship Type="http://schemas.openxmlformats.org/officeDocument/2006/relationships/notesSlide" Target="/ppt/notesSlides/notesSlide1.xml" Id="R1a23afb338114c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35c9f03a7943d3" /><Relationship Type="http://schemas.openxmlformats.org/officeDocument/2006/relationships/notesSlide" Target="/ppt/notesSlides/notesSlide2.xml" Id="R709b7649931d49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6e46a8e9a7417d" /><Relationship Type="http://schemas.openxmlformats.org/officeDocument/2006/relationships/notesSlide" Target="/ppt/notesSlides/notesSlide3.xml" Id="R5daf8aca1f9b4a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ccdbfffbed4e47" /><Relationship Type="http://schemas.openxmlformats.org/officeDocument/2006/relationships/notesSlide" Target="/ppt/notesSlides/notesSlide4.xml" Id="R5f08b4f2c0e548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78d3afc7254f9d" /><Relationship Type="http://schemas.openxmlformats.org/officeDocument/2006/relationships/notesSlide" Target="/ppt/notesSlides/notesSlide5.xml" Id="R625fa515c39744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87504fdca148eb" /><Relationship Type="http://schemas.openxmlformats.org/officeDocument/2006/relationships/notesSlide" Target="/ppt/notesSlides/notesSlide6.xml" Id="R78a71d18f7fd41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ae9e0767014d42" /><Relationship Type="http://schemas.openxmlformats.org/officeDocument/2006/relationships/notesSlide" Target="/ppt/notesSlides/notesSlide7.xml" Id="Ra83b3e9b072c4b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778b9b45ce4d5d" /><Relationship Type="http://schemas.openxmlformats.org/officeDocument/2006/relationships/notesSlide" Target="/ppt/notesSlides/notesSlide8.xml" Id="R8a52896c409349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51dc2eb48340ec" /><Relationship Type="http://schemas.openxmlformats.org/officeDocument/2006/relationships/notesSlide" Target="/ppt/notesSlides/notesSlide9.xml" Id="R0c335500d46a42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d06c480794449c" /><Relationship Type="http://schemas.openxmlformats.org/officeDocument/2006/relationships/notesSlide" Target="/ppt/notesSlides/notesSlide10.xml" Id="R7ad78c9522394a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394d317e3549a9" /><Relationship Type="http://schemas.openxmlformats.org/officeDocument/2006/relationships/notesSlide" Target="/ppt/notesSlides/notesSlide11.xml" Id="R17f1710d29104f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39f7ec0027e4e4c" /><Relationship Type="http://schemas.openxmlformats.org/officeDocument/2006/relationships/notesSlide" Target="/ppt/notesSlides/notesSlide12.xml" Id="R03279baca81749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5dbe3efeaa49e9" /><Relationship Type="http://schemas.openxmlformats.org/officeDocument/2006/relationships/notesSlide" Target="/ppt/notesSlides/notesSlide13.xml" Id="R6b22668bc37b4a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aa75f2d93b4ed5" /><Relationship Type="http://schemas.openxmlformats.org/officeDocument/2006/relationships/notesSlide" Target="/ppt/notesSlides/notesSlide14.xml" Id="R6100a56eb6114f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cc798d970b4ac9" /><Relationship Type="http://schemas.openxmlformats.org/officeDocument/2006/relationships/notesSlide" Target="/ppt/notesSlides/notesSlide15.xml" Id="Rf2dcc71482704c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0a39e531e248da" /><Relationship Type="http://schemas.openxmlformats.org/officeDocument/2006/relationships/notesSlide" Target="/ppt/notesSlides/notesSlide16.xml" Id="R163eebb13b484e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045bff92cd4e67" /><Relationship Type="http://schemas.openxmlformats.org/officeDocument/2006/relationships/notesSlide" Target="/ppt/notesSlides/notesSlide17.xml" Id="Rc9d69ab981fd4b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0cbed45f894582" /><Relationship Type="http://schemas.openxmlformats.org/officeDocument/2006/relationships/notesSlide" Target="/ppt/notesSlides/notesSlide18.xml" Id="Rf75120a1dbb844f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962ec0a87a34f2f" /><Relationship Type="http://schemas.openxmlformats.org/officeDocument/2006/relationships/notesSlide" Target="/ppt/notesSlides/notesSlide19.xml" Id="R9a0903b47ff44c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87783c192141e3" /><Relationship Type="http://schemas.openxmlformats.org/officeDocument/2006/relationships/notesSlide" Target="/ppt/notesSlides/notesSlide20.xml" Id="Rb6590bd05e2e45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af35dac7cc3467a" /><Relationship Type="http://schemas.openxmlformats.org/officeDocument/2006/relationships/notesSlide" Target="/ppt/notesSlides/notesSlide21.xml" Id="R081a51abeb9d44b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813a9bd9d59434d" /><Relationship Type="http://schemas.openxmlformats.org/officeDocument/2006/relationships/notesSlide" Target="/ppt/notesSlides/notesSlide22.xml" Id="R4d70a99f9dee46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6398aff921345fe" /><Relationship Type="http://schemas.openxmlformats.org/officeDocument/2006/relationships/notesSlide" Target="/ppt/notesSlides/notesSlide23.xml" Id="R1c8a2e2c574645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31608939bfe471d" /><Relationship Type="http://schemas.openxmlformats.org/officeDocument/2006/relationships/notesSlide" Target="/ppt/notesSlides/notesSlide24.xml" Id="R8964fe511f7f41f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b201f9eee43401f" /><Relationship Type="http://schemas.openxmlformats.org/officeDocument/2006/relationships/notesSlide" Target="/ppt/notesSlides/notesSlide25.xml" Id="R7d45b54258154f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e061363d054a84" /><Relationship Type="http://schemas.openxmlformats.org/officeDocument/2006/relationships/notesSlide" Target="/ppt/notesSlides/notesSlide26.xml" Id="R1b480bea414f4c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cbdfda690ec4d56" /><Relationship Type="http://schemas.openxmlformats.org/officeDocument/2006/relationships/notesSlide" Target="/ppt/notesSlides/notesSlide27.xml" Id="R09f44bc2ef25481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1fd143b76e84922" /><Relationship Type="http://schemas.openxmlformats.org/officeDocument/2006/relationships/notesSlide" Target="/ppt/notesSlides/notesSlide28.xml" Id="R41b70c19777b485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a22c7e67f5d4fb1" /><Relationship Type="http://schemas.openxmlformats.org/officeDocument/2006/relationships/notesSlide" Target="/ppt/notesSlides/notesSlide29.xml" Id="R136e21aa282e4ce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1b672ebc869458e" /><Relationship Type="http://schemas.openxmlformats.org/officeDocument/2006/relationships/notesSlide" Target="/ppt/notesSlides/notesSlide30.xml" Id="R0cb830fcb4174ae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73afdaf17d8472d" /><Relationship Type="http://schemas.openxmlformats.org/officeDocument/2006/relationships/notesSlide" Target="/ppt/notesSlides/notesSlide31.xml" Id="R2b8bcd88f897438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ae14191186c424f" /><Relationship Type="http://schemas.openxmlformats.org/officeDocument/2006/relationships/notesSlide" Target="/ppt/notesSlides/notesSlide32.xml" Id="R093c2e74ab4b407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a4c0a5cbd95407d" /><Relationship Type="http://schemas.openxmlformats.org/officeDocument/2006/relationships/notesSlide" Target="/ppt/notesSlides/notesSlide33.xml" Id="R82c9f4928580496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a84ce551cf847ed" /><Relationship Type="http://schemas.openxmlformats.org/officeDocument/2006/relationships/notesSlide" Target="/ppt/notesSlides/notesSlide34.xml" Id="R4094de07db4e44c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23612a35c6e458e" /><Relationship Type="http://schemas.openxmlformats.org/officeDocument/2006/relationships/notesSlide" Target="/ppt/notesSlides/notesSlide35.xml" Id="Rade2877eae53408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3f858d909794801" /><Relationship Type="http://schemas.openxmlformats.org/officeDocument/2006/relationships/notesSlide" Target="/ppt/notesSlides/notesSlide36.xml" Id="R6c62ee0c7b84431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e6dc6a6942c450e" /><Relationship Type="http://schemas.openxmlformats.org/officeDocument/2006/relationships/notesSlide" Target="/ppt/notesSlides/notesSlide37.xml" Id="R46d5e0275cce43e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64ca942f9794f81" /><Relationship Type="http://schemas.openxmlformats.org/officeDocument/2006/relationships/notesSlide" Target="/ppt/notesSlides/notesSlide38.xml" Id="R1f552be0eda6494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248610b26b74a9b" /><Relationship Type="http://schemas.openxmlformats.org/officeDocument/2006/relationships/notesSlide" Target="/ppt/notesSlides/notesSlide39.xml" Id="R91e07b047a5d42e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4030aa7d44a4b7e" /><Relationship Type="http://schemas.openxmlformats.org/officeDocument/2006/relationships/notesSlide" Target="/ppt/notesSlides/notesSlide40.xml" Id="R2525e3eae9d4468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41ff13b27584cdc" /><Relationship Type="http://schemas.openxmlformats.org/officeDocument/2006/relationships/notesSlide" Target="/ppt/notesSlides/notesSlide41.xml" Id="Rd2e078bbec9f41c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bbc9dad82514289" /><Relationship Type="http://schemas.openxmlformats.org/officeDocument/2006/relationships/notesSlide" Target="/ppt/notesSlides/notesSlide42.xml" Id="Re3ee8fc62da0407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13c2c2671e64aae" /><Relationship Type="http://schemas.openxmlformats.org/officeDocument/2006/relationships/notesSlide" Target="/ppt/notesSlides/notesSlide43.xml" Id="Rf9bd90cc93844e2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fd9795ca4684593" /><Relationship Type="http://schemas.openxmlformats.org/officeDocument/2006/relationships/notesSlide" Target="/ppt/notesSlides/notesSlide44.xml" Id="Rdbf119d4f258411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922430a1f8541d2" /><Relationship Type="http://schemas.openxmlformats.org/officeDocument/2006/relationships/notesSlide" Target="/ppt/notesSlides/notesSlide45.xml" Id="R2baf61f7331c4b17"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5318AD-363E-4EAE-B164-67D1C3CCCCFE}"/>
              </a:ext>
            </a:extLst>
          </p:cNvPr>
          <p:cNvSpPr>
            <a:spLocks xmlns:a="http://schemas.openxmlformats.org/drawingml/2006/main" noGrp="1"/>
          </p:cNvSpPr>
          <p:nvPr/>
        </p:nvSpPr>
        <p:spPr>
          <a:xfrm xmlns:a="http://schemas.openxmlformats.org/drawingml/2006/main">
            <a:off x="685800" y="4953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0B8D9"/>
                </a:solidFill>
              </a:defRPr>
            </a:pPr>
            <a:r>
              <a:rPr sz="1125" b="1">
                <a:solidFill>
                  <a:srgbClr val="00B8D9"/>
                </a:solidFill>
              </a:rPr>
              <a:t>BIG DATA &amp; CLOUD SERVICES</a:t>
            </a:r>
          </a:p>
        </p:txBody>
      </p:sp>
      <p:sp>
        <p:nvSpPr>
          <p:cNvPr id="2" name="">
            <a:extLst xmlns:a="http://schemas.openxmlformats.org/drawingml/2006/main">
              <a:ext uri="{FF2B5EF4-FFF2-40B4-BE49-F238E27FC236}">
                <a16:creationId xmlns:a16="http://schemas.microsoft.com/office/drawing/2014/main" id="{446770F2-0499-40AC-BCA5-7ED6740BB2CC}"/>
              </a:ext>
            </a:extLst>
          </p:cNvPr>
          <p:cNvSpPr>
            <a:spLocks xmlns:a="http://schemas.openxmlformats.org/drawingml/2006/main" noGrp="1"/>
          </p:cNvSpPr>
          <p:nvPr/>
        </p:nvSpPr>
        <p:spPr>
          <a:xfrm xmlns:a="http://schemas.openxmlformats.org/drawingml/2006/main">
            <a:off x="685800" y="133350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Polyglot Persistence</a:t>
            </a:r>
          </a:p>
        </p:txBody>
      </p:sp>
      <p:sp>
        <p:nvSpPr>
          <p:cNvPr id="3" name="">
            <a:extLst xmlns:a="http://schemas.openxmlformats.org/drawingml/2006/main">
              <a:ext uri="{FF2B5EF4-FFF2-40B4-BE49-F238E27FC236}">
                <a16:creationId xmlns:a16="http://schemas.microsoft.com/office/drawing/2014/main" id="{8A950D6D-6EC3-4064-9C6E-F10D94B28443}"/>
              </a:ext>
            </a:extLst>
          </p:cNvPr>
          <p:cNvSpPr>
            <a:spLocks xmlns:a="http://schemas.openxmlformats.org/drawingml/2006/main" noGrp="1"/>
          </p:cNvSpPr>
          <p:nvPr/>
        </p:nvSpPr>
        <p:spPr>
          <a:xfrm xmlns:a="http://schemas.openxmlformats.org/drawingml/2006/main">
            <a:off x="723900" y="2619375"/>
            <a:ext cx="8096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0">
                <a:solidFill>
                  <a:srgbClr val="C8D4DE"/>
                </a:solidFill>
              </a:defRPr>
            </a:pPr>
            <a:r>
              <a:rPr sz="2175" b="0">
                <a:solidFill>
                  <a:srgbClr val="C8D4DE"/>
                </a:solidFill>
              </a:rPr>
              <a:t>Più modelli, ownership chiara, sincronizzazione affidabile</a:t>
            </a:r>
          </a:p>
        </p:txBody>
      </p:sp>
      <p:sp>
        <p:nvSpPr>
          <p:cNvPr id="4" name="">
            <a:extLst xmlns:a="http://schemas.openxmlformats.org/drawingml/2006/main">
              <a:ext uri="{FF2B5EF4-FFF2-40B4-BE49-F238E27FC236}">
                <a16:creationId xmlns:a16="http://schemas.microsoft.com/office/drawing/2014/main" id="{6240E867-6642-4AD2-AD82-F65591FEA6AD}"/>
              </a:ext>
            </a:extLst>
          </p:cNvPr>
          <p:cNvSpPr>
            <a:spLocks xmlns:a="http://schemas.openxmlformats.org/drawingml/2006/main" noGrp="1"/>
          </p:cNvSpPr>
          <p:nvPr/>
        </p:nvSpPr>
        <p:spPr>
          <a:xfrm xmlns:a="http://schemas.openxmlformats.org/drawingml/2006/main">
            <a:off x="8572500" y="1123950"/>
            <a:ext cx="2286000" cy="2381250"/>
          </a:xfrm>
          <a:prstGeom xmlns:a="http://schemas.openxmlformats.org/drawingml/2006/main" prst="roundRect">
            <a:avLst>
              <a:gd name="adj" fmla="val 3333"/>
            </a:avLst>
          </a:prstGeom>
          <a:solidFill xmlns:a="http://schemas.openxmlformats.org/drawingml/2006/main">
            <a:srgbClr val="B7E34B"/>
          </a:solidFill>
          <a:ln xmlns:a="http://schemas.openxmlformats.org/drawingml/2006/main" w="9525">
            <a:solidFill>
              <a:srgbClr val="B7E34B"/>
            </a:solidFill>
            <a:prstDash val="solid"/>
          </a:ln>
        </p:spPr>
      </p:sp>
      <p:sp>
        <p:nvSpPr>
          <p:cNvPr id="5" name="">
            <a:extLst xmlns:a="http://schemas.openxmlformats.org/drawingml/2006/main">
              <a:ext uri="{FF2B5EF4-FFF2-40B4-BE49-F238E27FC236}">
                <a16:creationId xmlns:a16="http://schemas.microsoft.com/office/drawing/2014/main" id="{13C11A9A-72E9-4A4D-88F5-EA8B34BDD42C}"/>
              </a:ext>
            </a:extLst>
          </p:cNvPr>
          <p:cNvSpPr>
            <a:spLocks xmlns:a="http://schemas.openxmlformats.org/drawingml/2006/main" noGrp="1"/>
          </p:cNvSpPr>
          <p:nvPr/>
        </p:nvSpPr>
        <p:spPr>
          <a:xfrm xmlns:a="http://schemas.openxmlformats.org/drawingml/2006/main">
            <a:off x="8810625" y="1524000"/>
            <a:ext cx="1809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050" b="1">
                <a:solidFill>
                  <a:srgbClr val="0B1F33"/>
                </a:solidFill>
              </a:defRPr>
            </a:pPr>
            <a:r>
              <a:rPr sz="7050" b="1">
                <a:solidFill>
                  <a:srgbClr val="0B1F33"/>
                </a:solidFill>
              </a:rPr>
              <a:t>09</a:t>
            </a:r>
          </a:p>
        </p:txBody>
      </p:sp>
      <p:sp>
        <p:nvSpPr>
          <p:cNvPr id="6" name="">
            <a:extLst xmlns:a="http://schemas.openxmlformats.org/drawingml/2006/main">
              <a:ext uri="{FF2B5EF4-FFF2-40B4-BE49-F238E27FC236}">
                <a16:creationId xmlns:a16="http://schemas.microsoft.com/office/drawing/2014/main" id="{5B0C2FDC-8644-4A58-91A6-6540CCF79E9B}"/>
              </a:ext>
            </a:extLst>
          </p:cNvPr>
          <p:cNvSpPr>
            <a:spLocks xmlns:a="http://schemas.openxmlformats.org/drawingml/2006/main" noGrp="1"/>
          </p:cNvSpPr>
          <p:nvPr/>
        </p:nvSpPr>
        <p:spPr>
          <a:xfrm xmlns:a="http://schemas.openxmlformats.org/drawingml/2006/main">
            <a:off x="723900" y="60007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9FB0BF"/>
                </a:solidFill>
              </a:defRPr>
            </a:pPr>
            <a:r>
              <a:rPr sz="1125" b="0">
                <a:solidFill>
                  <a:srgbClr val="9FB0BF"/>
                </a:solidFill>
              </a:rPr>
              <a:t>Lezione 09 • DATAFLIX</a:t>
            </a:r>
          </a:p>
        </p:txBody>
      </p:sp>
    </p:spTree>
    <p:extLst>
      <p:ext uri="{BB962C8B-B14F-4D97-AF65-F5344CB8AC3E}">
        <p14:creationId xmlns:p14="http://schemas.microsoft.com/office/powerpoint/2010/main" val="796171035"/>
      </p:ext>
    </p:extLst>
  </p:cSld>
</p:sld>
</file>

<file path=ppt/slides/slide2.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C565D8-4D12-4A6C-9773-D9A3182CDD65}"/>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DATAFLIX • PROBLEMA REALE</a:t>
            </a:r>
          </a:p>
        </p:txBody>
      </p:sp>
      <p:sp>
        <p:nvSpPr>
          <p:cNvPr id="2" name="">
            <a:extLst xmlns:a="http://schemas.openxmlformats.org/drawingml/2006/main">
              <a:ext uri="{FF2B5EF4-FFF2-40B4-BE49-F238E27FC236}">
                <a16:creationId xmlns:a16="http://schemas.microsoft.com/office/drawing/2014/main" id="{06B83957-A68D-4A43-8FEE-33CD7A78E2EE}"/>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Una sola azione, molte conseguenze</a:t>
            </a:r>
          </a:p>
        </p:txBody>
      </p:sp>
      <p:sp>
        <p:nvSpPr>
          <p:cNvPr id="3" name="">
            <a:extLst xmlns:a="http://schemas.openxmlformats.org/drawingml/2006/main">
              <a:ext uri="{FF2B5EF4-FFF2-40B4-BE49-F238E27FC236}">
                <a16:creationId xmlns:a16="http://schemas.microsoft.com/office/drawing/2014/main" id="{8C4DF9CA-D3C0-4E78-B5E0-DF520CB9B195}"/>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02</a:t>
            </a:r>
          </a:p>
        </p:txBody>
      </p:sp>
      <p:sp>
        <p:nvSpPr>
          <p:cNvPr id="4" name="">
            <a:extLst xmlns:a="http://schemas.openxmlformats.org/drawingml/2006/main">
              <a:ext uri="{FF2B5EF4-FFF2-40B4-BE49-F238E27FC236}">
                <a16:creationId xmlns:a16="http://schemas.microsoft.com/office/drawing/2014/main" id="{4896368B-865C-481B-9FE4-80F1061AF6C8}"/>
              </a:ext>
            </a:extLst>
          </p:cNvPr>
          <p:cNvSpPr>
            <a:spLocks xmlns:a="http://schemas.openxmlformats.org/drawingml/2006/main" noGrp="1"/>
          </p:cNvSpPr>
          <p:nvPr/>
        </p:nvSpPr>
        <p:spPr>
          <a:xfrm xmlns:a="http://schemas.openxmlformats.org/drawingml/2006/main">
            <a:off x="742950" y="1752600"/>
            <a:ext cx="85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0" b="1">
                <a:solidFill>
                  <a:srgbClr val="FF8A4C"/>
                </a:solidFill>
              </a:defRPr>
            </a:pPr>
            <a:r>
              <a:rPr sz="8250" b="1">
                <a:solidFill>
                  <a:srgbClr val="FF8A4C"/>
                </a:solidFill>
              </a:rPr>
              <a:t>“</a:t>
            </a:r>
          </a:p>
        </p:txBody>
      </p:sp>
      <p:sp>
        <p:nvSpPr>
          <p:cNvPr id="5" name="">
            <a:extLst xmlns:a="http://schemas.openxmlformats.org/drawingml/2006/main">
              <a:ext uri="{FF2B5EF4-FFF2-40B4-BE49-F238E27FC236}">
                <a16:creationId xmlns:a16="http://schemas.microsoft.com/office/drawing/2014/main" id="{108A9552-EFAC-4216-9BD9-3B9BEA4CFD4E}"/>
              </a:ext>
            </a:extLst>
          </p:cNvPr>
          <p:cNvSpPr>
            <a:spLocks xmlns:a="http://schemas.openxmlformats.org/drawingml/2006/main" noGrp="1"/>
          </p:cNvSpPr>
          <p:nvPr/>
        </p:nvSpPr>
        <p:spPr>
          <a:xfrm xmlns:a="http://schemas.openxmlformats.org/drawingml/2006/main">
            <a:off x="1676400" y="1943100"/>
            <a:ext cx="8953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FFFFF"/>
                </a:solidFill>
              </a:defRPr>
            </a:pPr>
            <a:r>
              <a:rPr sz="2775" b="1">
                <a:solidFill>
                  <a:srgbClr val="FFFFFF"/>
                </a:solidFill>
              </a:rPr>
              <a:t>Mario assegna 9 a Interstellar. Il voto deve apparire nel profilo, nelle raccomandazioni, nelle statistiche e forse nella ricerca.</a:t>
            </a:r>
          </a:p>
        </p:txBody>
      </p:sp>
      <p:sp>
        <p:nvSpPr>
          <p:cNvPr id="6" name="">
            <a:extLst xmlns:a="http://schemas.openxmlformats.org/drawingml/2006/main">
              <a:ext uri="{FF2B5EF4-FFF2-40B4-BE49-F238E27FC236}">
                <a16:creationId xmlns:a16="http://schemas.microsoft.com/office/drawing/2014/main" id="{153F2C26-DF7B-44E7-83F0-468E4CECE71D}"/>
              </a:ext>
            </a:extLst>
          </p:cNvPr>
          <p:cNvSpPr>
            <a:spLocks xmlns:a="http://schemas.openxmlformats.org/drawingml/2006/main" noGrp="1"/>
          </p:cNvSpPr>
          <p:nvPr/>
        </p:nvSpPr>
        <p:spPr>
          <a:xfrm xmlns:a="http://schemas.openxmlformats.org/drawingml/2006/main">
            <a:off x="1676400" y="4762500"/>
            <a:ext cx="3048000" cy="762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Tree>
    <p:extLst>
      <p:ext uri="{BB962C8B-B14F-4D97-AF65-F5344CB8AC3E}">
        <p14:creationId xmlns:p14="http://schemas.microsoft.com/office/powerpoint/2010/main" val="91021239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6E9740D-95C6-402D-9331-63964A021ADB}"/>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DEFINIZIONE</a:t>
            </a:r>
          </a:p>
        </p:txBody>
      </p:sp>
      <p:sp>
        <p:nvSpPr>
          <p:cNvPr id="2" name="">
            <a:extLst xmlns:a="http://schemas.openxmlformats.org/drawingml/2006/main">
              <a:ext uri="{FF2B5EF4-FFF2-40B4-BE49-F238E27FC236}">
                <a16:creationId xmlns:a16="http://schemas.microsoft.com/office/drawing/2014/main" id="{3DC47C91-9F9E-4939-9CD8-9F6821AE6DA1}"/>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Polyglot persistence: il modello segue il problema</a:t>
            </a:r>
          </a:p>
        </p:txBody>
      </p:sp>
      <p:sp>
        <p:nvSpPr>
          <p:cNvPr id="3" name="">
            <a:extLst xmlns:a="http://schemas.openxmlformats.org/drawingml/2006/main">
              <a:ext uri="{FF2B5EF4-FFF2-40B4-BE49-F238E27FC236}">
                <a16:creationId xmlns:a16="http://schemas.microsoft.com/office/drawing/2014/main" id="{12B7CCE8-4059-4AA4-BE77-97DF9B899D1B}"/>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03</a:t>
            </a:r>
          </a:p>
        </p:txBody>
      </p:sp>
      <p:sp>
        <p:nvSpPr>
          <p:cNvPr id="4" name="">
            <a:extLst xmlns:a="http://schemas.openxmlformats.org/drawingml/2006/main">
              <a:ext uri="{FF2B5EF4-FFF2-40B4-BE49-F238E27FC236}">
                <a16:creationId xmlns:a16="http://schemas.microsoft.com/office/drawing/2014/main" id="{DB621E28-834B-4CC3-865F-7C1C7D8B5DFE}"/>
              </a:ext>
            </a:extLst>
          </p:cNvPr>
          <p:cNvSpPr>
            <a:spLocks xmlns:a="http://schemas.openxmlformats.org/drawingml/2006/main" noGrp="1"/>
          </p:cNvSpPr>
          <p:nvPr/>
        </p:nvSpPr>
        <p:spPr>
          <a:xfrm xmlns:a="http://schemas.openxmlformats.org/drawingml/2006/main">
            <a:off x="904875" y="2047875"/>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0B1F33"/>
                </a:solidFill>
              </a:defRPr>
            </a:pPr>
            <a:r>
              <a:rPr sz="2250" b="1">
                <a:solidFill>
                  <a:srgbClr val="0B1F33"/>
                </a:solidFill>
              </a:rPr>
              <a:t>stesso sistema</a:t>
            </a:r>
          </a:p>
        </p:txBody>
      </p:sp>
      <p:sp>
        <p:nvSpPr>
          <p:cNvPr id="5" name="">
            <a:extLst xmlns:a="http://schemas.openxmlformats.org/drawingml/2006/main">
              <a:ext uri="{FF2B5EF4-FFF2-40B4-BE49-F238E27FC236}">
                <a16:creationId xmlns:a16="http://schemas.microsoft.com/office/drawing/2014/main" id="{A47C0757-8A3D-49D7-9696-21FD619BA558}"/>
              </a:ext>
            </a:extLst>
          </p:cNvPr>
          <p:cNvSpPr>
            <a:spLocks xmlns:a="http://schemas.openxmlformats.org/drawingml/2006/main" noGrp="1"/>
          </p:cNvSpPr>
          <p:nvPr/>
        </p:nvSpPr>
        <p:spPr>
          <a:xfrm xmlns:a="http://schemas.openxmlformats.org/drawingml/2006/main">
            <a:off x="3952875" y="2266950"/>
            <a:ext cx="114300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6" name="">
            <a:extLst xmlns:a="http://schemas.openxmlformats.org/drawingml/2006/main">
              <a:ext uri="{FF2B5EF4-FFF2-40B4-BE49-F238E27FC236}">
                <a16:creationId xmlns:a16="http://schemas.microsoft.com/office/drawing/2014/main" id="{32F94A8E-3243-4958-B516-B9A3483CDDEE}"/>
              </a:ext>
            </a:extLst>
          </p:cNvPr>
          <p:cNvSpPr>
            <a:spLocks xmlns:a="http://schemas.openxmlformats.org/drawingml/2006/main" noGrp="1"/>
          </p:cNvSpPr>
          <p:nvPr/>
        </p:nvSpPr>
        <p:spPr>
          <a:xfrm xmlns:a="http://schemas.openxmlformats.org/drawingml/2006/main">
            <a:off x="4943475" y="20955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7" name="">
            <a:extLst xmlns:a="http://schemas.openxmlformats.org/drawingml/2006/main">
              <a:ext uri="{FF2B5EF4-FFF2-40B4-BE49-F238E27FC236}">
                <a16:creationId xmlns:a16="http://schemas.microsoft.com/office/drawing/2014/main" id="{6C70865E-A8B0-4E48-B82A-60D3962F23FD}"/>
              </a:ext>
            </a:extLst>
          </p:cNvPr>
          <p:cNvSpPr>
            <a:spLocks xmlns:a="http://schemas.openxmlformats.org/drawingml/2006/main" noGrp="1"/>
          </p:cNvSpPr>
          <p:nvPr/>
        </p:nvSpPr>
        <p:spPr>
          <a:xfrm xmlns:a="http://schemas.openxmlformats.org/drawingml/2006/main">
            <a:off x="3952875" y="1924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usa</a:t>
            </a:r>
          </a:p>
        </p:txBody>
      </p:sp>
      <p:sp>
        <p:nvSpPr>
          <p:cNvPr id="8" name="">
            <a:extLst xmlns:a="http://schemas.openxmlformats.org/drawingml/2006/main">
              <a:ext uri="{FF2B5EF4-FFF2-40B4-BE49-F238E27FC236}">
                <a16:creationId xmlns:a16="http://schemas.microsoft.com/office/drawing/2014/main" id="{09926EE7-89B1-47F7-B0BD-4229A83E9762}"/>
              </a:ext>
            </a:extLst>
          </p:cNvPr>
          <p:cNvSpPr>
            <a:spLocks xmlns:a="http://schemas.openxmlformats.org/drawingml/2006/main" noGrp="1"/>
          </p:cNvSpPr>
          <p:nvPr/>
        </p:nvSpPr>
        <p:spPr>
          <a:xfrm xmlns:a="http://schemas.openxmlformats.org/drawingml/2006/main">
            <a:off x="5381625" y="1952625"/>
            <a:ext cx="1000125" cy="781050"/>
          </a:xfrm>
          <a:prstGeom xmlns:a="http://schemas.openxmlformats.org/drawingml/2006/main" prst="roundRect">
            <a:avLst>
              <a:gd name="adj" fmla="val 9756"/>
            </a:avLst>
          </a:prstGeom>
          <a:solidFill xmlns:a="http://schemas.openxmlformats.org/drawingml/2006/main">
            <a:srgbClr val="00B8D9"/>
          </a:solidFill>
          <a:ln xmlns:a="http://schemas.openxmlformats.org/drawingml/2006/main" w="9525">
            <a:solidFill>
              <a:srgbClr val="00B8D9"/>
            </a:solidFill>
            <a:prstDash val="solid"/>
          </a:ln>
        </p:spPr>
      </p:sp>
      <p:sp>
        <p:nvSpPr>
          <p:cNvPr id="9" name="">
            <a:extLst xmlns:a="http://schemas.openxmlformats.org/drawingml/2006/main">
              <a:ext uri="{FF2B5EF4-FFF2-40B4-BE49-F238E27FC236}">
                <a16:creationId xmlns:a16="http://schemas.microsoft.com/office/drawing/2014/main" id="{EA73AEC5-01D9-4674-9FBD-E683E4019737}"/>
              </a:ext>
            </a:extLst>
          </p:cNvPr>
          <p:cNvSpPr>
            <a:spLocks xmlns:a="http://schemas.openxmlformats.org/drawingml/2006/main" noGrp="1"/>
          </p:cNvSpPr>
          <p:nvPr/>
        </p:nvSpPr>
        <p:spPr>
          <a:xfrm xmlns:a="http://schemas.openxmlformats.org/drawingml/2006/main">
            <a:off x="5476875" y="2190750"/>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SQL</a:t>
            </a:r>
          </a:p>
        </p:txBody>
      </p:sp>
      <p:sp>
        <p:nvSpPr>
          <p:cNvPr id="10" name="">
            <a:extLst xmlns:a="http://schemas.openxmlformats.org/drawingml/2006/main">
              <a:ext uri="{FF2B5EF4-FFF2-40B4-BE49-F238E27FC236}">
                <a16:creationId xmlns:a16="http://schemas.microsoft.com/office/drawing/2014/main" id="{4C45AD5B-DBB3-421A-912F-76B774FEB0D1}"/>
              </a:ext>
            </a:extLst>
          </p:cNvPr>
          <p:cNvSpPr>
            <a:spLocks xmlns:a="http://schemas.openxmlformats.org/drawingml/2006/main" noGrp="1"/>
          </p:cNvSpPr>
          <p:nvPr/>
        </p:nvSpPr>
        <p:spPr>
          <a:xfrm xmlns:a="http://schemas.openxmlformats.org/drawingml/2006/main">
            <a:off x="6572250" y="1952625"/>
            <a:ext cx="1000125" cy="781050"/>
          </a:xfrm>
          <a:prstGeom xmlns:a="http://schemas.openxmlformats.org/drawingml/2006/main" prst="roundRect">
            <a:avLst>
              <a:gd name="adj" fmla="val 9756"/>
            </a:avLst>
          </a:prstGeom>
          <a:solidFill xmlns:a="http://schemas.openxmlformats.org/drawingml/2006/main">
            <a:srgbClr val="FF8A4C"/>
          </a:solidFill>
          <a:ln xmlns:a="http://schemas.openxmlformats.org/drawingml/2006/main" w="9525">
            <a:solidFill>
              <a:srgbClr val="FF8A4C"/>
            </a:solidFill>
            <a:prstDash val="solid"/>
          </a:ln>
        </p:spPr>
      </p:sp>
      <p:sp>
        <p:nvSpPr>
          <p:cNvPr id="11" name="">
            <a:extLst xmlns:a="http://schemas.openxmlformats.org/drawingml/2006/main">
              <a:ext uri="{FF2B5EF4-FFF2-40B4-BE49-F238E27FC236}">
                <a16:creationId xmlns:a16="http://schemas.microsoft.com/office/drawing/2014/main" id="{CE7B7958-15D9-4750-983E-D36571A09829}"/>
              </a:ext>
            </a:extLst>
          </p:cNvPr>
          <p:cNvSpPr>
            <a:spLocks xmlns:a="http://schemas.openxmlformats.org/drawingml/2006/main" noGrp="1"/>
          </p:cNvSpPr>
          <p:nvPr/>
        </p:nvSpPr>
        <p:spPr>
          <a:xfrm xmlns:a="http://schemas.openxmlformats.org/drawingml/2006/main">
            <a:off x="6667500" y="2190750"/>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KEY</a:t>
            </a:r>
          </a:p>
        </p:txBody>
      </p:sp>
      <p:sp>
        <p:nvSpPr>
          <p:cNvPr id="12" name="">
            <a:extLst xmlns:a="http://schemas.openxmlformats.org/drawingml/2006/main">
              <a:ext uri="{FF2B5EF4-FFF2-40B4-BE49-F238E27FC236}">
                <a16:creationId xmlns:a16="http://schemas.microsoft.com/office/drawing/2014/main" id="{AC47D6D8-75F3-4351-ABC5-A36AE1B5CCD6}"/>
              </a:ext>
            </a:extLst>
          </p:cNvPr>
          <p:cNvSpPr>
            <a:spLocks xmlns:a="http://schemas.openxmlformats.org/drawingml/2006/main" noGrp="1"/>
          </p:cNvSpPr>
          <p:nvPr/>
        </p:nvSpPr>
        <p:spPr>
          <a:xfrm xmlns:a="http://schemas.openxmlformats.org/drawingml/2006/main">
            <a:off x="7762875" y="1952625"/>
            <a:ext cx="1000125" cy="781050"/>
          </a:xfrm>
          <a:prstGeom xmlns:a="http://schemas.openxmlformats.org/drawingml/2006/main" prst="roundRect">
            <a:avLst>
              <a:gd name="adj" fmla="val 9756"/>
            </a:avLst>
          </a:prstGeom>
          <a:solidFill xmlns:a="http://schemas.openxmlformats.org/drawingml/2006/main">
            <a:srgbClr val="7C6EE6"/>
          </a:solidFill>
          <a:ln xmlns:a="http://schemas.openxmlformats.org/drawingml/2006/main" w="9525">
            <a:solidFill>
              <a:srgbClr val="7C6EE6"/>
            </a:solidFill>
            <a:prstDash val="solid"/>
          </a:ln>
        </p:spPr>
      </p:sp>
      <p:sp>
        <p:nvSpPr>
          <p:cNvPr id="13" name="">
            <a:extLst xmlns:a="http://schemas.openxmlformats.org/drawingml/2006/main">
              <a:ext uri="{FF2B5EF4-FFF2-40B4-BE49-F238E27FC236}">
                <a16:creationId xmlns:a16="http://schemas.microsoft.com/office/drawing/2014/main" id="{723B2E9A-EE9F-4566-9FFF-ABB4E9B9E097}"/>
              </a:ext>
            </a:extLst>
          </p:cNvPr>
          <p:cNvSpPr>
            <a:spLocks xmlns:a="http://schemas.openxmlformats.org/drawingml/2006/main" noGrp="1"/>
          </p:cNvSpPr>
          <p:nvPr/>
        </p:nvSpPr>
        <p:spPr>
          <a:xfrm xmlns:a="http://schemas.openxmlformats.org/drawingml/2006/main">
            <a:off x="7858125" y="2190750"/>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DOC</a:t>
            </a:r>
          </a:p>
        </p:txBody>
      </p:sp>
      <p:sp>
        <p:nvSpPr>
          <p:cNvPr id="14" name="">
            <a:extLst xmlns:a="http://schemas.openxmlformats.org/drawingml/2006/main">
              <a:ext uri="{FF2B5EF4-FFF2-40B4-BE49-F238E27FC236}">
                <a16:creationId xmlns:a16="http://schemas.microsoft.com/office/drawing/2014/main" id="{9520F265-6756-45E3-BFC7-20E5812698F9}"/>
              </a:ext>
            </a:extLst>
          </p:cNvPr>
          <p:cNvSpPr>
            <a:spLocks xmlns:a="http://schemas.openxmlformats.org/drawingml/2006/main" noGrp="1"/>
          </p:cNvSpPr>
          <p:nvPr/>
        </p:nvSpPr>
        <p:spPr>
          <a:xfrm xmlns:a="http://schemas.openxmlformats.org/drawingml/2006/main">
            <a:off x="8953500" y="1952625"/>
            <a:ext cx="1000125" cy="781050"/>
          </a:xfrm>
          <a:prstGeom xmlns:a="http://schemas.openxmlformats.org/drawingml/2006/main" prst="roundRect">
            <a:avLst>
              <a:gd name="adj" fmla="val 9756"/>
            </a:avLst>
          </a:prstGeom>
          <a:solidFill xmlns:a="http://schemas.openxmlformats.org/drawingml/2006/main">
            <a:srgbClr val="B7E34B"/>
          </a:solidFill>
          <a:ln xmlns:a="http://schemas.openxmlformats.org/drawingml/2006/main" w="9525">
            <a:solidFill>
              <a:srgbClr val="B7E34B"/>
            </a:solidFill>
            <a:prstDash val="solid"/>
          </a:ln>
        </p:spPr>
      </p:sp>
      <p:sp>
        <p:nvSpPr>
          <p:cNvPr id="15" name="">
            <a:extLst xmlns:a="http://schemas.openxmlformats.org/drawingml/2006/main">
              <a:ext uri="{FF2B5EF4-FFF2-40B4-BE49-F238E27FC236}">
                <a16:creationId xmlns:a16="http://schemas.microsoft.com/office/drawing/2014/main" id="{B41A1274-54E1-4B64-9441-3BE6D6162BDE}"/>
              </a:ext>
            </a:extLst>
          </p:cNvPr>
          <p:cNvSpPr>
            <a:spLocks xmlns:a="http://schemas.openxmlformats.org/drawingml/2006/main" noGrp="1"/>
          </p:cNvSpPr>
          <p:nvPr/>
        </p:nvSpPr>
        <p:spPr>
          <a:xfrm xmlns:a="http://schemas.openxmlformats.org/drawingml/2006/main">
            <a:off x="9048750" y="2190750"/>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GRAPH</a:t>
            </a:r>
          </a:p>
        </p:txBody>
      </p:sp>
      <p:sp>
        <p:nvSpPr>
          <p:cNvPr id="16" name="">
            <a:extLst xmlns:a="http://schemas.openxmlformats.org/drawingml/2006/main">
              <a:ext uri="{FF2B5EF4-FFF2-40B4-BE49-F238E27FC236}">
                <a16:creationId xmlns:a16="http://schemas.microsoft.com/office/drawing/2014/main" id="{002C0D6D-9419-4BC3-8B4C-FE4A2C7258B4}"/>
              </a:ext>
            </a:extLst>
          </p:cNvPr>
          <p:cNvSpPr>
            <a:spLocks xmlns:a="http://schemas.openxmlformats.org/drawingml/2006/main" noGrp="1"/>
          </p:cNvSpPr>
          <p:nvPr/>
        </p:nvSpPr>
        <p:spPr>
          <a:xfrm xmlns:a="http://schemas.openxmlformats.org/drawingml/2006/main">
            <a:off x="10144125" y="1952625"/>
            <a:ext cx="1000125" cy="781050"/>
          </a:xfrm>
          <a:prstGeom xmlns:a="http://schemas.openxmlformats.org/drawingml/2006/main" prst="roundRect">
            <a:avLst>
              <a:gd name="adj" fmla="val 9756"/>
            </a:avLst>
          </a:prstGeom>
          <a:solidFill xmlns:a="http://schemas.openxmlformats.org/drawingml/2006/main">
            <a:srgbClr val="EF5A5A"/>
          </a:solidFill>
          <a:ln xmlns:a="http://schemas.openxmlformats.org/drawingml/2006/main" w="9525">
            <a:solidFill>
              <a:srgbClr val="EF5A5A"/>
            </a:solidFill>
            <a:prstDash val="solid"/>
          </a:ln>
        </p:spPr>
      </p:sp>
      <p:sp>
        <p:nvSpPr>
          <p:cNvPr id="17" name="">
            <a:extLst xmlns:a="http://schemas.openxmlformats.org/drawingml/2006/main">
              <a:ext uri="{FF2B5EF4-FFF2-40B4-BE49-F238E27FC236}">
                <a16:creationId xmlns:a16="http://schemas.microsoft.com/office/drawing/2014/main" id="{24D32E73-A0D5-49A4-BA63-DA640B535D9F}"/>
              </a:ext>
            </a:extLst>
          </p:cNvPr>
          <p:cNvSpPr>
            <a:spLocks xmlns:a="http://schemas.openxmlformats.org/drawingml/2006/main" noGrp="1"/>
          </p:cNvSpPr>
          <p:nvPr/>
        </p:nvSpPr>
        <p:spPr>
          <a:xfrm xmlns:a="http://schemas.openxmlformats.org/drawingml/2006/main">
            <a:off x="10239375" y="2190750"/>
            <a:ext cx="80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SEARCH</a:t>
            </a:r>
          </a:p>
        </p:txBody>
      </p:sp>
      <p:sp>
        <p:nvSpPr>
          <p:cNvPr id="18" name="">
            <a:extLst xmlns:a="http://schemas.openxmlformats.org/drawingml/2006/main">
              <a:ext uri="{FF2B5EF4-FFF2-40B4-BE49-F238E27FC236}">
                <a16:creationId xmlns:a16="http://schemas.microsoft.com/office/drawing/2014/main" id="{02AC33A2-AFED-419C-B5BA-9E6B1E02717E}"/>
              </a:ext>
            </a:extLst>
          </p:cNvPr>
          <p:cNvSpPr>
            <a:spLocks xmlns:a="http://schemas.openxmlformats.org/drawingml/2006/main" noGrp="1"/>
          </p:cNvSpPr>
          <p:nvPr/>
        </p:nvSpPr>
        <p:spPr>
          <a:xfrm xmlns:a="http://schemas.openxmlformats.org/drawingml/2006/main">
            <a:off x="2571750" y="3667125"/>
            <a:ext cx="704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a:solidFill>
                  <a:srgbClr val="111827"/>
                </a:solidFill>
              </a:defRPr>
            </a:pPr>
            <a:r>
              <a:rPr sz="2325" b="1">
                <a:solidFill>
                  <a:srgbClr val="111827"/>
                </a:solidFill>
              </a:rPr>
              <a:t>Ogni datastore risolve una responsabilità dichiarata.</a:t>
            </a:r>
          </a:p>
        </p:txBody>
      </p:sp>
      <p:sp>
        <p:nvSpPr>
          <p:cNvPr id="19" name="">
            <a:extLst xmlns:a="http://schemas.openxmlformats.org/drawingml/2006/main">
              <a:ext uri="{FF2B5EF4-FFF2-40B4-BE49-F238E27FC236}">
                <a16:creationId xmlns:a16="http://schemas.microsoft.com/office/drawing/2014/main" id="{C44C6399-10A0-450D-B76A-DFA5093CC762}"/>
              </a:ext>
            </a:extLst>
          </p:cNvPr>
          <p:cNvSpPr>
            <a:spLocks xmlns:a="http://schemas.openxmlformats.org/drawingml/2006/main" noGrp="1"/>
          </p:cNvSpPr>
          <p:nvPr/>
        </p:nvSpPr>
        <p:spPr>
          <a:xfrm xmlns:a="http://schemas.openxmlformats.org/drawingml/2006/main">
            <a:off x="2857500" y="44767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EF5A5A"/>
                </a:solidFill>
              </a:defRPr>
            </a:pPr>
            <a:r>
              <a:rPr sz="1800" b="1">
                <a:solidFill>
                  <a:srgbClr val="EF5A5A"/>
                </a:solidFill>
              </a:rPr>
              <a:t>La complessità non sparisce: si sposta nell’integrazione.</a:t>
            </a:r>
          </a:p>
        </p:txBody>
      </p:sp>
    </p:spTree>
    <p:extLst>
      <p:ext uri="{BB962C8B-B14F-4D97-AF65-F5344CB8AC3E}">
        <p14:creationId xmlns:p14="http://schemas.microsoft.com/office/powerpoint/2010/main" val="202237331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C78A818-3795-4D95-ADF5-F670C761539E}"/>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PRIMA LA CAPACITÀ, POI IL PRODOTTO</a:t>
            </a:r>
          </a:p>
        </p:txBody>
      </p:sp>
      <p:sp>
        <p:nvSpPr>
          <p:cNvPr id="2" name="">
            <a:extLst xmlns:a="http://schemas.openxmlformats.org/drawingml/2006/main">
              <a:ext uri="{FF2B5EF4-FFF2-40B4-BE49-F238E27FC236}">
                <a16:creationId xmlns:a16="http://schemas.microsoft.com/office/drawing/2014/main" id="{32564587-B461-44FF-AB7C-FD7C6452651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Purpose-built non significa product-built</a:t>
            </a:r>
          </a:p>
        </p:txBody>
      </p:sp>
      <p:sp>
        <p:nvSpPr>
          <p:cNvPr id="3" name="">
            <a:extLst xmlns:a="http://schemas.openxmlformats.org/drawingml/2006/main">
              <a:ext uri="{FF2B5EF4-FFF2-40B4-BE49-F238E27FC236}">
                <a16:creationId xmlns:a16="http://schemas.microsoft.com/office/drawing/2014/main" id="{05B9EC17-F5DC-4807-8E7F-303DA9A322B6}"/>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04</a:t>
            </a:r>
          </a:p>
        </p:txBody>
      </p:sp>
      <p:sp>
        <p:nvSpPr>
          <p:cNvPr id="4" name="">
            <a:extLst xmlns:a="http://schemas.openxmlformats.org/drawingml/2006/main">
              <a:ext uri="{FF2B5EF4-FFF2-40B4-BE49-F238E27FC236}">
                <a16:creationId xmlns:a16="http://schemas.microsoft.com/office/drawing/2014/main" id="{3EADE5C2-C1CB-4F5D-9D1B-7E68DA9CFD9A}"/>
              </a:ext>
            </a:extLst>
          </p:cNvPr>
          <p:cNvSpPr>
            <a:spLocks xmlns:a="http://schemas.openxmlformats.org/drawingml/2006/main" noGrp="1"/>
          </p:cNvSpPr>
          <p:nvPr/>
        </p:nvSpPr>
        <p:spPr>
          <a:xfrm xmlns:a="http://schemas.openxmlformats.org/drawingml/2006/main">
            <a:off x="685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C79E128D-5AE0-40BB-A54C-921914F88CB1}"/>
              </a:ext>
            </a:extLst>
          </p:cNvPr>
          <p:cNvSpPr>
            <a:spLocks xmlns:a="http://schemas.openxmlformats.org/drawingml/2006/main" noGrp="1"/>
          </p:cNvSpPr>
          <p:nvPr/>
        </p:nvSpPr>
        <p:spPr>
          <a:xfrm xmlns:a="http://schemas.openxmlformats.org/drawingml/2006/main">
            <a:off x="685800" y="1666875"/>
            <a:ext cx="3238500" cy="85725"/>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867781D0-BFD7-4A6E-ADD6-022824B5D427}"/>
              </a:ext>
            </a:extLst>
          </p:cNvPr>
          <p:cNvSpPr>
            <a:spLocks xmlns:a="http://schemas.openxmlformats.org/drawingml/2006/main" noGrp="1"/>
          </p:cNvSpPr>
          <p:nvPr/>
        </p:nvSpPr>
        <p:spPr>
          <a:xfrm xmlns:a="http://schemas.openxmlformats.org/drawingml/2006/main">
            <a:off x="895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TRANSAZIONI</a:t>
            </a:r>
          </a:p>
        </p:txBody>
      </p:sp>
      <p:sp>
        <p:nvSpPr>
          <p:cNvPr id="7" name="">
            <a:extLst xmlns:a="http://schemas.openxmlformats.org/drawingml/2006/main">
              <a:ext uri="{FF2B5EF4-FFF2-40B4-BE49-F238E27FC236}">
                <a16:creationId xmlns:a16="http://schemas.microsoft.com/office/drawing/2014/main" id="{14EA5F19-47D3-4E5E-A83E-46B7322A51DC}"/>
              </a:ext>
            </a:extLst>
          </p:cNvPr>
          <p:cNvSpPr>
            <a:spLocks xmlns:a="http://schemas.openxmlformats.org/drawingml/2006/main" noGrp="1"/>
          </p:cNvSpPr>
          <p:nvPr/>
        </p:nvSpPr>
        <p:spPr>
          <a:xfrm xmlns:a="http://schemas.openxmlformats.org/drawingml/2006/main">
            <a:off x="895350" y="2257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0B8D9"/>
                </a:solidFill>
              </a:defRPr>
            </a:pPr>
            <a:r>
              <a:rPr sz="1200" b="1">
                <a:solidFill>
                  <a:srgbClr val="00B8D9"/>
                </a:solidFill>
              </a:rPr>
              <a:t>PostgreSQL</a:t>
            </a:r>
          </a:p>
        </p:txBody>
      </p:sp>
      <p:sp>
        <p:nvSpPr>
          <p:cNvPr id="8" name="">
            <a:extLst xmlns:a="http://schemas.openxmlformats.org/drawingml/2006/main">
              <a:ext uri="{FF2B5EF4-FFF2-40B4-BE49-F238E27FC236}">
                <a16:creationId xmlns:a16="http://schemas.microsoft.com/office/drawing/2014/main" id="{50E6A6B8-2A79-41B6-9CFF-5E82F20A603A}"/>
              </a:ext>
            </a:extLst>
          </p:cNvPr>
          <p:cNvSpPr>
            <a:spLocks xmlns:a="http://schemas.openxmlformats.org/drawingml/2006/main" noGrp="1"/>
          </p:cNvSpPr>
          <p:nvPr/>
        </p:nvSpPr>
        <p:spPr>
          <a:xfrm xmlns:a="http://schemas.openxmlformats.org/drawingml/2006/main">
            <a:off x="895350" y="26193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integrità e vincoli</a:t>
            </a:r>
          </a:p>
        </p:txBody>
      </p:sp>
      <p:sp>
        <p:nvSpPr>
          <p:cNvPr id="9" name="">
            <a:extLst xmlns:a="http://schemas.openxmlformats.org/drawingml/2006/main">
              <a:ext uri="{FF2B5EF4-FFF2-40B4-BE49-F238E27FC236}">
                <a16:creationId xmlns:a16="http://schemas.microsoft.com/office/drawing/2014/main" id="{B35A8B9E-819D-4B6A-9880-45967A29A526}"/>
              </a:ext>
            </a:extLst>
          </p:cNvPr>
          <p:cNvSpPr>
            <a:spLocks xmlns:a="http://schemas.openxmlformats.org/drawingml/2006/main" noGrp="1"/>
          </p:cNvSpPr>
          <p:nvPr/>
        </p:nvSpPr>
        <p:spPr>
          <a:xfrm xmlns:a="http://schemas.openxmlformats.org/drawingml/2006/main">
            <a:off x="43053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0" name="">
            <a:extLst xmlns:a="http://schemas.openxmlformats.org/drawingml/2006/main">
              <a:ext uri="{FF2B5EF4-FFF2-40B4-BE49-F238E27FC236}">
                <a16:creationId xmlns:a16="http://schemas.microsoft.com/office/drawing/2014/main" id="{4D6AF7A2-FE05-4C94-BC48-A310C9DA644C}"/>
              </a:ext>
            </a:extLst>
          </p:cNvPr>
          <p:cNvSpPr>
            <a:spLocks xmlns:a="http://schemas.openxmlformats.org/drawingml/2006/main" noGrp="1"/>
          </p:cNvSpPr>
          <p:nvPr/>
        </p:nvSpPr>
        <p:spPr>
          <a:xfrm xmlns:a="http://schemas.openxmlformats.org/drawingml/2006/main">
            <a:off x="4305300" y="1666875"/>
            <a:ext cx="3238500" cy="85725"/>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1" name="">
            <a:extLst xmlns:a="http://schemas.openxmlformats.org/drawingml/2006/main">
              <a:ext uri="{FF2B5EF4-FFF2-40B4-BE49-F238E27FC236}">
                <a16:creationId xmlns:a16="http://schemas.microsoft.com/office/drawing/2014/main" id="{60B4EB2F-737D-4D23-A8EA-C5A65FF22105}"/>
              </a:ext>
            </a:extLst>
          </p:cNvPr>
          <p:cNvSpPr>
            <a:spLocks xmlns:a="http://schemas.openxmlformats.org/drawingml/2006/main" noGrp="1"/>
          </p:cNvSpPr>
          <p:nvPr/>
        </p:nvSpPr>
        <p:spPr>
          <a:xfrm xmlns:a="http://schemas.openxmlformats.org/drawingml/2006/main">
            <a:off x="45148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LATENZA</a:t>
            </a:r>
          </a:p>
        </p:txBody>
      </p:sp>
      <p:sp>
        <p:nvSpPr>
          <p:cNvPr id="12" name="">
            <a:extLst xmlns:a="http://schemas.openxmlformats.org/drawingml/2006/main">
              <a:ext uri="{FF2B5EF4-FFF2-40B4-BE49-F238E27FC236}">
                <a16:creationId xmlns:a16="http://schemas.microsoft.com/office/drawing/2014/main" id="{8BFE0CE8-8A65-4251-A752-8938B3EAB4B7}"/>
              </a:ext>
            </a:extLst>
          </p:cNvPr>
          <p:cNvSpPr>
            <a:spLocks xmlns:a="http://schemas.openxmlformats.org/drawingml/2006/main" noGrp="1"/>
          </p:cNvSpPr>
          <p:nvPr/>
        </p:nvSpPr>
        <p:spPr>
          <a:xfrm xmlns:a="http://schemas.openxmlformats.org/drawingml/2006/main">
            <a:off x="4514850" y="2257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8A4C"/>
                </a:solidFill>
              </a:defRPr>
            </a:pPr>
            <a:r>
              <a:rPr sz="1200" b="1">
                <a:solidFill>
                  <a:srgbClr val="FF8A4C"/>
                </a:solidFill>
              </a:rPr>
              <a:t>Redis</a:t>
            </a:r>
          </a:p>
        </p:txBody>
      </p:sp>
      <p:sp>
        <p:nvSpPr>
          <p:cNvPr id="13" name="">
            <a:extLst xmlns:a="http://schemas.openxmlformats.org/drawingml/2006/main">
              <a:ext uri="{FF2B5EF4-FFF2-40B4-BE49-F238E27FC236}">
                <a16:creationId xmlns:a16="http://schemas.microsoft.com/office/drawing/2014/main" id="{C7DEB5F0-6C31-4C6C-A7B1-9885913D8BEF}"/>
              </a:ext>
            </a:extLst>
          </p:cNvPr>
          <p:cNvSpPr>
            <a:spLocks xmlns:a="http://schemas.openxmlformats.org/drawingml/2006/main" noGrp="1"/>
          </p:cNvSpPr>
          <p:nvPr/>
        </p:nvSpPr>
        <p:spPr>
          <a:xfrm xmlns:a="http://schemas.openxmlformats.org/drawingml/2006/main">
            <a:off x="4514850" y="26193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lookup e TTL</a:t>
            </a:r>
          </a:p>
        </p:txBody>
      </p:sp>
      <p:sp>
        <p:nvSpPr>
          <p:cNvPr id="14" name="">
            <a:extLst xmlns:a="http://schemas.openxmlformats.org/drawingml/2006/main">
              <a:ext uri="{FF2B5EF4-FFF2-40B4-BE49-F238E27FC236}">
                <a16:creationId xmlns:a16="http://schemas.microsoft.com/office/drawing/2014/main" id="{D2CDE6AC-8DD8-4C05-9FFE-DC3143E68FFA}"/>
              </a:ext>
            </a:extLst>
          </p:cNvPr>
          <p:cNvSpPr>
            <a:spLocks xmlns:a="http://schemas.openxmlformats.org/drawingml/2006/main" noGrp="1"/>
          </p:cNvSpPr>
          <p:nvPr/>
        </p:nvSpPr>
        <p:spPr>
          <a:xfrm xmlns:a="http://schemas.openxmlformats.org/drawingml/2006/main">
            <a:off x="7924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4F792780-553F-4FBC-B03A-CA6D319F1562}"/>
              </a:ext>
            </a:extLst>
          </p:cNvPr>
          <p:cNvSpPr>
            <a:spLocks xmlns:a="http://schemas.openxmlformats.org/drawingml/2006/main" noGrp="1"/>
          </p:cNvSpPr>
          <p:nvPr/>
        </p:nvSpPr>
        <p:spPr>
          <a:xfrm xmlns:a="http://schemas.openxmlformats.org/drawingml/2006/main">
            <a:off x="7924800" y="1666875"/>
            <a:ext cx="3238500" cy="85725"/>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6" name="">
            <a:extLst xmlns:a="http://schemas.openxmlformats.org/drawingml/2006/main">
              <a:ext uri="{FF2B5EF4-FFF2-40B4-BE49-F238E27FC236}">
                <a16:creationId xmlns:a16="http://schemas.microsoft.com/office/drawing/2014/main" id="{0AAEBA8A-5E19-496B-A792-E0E9CB73E622}"/>
              </a:ext>
            </a:extLst>
          </p:cNvPr>
          <p:cNvSpPr>
            <a:spLocks xmlns:a="http://schemas.openxmlformats.org/drawingml/2006/main" noGrp="1"/>
          </p:cNvSpPr>
          <p:nvPr/>
        </p:nvSpPr>
        <p:spPr>
          <a:xfrm xmlns:a="http://schemas.openxmlformats.org/drawingml/2006/main">
            <a:off x="8134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AGGREGATI</a:t>
            </a:r>
          </a:p>
        </p:txBody>
      </p:sp>
      <p:sp>
        <p:nvSpPr>
          <p:cNvPr id="17" name="">
            <a:extLst xmlns:a="http://schemas.openxmlformats.org/drawingml/2006/main">
              <a:ext uri="{FF2B5EF4-FFF2-40B4-BE49-F238E27FC236}">
                <a16:creationId xmlns:a16="http://schemas.microsoft.com/office/drawing/2014/main" id="{8F89221A-1A6D-4D4D-90EA-382491E65029}"/>
              </a:ext>
            </a:extLst>
          </p:cNvPr>
          <p:cNvSpPr>
            <a:spLocks xmlns:a="http://schemas.openxmlformats.org/drawingml/2006/main" noGrp="1"/>
          </p:cNvSpPr>
          <p:nvPr/>
        </p:nvSpPr>
        <p:spPr>
          <a:xfrm xmlns:a="http://schemas.openxmlformats.org/drawingml/2006/main">
            <a:off x="8134350" y="2257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EE6"/>
                </a:solidFill>
              </a:defRPr>
            </a:pPr>
            <a:r>
              <a:rPr sz="1200" b="1">
                <a:solidFill>
                  <a:srgbClr val="7C6EE6"/>
                </a:solidFill>
              </a:rPr>
              <a:t>MongoDB</a:t>
            </a:r>
          </a:p>
        </p:txBody>
      </p:sp>
      <p:sp>
        <p:nvSpPr>
          <p:cNvPr id="18" name="">
            <a:extLst xmlns:a="http://schemas.openxmlformats.org/drawingml/2006/main">
              <a:ext uri="{FF2B5EF4-FFF2-40B4-BE49-F238E27FC236}">
                <a16:creationId xmlns:a16="http://schemas.microsoft.com/office/drawing/2014/main" id="{04468C5C-FE2B-4053-8194-7A6A1F8846D5}"/>
              </a:ext>
            </a:extLst>
          </p:cNvPr>
          <p:cNvSpPr>
            <a:spLocks xmlns:a="http://schemas.openxmlformats.org/drawingml/2006/main" noGrp="1"/>
          </p:cNvSpPr>
          <p:nvPr/>
        </p:nvSpPr>
        <p:spPr>
          <a:xfrm xmlns:a="http://schemas.openxmlformats.org/drawingml/2006/main">
            <a:off x="8134350" y="26193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schema flessibile</a:t>
            </a:r>
          </a:p>
        </p:txBody>
      </p:sp>
      <p:sp>
        <p:nvSpPr>
          <p:cNvPr id="19" name="">
            <a:extLst xmlns:a="http://schemas.openxmlformats.org/drawingml/2006/main">
              <a:ext uri="{FF2B5EF4-FFF2-40B4-BE49-F238E27FC236}">
                <a16:creationId xmlns:a16="http://schemas.microsoft.com/office/drawing/2014/main" id="{50B1D9EE-D81C-4383-9028-291600FBDC9D}"/>
              </a:ext>
            </a:extLst>
          </p:cNvPr>
          <p:cNvSpPr>
            <a:spLocks xmlns:a="http://schemas.openxmlformats.org/drawingml/2006/main" noGrp="1"/>
          </p:cNvSpPr>
          <p:nvPr/>
        </p:nvSpPr>
        <p:spPr>
          <a:xfrm xmlns:a="http://schemas.openxmlformats.org/drawingml/2006/main">
            <a:off x="685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0" name="">
            <a:extLst xmlns:a="http://schemas.openxmlformats.org/drawingml/2006/main">
              <a:ext uri="{FF2B5EF4-FFF2-40B4-BE49-F238E27FC236}">
                <a16:creationId xmlns:a16="http://schemas.microsoft.com/office/drawing/2014/main" id="{FB962E38-0AD7-4796-B54C-60BEF1408CB4}"/>
              </a:ext>
            </a:extLst>
          </p:cNvPr>
          <p:cNvSpPr>
            <a:spLocks xmlns:a="http://schemas.openxmlformats.org/drawingml/2006/main" noGrp="1"/>
          </p:cNvSpPr>
          <p:nvPr/>
        </p:nvSpPr>
        <p:spPr>
          <a:xfrm xmlns:a="http://schemas.openxmlformats.org/drawingml/2006/main">
            <a:off x="685800" y="3381375"/>
            <a:ext cx="3238500" cy="85725"/>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21" name="">
            <a:extLst xmlns:a="http://schemas.openxmlformats.org/drawingml/2006/main">
              <a:ext uri="{FF2B5EF4-FFF2-40B4-BE49-F238E27FC236}">
                <a16:creationId xmlns:a16="http://schemas.microsoft.com/office/drawing/2014/main" id="{885F0EDC-969C-4153-A67C-562FA22EFB1A}"/>
              </a:ext>
            </a:extLst>
          </p:cNvPr>
          <p:cNvSpPr>
            <a:spLocks xmlns:a="http://schemas.openxmlformats.org/drawingml/2006/main" noGrp="1"/>
          </p:cNvSpPr>
          <p:nvPr/>
        </p:nvSpPr>
        <p:spPr>
          <a:xfrm xmlns:a="http://schemas.openxmlformats.org/drawingml/2006/main">
            <a:off x="895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CONNESSIONI</a:t>
            </a:r>
          </a:p>
        </p:txBody>
      </p:sp>
      <p:sp>
        <p:nvSpPr>
          <p:cNvPr id="22" name="">
            <a:extLst xmlns:a="http://schemas.openxmlformats.org/drawingml/2006/main">
              <a:ext uri="{FF2B5EF4-FFF2-40B4-BE49-F238E27FC236}">
                <a16:creationId xmlns:a16="http://schemas.microsoft.com/office/drawing/2014/main" id="{B37D3870-EB39-43C7-B1DA-93E6EB42F4BD}"/>
              </a:ext>
            </a:extLst>
          </p:cNvPr>
          <p:cNvSpPr>
            <a:spLocks xmlns:a="http://schemas.openxmlformats.org/drawingml/2006/main" noGrp="1"/>
          </p:cNvSpPr>
          <p:nvPr/>
        </p:nvSpPr>
        <p:spPr>
          <a:xfrm xmlns:a="http://schemas.openxmlformats.org/drawingml/2006/main">
            <a:off x="895350" y="3971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7E34B"/>
                </a:solidFill>
              </a:defRPr>
            </a:pPr>
            <a:r>
              <a:rPr sz="1200" b="1">
                <a:solidFill>
                  <a:srgbClr val="B7E34B"/>
                </a:solidFill>
              </a:rPr>
              <a:t>Neo4j</a:t>
            </a:r>
          </a:p>
        </p:txBody>
      </p:sp>
      <p:sp>
        <p:nvSpPr>
          <p:cNvPr id="23" name="">
            <a:extLst xmlns:a="http://schemas.openxmlformats.org/drawingml/2006/main">
              <a:ext uri="{FF2B5EF4-FFF2-40B4-BE49-F238E27FC236}">
                <a16:creationId xmlns:a16="http://schemas.microsoft.com/office/drawing/2014/main" id="{09711824-24D3-45AB-807A-D14623226AEC}"/>
              </a:ext>
            </a:extLst>
          </p:cNvPr>
          <p:cNvSpPr>
            <a:spLocks xmlns:a="http://schemas.openxmlformats.org/drawingml/2006/main" noGrp="1"/>
          </p:cNvSpPr>
          <p:nvPr/>
        </p:nvSpPr>
        <p:spPr>
          <a:xfrm xmlns:a="http://schemas.openxmlformats.org/drawingml/2006/main">
            <a:off x="895350" y="43338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path e traversal</a:t>
            </a:r>
          </a:p>
        </p:txBody>
      </p:sp>
      <p:sp>
        <p:nvSpPr>
          <p:cNvPr id="24" name="">
            <a:extLst xmlns:a="http://schemas.openxmlformats.org/drawingml/2006/main">
              <a:ext uri="{FF2B5EF4-FFF2-40B4-BE49-F238E27FC236}">
                <a16:creationId xmlns:a16="http://schemas.microsoft.com/office/drawing/2014/main" id="{D6B4B24A-055B-4458-AF82-D63F03CAC4A4}"/>
              </a:ext>
            </a:extLst>
          </p:cNvPr>
          <p:cNvSpPr>
            <a:spLocks xmlns:a="http://schemas.openxmlformats.org/drawingml/2006/main" noGrp="1"/>
          </p:cNvSpPr>
          <p:nvPr/>
        </p:nvSpPr>
        <p:spPr>
          <a:xfrm xmlns:a="http://schemas.openxmlformats.org/drawingml/2006/main">
            <a:off x="43053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BF632A9B-4A6D-4011-B9A8-0376F63E24B0}"/>
              </a:ext>
            </a:extLst>
          </p:cNvPr>
          <p:cNvSpPr>
            <a:spLocks xmlns:a="http://schemas.openxmlformats.org/drawingml/2006/main" noGrp="1"/>
          </p:cNvSpPr>
          <p:nvPr/>
        </p:nvSpPr>
        <p:spPr>
          <a:xfrm xmlns:a="http://schemas.openxmlformats.org/drawingml/2006/main">
            <a:off x="4305300" y="3381375"/>
            <a:ext cx="3238500" cy="85725"/>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26" name="">
            <a:extLst xmlns:a="http://schemas.openxmlformats.org/drawingml/2006/main">
              <a:ext uri="{FF2B5EF4-FFF2-40B4-BE49-F238E27FC236}">
                <a16:creationId xmlns:a16="http://schemas.microsoft.com/office/drawing/2014/main" id="{350E688A-50A7-4E8F-BB68-E7F9A9D748FD}"/>
              </a:ext>
            </a:extLst>
          </p:cNvPr>
          <p:cNvSpPr>
            <a:spLocks xmlns:a="http://schemas.openxmlformats.org/drawingml/2006/main" noGrp="1"/>
          </p:cNvSpPr>
          <p:nvPr/>
        </p:nvSpPr>
        <p:spPr>
          <a:xfrm xmlns:a="http://schemas.openxmlformats.org/drawingml/2006/main">
            <a:off x="45148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RILEVANZA</a:t>
            </a:r>
          </a:p>
        </p:txBody>
      </p:sp>
      <p:sp>
        <p:nvSpPr>
          <p:cNvPr id="27" name="">
            <a:extLst xmlns:a="http://schemas.openxmlformats.org/drawingml/2006/main">
              <a:ext uri="{FF2B5EF4-FFF2-40B4-BE49-F238E27FC236}">
                <a16:creationId xmlns:a16="http://schemas.microsoft.com/office/drawing/2014/main" id="{2447F3A5-2C4F-4C25-B631-078004C2A1EE}"/>
              </a:ext>
            </a:extLst>
          </p:cNvPr>
          <p:cNvSpPr>
            <a:spLocks xmlns:a="http://schemas.openxmlformats.org/drawingml/2006/main" noGrp="1"/>
          </p:cNvSpPr>
          <p:nvPr/>
        </p:nvSpPr>
        <p:spPr>
          <a:xfrm xmlns:a="http://schemas.openxmlformats.org/drawingml/2006/main">
            <a:off x="4514850" y="3971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EF5A5A"/>
                </a:solidFill>
              </a:defRPr>
            </a:pPr>
            <a:r>
              <a:rPr sz="1200" b="1">
                <a:solidFill>
                  <a:srgbClr val="EF5A5A"/>
                </a:solidFill>
              </a:rPr>
              <a:t>Elasticsearch</a:t>
            </a:r>
          </a:p>
        </p:txBody>
      </p:sp>
      <p:sp>
        <p:nvSpPr>
          <p:cNvPr id="28" name="">
            <a:extLst xmlns:a="http://schemas.openxmlformats.org/drawingml/2006/main">
              <a:ext uri="{FF2B5EF4-FFF2-40B4-BE49-F238E27FC236}">
                <a16:creationId xmlns:a16="http://schemas.microsoft.com/office/drawing/2014/main" id="{B250EC41-97B0-4F46-8C42-25A67DCC3C1E}"/>
              </a:ext>
            </a:extLst>
          </p:cNvPr>
          <p:cNvSpPr>
            <a:spLocks xmlns:a="http://schemas.openxmlformats.org/drawingml/2006/main" noGrp="1"/>
          </p:cNvSpPr>
          <p:nvPr/>
        </p:nvSpPr>
        <p:spPr>
          <a:xfrm xmlns:a="http://schemas.openxmlformats.org/drawingml/2006/main">
            <a:off x="4514850" y="43338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testo e ranking</a:t>
            </a:r>
          </a:p>
        </p:txBody>
      </p:sp>
      <p:sp>
        <p:nvSpPr>
          <p:cNvPr id="29" name="">
            <a:extLst xmlns:a="http://schemas.openxmlformats.org/drawingml/2006/main">
              <a:ext uri="{FF2B5EF4-FFF2-40B4-BE49-F238E27FC236}">
                <a16:creationId xmlns:a16="http://schemas.microsoft.com/office/drawing/2014/main" id="{DF920969-12CE-4BA0-940D-61AD90C4CBF5}"/>
              </a:ext>
            </a:extLst>
          </p:cNvPr>
          <p:cNvSpPr>
            <a:spLocks xmlns:a="http://schemas.openxmlformats.org/drawingml/2006/main" noGrp="1"/>
          </p:cNvSpPr>
          <p:nvPr/>
        </p:nvSpPr>
        <p:spPr>
          <a:xfrm xmlns:a="http://schemas.openxmlformats.org/drawingml/2006/main">
            <a:off x="7924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30" name="">
            <a:extLst xmlns:a="http://schemas.openxmlformats.org/drawingml/2006/main">
              <a:ext uri="{FF2B5EF4-FFF2-40B4-BE49-F238E27FC236}">
                <a16:creationId xmlns:a16="http://schemas.microsoft.com/office/drawing/2014/main" id="{C3658A91-B130-4A50-B0FD-5A8D515F1C66}"/>
              </a:ext>
            </a:extLst>
          </p:cNvPr>
          <p:cNvSpPr>
            <a:spLocks xmlns:a="http://schemas.openxmlformats.org/drawingml/2006/main" noGrp="1"/>
          </p:cNvSpPr>
          <p:nvPr/>
        </p:nvSpPr>
        <p:spPr>
          <a:xfrm xmlns:a="http://schemas.openxmlformats.org/drawingml/2006/main">
            <a:off x="7924800" y="3381375"/>
            <a:ext cx="3238500" cy="85725"/>
          </a:xfrm>
          <a:prstGeom xmlns:a="http://schemas.openxmlformats.org/drawingml/2006/main" prst="rect">
            <a:avLst/>
          </a:prstGeom>
          <a:solidFill xmlns:a="http://schemas.openxmlformats.org/drawingml/2006/main">
            <a:srgbClr val="27A36A"/>
          </a:solidFill>
          <a:ln xmlns:a="http://schemas.openxmlformats.org/drawingml/2006/main" w="9525">
            <a:solidFill>
              <a:srgbClr val="27A36A"/>
            </a:solidFill>
            <a:prstDash val="solid"/>
          </a:ln>
        </p:spPr>
      </p:sp>
      <p:sp>
        <p:nvSpPr>
          <p:cNvPr id="31" name="">
            <a:extLst xmlns:a="http://schemas.openxmlformats.org/drawingml/2006/main">
              <a:ext uri="{FF2B5EF4-FFF2-40B4-BE49-F238E27FC236}">
                <a16:creationId xmlns:a16="http://schemas.microsoft.com/office/drawing/2014/main" id="{2E0BB214-6834-4916-87E1-EB68F9D21330}"/>
              </a:ext>
            </a:extLst>
          </p:cNvPr>
          <p:cNvSpPr>
            <a:spLocks xmlns:a="http://schemas.openxmlformats.org/drawingml/2006/main" noGrp="1"/>
          </p:cNvSpPr>
          <p:nvPr/>
        </p:nvSpPr>
        <p:spPr>
          <a:xfrm xmlns:a="http://schemas.openxmlformats.org/drawingml/2006/main">
            <a:off x="8134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OGGETTI</a:t>
            </a:r>
          </a:p>
        </p:txBody>
      </p:sp>
      <p:sp>
        <p:nvSpPr>
          <p:cNvPr id="32" name="">
            <a:extLst xmlns:a="http://schemas.openxmlformats.org/drawingml/2006/main">
              <a:ext uri="{FF2B5EF4-FFF2-40B4-BE49-F238E27FC236}">
                <a16:creationId xmlns:a16="http://schemas.microsoft.com/office/drawing/2014/main" id="{18693C85-7387-48B7-A79D-A0C79FEE20F8}"/>
              </a:ext>
            </a:extLst>
          </p:cNvPr>
          <p:cNvSpPr>
            <a:spLocks xmlns:a="http://schemas.openxmlformats.org/drawingml/2006/main" noGrp="1"/>
          </p:cNvSpPr>
          <p:nvPr/>
        </p:nvSpPr>
        <p:spPr>
          <a:xfrm xmlns:a="http://schemas.openxmlformats.org/drawingml/2006/main">
            <a:off x="8134350" y="3971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7A36A"/>
                </a:solidFill>
              </a:defRPr>
            </a:pPr>
            <a:r>
              <a:rPr sz="1200" b="1">
                <a:solidFill>
                  <a:srgbClr val="27A36A"/>
                </a:solidFill>
              </a:rPr>
              <a:t>S3</a:t>
            </a:r>
          </a:p>
        </p:txBody>
      </p:sp>
      <p:sp>
        <p:nvSpPr>
          <p:cNvPr id="33" name="">
            <a:extLst xmlns:a="http://schemas.openxmlformats.org/drawingml/2006/main">
              <a:ext uri="{FF2B5EF4-FFF2-40B4-BE49-F238E27FC236}">
                <a16:creationId xmlns:a16="http://schemas.microsoft.com/office/drawing/2014/main" id="{F4F9C79A-9AB8-441A-87BE-B66AAE8DCB19}"/>
              </a:ext>
            </a:extLst>
          </p:cNvPr>
          <p:cNvSpPr>
            <a:spLocks xmlns:a="http://schemas.openxmlformats.org/drawingml/2006/main" noGrp="1"/>
          </p:cNvSpPr>
          <p:nvPr/>
        </p:nvSpPr>
        <p:spPr>
          <a:xfrm xmlns:a="http://schemas.openxmlformats.org/drawingml/2006/main">
            <a:off x="8134350" y="43338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video e dataset</a:t>
            </a:r>
          </a:p>
        </p:txBody>
      </p:sp>
      <p:sp>
        <p:nvSpPr>
          <p:cNvPr id="34" name="">
            <a:extLst xmlns:a="http://schemas.openxmlformats.org/drawingml/2006/main">
              <a:ext uri="{FF2B5EF4-FFF2-40B4-BE49-F238E27FC236}">
                <a16:creationId xmlns:a16="http://schemas.microsoft.com/office/drawing/2014/main" id="{962474D1-9C7D-48CF-8B95-D7DE2A02A14A}"/>
              </a:ext>
            </a:extLst>
          </p:cNvPr>
          <p:cNvSpPr>
            <a:spLocks xmlns:a="http://schemas.openxmlformats.org/drawingml/2006/main" noGrp="1"/>
          </p:cNvSpPr>
          <p:nvPr/>
        </p:nvSpPr>
        <p:spPr>
          <a:xfrm xmlns:a="http://schemas.openxmlformats.org/drawingml/2006/main">
            <a:off x="3476625" y="5429250"/>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Il nome arriva dopo il requisito misurabile.</a:t>
            </a:r>
          </a:p>
        </p:txBody>
      </p:sp>
    </p:spTree>
    <p:extLst>
      <p:ext uri="{BB962C8B-B14F-4D97-AF65-F5344CB8AC3E}">
        <p14:creationId xmlns:p14="http://schemas.microsoft.com/office/powerpoint/2010/main" val="183080840"/>
      </p:ext>
    </p:extLst>
  </p:cSld>
</p:sld>
</file>

<file path=ppt/slides/slide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D9572F3-7A57-4F94-B5CE-D7DE1D60361D}"/>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DATABASE PER SERVICE</a:t>
            </a:r>
          </a:p>
        </p:txBody>
      </p:sp>
      <p:sp>
        <p:nvSpPr>
          <p:cNvPr id="2" name="">
            <a:extLst xmlns:a="http://schemas.openxmlformats.org/drawingml/2006/main">
              <a:ext uri="{FF2B5EF4-FFF2-40B4-BE49-F238E27FC236}">
                <a16:creationId xmlns:a16="http://schemas.microsoft.com/office/drawing/2014/main" id="{EF22C7A7-72E3-40AD-A7F1-130E2F172A7A}"/>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Il confine più importante non è tecnologico: è l’ownership</a:t>
            </a:r>
          </a:p>
        </p:txBody>
      </p:sp>
      <p:sp>
        <p:nvSpPr>
          <p:cNvPr id="3" name="">
            <a:extLst xmlns:a="http://schemas.openxmlformats.org/drawingml/2006/main">
              <a:ext uri="{FF2B5EF4-FFF2-40B4-BE49-F238E27FC236}">
                <a16:creationId xmlns:a16="http://schemas.microsoft.com/office/drawing/2014/main" id="{84FD8A4A-7C45-47A7-A984-E5AF2996BB24}"/>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05</a:t>
            </a:r>
          </a:p>
        </p:txBody>
      </p:sp>
      <p:sp>
        <p:nvSpPr>
          <p:cNvPr id="4" name="">
            <a:extLst xmlns:a="http://schemas.openxmlformats.org/drawingml/2006/main">
              <a:ext uri="{FF2B5EF4-FFF2-40B4-BE49-F238E27FC236}">
                <a16:creationId xmlns:a16="http://schemas.microsoft.com/office/drawing/2014/main" id="{2D1FB087-E2EB-47DB-B133-31EC9D6D8EE8}"/>
              </a:ext>
            </a:extLst>
          </p:cNvPr>
          <p:cNvSpPr>
            <a:spLocks xmlns:a="http://schemas.openxmlformats.org/drawingml/2006/main" noGrp="1"/>
          </p:cNvSpPr>
          <p:nvPr/>
        </p:nvSpPr>
        <p:spPr>
          <a:xfrm xmlns:a="http://schemas.openxmlformats.org/drawingml/2006/main">
            <a:off x="1000125" y="1809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B8D9"/>
                </a:solidFill>
              </a:defRPr>
            </a:pPr>
            <a:r>
              <a:rPr sz="1650" b="1">
                <a:solidFill>
                  <a:srgbClr val="00B8D9"/>
                </a:solidFill>
              </a:rPr>
              <a:t>ACCOUNT SERVICE</a:t>
            </a:r>
          </a:p>
        </p:txBody>
      </p:sp>
      <p:sp>
        <p:nvSpPr>
          <p:cNvPr id="5" name="">
            <a:extLst xmlns:a="http://schemas.openxmlformats.org/drawingml/2006/main">
              <a:ext uri="{FF2B5EF4-FFF2-40B4-BE49-F238E27FC236}">
                <a16:creationId xmlns:a16="http://schemas.microsoft.com/office/drawing/2014/main" id="{DDFED204-FB23-4957-8DD2-8484A9FB6524}"/>
              </a:ext>
            </a:extLst>
          </p:cNvPr>
          <p:cNvSpPr>
            <a:spLocks xmlns:a="http://schemas.openxmlformats.org/drawingml/2006/main" noGrp="1"/>
          </p:cNvSpPr>
          <p:nvPr/>
        </p:nvSpPr>
        <p:spPr>
          <a:xfrm xmlns:a="http://schemas.openxmlformats.org/drawingml/2006/main">
            <a:off x="1238250" y="2428875"/>
            <a:ext cx="23812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8DDE3"/>
            </a:solidFill>
            <a:prstDash val="solid"/>
          </a:ln>
        </p:spPr>
      </p:sp>
      <p:sp>
        <p:nvSpPr>
          <p:cNvPr id="6" name="">
            <a:extLst xmlns:a="http://schemas.openxmlformats.org/drawingml/2006/main">
              <a:ext uri="{FF2B5EF4-FFF2-40B4-BE49-F238E27FC236}">
                <a16:creationId xmlns:a16="http://schemas.microsoft.com/office/drawing/2014/main" id="{6D1D5EA8-2CC9-43C3-B2EF-34E71E7A1EAA}"/>
              </a:ext>
            </a:extLst>
          </p:cNvPr>
          <p:cNvSpPr>
            <a:spLocks xmlns:a="http://schemas.openxmlformats.org/drawingml/2006/main" noGrp="1"/>
          </p:cNvSpPr>
          <p:nvPr/>
        </p:nvSpPr>
        <p:spPr>
          <a:xfrm xmlns:a="http://schemas.openxmlformats.org/drawingml/2006/main">
            <a:off x="1238250" y="2428875"/>
            <a:ext cx="2381250" cy="9525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7" name="">
            <a:extLst xmlns:a="http://schemas.openxmlformats.org/drawingml/2006/main">
              <a:ext uri="{FF2B5EF4-FFF2-40B4-BE49-F238E27FC236}">
                <a16:creationId xmlns:a16="http://schemas.microsoft.com/office/drawing/2014/main" id="{41603F83-03AF-433A-AAE1-9FB628D0E73E}"/>
              </a:ext>
            </a:extLst>
          </p:cNvPr>
          <p:cNvSpPr>
            <a:spLocks xmlns:a="http://schemas.openxmlformats.org/drawingml/2006/main" noGrp="1"/>
          </p:cNvSpPr>
          <p:nvPr/>
        </p:nvSpPr>
        <p:spPr>
          <a:xfrm xmlns:a="http://schemas.openxmlformats.org/drawingml/2006/main">
            <a:off x="1571625" y="2762250"/>
            <a:ext cx="1714500" cy="266700"/>
          </a:xfrm>
          <a:prstGeom xmlns:a="http://schemas.openxmlformats.org/drawingml/2006/main" prst="ellipse">
            <a:avLst/>
          </a:prstGeom>
          <a:solidFill xmlns:a="http://schemas.openxmlformats.org/drawingml/2006/main">
            <a:srgbClr val="00B8D9"/>
          </a:solidFill>
          <a:ln xmlns:a="http://schemas.openxmlformats.org/drawingml/2006/main" w="9525">
            <a:solidFill>
              <a:srgbClr val="00B8D9"/>
            </a:solidFill>
            <a:prstDash val="solid"/>
          </a:ln>
        </p:spPr>
      </p:sp>
      <p:sp>
        <p:nvSpPr>
          <p:cNvPr id="8" name="">
            <a:extLst xmlns:a="http://schemas.openxmlformats.org/drawingml/2006/main">
              <a:ext uri="{FF2B5EF4-FFF2-40B4-BE49-F238E27FC236}">
                <a16:creationId xmlns:a16="http://schemas.microsoft.com/office/drawing/2014/main" id="{4ABD7974-4D3E-4AFD-907C-0A44D9C77F48}"/>
              </a:ext>
            </a:extLst>
          </p:cNvPr>
          <p:cNvSpPr>
            <a:spLocks xmlns:a="http://schemas.openxmlformats.org/drawingml/2006/main" noGrp="1"/>
          </p:cNvSpPr>
          <p:nvPr/>
        </p:nvSpPr>
        <p:spPr>
          <a:xfrm xmlns:a="http://schemas.openxmlformats.org/drawingml/2006/main">
            <a:off x="1571625" y="2895600"/>
            <a:ext cx="1714500" cy="66675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9" name="">
            <a:extLst xmlns:a="http://schemas.openxmlformats.org/drawingml/2006/main">
              <a:ext uri="{FF2B5EF4-FFF2-40B4-BE49-F238E27FC236}">
                <a16:creationId xmlns:a16="http://schemas.microsoft.com/office/drawing/2014/main" id="{117EB433-14BF-4D8D-AD93-9B90434A5ADA}"/>
              </a:ext>
            </a:extLst>
          </p:cNvPr>
          <p:cNvSpPr>
            <a:spLocks xmlns:a="http://schemas.openxmlformats.org/drawingml/2006/main" noGrp="1"/>
          </p:cNvSpPr>
          <p:nvPr/>
        </p:nvSpPr>
        <p:spPr>
          <a:xfrm xmlns:a="http://schemas.openxmlformats.org/drawingml/2006/main">
            <a:off x="1571625" y="3381375"/>
            <a:ext cx="1714500" cy="266700"/>
          </a:xfrm>
          <a:prstGeom xmlns:a="http://schemas.openxmlformats.org/drawingml/2006/main" prst="ellipse">
            <a:avLst/>
          </a:prstGeom>
          <a:solidFill xmlns:a="http://schemas.openxmlformats.org/drawingml/2006/main">
            <a:srgbClr val="00B8D9"/>
          </a:solidFill>
          <a:ln xmlns:a="http://schemas.openxmlformats.org/drawingml/2006/main" w="9525">
            <a:solidFill>
              <a:srgbClr val="00B8D9"/>
            </a:solidFill>
            <a:prstDash val="solid"/>
          </a:ln>
        </p:spPr>
      </p:sp>
      <p:sp>
        <p:nvSpPr>
          <p:cNvPr id="10" name="">
            <a:extLst xmlns:a="http://schemas.openxmlformats.org/drawingml/2006/main">
              <a:ext uri="{FF2B5EF4-FFF2-40B4-BE49-F238E27FC236}">
                <a16:creationId xmlns:a16="http://schemas.microsoft.com/office/drawing/2014/main" id="{B9E0A8F4-BBE3-424A-B251-22EF83B174EE}"/>
              </a:ext>
            </a:extLst>
          </p:cNvPr>
          <p:cNvSpPr>
            <a:spLocks xmlns:a="http://schemas.openxmlformats.org/drawingml/2006/main" noGrp="1"/>
          </p:cNvSpPr>
          <p:nvPr/>
        </p:nvSpPr>
        <p:spPr>
          <a:xfrm xmlns:a="http://schemas.openxmlformats.org/drawingml/2006/main">
            <a:off x="1352550" y="42100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POSTGRESQL</a:t>
            </a:r>
          </a:p>
        </p:txBody>
      </p:sp>
      <p:sp>
        <p:nvSpPr>
          <p:cNvPr id="11" name="">
            <a:extLst xmlns:a="http://schemas.openxmlformats.org/drawingml/2006/main">
              <a:ext uri="{FF2B5EF4-FFF2-40B4-BE49-F238E27FC236}">
                <a16:creationId xmlns:a16="http://schemas.microsoft.com/office/drawing/2014/main" id="{7F76F724-5896-4319-84A1-83AAFD0B7662}"/>
              </a:ext>
            </a:extLst>
          </p:cNvPr>
          <p:cNvSpPr>
            <a:spLocks xmlns:a="http://schemas.openxmlformats.org/drawingml/2006/main" noGrp="1"/>
          </p:cNvSpPr>
          <p:nvPr/>
        </p:nvSpPr>
        <p:spPr>
          <a:xfrm xmlns:a="http://schemas.openxmlformats.org/drawingml/2006/main">
            <a:off x="1352550" y="4467225"/>
            <a:ext cx="215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possiede account</a:t>
            </a:r>
          </a:p>
        </p:txBody>
      </p:sp>
      <p:sp>
        <p:nvSpPr>
          <p:cNvPr id="12" name="">
            <a:extLst xmlns:a="http://schemas.openxmlformats.org/drawingml/2006/main">
              <a:ext uri="{FF2B5EF4-FFF2-40B4-BE49-F238E27FC236}">
                <a16:creationId xmlns:a16="http://schemas.microsoft.com/office/drawing/2014/main" id="{A7D31F8E-EB1A-442B-B6BD-A3D2E6D2999A}"/>
              </a:ext>
            </a:extLst>
          </p:cNvPr>
          <p:cNvSpPr>
            <a:spLocks xmlns:a="http://schemas.openxmlformats.org/drawingml/2006/main" noGrp="1"/>
          </p:cNvSpPr>
          <p:nvPr/>
        </p:nvSpPr>
        <p:spPr>
          <a:xfrm xmlns:a="http://schemas.openxmlformats.org/drawingml/2006/main">
            <a:off x="4667250" y="1809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8A4C"/>
                </a:solidFill>
              </a:defRPr>
            </a:pPr>
            <a:r>
              <a:rPr sz="1650" b="1">
                <a:solidFill>
                  <a:srgbClr val="FF8A4C"/>
                </a:solidFill>
              </a:rPr>
              <a:t>CATALOG SERVICE</a:t>
            </a:r>
          </a:p>
        </p:txBody>
      </p:sp>
      <p:sp>
        <p:nvSpPr>
          <p:cNvPr id="13" name="">
            <a:extLst xmlns:a="http://schemas.openxmlformats.org/drawingml/2006/main">
              <a:ext uri="{FF2B5EF4-FFF2-40B4-BE49-F238E27FC236}">
                <a16:creationId xmlns:a16="http://schemas.microsoft.com/office/drawing/2014/main" id="{CF7C9768-0479-4D63-A481-0B2AA1927056}"/>
              </a:ext>
            </a:extLst>
          </p:cNvPr>
          <p:cNvSpPr>
            <a:spLocks xmlns:a="http://schemas.openxmlformats.org/drawingml/2006/main" noGrp="1"/>
          </p:cNvSpPr>
          <p:nvPr/>
        </p:nvSpPr>
        <p:spPr>
          <a:xfrm xmlns:a="http://schemas.openxmlformats.org/drawingml/2006/main">
            <a:off x="4905375" y="2428875"/>
            <a:ext cx="23812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8DDE3"/>
            </a:solidFill>
            <a:prstDash val="solid"/>
          </a:ln>
        </p:spPr>
      </p:sp>
      <p:sp>
        <p:nvSpPr>
          <p:cNvPr id="14" name="">
            <a:extLst xmlns:a="http://schemas.openxmlformats.org/drawingml/2006/main">
              <a:ext uri="{FF2B5EF4-FFF2-40B4-BE49-F238E27FC236}">
                <a16:creationId xmlns:a16="http://schemas.microsoft.com/office/drawing/2014/main" id="{DA9CDD2B-A13E-43DF-B089-763474E24B81}"/>
              </a:ext>
            </a:extLst>
          </p:cNvPr>
          <p:cNvSpPr>
            <a:spLocks xmlns:a="http://schemas.openxmlformats.org/drawingml/2006/main" noGrp="1"/>
          </p:cNvSpPr>
          <p:nvPr/>
        </p:nvSpPr>
        <p:spPr>
          <a:xfrm xmlns:a="http://schemas.openxmlformats.org/drawingml/2006/main">
            <a:off x="4905375" y="2428875"/>
            <a:ext cx="2381250" cy="9525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5" name="">
            <a:extLst xmlns:a="http://schemas.openxmlformats.org/drawingml/2006/main">
              <a:ext uri="{FF2B5EF4-FFF2-40B4-BE49-F238E27FC236}">
                <a16:creationId xmlns:a16="http://schemas.microsoft.com/office/drawing/2014/main" id="{BCB5EDC9-085C-480D-ABA2-D727D64B08D0}"/>
              </a:ext>
            </a:extLst>
          </p:cNvPr>
          <p:cNvSpPr>
            <a:spLocks xmlns:a="http://schemas.openxmlformats.org/drawingml/2006/main" noGrp="1"/>
          </p:cNvSpPr>
          <p:nvPr/>
        </p:nvSpPr>
        <p:spPr>
          <a:xfrm xmlns:a="http://schemas.openxmlformats.org/drawingml/2006/main">
            <a:off x="5238750" y="2762250"/>
            <a:ext cx="1714500" cy="266700"/>
          </a:xfrm>
          <a:prstGeom xmlns:a="http://schemas.openxmlformats.org/drawingml/2006/main" prst="ellipse">
            <a:avLst/>
          </a:prstGeom>
          <a:solidFill xmlns:a="http://schemas.openxmlformats.org/drawingml/2006/main">
            <a:srgbClr val="FF8A4C"/>
          </a:solidFill>
          <a:ln xmlns:a="http://schemas.openxmlformats.org/drawingml/2006/main" w="9525">
            <a:solidFill>
              <a:srgbClr val="FF8A4C"/>
            </a:solidFill>
            <a:prstDash val="solid"/>
          </a:ln>
        </p:spPr>
      </p:sp>
      <p:sp>
        <p:nvSpPr>
          <p:cNvPr id="16" name="">
            <a:extLst xmlns:a="http://schemas.openxmlformats.org/drawingml/2006/main">
              <a:ext uri="{FF2B5EF4-FFF2-40B4-BE49-F238E27FC236}">
                <a16:creationId xmlns:a16="http://schemas.microsoft.com/office/drawing/2014/main" id="{5B448869-D51A-4A86-8AB2-E7C015674D15}"/>
              </a:ext>
            </a:extLst>
          </p:cNvPr>
          <p:cNvSpPr>
            <a:spLocks xmlns:a="http://schemas.openxmlformats.org/drawingml/2006/main" noGrp="1"/>
          </p:cNvSpPr>
          <p:nvPr/>
        </p:nvSpPr>
        <p:spPr>
          <a:xfrm xmlns:a="http://schemas.openxmlformats.org/drawingml/2006/main">
            <a:off x="5238750" y="2895600"/>
            <a:ext cx="1714500" cy="66675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7" name="">
            <a:extLst xmlns:a="http://schemas.openxmlformats.org/drawingml/2006/main">
              <a:ext uri="{FF2B5EF4-FFF2-40B4-BE49-F238E27FC236}">
                <a16:creationId xmlns:a16="http://schemas.microsoft.com/office/drawing/2014/main" id="{90A00E7A-EDEC-4F93-98D6-4BE7EBD75307}"/>
              </a:ext>
            </a:extLst>
          </p:cNvPr>
          <p:cNvSpPr>
            <a:spLocks xmlns:a="http://schemas.openxmlformats.org/drawingml/2006/main" noGrp="1"/>
          </p:cNvSpPr>
          <p:nvPr/>
        </p:nvSpPr>
        <p:spPr>
          <a:xfrm xmlns:a="http://schemas.openxmlformats.org/drawingml/2006/main">
            <a:off x="5238750" y="3381375"/>
            <a:ext cx="1714500" cy="266700"/>
          </a:xfrm>
          <a:prstGeom xmlns:a="http://schemas.openxmlformats.org/drawingml/2006/main" prst="ellipse">
            <a:avLst/>
          </a:prstGeom>
          <a:solidFill xmlns:a="http://schemas.openxmlformats.org/drawingml/2006/main">
            <a:srgbClr val="FF8A4C"/>
          </a:solidFill>
          <a:ln xmlns:a="http://schemas.openxmlformats.org/drawingml/2006/main" w="9525">
            <a:solidFill>
              <a:srgbClr val="FF8A4C"/>
            </a:solidFill>
            <a:prstDash val="solid"/>
          </a:ln>
        </p:spPr>
      </p:sp>
      <p:sp>
        <p:nvSpPr>
          <p:cNvPr id="18" name="">
            <a:extLst xmlns:a="http://schemas.openxmlformats.org/drawingml/2006/main">
              <a:ext uri="{FF2B5EF4-FFF2-40B4-BE49-F238E27FC236}">
                <a16:creationId xmlns:a16="http://schemas.microsoft.com/office/drawing/2014/main" id="{43AA6951-ABAB-4068-BFCD-569FC7F4A371}"/>
              </a:ext>
            </a:extLst>
          </p:cNvPr>
          <p:cNvSpPr>
            <a:spLocks xmlns:a="http://schemas.openxmlformats.org/drawingml/2006/main" noGrp="1"/>
          </p:cNvSpPr>
          <p:nvPr/>
        </p:nvSpPr>
        <p:spPr>
          <a:xfrm xmlns:a="http://schemas.openxmlformats.org/drawingml/2006/main">
            <a:off x="5019675" y="42100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MONGODB</a:t>
            </a:r>
          </a:p>
        </p:txBody>
      </p:sp>
      <p:sp>
        <p:nvSpPr>
          <p:cNvPr id="19" name="">
            <a:extLst xmlns:a="http://schemas.openxmlformats.org/drawingml/2006/main">
              <a:ext uri="{FF2B5EF4-FFF2-40B4-BE49-F238E27FC236}">
                <a16:creationId xmlns:a16="http://schemas.microsoft.com/office/drawing/2014/main" id="{13BEE1F8-201B-4A7A-B866-5195750B7257}"/>
              </a:ext>
            </a:extLst>
          </p:cNvPr>
          <p:cNvSpPr>
            <a:spLocks xmlns:a="http://schemas.openxmlformats.org/drawingml/2006/main" noGrp="1"/>
          </p:cNvSpPr>
          <p:nvPr/>
        </p:nvSpPr>
        <p:spPr>
          <a:xfrm xmlns:a="http://schemas.openxmlformats.org/drawingml/2006/main">
            <a:off x="5019675" y="4467225"/>
            <a:ext cx="215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possiede film</a:t>
            </a:r>
          </a:p>
        </p:txBody>
      </p:sp>
      <p:sp>
        <p:nvSpPr>
          <p:cNvPr id="20" name="">
            <a:extLst xmlns:a="http://schemas.openxmlformats.org/drawingml/2006/main">
              <a:ext uri="{FF2B5EF4-FFF2-40B4-BE49-F238E27FC236}">
                <a16:creationId xmlns:a16="http://schemas.microsoft.com/office/drawing/2014/main" id="{3CB8461C-527C-4485-AE53-635FC2CE4F88}"/>
              </a:ext>
            </a:extLst>
          </p:cNvPr>
          <p:cNvSpPr>
            <a:spLocks xmlns:a="http://schemas.openxmlformats.org/drawingml/2006/main" noGrp="1"/>
          </p:cNvSpPr>
          <p:nvPr/>
        </p:nvSpPr>
        <p:spPr>
          <a:xfrm xmlns:a="http://schemas.openxmlformats.org/drawingml/2006/main">
            <a:off x="8334375" y="1809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7C6EE6"/>
                </a:solidFill>
              </a:defRPr>
            </a:pPr>
            <a:r>
              <a:rPr sz="1650" b="1">
                <a:solidFill>
                  <a:srgbClr val="7C6EE6"/>
                </a:solidFill>
              </a:rPr>
              <a:t>SOCIAL SERVICE</a:t>
            </a:r>
          </a:p>
        </p:txBody>
      </p:sp>
      <p:sp>
        <p:nvSpPr>
          <p:cNvPr id="21" name="">
            <a:extLst xmlns:a="http://schemas.openxmlformats.org/drawingml/2006/main">
              <a:ext uri="{FF2B5EF4-FFF2-40B4-BE49-F238E27FC236}">
                <a16:creationId xmlns:a16="http://schemas.microsoft.com/office/drawing/2014/main" id="{1C21B3FB-8611-4DA8-BE9B-18CD11FD49F6}"/>
              </a:ext>
            </a:extLst>
          </p:cNvPr>
          <p:cNvSpPr>
            <a:spLocks xmlns:a="http://schemas.openxmlformats.org/drawingml/2006/main" noGrp="1"/>
          </p:cNvSpPr>
          <p:nvPr/>
        </p:nvSpPr>
        <p:spPr>
          <a:xfrm xmlns:a="http://schemas.openxmlformats.org/drawingml/2006/main">
            <a:off x="8572500" y="2428875"/>
            <a:ext cx="23812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8DDE3"/>
            </a:solidFill>
            <a:prstDash val="solid"/>
          </a:ln>
        </p:spPr>
      </p:sp>
      <p:sp>
        <p:nvSpPr>
          <p:cNvPr id="22" name="">
            <a:extLst xmlns:a="http://schemas.openxmlformats.org/drawingml/2006/main">
              <a:ext uri="{FF2B5EF4-FFF2-40B4-BE49-F238E27FC236}">
                <a16:creationId xmlns:a16="http://schemas.microsoft.com/office/drawing/2014/main" id="{CB0D1CF1-991D-4DD9-84CD-06563C533BB3}"/>
              </a:ext>
            </a:extLst>
          </p:cNvPr>
          <p:cNvSpPr>
            <a:spLocks xmlns:a="http://schemas.openxmlformats.org/drawingml/2006/main" noGrp="1"/>
          </p:cNvSpPr>
          <p:nvPr/>
        </p:nvSpPr>
        <p:spPr>
          <a:xfrm xmlns:a="http://schemas.openxmlformats.org/drawingml/2006/main">
            <a:off x="8572500" y="2428875"/>
            <a:ext cx="2381250" cy="9525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23" name="">
            <a:extLst xmlns:a="http://schemas.openxmlformats.org/drawingml/2006/main">
              <a:ext uri="{FF2B5EF4-FFF2-40B4-BE49-F238E27FC236}">
                <a16:creationId xmlns:a16="http://schemas.microsoft.com/office/drawing/2014/main" id="{0E1252AB-0A7A-4EC3-9F18-8FEE89D71A62}"/>
              </a:ext>
            </a:extLst>
          </p:cNvPr>
          <p:cNvSpPr>
            <a:spLocks xmlns:a="http://schemas.openxmlformats.org/drawingml/2006/main" noGrp="1"/>
          </p:cNvSpPr>
          <p:nvPr/>
        </p:nvSpPr>
        <p:spPr>
          <a:xfrm xmlns:a="http://schemas.openxmlformats.org/drawingml/2006/main">
            <a:off x="8905875" y="2762250"/>
            <a:ext cx="1714500" cy="266700"/>
          </a:xfrm>
          <a:prstGeom xmlns:a="http://schemas.openxmlformats.org/drawingml/2006/main" prst="ellipse">
            <a:avLst/>
          </a:prstGeom>
          <a:solidFill xmlns:a="http://schemas.openxmlformats.org/drawingml/2006/main">
            <a:srgbClr val="7C6EE6"/>
          </a:solidFill>
          <a:ln xmlns:a="http://schemas.openxmlformats.org/drawingml/2006/main" w="9525">
            <a:solidFill>
              <a:srgbClr val="7C6EE6"/>
            </a:solidFill>
            <a:prstDash val="solid"/>
          </a:ln>
        </p:spPr>
      </p:sp>
      <p:sp>
        <p:nvSpPr>
          <p:cNvPr id="24" name="">
            <a:extLst xmlns:a="http://schemas.openxmlformats.org/drawingml/2006/main">
              <a:ext uri="{FF2B5EF4-FFF2-40B4-BE49-F238E27FC236}">
                <a16:creationId xmlns:a16="http://schemas.microsoft.com/office/drawing/2014/main" id="{12E7C93B-D9D9-4588-BCBC-8D328BF6C5DB}"/>
              </a:ext>
            </a:extLst>
          </p:cNvPr>
          <p:cNvSpPr>
            <a:spLocks xmlns:a="http://schemas.openxmlformats.org/drawingml/2006/main" noGrp="1"/>
          </p:cNvSpPr>
          <p:nvPr/>
        </p:nvSpPr>
        <p:spPr>
          <a:xfrm xmlns:a="http://schemas.openxmlformats.org/drawingml/2006/main">
            <a:off x="8905875" y="2895600"/>
            <a:ext cx="1714500" cy="66675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25" name="">
            <a:extLst xmlns:a="http://schemas.openxmlformats.org/drawingml/2006/main">
              <a:ext uri="{FF2B5EF4-FFF2-40B4-BE49-F238E27FC236}">
                <a16:creationId xmlns:a16="http://schemas.microsoft.com/office/drawing/2014/main" id="{4ED4ECA6-9C97-4E28-A29E-573D7F263A84}"/>
              </a:ext>
            </a:extLst>
          </p:cNvPr>
          <p:cNvSpPr>
            <a:spLocks xmlns:a="http://schemas.openxmlformats.org/drawingml/2006/main" noGrp="1"/>
          </p:cNvSpPr>
          <p:nvPr/>
        </p:nvSpPr>
        <p:spPr>
          <a:xfrm xmlns:a="http://schemas.openxmlformats.org/drawingml/2006/main">
            <a:off x="8905875" y="3381375"/>
            <a:ext cx="1714500" cy="266700"/>
          </a:xfrm>
          <a:prstGeom xmlns:a="http://schemas.openxmlformats.org/drawingml/2006/main" prst="ellipse">
            <a:avLst/>
          </a:prstGeom>
          <a:solidFill xmlns:a="http://schemas.openxmlformats.org/drawingml/2006/main">
            <a:srgbClr val="7C6EE6"/>
          </a:solidFill>
          <a:ln xmlns:a="http://schemas.openxmlformats.org/drawingml/2006/main" w="9525">
            <a:solidFill>
              <a:srgbClr val="7C6EE6"/>
            </a:solidFill>
            <a:prstDash val="solid"/>
          </a:ln>
        </p:spPr>
      </p:sp>
      <p:sp>
        <p:nvSpPr>
          <p:cNvPr id="26" name="">
            <a:extLst xmlns:a="http://schemas.openxmlformats.org/drawingml/2006/main">
              <a:ext uri="{FF2B5EF4-FFF2-40B4-BE49-F238E27FC236}">
                <a16:creationId xmlns:a16="http://schemas.microsoft.com/office/drawing/2014/main" id="{7BFF6ABF-43DA-428A-8D01-38BDA10545AD}"/>
              </a:ext>
            </a:extLst>
          </p:cNvPr>
          <p:cNvSpPr>
            <a:spLocks xmlns:a="http://schemas.openxmlformats.org/drawingml/2006/main" noGrp="1"/>
          </p:cNvSpPr>
          <p:nvPr/>
        </p:nvSpPr>
        <p:spPr>
          <a:xfrm xmlns:a="http://schemas.openxmlformats.org/drawingml/2006/main">
            <a:off x="8686800" y="42100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NEO4J</a:t>
            </a:r>
          </a:p>
        </p:txBody>
      </p:sp>
      <p:sp>
        <p:nvSpPr>
          <p:cNvPr id="27" name="">
            <a:extLst xmlns:a="http://schemas.openxmlformats.org/drawingml/2006/main">
              <a:ext uri="{FF2B5EF4-FFF2-40B4-BE49-F238E27FC236}">
                <a16:creationId xmlns:a16="http://schemas.microsoft.com/office/drawing/2014/main" id="{6CB0B9F2-A312-4009-BC73-6E3F7D3F428F}"/>
              </a:ext>
            </a:extLst>
          </p:cNvPr>
          <p:cNvSpPr>
            <a:spLocks xmlns:a="http://schemas.openxmlformats.org/drawingml/2006/main" noGrp="1"/>
          </p:cNvSpPr>
          <p:nvPr/>
        </p:nvSpPr>
        <p:spPr>
          <a:xfrm xmlns:a="http://schemas.openxmlformats.org/drawingml/2006/main">
            <a:off x="8686800" y="4467225"/>
            <a:ext cx="215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possiede relazioni</a:t>
            </a:r>
          </a:p>
        </p:txBody>
      </p:sp>
      <p:sp>
        <p:nvSpPr>
          <p:cNvPr id="28" name="">
            <a:extLst xmlns:a="http://schemas.openxmlformats.org/drawingml/2006/main">
              <a:ext uri="{FF2B5EF4-FFF2-40B4-BE49-F238E27FC236}">
                <a16:creationId xmlns:a16="http://schemas.microsoft.com/office/drawing/2014/main" id="{30EB8EA4-B6E9-4102-9687-344D6AEF44E6}"/>
              </a:ext>
            </a:extLst>
          </p:cNvPr>
          <p:cNvSpPr>
            <a:spLocks xmlns:a="http://schemas.openxmlformats.org/drawingml/2006/main" noGrp="1"/>
          </p:cNvSpPr>
          <p:nvPr/>
        </p:nvSpPr>
        <p:spPr>
          <a:xfrm xmlns:a="http://schemas.openxmlformats.org/drawingml/2006/main">
            <a:off x="1762125" y="5334000"/>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Gli altri servizi passano da API o eventi, non leggono le tabelle altrui.</a:t>
            </a:r>
          </a:p>
        </p:txBody>
      </p:sp>
    </p:spTree>
    <p:extLst>
      <p:ext uri="{BB962C8B-B14F-4D97-AF65-F5344CB8AC3E}">
        <p14:creationId xmlns:p14="http://schemas.microsoft.com/office/powerpoint/2010/main" val="25325234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78DFC8-D391-476D-B033-78AED97D6FCE}"/>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POLYGLOT PERSISTENCE • LEZIONE 09</a:t>
            </a:r>
          </a:p>
        </p:txBody>
      </p:sp>
      <p:sp>
        <p:nvSpPr>
          <p:cNvPr id="2" name="">
            <a:extLst xmlns:a="http://schemas.openxmlformats.org/drawingml/2006/main">
              <a:ext uri="{FF2B5EF4-FFF2-40B4-BE49-F238E27FC236}">
                <a16:creationId xmlns:a16="http://schemas.microsoft.com/office/drawing/2014/main" id="{C53227A6-98C1-4344-85C1-8ADD267FAE83}"/>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Database condiviso o database per servizio?</a:t>
            </a:r>
          </a:p>
        </p:txBody>
      </p:sp>
      <p:sp>
        <p:nvSpPr>
          <p:cNvPr id="3" name="">
            <a:extLst xmlns:a="http://schemas.openxmlformats.org/drawingml/2006/main">
              <a:ext uri="{FF2B5EF4-FFF2-40B4-BE49-F238E27FC236}">
                <a16:creationId xmlns:a16="http://schemas.microsoft.com/office/drawing/2014/main" id="{0F61FF5B-AADF-468B-8E05-D4B69F7CC75D}"/>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06</a:t>
            </a:r>
          </a:p>
        </p:txBody>
      </p:sp>
      <p:sp>
        <p:nvSpPr>
          <p:cNvPr id="4" name="">
            <a:extLst xmlns:a="http://schemas.openxmlformats.org/drawingml/2006/main">
              <a:ext uri="{FF2B5EF4-FFF2-40B4-BE49-F238E27FC236}">
                <a16:creationId xmlns:a16="http://schemas.microsoft.com/office/drawing/2014/main" id="{BE123768-5428-491E-B399-CD2884635817}"/>
              </a:ext>
            </a:extLst>
          </p:cNvPr>
          <p:cNvSpPr>
            <a:spLocks xmlns:a="http://schemas.openxmlformats.org/drawingml/2006/main" noGrp="1"/>
          </p:cNvSpPr>
          <p:nvPr/>
        </p:nvSpPr>
        <p:spPr>
          <a:xfrm xmlns:a="http://schemas.openxmlformats.org/drawingml/2006/main">
            <a:off x="685800" y="1809750"/>
            <a:ext cx="51435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F88EA441-4597-4244-9A3B-4E16269BF501}"/>
              </a:ext>
            </a:extLst>
          </p:cNvPr>
          <p:cNvSpPr>
            <a:spLocks xmlns:a="http://schemas.openxmlformats.org/drawingml/2006/main" noGrp="1"/>
          </p:cNvSpPr>
          <p:nvPr/>
        </p:nvSpPr>
        <p:spPr>
          <a:xfrm xmlns:a="http://schemas.openxmlformats.org/drawingml/2006/main">
            <a:off x="6362700" y="1809750"/>
            <a:ext cx="51435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8DDE3"/>
            </a:solidFill>
            <a:prstDash val="solid"/>
          </a:ln>
        </p:spPr>
      </p:sp>
      <p:sp>
        <p:nvSpPr>
          <p:cNvPr id="6" name="">
            <a:extLst xmlns:a="http://schemas.openxmlformats.org/drawingml/2006/main">
              <a:ext uri="{FF2B5EF4-FFF2-40B4-BE49-F238E27FC236}">
                <a16:creationId xmlns:a16="http://schemas.microsoft.com/office/drawing/2014/main" id="{DE41952F-B082-48C8-9DD3-DC7546807FF5}"/>
              </a:ext>
            </a:extLst>
          </p:cNvPr>
          <p:cNvSpPr>
            <a:spLocks xmlns:a="http://schemas.openxmlformats.org/drawingml/2006/main" noGrp="1"/>
          </p:cNvSpPr>
          <p:nvPr/>
        </p:nvSpPr>
        <p:spPr>
          <a:xfrm xmlns:a="http://schemas.openxmlformats.org/drawingml/2006/main">
            <a:off x="685800" y="1809750"/>
            <a:ext cx="5143500" cy="762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7" name="">
            <a:extLst xmlns:a="http://schemas.openxmlformats.org/drawingml/2006/main">
              <a:ext uri="{FF2B5EF4-FFF2-40B4-BE49-F238E27FC236}">
                <a16:creationId xmlns:a16="http://schemas.microsoft.com/office/drawing/2014/main" id="{8D462067-8944-46AF-91F4-A49398B5774D}"/>
              </a:ext>
            </a:extLst>
          </p:cNvPr>
          <p:cNvSpPr>
            <a:spLocks xmlns:a="http://schemas.openxmlformats.org/drawingml/2006/main" noGrp="1"/>
          </p:cNvSpPr>
          <p:nvPr/>
        </p:nvSpPr>
        <p:spPr>
          <a:xfrm xmlns:a="http://schemas.openxmlformats.org/drawingml/2006/main">
            <a:off x="6362700" y="1809750"/>
            <a:ext cx="5143500" cy="762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8" name="">
            <a:extLst xmlns:a="http://schemas.openxmlformats.org/drawingml/2006/main">
              <a:ext uri="{FF2B5EF4-FFF2-40B4-BE49-F238E27FC236}">
                <a16:creationId xmlns:a16="http://schemas.microsoft.com/office/drawing/2014/main" id="{BD999052-CFF6-4274-A01A-353C599EA285}"/>
              </a:ext>
            </a:extLst>
          </p:cNvPr>
          <p:cNvSpPr>
            <a:spLocks xmlns:a="http://schemas.openxmlformats.org/drawingml/2006/main" noGrp="1"/>
          </p:cNvSpPr>
          <p:nvPr/>
        </p:nvSpPr>
        <p:spPr>
          <a:xfrm xmlns:a="http://schemas.openxmlformats.org/drawingml/2006/main">
            <a:off x="1028700" y="213360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B1F33"/>
                </a:solidFill>
              </a:defRPr>
            </a:pPr>
            <a:r>
              <a:rPr sz="1950" b="1">
                <a:solidFill>
                  <a:srgbClr val="0B1F33"/>
                </a:solidFill>
              </a:rPr>
              <a:t>SHARED DATABASE</a:t>
            </a:r>
          </a:p>
        </p:txBody>
      </p:sp>
      <p:sp>
        <p:nvSpPr>
          <p:cNvPr id="9" name="">
            <a:extLst xmlns:a="http://schemas.openxmlformats.org/drawingml/2006/main">
              <a:ext uri="{FF2B5EF4-FFF2-40B4-BE49-F238E27FC236}">
                <a16:creationId xmlns:a16="http://schemas.microsoft.com/office/drawing/2014/main" id="{2ABC573C-7B10-4773-9D52-1782C11649F3}"/>
              </a:ext>
            </a:extLst>
          </p:cNvPr>
          <p:cNvSpPr>
            <a:spLocks xmlns:a="http://schemas.openxmlformats.org/drawingml/2006/main" noGrp="1"/>
          </p:cNvSpPr>
          <p:nvPr/>
        </p:nvSpPr>
        <p:spPr>
          <a:xfrm xmlns:a="http://schemas.openxmlformats.org/drawingml/2006/main">
            <a:off x="1028700" y="2781300"/>
            <a:ext cx="4333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6D"/>
                </a:solidFill>
              </a:defRPr>
            </a:pPr>
            <a:r>
              <a:rPr sz="1725" b="0">
                <a:solidFill>
                  <a:srgbClr val="52606D"/>
                </a:solidFill>
              </a:rPr>
              <a:t>Pro: transazioni e join immediati, meno motori da gestire. Contro: schema condiviso, coupling tra team, hot table e failure domain comune.</a:t>
            </a:r>
          </a:p>
        </p:txBody>
      </p:sp>
      <p:sp>
        <p:nvSpPr>
          <p:cNvPr id="10" name="">
            <a:extLst xmlns:a="http://schemas.openxmlformats.org/drawingml/2006/main">
              <a:ext uri="{FF2B5EF4-FFF2-40B4-BE49-F238E27FC236}">
                <a16:creationId xmlns:a16="http://schemas.microsoft.com/office/drawing/2014/main" id="{8B7E3DD9-3583-4726-B179-6413D751C267}"/>
              </a:ext>
            </a:extLst>
          </p:cNvPr>
          <p:cNvSpPr>
            <a:spLocks xmlns:a="http://schemas.openxmlformats.org/drawingml/2006/main" noGrp="1"/>
          </p:cNvSpPr>
          <p:nvPr/>
        </p:nvSpPr>
        <p:spPr>
          <a:xfrm xmlns:a="http://schemas.openxmlformats.org/drawingml/2006/main">
            <a:off x="6705600" y="213360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B1F33"/>
                </a:solidFill>
              </a:defRPr>
            </a:pPr>
            <a:r>
              <a:rPr sz="1950" b="1">
                <a:solidFill>
                  <a:srgbClr val="0B1F33"/>
                </a:solidFill>
              </a:rPr>
              <a:t>DATABASE PER SERVICE</a:t>
            </a:r>
          </a:p>
        </p:txBody>
      </p:sp>
      <p:sp>
        <p:nvSpPr>
          <p:cNvPr id="11" name="">
            <a:extLst xmlns:a="http://schemas.openxmlformats.org/drawingml/2006/main">
              <a:ext uri="{FF2B5EF4-FFF2-40B4-BE49-F238E27FC236}">
                <a16:creationId xmlns:a16="http://schemas.microsoft.com/office/drawing/2014/main" id="{5B587520-3BD0-48F6-AC30-ED301BB4E48B}"/>
              </a:ext>
            </a:extLst>
          </p:cNvPr>
          <p:cNvSpPr>
            <a:spLocks xmlns:a="http://schemas.openxmlformats.org/drawingml/2006/main" noGrp="1"/>
          </p:cNvSpPr>
          <p:nvPr/>
        </p:nvSpPr>
        <p:spPr>
          <a:xfrm xmlns:a="http://schemas.openxmlformats.org/drawingml/2006/main">
            <a:off x="6705600" y="2781300"/>
            <a:ext cx="4333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6D"/>
                </a:solidFill>
              </a:defRPr>
            </a:pPr>
            <a:r>
              <a:rPr sz="1725" b="0">
                <a:solidFill>
                  <a:srgbClr val="52606D"/>
                </a:solidFill>
              </a:rPr>
              <a:t>Pro: ownership, scaling e tecnologia indipendenti. Contro: integrazione, query cross-service, consistenza e operations più complesse.</a:t>
            </a:r>
          </a:p>
        </p:txBody>
      </p:sp>
      <p:sp>
        <p:nvSpPr>
          <p:cNvPr id="12" name="">
            <a:extLst xmlns:a="http://schemas.openxmlformats.org/drawingml/2006/main">
              <a:ext uri="{FF2B5EF4-FFF2-40B4-BE49-F238E27FC236}">
                <a16:creationId xmlns:a16="http://schemas.microsoft.com/office/drawing/2014/main" id="{709EF98E-4DEE-4F5D-9334-F1BCB0768334}"/>
              </a:ext>
            </a:extLst>
          </p:cNvPr>
          <p:cNvSpPr>
            <a:spLocks xmlns:a="http://schemas.openxmlformats.org/drawingml/2006/main" noGrp="1"/>
          </p:cNvSpPr>
          <p:nvPr/>
        </p:nvSpPr>
        <p:spPr>
          <a:xfrm xmlns:a="http://schemas.openxmlformats.org/drawingml/2006/main">
            <a:off x="3333750" y="5810250"/>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F33"/>
                </a:solidFill>
              </a:defRPr>
            </a:pPr>
            <a:r>
              <a:rPr sz="1575" b="1">
                <a:solidFill>
                  <a:srgbClr val="0B1F33"/>
                </a:solidFill>
              </a:rPr>
              <a:t>Non è una scelta morale: è un trade-off architetturale.</a:t>
            </a:r>
          </a:p>
        </p:txBody>
      </p:sp>
    </p:spTree>
    <p:extLst>
      <p:ext uri="{BB962C8B-B14F-4D97-AF65-F5344CB8AC3E}">
        <p14:creationId xmlns:p14="http://schemas.microsoft.com/office/powerpoint/2010/main" val="32808913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66CC6B1-6D68-44D6-BD01-2AB5B1F13049}"/>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BOUNDED CONTEXTS</a:t>
            </a:r>
          </a:p>
        </p:txBody>
      </p:sp>
      <p:sp>
        <p:nvSpPr>
          <p:cNvPr id="2" name="">
            <a:extLst xmlns:a="http://schemas.openxmlformats.org/drawingml/2006/main">
              <a:ext uri="{FF2B5EF4-FFF2-40B4-BE49-F238E27FC236}">
                <a16:creationId xmlns:a16="http://schemas.microsoft.com/office/drawing/2014/main" id="{4A65D584-4910-4D53-B467-6983914C34B5}"/>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DATAFLIX: ogni dominio possiede un pezzo di verità</a:t>
            </a:r>
          </a:p>
        </p:txBody>
      </p:sp>
      <p:sp>
        <p:nvSpPr>
          <p:cNvPr id="3" name="">
            <a:extLst xmlns:a="http://schemas.openxmlformats.org/drawingml/2006/main">
              <a:ext uri="{FF2B5EF4-FFF2-40B4-BE49-F238E27FC236}">
                <a16:creationId xmlns:a16="http://schemas.microsoft.com/office/drawing/2014/main" id="{31E10DE1-5F76-431A-99DF-5BA5D43737D3}"/>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07</a:t>
            </a:r>
          </a:p>
        </p:txBody>
      </p:sp>
      <p:sp>
        <p:nvSpPr>
          <p:cNvPr id="4" name="">
            <a:extLst xmlns:a="http://schemas.openxmlformats.org/drawingml/2006/main">
              <a:ext uri="{FF2B5EF4-FFF2-40B4-BE49-F238E27FC236}">
                <a16:creationId xmlns:a16="http://schemas.microsoft.com/office/drawing/2014/main" id="{31AD7C65-B1A0-43A4-B892-23AD7272C937}"/>
              </a:ext>
            </a:extLst>
          </p:cNvPr>
          <p:cNvSpPr>
            <a:spLocks xmlns:a="http://schemas.openxmlformats.org/drawingml/2006/main" noGrp="1"/>
          </p:cNvSpPr>
          <p:nvPr/>
        </p:nvSpPr>
        <p:spPr>
          <a:xfrm xmlns:a="http://schemas.openxmlformats.org/drawingml/2006/main">
            <a:off x="685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8BFAAFF2-7B73-4299-AE08-0A5B0D1ED3CD}"/>
              </a:ext>
            </a:extLst>
          </p:cNvPr>
          <p:cNvSpPr>
            <a:spLocks xmlns:a="http://schemas.openxmlformats.org/drawingml/2006/main" noGrp="1"/>
          </p:cNvSpPr>
          <p:nvPr/>
        </p:nvSpPr>
        <p:spPr>
          <a:xfrm xmlns:a="http://schemas.openxmlformats.org/drawingml/2006/main">
            <a:off x="685800" y="1666875"/>
            <a:ext cx="3238500" cy="85725"/>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74DBC0C9-A698-41DA-B395-486BA38C08C2}"/>
              </a:ext>
            </a:extLst>
          </p:cNvPr>
          <p:cNvSpPr>
            <a:spLocks xmlns:a="http://schemas.openxmlformats.org/drawingml/2006/main" noGrp="1"/>
          </p:cNvSpPr>
          <p:nvPr/>
        </p:nvSpPr>
        <p:spPr>
          <a:xfrm xmlns:a="http://schemas.openxmlformats.org/drawingml/2006/main">
            <a:off x="895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IDENTITY</a:t>
            </a:r>
          </a:p>
        </p:txBody>
      </p:sp>
      <p:sp>
        <p:nvSpPr>
          <p:cNvPr id="7" name="">
            <a:extLst xmlns:a="http://schemas.openxmlformats.org/drawingml/2006/main">
              <a:ext uri="{FF2B5EF4-FFF2-40B4-BE49-F238E27FC236}">
                <a16:creationId xmlns:a16="http://schemas.microsoft.com/office/drawing/2014/main" id="{86E6D822-5FC0-42DD-BEAE-C4E27189D56F}"/>
              </a:ext>
            </a:extLst>
          </p:cNvPr>
          <p:cNvSpPr>
            <a:spLocks xmlns:a="http://schemas.openxmlformats.org/drawingml/2006/main" noGrp="1"/>
          </p:cNvSpPr>
          <p:nvPr/>
        </p:nvSpPr>
        <p:spPr>
          <a:xfrm xmlns:a="http://schemas.openxmlformats.org/drawingml/2006/main">
            <a:off x="895350" y="2257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0B8D9"/>
                </a:solidFill>
              </a:defRPr>
            </a:pPr>
            <a:r>
              <a:rPr sz="1200" b="1">
                <a:solidFill>
                  <a:srgbClr val="00B8D9"/>
                </a:solidFill>
              </a:rPr>
              <a:t>PostgreSQL</a:t>
            </a:r>
          </a:p>
        </p:txBody>
      </p:sp>
      <p:sp>
        <p:nvSpPr>
          <p:cNvPr id="8" name="">
            <a:extLst xmlns:a="http://schemas.openxmlformats.org/drawingml/2006/main">
              <a:ext uri="{FF2B5EF4-FFF2-40B4-BE49-F238E27FC236}">
                <a16:creationId xmlns:a16="http://schemas.microsoft.com/office/drawing/2014/main" id="{0DECE4CC-6038-4954-BA51-715B9CB7AC69}"/>
              </a:ext>
            </a:extLst>
          </p:cNvPr>
          <p:cNvSpPr>
            <a:spLocks xmlns:a="http://schemas.openxmlformats.org/drawingml/2006/main" noGrp="1"/>
          </p:cNvSpPr>
          <p:nvPr/>
        </p:nvSpPr>
        <p:spPr>
          <a:xfrm xmlns:a="http://schemas.openxmlformats.org/drawingml/2006/main">
            <a:off x="895350" y="26193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account • piani</a:t>
            </a:r>
          </a:p>
        </p:txBody>
      </p:sp>
      <p:sp>
        <p:nvSpPr>
          <p:cNvPr id="9" name="">
            <a:extLst xmlns:a="http://schemas.openxmlformats.org/drawingml/2006/main">
              <a:ext uri="{FF2B5EF4-FFF2-40B4-BE49-F238E27FC236}">
                <a16:creationId xmlns:a16="http://schemas.microsoft.com/office/drawing/2014/main" id="{9DA4B0ED-F5D8-41CD-AE85-731958AB1CD5}"/>
              </a:ext>
            </a:extLst>
          </p:cNvPr>
          <p:cNvSpPr>
            <a:spLocks xmlns:a="http://schemas.openxmlformats.org/drawingml/2006/main" noGrp="1"/>
          </p:cNvSpPr>
          <p:nvPr/>
        </p:nvSpPr>
        <p:spPr>
          <a:xfrm xmlns:a="http://schemas.openxmlformats.org/drawingml/2006/main">
            <a:off x="43053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0" name="">
            <a:extLst xmlns:a="http://schemas.openxmlformats.org/drawingml/2006/main">
              <a:ext uri="{FF2B5EF4-FFF2-40B4-BE49-F238E27FC236}">
                <a16:creationId xmlns:a16="http://schemas.microsoft.com/office/drawing/2014/main" id="{E6DA3AF1-433D-453F-A4D0-6218B05BACB0}"/>
              </a:ext>
            </a:extLst>
          </p:cNvPr>
          <p:cNvSpPr>
            <a:spLocks xmlns:a="http://schemas.openxmlformats.org/drawingml/2006/main" noGrp="1"/>
          </p:cNvSpPr>
          <p:nvPr/>
        </p:nvSpPr>
        <p:spPr>
          <a:xfrm xmlns:a="http://schemas.openxmlformats.org/drawingml/2006/main">
            <a:off x="4305300" y="1666875"/>
            <a:ext cx="3238500" cy="85725"/>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1" name="">
            <a:extLst xmlns:a="http://schemas.openxmlformats.org/drawingml/2006/main">
              <a:ext uri="{FF2B5EF4-FFF2-40B4-BE49-F238E27FC236}">
                <a16:creationId xmlns:a16="http://schemas.microsoft.com/office/drawing/2014/main" id="{A3BB3D12-CE86-4436-9FEA-757A2A5AC809}"/>
              </a:ext>
            </a:extLst>
          </p:cNvPr>
          <p:cNvSpPr>
            <a:spLocks xmlns:a="http://schemas.openxmlformats.org/drawingml/2006/main" noGrp="1"/>
          </p:cNvSpPr>
          <p:nvPr/>
        </p:nvSpPr>
        <p:spPr>
          <a:xfrm xmlns:a="http://schemas.openxmlformats.org/drawingml/2006/main">
            <a:off x="45148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SESSION</a:t>
            </a:r>
          </a:p>
        </p:txBody>
      </p:sp>
      <p:sp>
        <p:nvSpPr>
          <p:cNvPr id="12" name="">
            <a:extLst xmlns:a="http://schemas.openxmlformats.org/drawingml/2006/main">
              <a:ext uri="{FF2B5EF4-FFF2-40B4-BE49-F238E27FC236}">
                <a16:creationId xmlns:a16="http://schemas.microsoft.com/office/drawing/2014/main" id="{31E0D17D-F508-4E31-AEF6-E46BAD3A0ECA}"/>
              </a:ext>
            </a:extLst>
          </p:cNvPr>
          <p:cNvSpPr>
            <a:spLocks xmlns:a="http://schemas.openxmlformats.org/drawingml/2006/main" noGrp="1"/>
          </p:cNvSpPr>
          <p:nvPr/>
        </p:nvSpPr>
        <p:spPr>
          <a:xfrm xmlns:a="http://schemas.openxmlformats.org/drawingml/2006/main">
            <a:off x="4514850" y="2257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8A4C"/>
                </a:solidFill>
              </a:defRPr>
            </a:pPr>
            <a:r>
              <a:rPr sz="1200" b="1">
                <a:solidFill>
                  <a:srgbClr val="FF8A4C"/>
                </a:solidFill>
              </a:rPr>
              <a:t>Redis</a:t>
            </a:r>
          </a:p>
        </p:txBody>
      </p:sp>
      <p:sp>
        <p:nvSpPr>
          <p:cNvPr id="13" name="">
            <a:extLst xmlns:a="http://schemas.openxmlformats.org/drawingml/2006/main">
              <a:ext uri="{FF2B5EF4-FFF2-40B4-BE49-F238E27FC236}">
                <a16:creationId xmlns:a16="http://schemas.microsoft.com/office/drawing/2014/main" id="{B1F85C03-E366-40AA-958A-72F41B0107C6}"/>
              </a:ext>
            </a:extLst>
          </p:cNvPr>
          <p:cNvSpPr>
            <a:spLocks xmlns:a="http://schemas.openxmlformats.org/drawingml/2006/main" noGrp="1"/>
          </p:cNvSpPr>
          <p:nvPr/>
        </p:nvSpPr>
        <p:spPr>
          <a:xfrm xmlns:a="http://schemas.openxmlformats.org/drawingml/2006/main">
            <a:off x="4514850" y="26193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token • rate limit</a:t>
            </a:r>
          </a:p>
        </p:txBody>
      </p:sp>
      <p:sp>
        <p:nvSpPr>
          <p:cNvPr id="14" name="">
            <a:extLst xmlns:a="http://schemas.openxmlformats.org/drawingml/2006/main">
              <a:ext uri="{FF2B5EF4-FFF2-40B4-BE49-F238E27FC236}">
                <a16:creationId xmlns:a16="http://schemas.microsoft.com/office/drawing/2014/main" id="{06FBD052-2F2A-4BED-A2FB-7F77A598B247}"/>
              </a:ext>
            </a:extLst>
          </p:cNvPr>
          <p:cNvSpPr>
            <a:spLocks xmlns:a="http://schemas.openxmlformats.org/drawingml/2006/main" noGrp="1"/>
          </p:cNvSpPr>
          <p:nvPr/>
        </p:nvSpPr>
        <p:spPr>
          <a:xfrm xmlns:a="http://schemas.openxmlformats.org/drawingml/2006/main">
            <a:off x="7924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F4075DD3-AC55-42CE-B9DE-5A921D15A493}"/>
              </a:ext>
            </a:extLst>
          </p:cNvPr>
          <p:cNvSpPr>
            <a:spLocks xmlns:a="http://schemas.openxmlformats.org/drawingml/2006/main" noGrp="1"/>
          </p:cNvSpPr>
          <p:nvPr/>
        </p:nvSpPr>
        <p:spPr>
          <a:xfrm xmlns:a="http://schemas.openxmlformats.org/drawingml/2006/main">
            <a:off x="7924800" y="1666875"/>
            <a:ext cx="3238500" cy="85725"/>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6" name="">
            <a:extLst xmlns:a="http://schemas.openxmlformats.org/drawingml/2006/main">
              <a:ext uri="{FF2B5EF4-FFF2-40B4-BE49-F238E27FC236}">
                <a16:creationId xmlns:a16="http://schemas.microsoft.com/office/drawing/2014/main" id="{01988D7C-71C0-483D-A07E-57E3F6C62726}"/>
              </a:ext>
            </a:extLst>
          </p:cNvPr>
          <p:cNvSpPr>
            <a:spLocks xmlns:a="http://schemas.openxmlformats.org/drawingml/2006/main" noGrp="1"/>
          </p:cNvSpPr>
          <p:nvPr/>
        </p:nvSpPr>
        <p:spPr>
          <a:xfrm xmlns:a="http://schemas.openxmlformats.org/drawingml/2006/main">
            <a:off x="8134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CATALOG</a:t>
            </a:r>
          </a:p>
        </p:txBody>
      </p:sp>
      <p:sp>
        <p:nvSpPr>
          <p:cNvPr id="17" name="">
            <a:extLst xmlns:a="http://schemas.openxmlformats.org/drawingml/2006/main">
              <a:ext uri="{FF2B5EF4-FFF2-40B4-BE49-F238E27FC236}">
                <a16:creationId xmlns:a16="http://schemas.microsoft.com/office/drawing/2014/main" id="{B3AF4ABE-5C0C-4D39-AD6C-EA7B72349A1F}"/>
              </a:ext>
            </a:extLst>
          </p:cNvPr>
          <p:cNvSpPr>
            <a:spLocks xmlns:a="http://schemas.openxmlformats.org/drawingml/2006/main" noGrp="1"/>
          </p:cNvSpPr>
          <p:nvPr/>
        </p:nvSpPr>
        <p:spPr>
          <a:xfrm xmlns:a="http://schemas.openxmlformats.org/drawingml/2006/main">
            <a:off x="8134350" y="2257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EE6"/>
                </a:solidFill>
              </a:defRPr>
            </a:pPr>
            <a:r>
              <a:rPr sz="1200" b="1">
                <a:solidFill>
                  <a:srgbClr val="7C6EE6"/>
                </a:solidFill>
              </a:rPr>
              <a:t>MongoDB</a:t>
            </a:r>
          </a:p>
        </p:txBody>
      </p:sp>
      <p:sp>
        <p:nvSpPr>
          <p:cNvPr id="18" name="">
            <a:extLst xmlns:a="http://schemas.openxmlformats.org/drawingml/2006/main">
              <a:ext uri="{FF2B5EF4-FFF2-40B4-BE49-F238E27FC236}">
                <a16:creationId xmlns:a16="http://schemas.microsoft.com/office/drawing/2014/main" id="{46A09FE8-E0E8-44D2-94F7-A96A2B355384}"/>
              </a:ext>
            </a:extLst>
          </p:cNvPr>
          <p:cNvSpPr>
            <a:spLocks xmlns:a="http://schemas.openxmlformats.org/drawingml/2006/main" noGrp="1"/>
          </p:cNvSpPr>
          <p:nvPr/>
        </p:nvSpPr>
        <p:spPr>
          <a:xfrm xmlns:a="http://schemas.openxmlformats.org/drawingml/2006/main">
            <a:off x="8134350" y="26193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film • stagioni</a:t>
            </a:r>
          </a:p>
        </p:txBody>
      </p:sp>
      <p:sp>
        <p:nvSpPr>
          <p:cNvPr id="19" name="">
            <a:extLst xmlns:a="http://schemas.openxmlformats.org/drawingml/2006/main">
              <a:ext uri="{FF2B5EF4-FFF2-40B4-BE49-F238E27FC236}">
                <a16:creationId xmlns:a16="http://schemas.microsoft.com/office/drawing/2014/main" id="{C792D006-65DC-45EF-9885-CFB73E1EECBF}"/>
              </a:ext>
            </a:extLst>
          </p:cNvPr>
          <p:cNvSpPr>
            <a:spLocks xmlns:a="http://schemas.openxmlformats.org/drawingml/2006/main" noGrp="1"/>
          </p:cNvSpPr>
          <p:nvPr/>
        </p:nvSpPr>
        <p:spPr>
          <a:xfrm xmlns:a="http://schemas.openxmlformats.org/drawingml/2006/main">
            <a:off x="685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0" name="">
            <a:extLst xmlns:a="http://schemas.openxmlformats.org/drawingml/2006/main">
              <a:ext uri="{FF2B5EF4-FFF2-40B4-BE49-F238E27FC236}">
                <a16:creationId xmlns:a16="http://schemas.microsoft.com/office/drawing/2014/main" id="{8CAF5192-83DE-4376-AB41-89F9AA85F321}"/>
              </a:ext>
            </a:extLst>
          </p:cNvPr>
          <p:cNvSpPr>
            <a:spLocks xmlns:a="http://schemas.openxmlformats.org/drawingml/2006/main" noGrp="1"/>
          </p:cNvSpPr>
          <p:nvPr/>
        </p:nvSpPr>
        <p:spPr>
          <a:xfrm xmlns:a="http://schemas.openxmlformats.org/drawingml/2006/main">
            <a:off x="685800" y="3381375"/>
            <a:ext cx="3238500" cy="85725"/>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21" name="">
            <a:extLst xmlns:a="http://schemas.openxmlformats.org/drawingml/2006/main">
              <a:ext uri="{FF2B5EF4-FFF2-40B4-BE49-F238E27FC236}">
                <a16:creationId xmlns:a16="http://schemas.microsoft.com/office/drawing/2014/main" id="{3018EA40-9BEB-4836-AC9F-7226D191C248}"/>
              </a:ext>
            </a:extLst>
          </p:cNvPr>
          <p:cNvSpPr>
            <a:spLocks xmlns:a="http://schemas.openxmlformats.org/drawingml/2006/main" noGrp="1"/>
          </p:cNvSpPr>
          <p:nvPr/>
        </p:nvSpPr>
        <p:spPr>
          <a:xfrm xmlns:a="http://schemas.openxmlformats.org/drawingml/2006/main">
            <a:off x="895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SOCIAL</a:t>
            </a:r>
          </a:p>
        </p:txBody>
      </p:sp>
      <p:sp>
        <p:nvSpPr>
          <p:cNvPr id="22" name="">
            <a:extLst xmlns:a="http://schemas.openxmlformats.org/drawingml/2006/main">
              <a:ext uri="{FF2B5EF4-FFF2-40B4-BE49-F238E27FC236}">
                <a16:creationId xmlns:a16="http://schemas.microsoft.com/office/drawing/2014/main" id="{1440EE20-6C9D-4B9A-A537-E22CE1C94974}"/>
              </a:ext>
            </a:extLst>
          </p:cNvPr>
          <p:cNvSpPr>
            <a:spLocks xmlns:a="http://schemas.openxmlformats.org/drawingml/2006/main" noGrp="1"/>
          </p:cNvSpPr>
          <p:nvPr/>
        </p:nvSpPr>
        <p:spPr>
          <a:xfrm xmlns:a="http://schemas.openxmlformats.org/drawingml/2006/main">
            <a:off x="895350" y="3971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7E34B"/>
                </a:solidFill>
              </a:defRPr>
            </a:pPr>
            <a:r>
              <a:rPr sz="1200" b="1">
                <a:solidFill>
                  <a:srgbClr val="B7E34B"/>
                </a:solidFill>
              </a:rPr>
              <a:t>Neo4j</a:t>
            </a:r>
          </a:p>
        </p:txBody>
      </p:sp>
      <p:sp>
        <p:nvSpPr>
          <p:cNvPr id="23" name="">
            <a:extLst xmlns:a="http://schemas.openxmlformats.org/drawingml/2006/main">
              <a:ext uri="{FF2B5EF4-FFF2-40B4-BE49-F238E27FC236}">
                <a16:creationId xmlns:a16="http://schemas.microsoft.com/office/drawing/2014/main" id="{4FB22761-34BB-45CE-9ECE-D90B3C9ED485}"/>
              </a:ext>
            </a:extLst>
          </p:cNvPr>
          <p:cNvSpPr>
            <a:spLocks xmlns:a="http://schemas.openxmlformats.org/drawingml/2006/main" noGrp="1"/>
          </p:cNvSpPr>
          <p:nvPr/>
        </p:nvSpPr>
        <p:spPr>
          <a:xfrm xmlns:a="http://schemas.openxmlformats.org/drawingml/2006/main">
            <a:off x="895350" y="43338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follow • like</a:t>
            </a:r>
          </a:p>
        </p:txBody>
      </p:sp>
      <p:sp>
        <p:nvSpPr>
          <p:cNvPr id="24" name="">
            <a:extLst xmlns:a="http://schemas.openxmlformats.org/drawingml/2006/main">
              <a:ext uri="{FF2B5EF4-FFF2-40B4-BE49-F238E27FC236}">
                <a16:creationId xmlns:a16="http://schemas.microsoft.com/office/drawing/2014/main" id="{D51F9072-DD43-447A-91B6-319A1309E80F}"/>
              </a:ext>
            </a:extLst>
          </p:cNvPr>
          <p:cNvSpPr>
            <a:spLocks xmlns:a="http://schemas.openxmlformats.org/drawingml/2006/main" noGrp="1"/>
          </p:cNvSpPr>
          <p:nvPr/>
        </p:nvSpPr>
        <p:spPr>
          <a:xfrm xmlns:a="http://schemas.openxmlformats.org/drawingml/2006/main">
            <a:off x="43053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2FD4CD94-4A93-40F5-8B78-035D2DD96D1A}"/>
              </a:ext>
            </a:extLst>
          </p:cNvPr>
          <p:cNvSpPr>
            <a:spLocks xmlns:a="http://schemas.openxmlformats.org/drawingml/2006/main" noGrp="1"/>
          </p:cNvSpPr>
          <p:nvPr/>
        </p:nvSpPr>
        <p:spPr>
          <a:xfrm xmlns:a="http://schemas.openxmlformats.org/drawingml/2006/main">
            <a:off x="4305300" y="3381375"/>
            <a:ext cx="3238500" cy="85725"/>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26" name="">
            <a:extLst xmlns:a="http://schemas.openxmlformats.org/drawingml/2006/main">
              <a:ext uri="{FF2B5EF4-FFF2-40B4-BE49-F238E27FC236}">
                <a16:creationId xmlns:a16="http://schemas.microsoft.com/office/drawing/2014/main" id="{5C54027F-21F8-49F8-AF91-38EABC55B601}"/>
              </a:ext>
            </a:extLst>
          </p:cNvPr>
          <p:cNvSpPr>
            <a:spLocks xmlns:a="http://schemas.openxmlformats.org/drawingml/2006/main" noGrp="1"/>
          </p:cNvSpPr>
          <p:nvPr/>
        </p:nvSpPr>
        <p:spPr>
          <a:xfrm xmlns:a="http://schemas.openxmlformats.org/drawingml/2006/main">
            <a:off x="45148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SEARCH</a:t>
            </a:r>
          </a:p>
        </p:txBody>
      </p:sp>
      <p:sp>
        <p:nvSpPr>
          <p:cNvPr id="27" name="">
            <a:extLst xmlns:a="http://schemas.openxmlformats.org/drawingml/2006/main">
              <a:ext uri="{FF2B5EF4-FFF2-40B4-BE49-F238E27FC236}">
                <a16:creationId xmlns:a16="http://schemas.microsoft.com/office/drawing/2014/main" id="{867F71EC-C4DE-4A6B-A992-E1697BCD0260}"/>
              </a:ext>
            </a:extLst>
          </p:cNvPr>
          <p:cNvSpPr>
            <a:spLocks xmlns:a="http://schemas.openxmlformats.org/drawingml/2006/main" noGrp="1"/>
          </p:cNvSpPr>
          <p:nvPr/>
        </p:nvSpPr>
        <p:spPr>
          <a:xfrm xmlns:a="http://schemas.openxmlformats.org/drawingml/2006/main">
            <a:off x="4514850" y="3971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EF5A5A"/>
                </a:solidFill>
              </a:defRPr>
            </a:pPr>
            <a:r>
              <a:rPr sz="1200" b="1">
                <a:solidFill>
                  <a:srgbClr val="EF5A5A"/>
                </a:solidFill>
              </a:rPr>
              <a:t>Elasticsearch</a:t>
            </a:r>
          </a:p>
        </p:txBody>
      </p:sp>
      <p:sp>
        <p:nvSpPr>
          <p:cNvPr id="28" name="">
            <a:extLst xmlns:a="http://schemas.openxmlformats.org/drawingml/2006/main">
              <a:ext uri="{FF2B5EF4-FFF2-40B4-BE49-F238E27FC236}">
                <a16:creationId xmlns:a16="http://schemas.microsoft.com/office/drawing/2014/main" id="{D6A4A418-CD72-4E8F-B5E2-4C48BC8C0477}"/>
              </a:ext>
            </a:extLst>
          </p:cNvPr>
          <p:cNvSpPr>
            <a:spLocks xmlns:a="http://schemas.openxmlformats.org/drawingml/2006/main" noGrp="1"/>
          </p:cNvSpPr>
          <p:nvPr/>
        </p:nvSpPr>
        <p:spPr>
          <a:xfrm xmlns:a="http://schemas.openxmlformats.org/drawingml/2006/main">
            <a:off x="4514850" y="43338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indice film</a:t>
            </a:r>
          </a:p>
        </p:txBody>
      </p:sp>
      <p:sp>
        <p:nvSpPr>
          <p:cNvPr id="29" name="">
            <a:extLst xmlns:a="http://schemas.openxmlformats.org/drawingml/2006/main">
              <a:ext uri="{FF2B5EF4-FFF2-40B4-BE49-F238E27FC236}">
                <a16:creationId xmlns:a16="http://schemas.microsoft.com/office/drawing/2014/main" id="{EEAD64E2-7D64-42E0-8911-EB6EDDBBC5FF}"/>
              </a:ext>
            </a:extLst>
          </p:cNvPr>
          <p:cNvSpPr>
            <a:spLocks xmlns:a="http://schemas.openxmlformats.org/drawingml/2006/main" noGrp="1"/>
          </p:cNvSpPr>
          <p:nvPr/>
        </p:nvSpPr>
        <p:spPr>
          <a:xfrm xmlns:a="http://schemas.openxmlformats.org/drawingml/2006/main">
            <a:off x="7924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30" name="">
            <a:extLst xmlns:a="http://schemas.openxmlformats.org/drawingml/2006/main">
              <a:ext uri="{FF2B5EF4-FFF2-40B4-BE49-F238E27FC236}">
                <a16:creationId xmlns:a16="http://schemas.microsoft.com/office/drawing/2014/main" id="{E02C8B5D-6BF1-4228-8FF8-25D446430813}"/>
              </a:ext>
            </a:extLst>
          </p:cNvPr>
          <p:cNvSpPr>
            <a:spLocks xmlns:a="http://schemas.openxmlformats.org/drawingml/2006/main" noGrp="1"/>
          </p:cNvSpPr>
          <p:nvPr/>
        </p:nvSpPr>
        <p:spPr>
          <a:xfrm xmlns:a="http://schemas.openxmlformats.org/drawingml/2006/main">
            <a:off x="7924800" y="3381375"/>
            <a:ext cx="3238500" cy="85725"/>
          </a:xfrm>
          <a:prstGeom xmlns:a="http://schemas.openxmlformats.org/drawingml/2006/main" prst="rect">
            <a:avLst/>
          </a:prstGeom>
          <a:solidFill xmlns:a="http://schemas.openxmlformats.org/drawingml/2006/main">
            <a:srgbClr val="27A36A"/>
          </a:solidFill>
          <a:ln xmlns:a="http://schemas.openxmlformats.org/drawingml/2006/main" w="9525">
            <a:solidFill>
              <a:srgbClr val="27A36A"/>
            </a:solidFill>
            <a:prstDash val="solid"/>
          </a:ln>
        </p:spPr>
      </p:sp>
      <p:sp>
        <p:nvSpPr>
          <p:cNvPr id="31" name="">
            <a:extLst xmlns:a="http://schemas.openxmlformats.org/drawingml/2006/main">
              <a:ext uri="{FF2B5EF4-FFF2-40B4-BE49-F238E27FC236}">
                <a16:creationId xmlns:a16="http://schemas.microsoft.com/office/drawing/2014/main" id="{53B5A61B-F9C4-4611-9BCB-8BC3196CE90F}"/>
              </a:ext>
            </a:extLst>
          </p:cNvPr>
          <p:cNvSpPr>
            <a:spLocks xmlns:a="http://schemas.openxmlformats.org/drawingml/2006/main" noGrp="1"/>
          </p:cNvSpPr>
          <p:nvPr/>
        </p:nvSpPr>
        <p:spPr>
          <a:xfrm xmlns:a="http://schemas.openxmlformats.org/drawingml/2006/main">
            <a:off x="8134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MEDIA</a:t>
            </a:r>
          </a:p>
        </p:txBody>
      </p:sp>
      <p:sp>
        <p:nvSpPr>
          <p:cNvPr id="32" name="">
            <a:extLst xmlns:a="http://schemas.openxmlformats.org/drawingml/2006/main">
              <a:ext uri="{FF2B5EF4-FFF2-40B4-BE49-F238E27FC236}">
                <a16:creationId xmlns:a16="http://schemas.microsoft.com/office/drawing/2014/main" id="{16BC052B-C60C-4BD1-8F92-5593073529B1}"/>
              </a:ext>
            </a:extLst>
          </p:cNvPr>
          <p:cNvSpPr>
            <a:spLocks xmlns:a="http://schemas.openxmlformats.org/drawingml/2006/main" noGrp="1"/>
          </p:cNvSpPr>
          <p:nvPr/>
        </p:nvSpPr>
        <p:spPr>
          <a:xfrm xmlns:a="http://schemas.openxmlformats.org/drawingml/2006/main">
            <a:off x="8134350" y="3971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7A36A"/>
                </a:solidFill>
              </a:defRPr>
            </a:pPr>
            <a:r>
              <a:rPr sz="1200" b="1">
                <a:solidFill>
                  <a:srgbClr val="27A36A"/>
                </a:solidFill>
              </a:rPr>
              <a:t>S3</a:t>
            </a:r>
          </a:p>
        </p:txBody>
      </p:sp>
      <p:sp>
        <p:nvSpPr>
          <p:cNvPr id="33" name="">
            <a:extLst xmlns:a="http://schemas.openxmlformats.org/drawingml/2006/main">
              <a:ext uri="{FF2B5EF4-FFF2-40B4-BE49-F238E27FC236}">
                <a16:creationId xmlns:a16="http://schemas.microsoft.com/office/drawing/2014/main" id="{7A58273F-C28F-4828-842D-E678BC9DA26C}"/>
              </a:ext>
            </a:extLst>
          </p:cNvPr>
          <p:cNvSpPr>
            <a:spLocks xmlns:a="http://schemas.openxmlformats.org/drawingml/2006/main" noGrp="1"/>
          </p:cNvSpPr>
          <p:nvPr/>
        </p:nvSpPr>
        <p:spPr>
          <a:xfrm xmlns:a="http://schemas.openxmlformats.org/drawingml/2006/main">
            <a:off x="8134350" y="4333875"/>
            <a:ext cx="281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video • immagini</a:t>
            </a:r>
          </a:p>
        </p:txBody>
      </p:sp>
      <p:sp>
        <p:nvSpPr>
          <p:cNvPr id="34" name="">
            <a:extLst xmlns:a="http://schemas.openxmlformats.org/drawingml/2006/main">
              <a:ext uri="{FF2B5EF4-FFF2-40B4-BE49-F238E27FC236}">
                <a16:creationId xmlns:a16="http://schemas.microsoft.com/office/drawing/2014/main" id="{BA430748-4D14-49CB-83AA-1DFEC194422C}"/>
              </a:ext>
            </a:extLst>
          </p:cNvPr>
          <p:cNvSpPr>
            <a:spLocks xmlns:a="http://schemas.openxmlformats.org/drawingml/2006/main" noGrp="1"/>
          </p:cNvSpPr>
          <p:nvPr/>
        </p:nvSpPr>
        <p:spPr>
          <a:xfrm xmlns:a="http://schemas.openxmlformats.org/drawingml/2006/main">
            <a:off x="2000250" y="54292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Un dato può comparire altrove, ma un solo contesto decide la sua verità.</a:t>
            </a:r>
          </a:p>
        </p:txBody>
      </p:sp>
    </p:spTree>
    <p:extLst>
      <p:ext uri="{BB962C8B-B14F-4D97-AF65-F5344CB8AC3E}">
        <p14:creationId xmlns:p14="http://schemas.microsoft.com/office/powerpoint/2010/main" val="436752653"/>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D94722-72E0-4F63-83A3-861A23DB1FAB}"/>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POLYGLOT PERSISTENCE • LEZIONE 09</a:t>
            </a:r>
          </a:p>
        </p:txBody>
      </p:sp>
      <p:sp>
        <p:nvSpPr>
          <p:cNvPr id="2" name="">
            <a:extLst xmlns:a="http://schemas.openxmlformats.org/drawingml/2006/main">
              <a:ext uri="{FF2B5EF4-FFF2-40B4-BE49-F238E27FC236}">
                <a16:creationId xmlns:a16="http://schemas.microsoft.com/office/drawing/2014/main" id="{FB2CD961-DA22-4C06-B665-F0E7DF6E03DB}"/>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Source of truth e projection hanno responsabilità diverse</a:t>
            </a:r>
          </a:p>
        </p:txBody>
      </p:sp>
      <p:sp>
        <p:nvSpPr>
          <p:cNvPr id="3" name="">
            <a:extLst xmlns:a="http://schemas.openxmlformats.org/drawingml/2006/main">
              <a:ext uri="{FF2B5EF4-FFF2-40B4-BE49-F238E27FC236}">
                <a16:creationId xmlns:a16="http://schemas.microsoft.com/office/drawing/2014/main" id="{64044E3E-66CE-44E5-9F3B-CA262D4AE8F8}"/>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08</a:t>
            </a:r>
          </a:p>
        </p:txBody>
      </p:sp>
      <p:sp>
        <p:nvSpPr>
          <p:cNvPr id="4" name="">
            <a:extLst xmlns:a="http://schemas.openxmlformats.org/drawingml/2006/main">
              <a:ext uri="{FF2B5EF4-FFF2-40B4-BE49-F238E27FC236}">
                <a16:creationId xmlns:a16="http://schemas.microsoft.com/office/drawing/2014/main" id="{129CBC93-7AA7-4347-A718-1740353F1D54}"/>
              </a:ext>
            </a:extLst>
          </p:cNvPr>
          <p:cNvSpPr>
            <a:spLocks xmlns:a="http://schemas.openxmlformats.org/drawingml/2006/main" noGrp="1"/>
          </p:cNvSpPr>
          <p:nvPr/>
        </p:nvSpPr>
        <p:spPr>
          <a:xfrm xmlns:a="http://schemas.openxmlformats.org/drawingml/2006/main">
            <a:off x="685800" y="1809750"/>
            <a:ext cx="51435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0C406D07-E47A-4DD2-BDD8-149D17D36E1F}"/>
              </a:ext>
            </a:extLst>
          </p:cNvPr>
          <p:cNvSpPr>
            <a:spLocks xmlns:a="http://schemas.openxmlformats.org/drawingml/2006/main" noGrp="1"/>
          </p:cNvSpPr>
          <p:nvPr/>
        </p:nvSpPr>
        <p:spPr>
          <a:xfrm xmlns:a="http://schemas.openxmlformats.org/drawingml/2006/main">
            <a:off x="6362700" y="1809750"/>
            <a:ext cx="51435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8DDE3"/>
            </a:solidFill>
            <a:prstDash val="solid"/>
          </a:ln>
        </p:spPr>
      </p:sp>
      <p:sp>
        <p:nvSpPr>
          <p:cNvPr id="6" name="">
            <a:extLst xmlns:a="http://schemas.openxmlformats.org/drawingml/2006/main">
              <a:ext uri="{FF2B5EF4-FFF2-40B4-BE49-F238E27FC236}">
                <a16:creationId xmlns:a16="http://schemas.microsoft.com/office/drawing/2014/main" id="{C7A5B544-B38A-44B7-B81B-1617221346BB}"/>
              </a:ext>
            </a:extLst>
          </p:cNvPr>
          <p:cNvSpPr>
            <a:spLocks xmlns:a="http://schemas.openxmlformats.org/drawingml/2006/main" noGrp="1"/>
          </p:cNvSpPr>
          <p:nvPr/>
        </p:nvSpPr>
        <p:spPr>
          <a:xfrm xmlns:a="http://schemas.openxmlformats.org/drawingml/2006/main">
            <a:off x="685800" y="1809750"/>
            <a:ext cx="5143500" cy="762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7" name="">
            <a:extLst xmlns:a="http://schemas.openxmlformats.org/drawingml/2006/main">
              <a:ext uri="{FF2B5EF4-FFF2-40B4-BE49-F238E27FC236}">
                <a16:creationId xmlns:a16="http://schemas.microsoft.com/office/drawing/2014/main" id="{F3CE5A12-6777-4257-987E-00D8594C711C}"/>
              </a:ext>
            </a:extLst>
          </p:cNvPr>
          <p:cNvSpPr>
            <a:spLocks xmlns:a="http://schemas.openxmlformats.org/drawingml/2006/main" noGrp="1"/>
          </p:cNvSpPr>
          <p:nvPr/>
        </p:nvSpPr>
        <p:spPr>
          <a:xfrm xmlns:a="http://schemas.openxmlformats.org/drawingml/2006/main">
            <a:off x="6362700" y="1809750"/>
            <a:ext cx="5143500" cy="762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8" name="">
            <a:extLst xmlns:a="http://schemas.openxmlformats.org/drawingml/2006/main">
              <a:ext uri="{FF2B5EF4-FFF2-40B4-BE49-F238E27FC236}">
                <a16:creationId xmlns:a16="http://schemas.microsoft.com/office/drawing/2014/main" id="{9C5E4BC2-9E4B-46F6-AAF3-569A7F620B74}"/>
              </a:ext>
            </a:extLst>
          </p:cNvPr>
          <p:cNvSpPr>
            <a:spLocks xmlns:a="http://schemas.openxmlformats.org/drawingml/2006/main" noGrp="1"/>
          </p:cNvSpPr>
          <p:nvPr/>
        </p:nvSpPr>
        <p:spPr>
          <a:xfrm xmlns:a="http://schemas.openxmlformats.org/drawingml/2006/main">
            <a:off x="1028700" y="213360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B1F33"/>
                </a:solidFill>
              </a:defRPr>
            </a:pPr>
            <a:r>
              <a:rPr sz="1950" b="1">
                <a:solidFill>
                  <a:srgbClr val="0B1F33"/>
                </a:solidFill>
              </a:rPr>
              <a:t>SOURCE OF TRUTH</a:t>
            </a:r>
          </a:p>
        </p:txBody>
      </p:sp>
      <p:sp>
        <p:nvSpPr>
          <p:cNvPr id="9" name="">
            <a:extLst xmlns:a="http://schemas.openxmlformats.org/drawingml/2006/main">
              <a:ext uri="{FF2B5EF4-FFF2-40B4-BE49-F238E27FC236}">
                <a16:creationId xmlns:a16="http://schemas.microsoft.com/office/drawing/2014/main" id="{C525128B-281E-413F-B2C4-705F7BACBA9E}"/>
              </a:ext>
            </a:extLst>
          </p:cNvPr>
          <p:cNvSpPr>
            <a:spLocks xmlns:a="http://schemas.openxmlformats.org/drawingml/2006/main" noGrp="1"/>
          </p:cNvSpPr>
          <p:nvPr/>
        </p:nvSpPr>
        <p:spPr>
          <a:xfrm xmlns:a="http://schemas.openxmlformats.org/drawingml/2006/main">
            <a:off x="1028700" y="2781300"/>
            <a:ext cx="4333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6D"/>
                </a:solidFill>
              </a:defRPr>
            </a:pPr>
            <a:r>
              <a:rPr sz="1725" b="0">
                <a:solidFill>
                  <a:srgbClr val="52606D"/>
                </a:solidFill>
              </a:rPr>
              <a:t>Accetta il comando, applica regole e decide lo stato autorevole. Deve proteggere identità e invarianti.</a:t>
            </a:r>
          </a:p>
        </p:txBody>
      </p:sp>
      <p:sp>
        <p:nvSpPr>
          <p:cNvPr id="10" name="">
            <a:extLst xmlns:a="http://schemas.openxmlformats.org/drawingml/2006/main">
              <a:ext uri="{FF2B5EF4-FFF2-40B4-BE49-F238E27FC236}">
                <a16:creationId xmlns:a16="http://schemas.microsoft.com/office/drawing/2014/main" id="{AA5BAABF-4342-4061-8341-2EAEDFA18CCA}"/>
              </a:ext>
            </a:extLst>
          </p:cNvPr>
          <p:cNvSpPr>
            <a:spLocks xmlns:a="http://schemas.openxmlformats.org/drawingml/2006/main" noGrp="1"/>
          </p:cNvSpPr>
          <p:nvPr/>
        </p:nvSpPr>
        <p:spPr>
          <a:xfrm xmlns:a="http://schemas.openxmlformats.org/drawingml/2006/main">
            <a:off x="6705600" y="213360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B1F33"/>
                </a:solidFill>
              </a:defRPr>
            </a:pPr>
            <a:r>
              <a:rPr sz="1950" b="1">
                <a:solidFill>
                  <a:srgbClr val="0B1F33"/>
                </a:solidFill>
              </a:rPr>
              <a:t>PROJECTION</a:t>
            </a:r>
          </a:p>
        </p:txBody>
      </p:sp>
      <p:sp>
        <p:nvSpPr>
          <p:cNvPr id="11" name="">
            <a:extLst xmlns:a="http://schemas.openxmlformats.org/drawingml/2006/main">
              <a:ext uri="{FF2B5EF4-FFF2-40B4-BE49-F238E27FC236}">
                <a16:creationId xmlns:a16="http://schemas.microsoft.com/office/drawing/2014/main" id="{2CBBBE61-F856-49F8-90D7-ABED9588694A}"/>
              </a:ext>
            </a:extLst>
          </p:cNvPr>
          <p:cNvSpPr>
            <a:spLocks xmlns:a="http://schemas.openxmlformats.org/drawingml/2006/main" noGrp="1"/>
          </p:cNvSpPr>
          <p:nvPr/>
        </p:nvSpPr>
        <p:spPr>
          <a:xfrm xmlns:a="http://schemas.openxmlformats.org/drawingml/2006/main">
            <a:off x="6705600" y="2781300"/>
            <a:ext cx="4333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2606D"/>
                </a:solidFill>
              </a:defRPr>
            </a:pPr>
            <a:r>
              <a:rPr sz="1725" b="0">
                <a:solidFill>
                  <a:srgbClr val="52606D"/>
                </a:solidFill>
              </a:rPr>
              <a:t>Copia derivata e ottimizzata per una query. Può essere ricostruita, avere lag e usare uno schema differente.</a:t>
            </a:r>
          </a:p>
        </p:txBody>
      </p:sp>
      <p:sp>
        <p:nvSpPr>
          <p:cNvPr id="12" name="">
            <a:extLst xmlns:a="http://schemas.openxmlformats.org/drawingml/2006/main">
              <a:ext uri="{FF2B5EF4-FFF2-40B4-BE49-F238E27FC236}">
                <a16:creationId xmlns:a16="http://schemas.microsoft.com/office/drawing/2014/main" id="{FA31E932-3C7E-41E2-A7AB-665AF9E8D115}"/>
              </a:ext>
            </a:extLst>
          </p:cNvPr>
          <p:cNvSpPr>
            <a:spLocks xmlns:a="http://schemas.openxmlformats.org/drawingml/2006/main" noGrp="1"/>
          </p:cNvSpPr>
          <p:nvPr/>
        </p:nvSpPr>
        <p:spPr>
          <a:xfrm xmlns:a="http://schemas.openxmlformats.org/drawingml/2006/main">
            <a:off x="2667000" y="58102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F33"/>
                </a:solidFill>
              </a:defRPr>
            </a:pPr>
            <a:r>
              <a:rPr sz="1575" b="1">
                <a:solidFill>
                  <a:srgbClr val="0B1F33"/>
                </a:solidFill>
              </a:rPr>
              <a:t>Ogni copia deve dichiarare da dove nasce e come si ricostruisce.</a:t>
            </a:r>
          </a:p>
        </p:txBody>
      </p:sp>
    </p:spTree>
    <p:extLst>
      <p:ext uri="{BB962C8B-B14F-4D97-AF65-F5344CB8AC3E}">
        <p14:creationId xmlns:p14="http://schemas.microsoft.com/office/powerpoint/2010/main" val="2099745512"/>
      </p:ext>
    </p:extLst>
  </p:cSld>
</p:sld>
</file>

<file path=ppt/slides/slide9.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E234FDD-4BD9-465A-A2F0-5894E2136C59}"/>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VISTA COMPLESSIVA</a:t>
            </a:r>
          </a:p>
        </p:txBody>
      </p:sp>
      <p:sp>
        <p:nvSpPr>
          <p:cNvPr id="2" name="">
            <a:extLst xmlns:a="http://schemas.openxmlformats.org/drawingml/2006/main">
              <a:ext uri="{FF2B5EF4-FFF2-40B4-BE49-F238E27FC236}">
                <a16:creationId xmlns:a16="http://schemas.microsoft.com/office/drawing/2014/main" id="{CE58DA57-BBE4-43DE-9E69-016FF2821A39}"/>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L’architettura DATAFLIX è una rete di responsabilità</a:t>
            </a:r>
          </a:p>
        </p:txBody>
      </p:sp>
      <p:sp>
        <p:nvSpPr>
          <p:cNvPr id="3" name="">
            <a:extLst xmlns:a="http://schemas.openxmlformats.org/drawingml/2006/main">
              <a:ext uri="{FF2B5EF4-FFF2-40B4-BE49-F238E27FC236}">
                <a16:creationId xmlns:a16="http://schemas.microsoft.com/office/drawing/2014/main" id="{D188E649-6669-4AC1-9326-DE26DD39779E}"/>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09</a:t>
            </a:r>
          </a:p>
        </p:txBody>
      </p:sp>
      <p:sp>
        <p:nvSpPr>
          <p:cNvPr id="4" name="">
            <a:extLst xmlns:a="http://schemas.openxmlformats.org/drawingml/2006/main">
              <a:ext uri="{FF2B5EF4-FFF2-40B4-BE49-F238E27FC236}">
                <a16:creationId xmlns:a16="http://schemas.microsoft.com/office/drawing/2014/main" id="{8CDBC1DE-9B95-4E95-BD5E-89C984FE91AF}"/>
              </a:ext>
            </a:extLst>
          </p:cNvPr>
          <p:cNvSpPr>
            <a:spLocks xmlns:a="http://schemas.openxmlformats.org/drawingml/2006/main" noGrp="1"/>
          </p:cNvSpPr>
          <p:nvPr/>
        </p:nvSpPr>
        <p:spPr>
          <a:xfrm xmlns:a="http://schemas.openxmlformats.org/drawingml/2006/main">
            <a:off x="3286125" y="2362200"/>
            <a:ext cx="666750" cy="381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5" name="">
            <a:extLst xmlns:a="http://schemas.openxmlformats.org/drawingml/2006/main">
              <a:ext uri="{FF2B5EF4-FFF2-40B4-BE49-F238E27FC236}">
                <a16:creationId xmlns:a16="http://schemas.microsoft.com/office/drawing/2014/main" id="{81F0EB06-0ACB-40A1-9EE7-457FAA07DCC8}"/>
              </a:ext>
            </a:extLst>
          </p:cNvPr>
          <p:cNvSpPr>
            <a:spLocks xmlns:a="http://schemas.openxmlformats.org/drawingml/2006/main" noGrp="1"/>
          </p:cNvSpPr>
          <p:nvPr/>
        </p:nvSpPr>
        <p:spPr>
          <a:xfrm xmlns:a="http://schemas.openxmlformats.org/drawingml/2006/main">
            <a:off x="3800475" y="21907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00B8D9"/>
                </a:solidFill>
              </a:defRPr>
            </a:pPr>
            <a:r>
              <a:rPr sz="2625" b="1">
                <a:solidFill>
                  <a:srgbClr val="00B8D9"/>
                </a:solidFill>
              </a:rPr>
              <a:t>›</a:t>
            </a:r>
          </a:p>
        </p:txBody>
      </p:sp>
      <p:sp>
        <p:nvSpPr>
          <p:cNvPr id="6" name="">
            <a:extLst xmlns:a="http://schemas.openxmlformats.org/drawingml/2006/main">
              <a:ext uri="{FF2B5EF4-FFF2-40B4-BE49-F238E27FC236}">
                <a16:creationId xmlns:a16="http://schemas.microsoft.com/office/drawing/2014/main" id="{641199D6-34A8-44B4-9A67-1AAE86A6A746}"/>
              </a:ext>
            </a:extLst>
          </p:cNvPr>
          <p:cNvSpPr>
            <a:spLocks xmlns:a="http://schemas.openxmlformats.org/drawingml/2006/main" noGrp="1"/>
          </p:cNvSpPr>
          <p:nvPr/>
        </p:nvSpPr>
        <p:spPr>
          <a:xfrm xmlns:a="http://schemas.openxmlformats.org/drawingml/2006/main">
            <a:off x="3286125" y="201930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B8D9"/>
                </a:solidFill>
              </a:defRPr>
            </a:pPr>
            <a:r>
              <a:rPr sz="1050" b="1">
                <a:solidFill>
                  <a:srgbClr val="00B8D9"/>
                </a:solidFill>
              </a:rPr>
              <a:t>API</a:t>
            </a:r>
          </a:p>
        </p:txBody>
      </p:sp>
      <p:sp>
        <p:nvSpPr>
          <p:cNvPr id="7" name="">
            <a:extLst xmlns:a="http://schemas.openxmlformats.org/drawingml/2006/main">
              <a:ext uri="{FF2B5EF4-FFF2-40B4-BE49-F238E27FC236}">
                <a16:creationId xmlns:a16="http://schemas.microsoft.com/office/drawing/2014/main" id="{01593E57-3620-45E4-9096-6D5BC757D238}"/>
              </a:ext>
            </a:extLst>
          </p:cNvPr>
          <p:cNvSpPr>
            <a:spLocks xmlns:a="http://schemas.openxmlformats.org/drawingml/2006/main" noGrp="1"/>
          </p:cNvSpPr>
          <p:nvPr/>
        </p:nvSpPr>
        <p:spPr>
          <a:xfrm xmlns:a="http://schemas.openxmlformats.org/drawingml/2006/main">
            <a:off x="6477000" y="2362200"/>
            <a:ext cx="66675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8" name="">
            <a:extLst xmlns:a="http://schemas.openxmlformats.org/drawingml/2006/main">
              <a:ext uri="{FF2B5EF4-FFF2-40B4-BE49-F238E27FC236}">
                <a16:creationId xmlns:a16="http://schemas.microsoft.com/office/drawing/2014/main" id="{BDC4BEF4-F209-4923-87CE-F5AAA2403BB7}"/>
              </a:ext>
            </a:extLst>
          </p:cNvPr>
          <p:cNvSpPr>
            <a:spLocks xmlns:a="http://schemas.openxmlformats.org/drawingml/2006/main" noGrp="1"/>
          </p:cNvSpPr>
          <p:nvPr/>
        </p:nvSpPr>
        <p:spPr>
          <a:xfrm xmlns:a="http://schemas.openxmlformats.org/drawingml/2006/main">
            <a:off x="6991350" y="21907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9" name="">
            <a:extLst xmlns:a="http://schemas.openxmlformats.org/drawingml/2006/main">
              <a:ext uri="{FF2B5EF4-FFF2-40B4-BE49-F238E27FC236}">
                <a16:creationId xmlns:a16="http://schemas.microsoft.com/office/drawing/2014/main" id="{82A4C688-6478-48A0-82A0-EAFE11EA5357}"/>
              </a:ext>
            </a:extLst>
          </p:cNvPr>
          <p:cNvSpPr>
            <a:spLocks xmlns:a="http://schemas.openxmlformats.org/drawingml/2006/main" noGrp="1"/>
          </p:cNvSpPr>
          <p:nvPr/>
        </p:nvSpPr>
        <p:spPr>
          <a:xfrm xmlns:a="http://schemas.openxmlformats.org/drawingml/2006/main">
            <a:off x="6477000" y="201930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eventi</a:t>
            </a:r>
          </a:p>
        </p:txBody>
      </p:sp>
      <p:sp>
        <p:nvSpPr>
          <p:cNvPr id="10" name="">
            <a:extLst xmlns:a="http://schemas.openxmlformats.org/drawingml/2006/main">
              <a:ext uri="{FF2B5EF4-FFF2-40B4-BE49-F238E27FC236}">
                <a16:creationId xmlns:a16="http://schemas.microsoft.com/office/drawing/2014/main" id="{AA4DDCF1-949E-4069-89C9-2A5425EEC222}"/>
              </a:ext>
            </a:extLst>
          </p:cNvPr>
          <p:cNvSpPr>
            <a:spLocks xmlns:a="http://schemas.openxmlformats.org/drawingml/2006/main" noGrp="1"/>
          </p:cNvSpPr>
          <p:nvPr/>
        </p:nvSpPr>
        <p:spPr>
          <a:xfrm xmlns:a="http://schemas.openxmlformats.org/drawingml/2006/main">
            <a:off x="9096375" y="3314700"/>
            <a:ext cx="666750" cy="381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1" name="">
            <a:extLst xmlns:a="http://schemas.openxmlformats.org/drawingml/2006/main">
              <a:ext uri="{FF2B5EF4-FFF2-40B4-BE49-F238E27FC236}">
                <a16:creationId xmlns:a16="http://schemas.microsoft.com/office/drawing/2014/main" id="{676938DF-D832-4D94-A003-5CF6E09B238B}"/>
              </a:ext>
            </a:extLst>
          </p:cNvPr>
          <p:cNvSpPr>
            <a:spLocks xmlns:a="http://schemas.openxmlformats.org/drawingml/2006/main" noGrp="1"/>
          </p:cNvSpPr>
          <p:nvPr/>
        </p:nvSpPr>
        <p:spPr>
          <a:xfrm xmlns:a="http://schemas.openxmlformats.org/drawingml/2006/main">
            <a:off x="9610725" y="31432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B7E34B"/>
                </a:solidFill>
              </a:defRPr>
            </a:pPr>
            <a:r>
              <a:rPr sz="2625" b="1">
                <a:solidFill>
                  <a:srgbClr val="B7E34B"/>
                </a:solidFill>
              </a:rPr>
              <a:t>›</a:t>
            </a:r>
          </a:p>
        </p:txBody>
      </p:sp>
      <p:sp>
        <p:nvSpPr>
          <p:cNvPr id="12" name="">
            <a:extLst xmlns:a="http://schemas.openxmlformats.org/drawingml/2006/main">
              <a:ext uri="{FF2B5EF4-FFF2-40B4-BE49-F238E27FC236}">
                <a16:creationId xmlns:a16="http://schemas.microsoft.com/office/drawing/2014/main" id="{FA07DAC6-B33B-4C36-B2CF-ECFE19699714}"/>
              </a:ext>
            </a:extLst>
          </p:cNvPr>
          <p:cNvSpPr>
            <a:spLocks xmlns:a="http://schemas.openxmlformats.org/drawingml/2006/main" noGrp="1"/>
          </p:cNvSpPr>
          <p:nvPr/>
        </p:nvSpPr>
        <p:spPr>
          <a:xfrm xmlns:a="http://schemas.openxmlformats.org/drawingml/2006/main">
            <a:off x="9096375" y="297180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7E34B"/>
                </a:solidFill>
              </a:defRPr>
            </a:pPr>
            <a:r>
              <a:rPr sz="1050" b="1">
                <a:solidFill>
                  <a:srgbClr val="B7E34B"/>
                </a:solidFill>
              </a:rPr>
              <a:t>stream</a:t>
            </a:r>
          </a:p>
        </p:txBody>
      </p:sp>
      <p:sp>
        <p:nvSpPr>
          <p:cNvPr id="13" name="">
            <a:extLst xmlns:a="http://schemas.openxmlformats.org/drawingml/2006/main">
              <a:ext uri="{FF2B5EF4-FFF2-40B4-BE49-F238E27FC236}">
                <a16:creationId xmlns:a16="http://schemas.microsoft.com/office/drawing/2014/main" id="{9FFD68E5-2AF5-45C0-8832-10AA0E6FB652}"/>
              </a:ext>
            </a:extLst>
          </p:cNvPr>
          <p:cNvSpPr>
            <a:spLocks xmlns:a="http://schemas.openxmlformats.org/drawingml/2006/main" noGrp="1"/>
          </p:cNvSpPr>
          <p:nvPr/>
        </p:nvSpPr>
        <p:spPr>
          <a:xfrm xmlns:a="http://schemas.openxmlformats.org/drawingml/2006/main">
            <a:off x="904875" y="18097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00B8D9"/>
            </a:solidFill>
            <a:prstDash val="solid"/>
          </a:ln>
        </p:spPr>
      </p:sp>
      <p:sp>
        <p:nvSpPr>
          <p:cNvPr id="14" name="">
            <a:extLst xmlns:a="http://schemas.openxmlformats.org/drawingml/2006/main">
              <a:ext uri="{FF2B5EF4-FFF2-40B4-BE49-F238E27FC236}">
                <a16:creationId xmlns:a16="http://schemas.microsoft.com/office/drawing/2014/main" id="{78EF110D-7259-4C65-917E-814B919CAFF6}"/>
              </a:ext>
            </a:extLst>
          </p:cNvPr>
          <p:cNvSpPr>
            <a:spLocks xmlns:a="http://schemas.openxmlformats.org/drawingml/2006/main" noGrp="1"/>
          </p:cNvSpPr>
          <p:nvPr/>
        </p:nvSpPr>
        <p:spPr>
          <a:xfrm xmlns:a="http://schemas.openxmlformats.org/drawingml/2006/main">
            <a:off x="1047750" y="20193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POSTGRESQL</a:t>
            </a:r>
          </a:p>
        </p:txBody>
      </p:sp>
      <p:sp>
        <p:nvSpPr>
          <p:cNvPr id="15" name="">
            <a:extLst xmlns:a="http://schemas.openxmlformats.org/drawingml/2006/main">
              <a:ext uri="{FF2B5EF4-FFF2-40B4-BE49-F238E27FC236}">
                <a16:creationId xmlns:a16="http://schemas.microsoft.com/office/drawing/2014/main" id="{43DE63A5-6894-4FEE-A3E7-18467B8ED499}"/>
              </a:ext>
            </a:extLst>
          </p:cNvPr>
          <p:cNvSpPr>
            <a:spLocks xmlns:a="http://schemas.openxmlformats.org/drawingml/2006/main" noGrp="1"/>
          </p:cNvSpPr>
          <p:nvPr/>
        </p:nvSpPr>
        <p:spPr>
          <a:xfrm xmlns:a="http://schemas.openxmlformats.org/drawingml/2006/main">
            <a:off x="1047750" y="24003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account + pagamenti</a:t>
            </a:r>
          </a:p>
        </p:txBody>
      </p:sp>
      <p:sp>
        <p:nvSpPr>
          <p:cNvPr id="16" name="">
            <a:extLst xmlns:a="http://schemas.openxmlformats.org/drawingml/2006/main">
              <a:ext uri="{FF2B5EF4-FFF2-40B4-BE49-F238E27FC236}">
                <a16:creationId xmlns:a16="http://schemas.microsoft.com/office/drawing/2014/main" id="{1589AE55-00BA-4576-A8B6-8468D47FF9CD}"/>
              </a:ext>
            </a:extLst>
          </p:cNvPr>
          <p:cNvSpPr>
            <a:spLocks xmlns:a="http://schemas.openxmlformats.org/drawingml/2006/main" noGrp="1"/>
          </p:cNvSpPr>
          <p:nvPr/>
        </p:nvSpPr>
        <p:spPr>
          <a:xfrm xmlns:a="http://schemas.openxmlformats.org/drawingml/2006/main">
            <a:off x="904875" y="3905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FF8A4C"/>
            </a:solidFill>
            <a:prstDash val="solid"/>
          </a:ln>
        </p:spPr>
      </p:sp>
      <p:sp>
        <p:nvSpPr>
          <p:cNvPr id="17" name="">
            <a:extLst xmlns:a="http://schemas.openxmlformats.org/drawingml/2006/main">
              <a:ext uri="{FF2B5EF4-FFF2-40B4-BE49-F238E27FC236}">
                <a16:creationId xmlns:a16="http://schemas.microsoft.com/office/drawing/2014/main" id="{422D04E9-DB00-4DE8-98E9-909213B58340}"/>
              </a:ext>
            </a:extLst>
          </p:cNvPr>
          <p:cNvSpPr>
            <a:spLocks xmlns:a="http://schemas.openxmlformats.org/drawingml/2006/main" noGrp="1"/>
          </p:cNvSpPr>
          <p:nvPr/>
        </p:nvSpPr>
        <p:spPr>
          <a:xfrm xmlns:a="http://schemas.openxmlformats.org/drawingml/2006/main">
            <a:off x="1047750" y="41148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REDIS</a:t>
            </a:r>
          </a:p>
        </p:txBody>
      </p:sp>
      <p:sp>
        <p:nvSpPr>
          <p:cNvPr id="18" name="">
            <a:extLst xmlns:a="http://schemas.openxmlformats.org/drawingml/2006/main">
              <a:ext uri="{FF2B5EF4-FFF2-40B4-BE49-F238E27FC236}">
                <a16:creationId xmlns:a16="http://schemas.microsoft.com/office/drawing/2014/main" id="{5F115D5C-13A2-41EC-BCB9-3A687B06CF1C}"/>
              </a:ext>
            </a:extLst>
          </p:cNvPr>
          <p:cNvSpPr>
            <a:spLocks xmlns:a="http://schemas.openxmlformats.org/drawingml/2006/main" noGrp="1"/>
          </p:cNvSpPr>
          <p:nvPr/>
        </p:nvSpPr>
        <p:spPr>
          <a:xfrm xmlns:a="http://schemas.openxmlformats.org/drawingml/2006/main">
            <a:off x="1047750" y="44958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sessioni</a:t>
            </a:r>
          </a:p>
        </p:txBody>
      </p:sp>
      <p:sp>
        <p:nvSpPr>
          <p:cNvPr id="19" name="">
            <a:extLst xmlns:a="http://schemas.openxmlformats.org/drawingml/2006/main">
              <a:ext uri="{FF2B5EF4-FFF2-40B4-BE49-F238E27FC236}">
                <a16:creationId xmlns:a16="http://schemas.microsoft.com/office/drawing/2014/main" id="{1B88D80A-D5FE-4510-BC63-3C5F123152BF}"/>
              </a:ext>
            </a:extLst>
          </p:cNvPr>
          <p:cNvSpPr>
            <a:spLocks xmlns:a="http://schemas.openxmlformats.org/drawingml/2006/main" noGrp="1"/>
          </p:cNvSpPr>
          <p:nvPr/>
        </p:nvSpPr>
        <p:spPr>
          <a:xfrm xmlns:a="http://schemas.openxmlformats.org/drawingml/2006/main">
            <a:off x="4095750" y="18097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7C6EE6"/>
            </a:solidFill>
            <a:prstDash val="solid"/>
          </a:ln>
        </p:spPr>
      </p:sp>
      <p:sp>
        <p:nvSpPr>
          <p:cNvPr id="20" name="">
            <a:extLst xmlns:a="http://schemas.openxmlformats.org/drawingml/2006/main">
              <a:ext uri="{FF2B5EF4-FFF2-40B4-BE49-F238E27FC236}">
                <a16:creationId xmlns:a16="http://schemas.microsoft.com/office/drawing/2014/main" id="{2E679042-6453-41EB-BECA-351048BFE755}"/>
              </a:ext>
            </a:extLst>
          </p:cNvPr>
          <p:cNvSpPr>
            <a:spLocks xmlns:a="http://schemas.openxmlformats.org/drawingml/2006/main" noGrp="1"/>
          </p:cNvSpPr>
          <p:nvPr/>
        </p:nvSpPr>
        <p:spPr>
          <a:xfrm xmlns:a="http://schemas.openxmlformats.org/drawingml/2006/main">
            <a:off x="4238625" y="20193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MONGODB</a:t>
            </a:r>
          </a:p>
        </p:txBody>
      </p:sp>
      <p:sp>
        <p:nvSpPr>
          <p:cNvPr id="21" name="">
            <a:extLst xmlns:a="http://schemas.openxmlformats.org/drawingml/2006/main">
              <a:ext uri="{FF2B5EF4-FFF2-40B4-BE49-F238E27FC236}">
                <a16:creationId xmlns:a16="http://schemas.microsoft.com/office/drawing/2014/main" id="{E521BBC5-CE70-416C-A0BA-1CDF1E4B7287}"/>
              </a:ext>
            </a:extLst>
          </p:cNvPr>
          <p:cNvSpPr>
            <a:spLocks xmlns:a="http://schemas.openxmlformats.org/drawingml/2006/main" noGrp="1"/>
          </p:cNvSpPr>
          <p:nvPr/>
        </p:nvSpPr>
        <p:spPr>
          <a:xfrm xmlns:a="http://schemas.openxmlformats.org/drawingml/2006/main">
            <a:off x="4238625" y="24003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catalogo</a:t>
            </a:r>
          </a:p>
        </p:txBody>
      </p:sp>
      <p:sp>
        <p:nvSpPr>
          <p:cNvPr id="22" name="">
            <a:extLst xmlns:a="http://schemas.openxmlformats.org/drawingml/2006/main">
              <a:ext uri="{FF2B5EF4-FFF2-40B4-BE49-F238E27FC236}">
                <a16:creationId xmlns:a16="http://schemas.microsoft.com/office/drawing/2014/main" id="{788A3885-5FE1-42BA-99E6-8833EA8A7842}"/>
              </a:ext>
            </a:extLst>
          </p:cNvPr>
          <p:cNvSpPr>
            <a:spLocks xmlns:a="http://schemas.openxmlformats.org/drawingml/2006/main" noGrp="1"/>
          </p:cNvSpPr>
          <p:nvPr/>
        </p:nvSpPr>
        <p:spPr>
          <a:xfrm xmlns:a="http://schemas.openxmlformats.org/drawingml/2006/main">
            <a:off x="4095750" y="3905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B7E34B"/>
            </a:solidFill>
            <a:prstDash val="solid"/>
          </a:ln>
        </p:spPr>
      </p:sp>
      <p:sp>
        <p:nvSpPr>
          <p:cNvPr id="23" name="">
            <a:extLst xmlns:a="http://schemas.openxmlformats.org/drawingml/2006/main">
              <a:ext uri="{FF2B5EF4-FFF2-40B4-BE49-F238E27FC236}">
                <a16:creationId xmlns:a16="http://schemas.microsoft.com/office/drawing/2014/main" id="{EA3B9A65-F43E-467E-928E-9D5EADB0DE3D}"/>
              </a:ext>
            </a:extLst>
          </p:cNvPr>
          <p:cNvSpPr>
            <a:spLocks xmlns:a="http://schemas.openxmlformats.org/drawingml/2006/main" noGrp="1"/>
          </p:cNvSpPr>
          <p:nvPr/>
        </p:nvSpPr>
        <p:spPr>
          <a:xfrm xmlns:a="http://schemas.openxmlformats.org/drawingml/2006/main">
            <a:off x="4238625" y="41148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NEO4J</a:t>
            </a:r>
          </a:p>
        </p:txBody>
      </p:sp>
      <p:sp>
        <p:nvSpPr>
          <p:cNvPr id="24" name="">
            <a:extLst xmlns:a="http://schemas.openxmlformats.org/drawingml/2006/main">
              <a:ext uri="{FF2B5EF4-FFF2-40B4-BE49-F238E27FC236}">
                <a16:creationId xmlns:a16="http://schemas.microsoft.com/office/drawing/2014/main" id="{130AE6FD-2236-487C-B2B5-F82F2698B23D}"/>
              </a:ext>
            </a:extLst>
          </p:cNvPr>
          <p:cNvSpPr>
            <a:spLocks xmlns:a="http://schemas.openxmlformats.org/drawingml/2006/main" noGrp="1"/>
          </p:cNvSpPr>
          <p:nvPr/>
        </p:nvSpPr>
        <p:spPr>
          <a:xfrm xmlns:a="http://schemas.openxmlformats.org/drawingml/2006/main">
            <a:off x="4238625" y="44958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social</a:t>
            </a:r>
          </a:p>
        </p:txBody>
      </p:sp>
      <p:sp>
        <p:nvSpPr>
          <p:cNvPr id="25" name="">
            <a:extLst xmlns:a="http://schemas.openxmlformats.org/drawingml/2006/main">
              <a:ext uri="{FF2B5EF4-FFF2-40B4-BE49-F238E27FC236}">
                <a16:creationId xmlns:a16="http://schemas.microsoft.com/office/drawing/2014/main" id="{F8C4AED1-5D90-4936-A8F5-A2A38CD3004E}"/>
              </a:ext>
            </a:extLst>
          </p:cNvPr>
          <p:cNvSpPr>
            <a:spLocks xmlns:a="http://schemas.openxmlformats.org/drawingml/2006/main" noGrp="1"/>
          </p:cNvSpPr>
          <p:nvPr/>
        </p:nvSpPr>
        <p:spPr>
          <a:xfrm xmlns:a="http://schemas.openxmlformats.org/drawingml/2006/main">
            <a:off x="7286625" y="18097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EF5A5A"/>
            </a:solidFill>
            <a:prstDash val="solid"/>
          </a:ln>
        </p:spPr>
      </p:sp>
      <p:sp>
        <p:nvSpPr>
          <p:cNvPr id="26" name="">
            <a:extLst xmlns:a="http://schemas.openxmlformats.org/drawingml/2006/main">
              <a:ext uri="{FF2B5EF4-FFF2-40B4-BE49-F238E27FC236}">
                <a16:creationId xmlns:a16="http://schemas.microsoft.com/office/drawing/2014/main" id="{9A5F8653-E24B-4268-9E5A-139B594BBBC3}"/>
              </a:ext>
            </a:extLst>
          </p:cNvPr>
          <p:cNvSpPr>
            <a:spLocks xmlns:a="http://schemas.openxmlformats.org/drawingml/2006/main" noGrp="1"/>
          </p:cNvSpPr>
          <p:nvPr/>
        </p:nvSpPr>
        <p:spPr>
          <a:xfrm xmlns:a="http://schemas.openxmlformats.org/drawingml/2006/main">
            <a:off x="7429500" y="20193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SEARCH</a:t>
            </a:r>
          </a:p>
        </p:txBody>
      </p:sp>
      <p:sp>
        <p:nvSpPr>
          <p:cNvPr id="27" name="">
            <a:extLst xmlns:a="http://schemas.openxmlformats.org/drawingml/2006/main">
              <a:ext uri="{FF2B5EF4-FFF2-40B4-BE49-F238E27FC236}">
                <a16:creationId xmlns:a16="http://schemas.microsoft.com/office/drawing/2014/main" id="{C7F559CB-7B82-4F06-A87D-576B94C93913}"/>
              </a:ext>
            </a:extLst>
          </p:cNvPr>
          <p:cNvSpPr>
            <a:spLocks xmlns:a="http://schemas.openxmlformats.org/drawingml/2006/main" noGrp="1"/>
          </p:cNvSpPr>
          <p:nvPr/>
        </p:nvSpPr>
        <p:spPr>
          <a:xfrm xmlns:a="http://schemas.openxmlformats.org/drawingml/2006/main">
            <a:off x="7429500" y="24003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indice</a:t>
            </a:r>
          </a:p>
        </p:txBody>
      </p:sp>
      <p:sp>
        <p:nvSpPr>
          <p:cNvPr id="28" name="">
            <a:extLst xmlns:a="http://schemas.openxmlformats.org/drawingml/2006/main">
              <a:ext uri="{FF2B5EF4-FFF2-40B4-BE49-F238E27FC236}">
                <a16:creationId xmlns:a16="http://schemas.microsoft.com/office/drawing/2014/main" id="{39151264-0B73-4FF0-8599-DF96D90A476D}"/>
              </a:ext>
            </a:extLst>
          </p:cNvPr>
          <p:cNvSpPr>
            <a:spLocks xmlns:a="http://schemas.openxmlformats.org/drawingml/2006/main" noGrp="1"/>
          </p:cNvSpPr>
          <p:nvPr/>
        </p:nvSpPr>
        <p:spPr>
          <a:xfrm xmlns:a="http://schemas.openxmlformats.org/drawingml/2006/main">
            <a:off x="7286625" y="3905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27A36A"/>
            </a:solidFill>
            <a:prstDash val="solid"/>
          </a:ln>
        </p:spPr>
      </p:sp>
      <p:sp>
        <p:nvSpPr>
          <p:cNvPr id="29" name="">
            <a:extLst xmlns:a="http://schemas.openxmlformats.org/drawingml/2006/main">
              <a:ext uri="{FF2B5EF4-FFF2-40B4-BE49-F238E27FC236}">
                <a16:creationId xmlns:a16="http://schemas.microsoft.com/office/drawing/2014/main" id="{F60DFEE8-764A-42D0-B696-BF3F262C31BA}"/>
              </a:ext>
            </a:extLst>
          </p:cNvPr>
          <p:cNvSpPr>
            <a:spLocks xmlns:a="http://schemas.openxmlformats.org/drawingml/2006/main" noGrp="1"/>
          </p:cNvSpPr>
          <p:nvPr/>
        </p:nvSpPr>
        <p:spPr>
          <a:xfrm xmlns:a="http://schemas.openxmlformats.org/drawingml/2006/main">
            <a:off x="7429500" y="411480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S3</a:t>
            </a:r>
          </a:p>
        </p:txBody>
      </p:sp>
      <p:sp>
        <p:nvSpPr>
          <p:cNvPr id="30" name="">
            <a:extLst xmlns:a="http://schemas.openxmlformats.org/drawingml/2006/main">
              <a:ext uri="{FF2B5EF4-FFF2-40B4-BE49-F238E27FC236}">
                <a16:creationId xmlns:a16="http://schemas.microsoft.com/office/drawing/2014/main" id="{BEABA1A6-0081-4170-98AA-5A5B87972643}"/>
              </a:ext>
            </a:extLst>
          </p:cNvPr>
          <p:cNvSpPr>
            <a:spLocks xmlns:a="http://schemas.openxmlformats.org/drawingml/2006/main" noGrp="1"/>
          </p:cNvSpPr>
          <p:nvPr/>
        </p:nvSpPr>
        <p:spPr>
          <a:xfrm xmlns:a="http://schemas.openxmlformats.org/drawingml/2006/main">
            <a:off x="7429500" y="44958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media</a:t>
            </a:r>
          </a:p>
        </p:txBody>
      </p:sp>
      <p:sp>
        <p:nvSpPr>
          <p:cNvPr id="31" name="">
            <a:extLst xmlns:a="http://schemas.openxmlformats.org/drawingml/2006/main">
              <a:ext uri="{FF2B5EF4-FFF2-40B4-BE49-F238E27FC236}">
                <a16:creationId xmlns:a16="http://schemas.microsoft.com/office/drawing/2014/main" id="{57B1C07F-AC68-4DA2-BBDC-EFF5CC6A75EB}"/>
              </a:ext>
            </a:extLst>
          </p:cNvPr>
          <p:cNvSpPr>
            <a:spLocks xmlns:a="http://schemas.openxmlformats.org/drawingml/2006/main" noGrp="1"/>
          </p:cNvSpPr>
          <p:nvPr/>
        </p:nvSpPr>
        <p:spPr>
          <a:xfrm xmlns:a="http://schemas.openxmlformats.org/drawingml/2006/main">
            <a:off x="9906000" y="2857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F4C84A"/>
            </a:solidFill>
            <a:prstDash val="solid"/>
          </a:ln>
        </p:spPr>
      </p:sp>
      <p:sp>
        <p:nvSpPr>
          <p:cNvPr id="32" name="">
            <a:extLst xmlns:a="http://schemas.openxmlformats.org/drawingml/2006/main">
              <a:ext uri="{FF2B5EF4-FFF2-40B4-BE49-F238E27FC236}">
                <a16:creationId xmlns:a16="http://schemas.microsoft.com/office/drawing/2014/main" id="{9D9534B9-905D-49C2-80B4-10DE63437AAD}"/>
              </a:ext>
            </a:extLst>
          </p:cNvPr>
          <p:cNvSpPr>
            <a:spLocks xmlns:a="http://schemas.openxmlformats.org/drawingml/2006/main" noGrp="1"/>
          </p:cNvSpPr>
          <p:nvPr/>
        </p:nvSpPr>
        <p:spPr>
          <a:xfrm xmlns:a="http://schemas.openxmlformats.org/drawingml/2006/main">
            <a:off x="10048875" y="3067050"/>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EVENT LOG</a:t>
            </a:r>
          </a:p>
        </p:txBody>
      </p:sp>
      <p:sp>
        <p:nvSpPr>
          <p:cNvPr id="33" name="">
            <a:extLst xmlns:a="http://schemas.openxmlformats.org/drawingml/2006/main">
              <a:ext uri="{FF2B5EF4-FFF2-40B4-BE49-F238E27FC236}">
                <a16:creationId xmlns:a16="http://schemas.microsoft.com/office/drawing/2014/main" id="{9EAC4426-AD91-44D4-BBD9-635625BAC509}"/>
              </a:ext>
            </a:extLst>
          </p:cNvPr>
          <p:cNvSpPr>
            <a:spLocks xmlns:a="http://schemas.openxmlformats.org/drawingml/2006/main" noGrp="1"/>
          </p:cNvSpPr>
          <p:nvPr/>
        </p:nvSpPr>
        <p:spPr>
          <a:xfrm xmlns:a="http://schemas.openxmlformats.org/drawingml/2006/main">
            <a:off x="10048875" y="34480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52606D"/>
                </a:solidFill>
              </a:defRPr>
            </a:pPr>
            <a:r>
              <a:rPr sz="1125" b="0">
                <a:solidFill>
                  <a:srgbClr val="52606D"/>
                </a:solidFill>
              </a:rPr>
              <a:t>cambiamenti</a:t>
            </a:r>
          </a:p>
        </p:txBody>
      </p:sp>
      <p:sp>
        <p:nvSpPr>
          <p:cNvPr id="34" name="">
            <a:extLst xmlns:a="http://schemas.openxmlformats.org/drawingml/2006/main">
              <a:ext uri="{FF2B5EF4-FFF2-40B4-BE49-F238E27FC236}">
                <a16:creationId xmlns:a16="http://schemas.microsoft.com/office/drawing/2014/main" id="{79AD050E-2278-4D85-9653-6A154A4E822E}"/>
              </a:ext>
            </a:extLst>
          </p:cNvPr>
          <p:cNvSpPr>
            <a:spLocks xmlns:a="http://schemas.openxmlformats.org/drawingml/2006/main" noGrp="1"/>
          </p:cNvSpPr>
          <p:nvPr/>
        </p:nvSpPr>
        <p:spPr>
          <a:xfrm xmlns:a="http://schemas.openxmlformats.org/drawingml/2006/main">
            <a:off x="2238375" y="5429250"/>
            <a:ext cx="771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Le frecce sono contratti: API, eventi, ownership e failure mode.</a:t>
            </a:r>
          </a:p>
        </p:txBody>
      </p:sp>
    </p:spTree>
    <p:extLst>
      <p:ext uri="{BB962C8B-B14F-4D97-AF65-F5344CB8AC3E}">
        <p14:creationId xmlns:p14="http://schemas.microsoft.com/office/powerpoint/2010/main" val="721187739"/>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4350077-6CD0-4916-A4D7-266A0690A6E9}"/>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WRITE PATH</a:t>
            </a:r>
          </a:p>
        </p:txBody>
      </p:sp>
      <p:sp>
        <p:nvSpPr>
          <p:cNvPr id="2" name="">
            <a:extLst xmlns:a="http://schemas.openxmlformats.org/drawingml/2006/main">
              <a:ext uri="{FF2B5EF4-FFF2-40B4-BE49-F238E27FC236}">
                <a16:creationId xmlns:a16="http://schemas.microsoft.com/office/drawing/2014/main" id="{9A3E434C-7D25-44AE-9793-9779DB0179A7}"/>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Il voto di Mario diventa un flusso, non sei scritture sincrone</a:t>
            </a:r>
          </a:p>
        </p:txBody>
      </p:sp>
      <p:sp>
        <p:nvSpPr>
          <p:cNvPr id="3" name="">
            <a:extLst xmlns:a="http://schemas.openxmlformats.org/drawingml/2006/main">
              <a:ext uri="{FF2B5EF4-FFF2-40B4-BE49-F238E27FC236}">
                <a16:creationId xmlns:a16="http://schemas.microsoft.com/office/drawing/2014/main" id="{EBF5A2BF-003D-4BD5-8368-A06F159656DE}"/>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10</a:t>
            </a:r>
          </a:p>
        </p:txBody>
      </p:sp>
      <p:sp>
        <p:nvSpPr>
          <p:cNvPr id="4" name="">
            <a:extLst xmlns:a="http://schemas.openxmlformats.org/drawingml/2006/main">
              <a:ext uri="{FF2B5EF4-FFF2-40B4-BE49-F238E27FC236}">
                <a16:creationId xmlns:a16="http://schemas.microsoft.com/office/drawing/2014/main" id="{E844965F-53AD-4EFE-88F0-FB56B2463E5B}"/>
              </a:ext>
            </a:extLst>
          </p:cNvPr>
          <p:cNvSpPr>
            <a:spLocks xmlns:a="http://schemas.openxmlformats.org/drawingml/2006/main" noGrp="1"/>
          </p:cNvSpPr>
          <p:nvPr/>
        </p:nvSpPr>
        <p:spPr>
          <a:xfrm xmlns:a="http://schemas.openxmlformats.org/drawingml/2006/main">
            <a:off x="819150" y="17145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B8D9"/>
                </a:solidFill>
              </a:defRPr>
            </a:pPr>
            <a:r>
              <a:rPr sz="1800" b="1">
                <a:solidFill>
                  <a:srgbClr val="00B8D9"/>
                </a:solidFill>
              </a:rPr>
              <a:t>01</a:t>
            </a:r>
          </a:p>
        </p:txBody>
      </p:sp>
      <p:sp>
        <p:nvSpPr>
          <p:cNvPr id="5" name="">
            <a:extLst xmlns:a="http://schemas.openxmlformats.org/drawingml/2006/main">
              <a:ext uri="{FF2B5EF4-FFF2-40B4-BE49-F238E27FC236}">
                <a16:creationId xmlns:a16="http://schemas.microsoft.com/office/drawing/2014/main" id="{A172CFF7-1150-4E38-84B5-B1B2965D67D1}"/>
              </a:ext>
            </a:extLst>
          </p:cNvPr>
          <p:cNvSpPr>
            <a:spLocks xmlns:a="http://schemas.openxmlformats.org/drawingml/2006/main" noGrp="1"/>
          </p:cNvSpPr>
          <p:nvPr/>
        </p:nvSpPr>
        <p:spPr>
          <a:xfrm xmlns:a="http://schemas.openxmlformats.org/drawingml/2006/main">
            <a:off x="1714500" y="1714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COMMAND</a:t>
            </a:r>
          </a:p>
        </p:txBody>
      </p:sp>
      <p:sp>
        <p:nvSpPr>
          <p:cNvPr id="6" name="">
            <a:extLst xmlns:a="http://schemas.openxmlformats.org/drawingml/2006/main">
              <a:ext uri="{FF2B5EF4-FFF2-40B4-BE49-F238E27FC236}">
                <a16:creationId xmlns:a16="http://schemas.microsoft.com/office/drawing/2014/main" id="{402C7C99-E99C-4C0B-9DA3-CA39382177BB}"/>
              </a:ext>
            </a:extLst>
          </p:cNvPr>
          <p:cNvSpPr>
            <a:spLocks xmlns:a="http://schemas.openxmlformats.org/drawingml/2006/main" noGrp="1"/>
          </p:cNvSpPr>
          <p:nvPr/>
        </p:nvSpPr>
        <p:spPr>
          <a:xfrm xmlns:a="http://schemas.openxmlformats.org/drawingml/2006/main">
            <a:off x="4762500" y="1714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Rating Service valida voto e utente</a:t>
            </a:r>
          </a:p>
        </p:txBody>
      </p:sp>
      <p:sp>
        <p:nvSpPr>
          <p:cNvPr id="7" name="">
            <a:extLst xmlns:a="http://schemas.openxmlformats.org/drawingml/2006/main">
              <a:ext uri="{FF2B5EF4-FFF2-40B4-BE49-F238E27FC236}">
                <a16:creationId xmlns:a16="http://schemas.microsoft.com/office/drawing/2014/main" id="{24DAE908-EAE6-4D63-B091-B8EC3A12B3AC}"/>
              </a:ext>
            </a:extLst>
          </p:cNvPr>
          <p:cNvSpPr>
            <a:spLocks xmlns:a="http://schemas.openxmlformats.org/drawingml/2006/main" noGrp="1"/>
          </p:cNvSpPr>
          <p:nvPr/>
        </p:nvSpPr>
        <p:spPr>
          <a:xfrm xmlns:a="http://schemas.openxmlformats.org/drawingml/2006/main">
            <a:off x="819150" y="252412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8A4C"/>
                </a:solidFill>
              </a:defRPr>
            </a:pPr>
            <a:r>
              <a:rPr sz="1800" b="1">
                <a:solidFill>
                  <a:srgbClr val="FF8A4C"/>
                </a:solidFill>
              </a:rPr>
              <a:t>02</a:t>
            </a:r>
          </a:p>
        </p:txBody>
      </p:sp>
      <p:sp>
        <p:nvSpPr>
          <p:cNvPr id="8" name="">
            <a:extLst xmlns:a="http://schemas.openxmlformats.org/drawingml/2006/main">
              <a:ext uri="{FF2B5EF4-FFF2-40B4-BE49-F238E27FC236}">
                <a16:creationId xmlns:a16="http://schemas.microsoft.com/office/drawing/2014/main" id="{2066511C-85AB-4F54-B535-DAF7801EAC0F}"/>
              </a:ext>
            </a:extLst>
          </p:cNvPr>
          <p:cNvSpPr>
            <a:spLocks xmlns:a="http://schemas.openxmlformats.org/drawingml/2006/main" noGrp="1"/>
          </p:cNvSpPr>
          <p:nvPr/>
        </p:nvSpPr>
        <p:spPr>
          <a:xfrm xmlns:a="http://schemas.openxmlformats.org/drawingml/2006/main">
            <a:off x="1714500" y="25241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COMMIT</a:t>
            </a:r>
          </a:p>
        </p:txBody>
      </p:sp>
      <p:sp>
        <p:nvSpPr>
          <p:cNvPr id="9" name="">
            <a:extLst xmlns:a="http://schemas.openxmlformats.org/drawingml/2006/main">
              <a:ext uri="{FF2B5EF4-FFF2-40B4-BE49-F238E27FC236}">
                <a16:creationId xmlns:a16="http://schemas.microsoft.com/office/drawing/2014/main" id="{225CE34D-C58A-43E7-996C-FB6437551007}"/>
              </a:ext>
            </a:extLst>
          </p:cNvPr>
          <p:cNvSpPr>
            <a:spLocks xmlns:a="http://schemas.openxmlformats.org/drawingml/2006/main" noGrp="1"/>
          </p:cNvSpPr>
          <p:nvPr/>
        </p:nvSpPr>
        <p:spPr>
          <a:xfrm xmlns:a="http://schemas.openxmlformats.org/drawingml/2006/main">
            <a:off x="4762500" y="252412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salva rating + evento nella stessa transazione</a:t>
            </a:r>
          </a:p>
        </p:txBody>
      </p:sp>
      <p:sp>
        <p:nvSpPr>
          <p:cNvPr id="10" name="">
            <a:extLst xmlns:a="http://schemas.openxmlformats.org/drawingml/2006/main">
              <a:ext uri="{FF2B5EF4-FFF2-40B4-BE49-F238E27FC236}">
                <a16:creationId xmlns:a16="http://schemas.microsoft.com/office/drawing/2014/main" id="{3A9205A7-702A-48A8-A1E3-71CBBE40540A}"/>
              </a:ext>
            </a:extLst>
          </p:cNvPr>
          <p:cNvSpPr>
            <a:spLocks xmlns:a="http://schemas.openxmlformats.org/drawingml/2006/main" noGrp="1"/>
          </p:cNvSpPr>
          <p:nvPr/>
        </p:nvSpPr>
        <p:spPr>
          <a:xfrm xmlns:a="http://schemas.openxmlformats.org/drawingml/2006/main">
            <a:off x="819150" y="33337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7C6EE6"/>
                </a:solidFill>
              </a:defRPr>
            </a:pPr>
            <a:r>
              <a:rPr sz="1800" b="1">
                <a:solidFill>
                  <a:srgbClr val="7C6EE6"/>
                </a:solidFill>
              </a:rPr>
              <a:t>03</a:t>
            </a:r>
          </a:p>
        </p:txBody>
      </p:sp>
      <p:sp>
        <p:nvSpPr>
          <p:cNvPr id="11" name="">
            <a:extLst xmlns:a="http://schemas.openxmlformats.org/drawingml/2006/main">
              <a:ext uri="{FF2B5EF4-FFF2-40B4-BE49-F238E27FC236}">
                <a16:creationId xmlns:a16="http://schemas.microsoft.com/office/drawing/2014/main" id="{A6B31C94-A244-4E82-8CB3-00DA003A0866}"/>
              </a:ext>
            </a:extLst>
          </p:cNvPr>
          <p:cNvSpPr>
            <a:spLocks xmlns:a="http://schemas.openxmlformats.org/drawingml/2006/main" noGrp="1"/>
          </p:cNvSpPr>
          <p:nvPr/>
        </p:nvSpPr>
        <p:spPr>
          <a:xfrm xmlns:a="http://schemas.openxmlformats.org/drawingml/2006/main">
            <a:off x="1714500" y="33337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PUBLISH</a:t>
            </a:r>
          </a:p>
        </p:txBody>
      </p:sp>
      <p:sp>
        <p:nvSpPr>
          <p:cNvPr id="12" name="">
            <a:extLst xmlns:a="http://schemas.openxmlformats.org/drawingml/2006/main">
              <a:ext uri="{FF2B5EF4-FFF2-40B4-BE49-F238E27FC236}">
                <a16:creationId xmlns:a16="http://schemas.microsoft.com/office/drawing/2014/main" id="{9632C1AE-00BF-4C61-8806-64314236A827}"/>
              </a:ext>
            </a:extLst>
          </p:cNvPr>
          <p:cNvSpPr>
            <a:spLocks xmlns:a="http://schemas.openxmlformats.org/drawingml/2006/main" noGrp="1"/>
          </p:cNvSpPr>
          <p:nvPr/>
        </p:nvSpPr>
        <p:spPr>
          <a:xfrm xmlns:a="http://schemas.openxmlformats.org/drawingml/2006/main">
            <a:off x="4762500" y="333375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relay porta l’evento nel log</a:t>
            </a:r>
          </a:p>
        </p:txBody>
      </p:sp>
      <p:sp>
        <p:nvSpPr>
          <p:cNvPr id="13" name="">
            <a:extLst xmlns:a="http://schemas.openxmlformats.org/drawingml/2006/main">
              <a:ext uri="{FF2B5EF4-FFF2-40B4-BE49-F238E27FC236}">
                <a16:creationId xmlns:a16="http://schemas.microsoft.com/office/drawing/2014/main" id="{22C522BD-0C1A-46F9-BB99-74716B59B237}"/>
              </a:ext>
            </a:extLst>
          </p:cNvPr>
          <p:cNvSpPr>
            <a:spLocks xmlns:a="http://schemas.openxmlformats.org/drawingml/2006/main" noGrp="1"/>
          </p:cNvSpPr>
          <p:nvPr/>
        </p:nvSpPr>
        <p:spPr>
          <a:xfrm xmlns:a="http://schemas.openxmlformats.org/drawingml/2006/main">
            <a:off x="819150" y="41433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7E34B"/>
                </a:solidFill>
              </a:defRPr>
            </a:pPr>
            <a:r>
              <a:rPr sz="1800" b="1">
                <a:solidFill>
                  <a:srgbClr val="B7E34B"/>
                </a:solidFill>
              </a:rPr>
              <a:t>04</a:t>
            </a:r>
          </a:p>
        </p:txBody>
      </p:sp>
      <p:sp>
        <p:nvSpPr>
          <p:cNvPr id="14" name="">
            <a:extLst xmlns:a="http://schemas.openxmlformats.org/drawingml/2006/main">
              <a:ext uri="{FF2B5EF4-FFF2-40B4-BE49-F238E27FC236}">
                <a16:creationId xmlns:a16="http://schemas.microsoft.com/office/drawing/2014/main" id="{D2412C9A-2E0D-4BB1-A398-99D7BD4EA0F3}"/>
              </a:ext>
            </a:extLst>
          </p:cNvPr>
          <p:cNvSpPr>
            <a:spLocks xmlns:a="http://schemas.openxmlformats.org/drawingml/2006/main" noGrp="1"/>
          </p:cNvSpPr>
          <p:nvPr/>
        </p:nvSpPr>
        <p:spPr>
          <a:xfrm xmlns:a="http://schemas.openxmlformats.org/drawingml/2006/main">
            <a:off x="1714500" y="41433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PROJECT</a:t>
            </a:r>
          </a:p>
        </p:txBody>
      </p:sp>
      <p:sp>
        <p:nvSpPr>
          <p:cNvPr id="15" name="">
            <a:extLst xmlns:a="http://schemas.openxmlformats.org/drawingml/2006/main">
              <a:ext uri="{FF2B5EF4-FFF2-40B4-BE49-F238E27FC236}">
                <a16:creationId xmlns:a16="http://schemas.microsoft.com/office/drawing/2014/main" id="{C411E3FB-620D-46F9-8AF4-D43D9D03AFD0}"/>
              </a:ext>
            </a:extLst>
          </p:cNvPr>
          <p:cNvSpPr>
            <a:spLocks xmlns:a="http://schemas.openxmlformats.org/drawingml/2006/main" noGrp="1"/>
          </p:cNvSpPr>
          <p:nvPr/>
        </p:nvSpPr>
        <p:spPr>
          <a:xfrm xmlns:a="http://schemas.openxmlformats.org/drawingml/2006/main">
            <a:off x="4762500" y="41433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Social, Analytics e Search aggiornano le viste</a:t>
            </a:r>
          </a:p>
        </p:txBody>
      </p:sp>
      <p:sp>
        <p:nvSpPr>
          <p:cNvPr id="16" name="">
            <a:extLst xmlns:a="http://schemas.openxmlformats.org/drawingml/2006/main">
              <a:ext uri="{FF2B5EF4-FFF2-40B4-BE49-F238E27FC236}">
                <a16:creationId xmlns:a16="http://schemas.microsoft.com/office/drawing/2014/main" id="{CE1546EC-9C72-4A41-B86C-2AA488F3025E}"/>
              </a:ext>
            </a:extLst>
          </p:cNvPr>
          <p:cNvSpPr>
            <a:spLocks xmlns:a="http://schemas.openxmlformats.org/drawingml/2006/main" noGrp="1"/>
          </p:cNvSpPr>
          <p:nvPr/>
        </p:nvSpPr>
        <p:spPr>
          <a:xfrm xmlns:a="http://schemas.openxmlformats.org/drawingml/2006/main">
            <a:off x="1952625" y="5381625"/>
            <a:ext cx="828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La risposta utente dipende dal commit autorevole, non da tutti i consumer.</a:t>
            </a:r>
          </a:p>
        </p:txBody>
      </p:sp>
    </p:spTree>
    <p:extLst>
      <p:ext uri="{BB962C8B-B14F-4D97-AF65-F5344CB8AC3E}">
        <p14:creationId xmlns:p14="http://schemas.microsoft.com/office/powerpoint/2010/main" val="1850080114"/>
      </p:ext>
    </p:extLst>
  </p:cSld>
</p:sld>
</file>

<file path=ppt/slides/slide1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0A16689-C2C1-4306-B127-D6614AC2034C}"/>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ANTI-PATTERN</a:t>
            </a:r>
          </a:p>
        </p:txBody>
      </p:sp>
      <p:sp>
        <p:nvSpPr>
          <p:cNvPr id="2" name="">
            <a:extLst xmlns:a="http://schemas.openxmlformats.org/drawingml/2006/main">
              <a:ext uri="{FF2B5EF4-FFF2-40B4-BE49-F238E27FC236}">
                <a16:creationId xmlns:a16="http://schemas.microsoft.com/office/drawing/2014/main" id="{4D20C7AF-A54B-4F97-A807-B9B975D05FD6}"/>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Dual write: due successi richiesti, nessuna atomicità comune</a:t>
            </a:r>
          </a:p>
        </p:txBody>
      </p:sp>
      <p:sp>
        <p:nvSpPr>
          <p:cNvPr id="3" name="">
            <a:extLst xmlns:a="http://schemas.openxmlformats.org/drawingml/2006/main">
              <a:ext uri="{FF2B5EF4-FFF2-40B4-BE49-F238E27FC236}">
                <a16:creationId xmlns:a16="http://schemas.microsoft.com/office/drawing/2014/main" id="{627FE35F-04C5-45AD-BAF9-D9E82056B68C}"/>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11</a:t>
            </a:r>
          </a:p>
        </p:txBody>
      </p:sp>
      <p:sp>
        <p:nvSpPr>
          <p:cNvPr id="4" name="">
            <a:extLst xmlns:a="http://schemas.openxmlformats.org/drawingml/2006/main">
              <a:ext uri="{FF2B5EF4-FFF2-40B4-BE49-F238E27FC236}">
                <a16:creationId xmlns:a16="http://schemas.microsoft.com/office/drawing/2014/main" id="{6C1D74EA-89B2-4842-800D-E7F67A75DEAB}"/>
              </a:ext>
            </a:extLst>
          </p:cNvPr>
          <p:cNvSpPr>
            <a:spLocks xmlns:a="http://schemas.openxmlformats.org/drawingml/2006/main" noGrp="1"/>
          </p:cNvSpPr>
          <p:nvPr/>
        </p:nvSpPr>
        <p:spPr>
          <a:xfrm xmlns:a="http://schemas.openxmlformats.org/drawingml/2006/main">
            <a:off x="1190625" y="2190750"/>
            <a:ext cx="24765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CE85A484-019D-4D7B-AA50-CD196531FDD9}"/>
              </a:ext>
            </a:extLst>
          </p:cNvPr>
          <p:cNvSpPr>
            <a:spLocks xmlns:a="http://schemas.openxmlformats.org/drawingml/2006/main" noGrp="1"/>
          </p:cNvSpPr>
          <p:nvPr/>
        </p:nvSpPr>
        <p:spPr>
          <a:xfrm xmlns:a="http://schemas.openxmlformats.org/drawingml/2006/main">
            <a:off x="1190625" y="2190750"/>
            <a:ext cx="2476500" cy="9525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B572027A-4365-4891-8044-1C45504F7120}"/>
              </a:ext>
            </a:extLst>
          </p:cNvPr>
          <p:cNvSpPr>
            <a:spLocks xmlns:a="http://schemas.openxmlformats.org/drawingml/2006/main" noGrp="1"/>
          </p:cNvSpPr>
          <p:nvPr/>
        </p:nvSpPr>
        <p:spPr>
          <a:xfrm xmlns:a="http://schemas.openxmlformats.org/drawingml/2006/main">
            <a:off x="1537335" y="2524125"/>
            <a:ext cx="1783080" cy="266700"/>
          </a:xfrm>
          <a:prstGeom xmlns:a="http://schemas.openxmlformats.org/drawingml/2006/main" prst="ellipse">
            <a:avLst/>
          </a:prstGeom>
          <a:solidFill xmlns:a="http://schemas.openxmlformats.org/drawingml/2006/main">
            <a:srgbClr val="00B8D9"/>
          </a:solidFill>
          <a:ln xmlns:a="http://schemas.openxmlformats.org/drawingml/2006/main" w="9525">
            <a:solidFill>
              <a:srgbClr val="00B8D9"/>
            </a:solidFill>
            <a:prstDash val="solid"/>
          </a:ln>
        </p:spPr>
      </p:sp>
      <p:sp>
        <p:nvSpPr>
          <p:cNvPr id="7" name="">
            <a:extLst xmlns:a="http://schemas.openxmlformats.org/drawingml/2006/main">
              <a:ext uri="{FF2B5EF4-FFF2-40B4-BE49-F238E27FC236}">
                <a16:creationId xmlns:a16="http://schemas.microsoft.com/office/drawing/2014/main" id="{442E4FF2-321C-4A13-9A17-E4556E0982D7}"/>
              </a:ext>
            </a:extLst>
          </p:cNvPr>
          <p:cNvSpPr>
            <a:spLocks xmlns:a="http://schemas.openxmlformats.org/drawingml/2006/main" noGrp="1"/>
          </p:cNvSpPr>
          <p:nvPr/>
        </p:nvSpPr>
        <p:spPr>
          <a:xfrm xmlns:a="http://schemas.openxmlformats.org/drawingml/2006/main">
            <a:off x="1537335" y="2657475"/>
            <a:ext cx="1783080" cy="66675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8" name="">
            <a:extLst xmlns:a="http://schemas.openxmlformats.org/drawingml/2006/main">
              <a:ext uri="{FF2B5EF4-FFF2-40B4-BE49-F238E27FC236}">
                <a16:creationId xmlns:a16="http://schemas.microsoft.com/office/drawing/2014/main" id="{743B4D71-EF63-4CDB-A048-88C72AB5AE9E}"/>
              </a:ext>
            </a:extLst>
          </p:cNvPr>
          <p:cNvSpPr>
            <a:spLocks xmlns:a="http://schemas.openxmlformats.org/drawingml/2006/main" noGrp="1"/>
          </p:cNvSpPr>
          <p:nvPr/>
        </p:nvSpPr>
        <p:spPr>
          <a:xfrm xmlns:a="http://schemas.openxmlformats.org/drawingml/2006/main">
            <a:off x="1537335" y="3143250"/>
            <a:ext cx="1783080" cy="266700"/>
          </a:xfrm>
          <a:prstGeom xmlns:a="http://schemas.openxmlformats.org/drawingml/2006/main" prst="ellipse">
            <a:avLst/>
          </a:prstGeom>
          <a:solidFill xmlns:a="http://schemas.openxmlformats.org/drawingml/2006/main">
            <a:srgbClr val="00B8D9"/>
          </a:solidFill>
          <a:ln xmlns:a="http://schemas.openxmlformats.org/drawingml/2006/main" w="9525">
            <a:solidFill>
              <a:srgbClr val="00B8D9"/>
            </a:solidFill>
            <a:prstDash val="solid"/>
          </a:ln>
        </p:spPr>
      </p:sp>
      <p:sp>
        <p:nvSpPr>
          <p:cNvPr id="9" name="">
            <a:extLst xmlns:a="http://schemas.openxmlformats.org/drawingml/2006/main">
              <a:ext uri="{FF2B5EF4-FFF2-40B4-BE49-F238E27FC236}">
                <a16:creationId xmlns:a16="http://schemas.microsoft.com/office/drawing/2014/main" id="{CD0CA460-09A0-474F-B82A-65C0D4A15D10}"/>
              </a:ext>
            </a:extLst>
          </p:cNvPr>
          <p:cNvSpPr>
            <a:spLocks xmlns:a="http://schemas.openxmlformats.org/drawingml/2006/main" noGrp="1"/>
          </p:cNvSpPr>
          <p:nvPr/>
        </p:nvSpPr>
        <p:spPr>
          <a:xfrm xmlns:a="http://schemas.openxmlformats.org/drawingml/2006/main">
            <a:off x="1304925" y="41148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DATABASE</a:t>
            </a:r>
          </a:p>
        </p:txBody>
      </p:sp>
      <p:sp>
        <p:nvSpPr>
          <p:cNvPr id="10" name="">
            <a:extLst xmlns:a="http://schemas.openxmlformats.org/drawingml/2006/main">
              <a:ext uri="{FF2B5EF4-FFF2-40B4-BE49-F238E27FC236}">
                <a16:creationId xmlns:a16="http://schemas.microsoft.com/office/drawing/2014/main" id="{1C27D52B-73DB-4297-A0A8-730AF388886F}"/>
              </a:ext>
            </a:extLst>
          </p:cNvPr>
          <p:cNvSpPr>
            <a:spLocks xmlns:a="http://schemas.openxmlformats.org/drawingml/2006/main" noGrp="1"/>
          </p:cNvSpPr>
          <p:nvPr/>
        </p:nvSpPr>
        <p:spPr>
          <a:xfrm xmlns:a="http://schemas.openxmlformats.org/drawingml/2006/main">
            <a:off x="1304925" y="437197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rating = 9</a:t>
            </a:r>
          </a:p>
        </p:txBody>
      </p:sp>
      <p:sp>
        <p:nvSpPr>
          <p:cNvPr id="11" name="">
            <a:extLst xmlns:a="http://schemas.openxmlformats.org/drawingml/2006/main">
              <a:ext uri="{FF2B5EF4-FFF2-40B4-BE49-F238E27FC236}">
                <a16:creationId xmlns:a16="http://schemas.microsoft.com/office/drawing/2014/main" id="{868BB699-999B-43C0-9398-C57D08AE447A}"/>
              </a:ext>
            </a:extLst>
          </p:cNvPr>
          <p:cNvSpPr>
            <a:spLocks xmlns:a="http://schemas.openxmlformats.org/drawingml/2006/main" noGrp="1"/>
          </p:cNvSpPr>
          <p:nvPr/>
        </p:nvSpPr>
        <p:spPr>
          <a:xfrm xmlns:a="http://schemas.openxmlformats.org/drawingml/2006/main">
            <a:off x="8524875" y="2190750"/>
            <a:ext cx="24765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8DDE3"/>
            </a:solidFill>
            <a:prstDash val="solid"/>
          </a:ln>
        </p:spPr>
      </p:sp>
      <p:sp>
        <p:nvSpPr>
          <p:cNvPr id="12" name="">
            <a:extLst xmlns:a="http://schemas.openxmlformats.org/drawingml/2006/main">
              <a:ext uri="{FF2B5EF4-FFF2-40B4-BE49-F238E27FC236}">
                <a16:creationId xmlns:a16="http://schemas.microsoft.com/office/drawing/2014/main" id="{6396A636-C44F-4395-8558-2A1045DC8EF0}"/>
              </a:ext>
            </a:extLst>
          </p:cNvPr>
          <p:cNvSpPr>
            <a:spLocks xmlns:a="http://schemas.openxmlformats.org/drawingml/2006/main" noGrp="1"/>
          </p:cNvSpPr>
          <p:nvPr/>
        </p:nvSpPr>
        <p:spPr>
          <a:xfrm xmlns:a="http://schemas.openxmlformats.org/drawingml/2006/main">
            <a:off x="8524875" y="2190750"/>
            <a:ext cx="2476500" cy="9525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3" name="">
            <a:extLst xmlns:a="http://schemas.openxmlformats.org/drawingml/2006/main">
              <a:ext uri="{FF2B5EF4-FFF2-40B4-BE49-F238E27FC236}">
                <a16:creationId xmlns:a16="http://schemas.microsoft.com/office/drawing/2014/main" id="{18C9566C-C368-4A3E-AE0C-CB28D039CE32}"/>
              </a:ext>
            </a:extLst>
          </p:cNvPr>
          <p:cNvSpPr>
            <a:spLocks xmlns:a="http://schemas.openxmlformats.org/drawingml/2006/main" noGrp="1"/>
          </p:cNvSpPr>
          <p:nvPr/>
        </p:nvSpPr>
        <p:spPr>
          <a:xfrm xmlns:a="http://schemas.openxmlformats.org/drawingml/2006/main">
            <a:off x="8871585" y="2524125"/>
            <a:ext cx="1783080" cy="266700"/>
          </a:xfrm>
          <a:prstGeom xmlns:a="http://schemas.openxmlformats.org/drawingml/2006/main" prst="ellipse">
            <a:avLst/>
          </a:prstGeom>
          <a:solidFill xmlns:a="http://schemas.openxmlformats.org/drawingml/2006/main">
            <a:srgbClr val="FF8A4C"/>
          </a:solidFill>
          <a:ln xmlns:a="http://schemas.openxmlformats.org/drawingml/2006/main" w="9525">
            <a:solidFill>
              <a:srgbClr val="FF8A4C"/>
            </a:solidFill>
            <a:prstDash val="solid"/>
          </a:ln>
        </p:spPr>
      </p:sp>
      <p:sp>
        <p:nvSpPr>
          <p:cNvPr id="14" name="">
            <a:extLst xmlns:a="http://schemas.openxmlformats.org/drawingml/2006/main">
              <a:ext uri="{FF2B5EF4-FFF2-40B4-BE49-F238E27FC236}">
                <a16:creationId xmlns:a16="http://schemas.microsoft.com/office/drawing/2014/main" id="{484F04B3-F753-489C-AB30-D9ED8E51DA0B}"/>
              </a:ext>
            </a:extLst>
          </p:cNvPr>
          <p:cNvSpPr>
            <a:spLocks xmlns:a="http://schemas.openxmlformats.org/drawingml/2006/main" noGrp="1"/>
          </p:cNvSpPr>
          <p:nvPr/>
        </p:nvSpPr>
        <p:spPr>
          <a:xfrm xmlns:a="http://schemas.openxmlformats.org/drawingml/2006/main">
            <a:off x="8871585" y="2657475"/>
            <a:ext cx="1783080" cy="66675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5" name="">
            <a:extLst xmlns:a="http://schemas.openxmlformats.org/drawingml/2006/main">
              <a:ext uri="{FF2B5EF4-FFF2-40B4-BE49-F238E27FC236}">
                <a16:creationId xmlns:a16="http://schemas.microsoft.com/office/drawing/2014/main" id="{ABADD77F-6386-4575-BEC2-6722CE23BF4C}"/>
              </a:ext>
            </a:extLst>
          </p:cNvPr>
          <p:cNvSpPr>
            <a:spLocks xmlns:a="http://schemas.openxmlformats.org/drawingml/2006/main" noGrp="1"/>
          </p:cNvSpPr>
          <p:nvPr/>
        </p:nvSpPr>
        <p:spPr>
          <a:xfrm xmlns:a="http://schemas.openxmlformats.org/drawingml/2006/main">
            <a:off x="8871585" y="3143250"/>
            <a:ext cx="1783080" cy="266700"/>
          </a:xfrm>
          <a:prstGeom xmlns:a="http://schemas.openxmlformats.org/drawingml/2006/main" prst="ellipse">
            <a:avLst/>
          </a:prstGeom>
          <a:solidFill xmlns:a="http://schemas.openxmlformats.org/drawingml/2006/main">
            <a:srgbClr val="FF8A4C"/>
          </a:solidFill>
          <a:ln xmlns:a="http://schemas.openxmlformats.org/drawingml/2006/main" w="9525">
            <a:solidFill>
              <a:srgbClr val="FF8A4C"/>
            </a:solidFill>
            <a:prstDash val="solid"/>
          </a:ln>
        </p:spPr>
      </p:sp>
      <p:sp>
        <p:nvSpPr>
          <p:cNvPr id="16" name="">
            <a:extLst xmlns:a="http://schemas.openxmlformats.org/drawingml/2006/main">
              <a:ext uri="{FF2B5EF4-FFF2-40B4-BE49-F238E27FC236}">
                <a16:creationId xmlns:a16="http://schemas.microsoft.com/office/drawing/2014/main" id="{E3087A0D-CA08-4DDA-B5DB-47CA7FF0CE2B}"/>
              </a:ext>
            </a:extLst>
          </p:cNvPr>
          <p:cNvSpPr>
            <a:spLocks xmlns:a="http://schemas.openxmlformats.org/drawingml/2006/main" noGrp="1"/>
          </p:cNvSpPr>
          <p:nvPr/>
        </p:nvSpPr>
        <p:spPr>
          <a:xfrm xmlns:a="http://schemas.openxmlformats.org/drawingml/2006/main">
            <a:off x="8639175" y="41148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BROKER</a:t>
            </a:r>
          </a:p>
        </p:txBody>
      </p:sp>
      <p:sp>
        <p:nvSpPr>
          <p:cNvPr id="17" name="">
            <a:extLst xmlns:a="http://schemas.openxmlformats.org/drawingml/2006/main">
              <a:ext uri="{FF2B5EF4-FFF2-40B4-BE49-F238E27FC236}">
                <a16:creationId xmlns:a16="http://schemas.microsoft.com/office/drawing/2014/main" id="{2969298B-0B96-4EBE-A583-7DB0E44D9D3E}"/>
              </a:ext>
            </a:extLst>
          </p:cNvPr>
          <p:cNvSpPr>
            <a:spLocks xmlns:a="http://schemas.openxmlformats.org/drawingml/2006/main" noGrp="1"/>
          </p:cNvSpPr>
          <p:nvPr/>
        </p:nvSpPr>
        <p:spPr>
          <a:xfrm xmlns:a="http://schemas.openxmlformats.org/drawingml/2006/main">
            <a:off x="8639175" y="437197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RatingCreated</a:t>
            </a:r>
          </a:p>
        </p:txBody>
      </p:sp>
      <p:sp>
        <p:nvSpPr>
          <p:cNvPr id="18" name="">
            <a:extLst xmlns:a="http://schemas.openxmlformats.org/drawingml/2006/main">
              <a:ext uri="{FF2B5EF4-FFF2-40B4-BE49-F238E27FC236}">
                <a16:creationId xmlns:a16="http://schemas.microsoft.com/office/drawing/2014/main" id="{DECD28FD-5A82-4541-8641-3B796D9F7E55}"/>
              </a:ext>
            </a:extLst>
          </p:cNvPr>
          <p:cNvSpPr>
            <a:spLocks xmlns:a="http://schemas.openxmlformats.org/drawingml/2006/main" noGrp="1"/>
          </p:cNvSpPr>
          <p:nvPr/>
        </p:nvSpPr>
        <p:spPr>
          <a:xfrm xmlns:a="http://schemas.openxmlformats.org/drawingml/2006/main">
            <a:off x="4810125" y="19526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FFFFFF"/>
                </a:solidFill>
              </a:defRPr>
            </a:pPr>
            <a:r>
              <a:rPr sz="2025" b="1">
                <a:solidFill>
                  <a:srgbClr val="FFFFFF"/>
                </a:solidFill>
              </a:rPr>
              <a:t>APPLICATION</a:t>
            </a:r>
          </a:p>
        </p:txBody>
      </p:sp>
      <p:sp>
        <p:nvSpPr>
          <p:cNvPr id="19" name="">
            <a:extLst xmlns:a="http://schemas.openxmlformats.org/drawingml/2006/main">
              <a:ext uri="{FF2B5EF4-FFF2-40B4-BE49-F238E27FC236}">
                <a16:creationId xmlns:a16="http://schemas.microsoft.com/office/drawing/2014/main" id="{0F423142-0A88-4D08-9236-AF91572756FD}"/>
              </a:ext>
            </a:extLst>
          </p:cNvPr>
          <p:cNvSpPr>
            <a:spLocks xmlns:a="http://schemas.openxmlformats.org/drawingml/2006/main" noGrp="1"/>
          </p:cNvSpPr>
          <p:nvPr/>
        </p:nvSpPr>
        <p:spPr>
          <a:xfrm xmlns:a="http://schemas.openxmlformats.org/drawingml/2006/main">
            <a:off x="3714750" y="3028950"/>
            <a:ext cx="1238250" cy="381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20" name="">
            <a:extLst xmlns:a="http://schemas.openxmlformats.org/drawingml/2006/main">
              <a:ext uri="{FF2B5EF4-FFF2-40B4-BE49-F238E27FC236}">
                <a16:creationId xmlns:a16="http://schemas.microsoft.com/office/drawing/2014/main" id="{ECB1753C-DB3E-4B34-89AC-199ABBFCACFF}"/>
              </a:ext>
            </a:extLst>
          </p:cNvPr>
          <p:cNvSpPr>
            <a:spLocks xmlns:a="http://schemas.openxmlformats.org/drawingml/2006/main" noGrp="1"/>
          </p:cNvSpPr>
          <p:nvPr/>
        </p:nvSpPr>
        <p:spPr>
          <a:xfrm xmlns:a="http://schemas.openxmlformats.org/drawingml/2006/main">
            <a:off x="4800600" y="28575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00B8D9"/>
                </a:solidFill>
              </a:defRPr>
            </a:pPr>
            <a:r>
              <a:rPr sz="2625" b="1">
                <a:solidFill>
                  <a:srgbClr val="00B8D9"/>
                </a:solidFill>
              </a:rPr>
              <a:t>›</a:t>
            </a:r>
          </a:p>
        </p:txBody>
      </p:sp>
      <p:sp>
        <p:nvSpPr>
          <p:cNvPr id="21" name="">
            <a:extLst xmlns:a="http://schemas.openxmlformats.org/drawingml/2006/main">
              <a:ext uri="{FF2B5EF4-FFF2-40B4-BE49-F238E27FC236}">
                <a16:creationId xmlns:a16="http://schemas.microsoft.com/office/drawing/2014/main" id="{80F516C9-8A6F-4D6C-B7CF-556318EE4A53}"/>
              </a:ext>
            </a:extLst>
          </p:cNvPr>
          <p:cNvSpPr>
            <a:spLocks xmlns:a="http://schemas.openxmlformats.org/drawingml/2006/main" noGrp="1"/>
          </p:cNvSpPr>
          <p:nvPr/>
        </p:nvSpPr>
        <p:spPr>
          <a:xfrm xmlns:a="http://schemas.openxmlformats.org/drawingml/2006/main">
            <a:off x="3714750" y="26860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B8D9"/>
                </a:solidFill>
              </a:defRPr>
            </a:pPr>
            <a:r>
              <a:rPr sz="1050" b="1">
                <a:solidFill>
                  <a:srgbClr val="00B8D9"/>
                </a:solidFill>
              </a:rPr>
              <a:t>1. write DB</a:t>
            </a:r>
          </a:p>
        </p:txBody>
      </p:sp>
      <p:sp>
        <p:nvSpPr>
          <p:cNvPr id="22" name="">
            <a:extLst xmlns:a="http://schemas.openxmlformats.org/drawingml/2006/main">
              <a:ext uri="{FF2B5EF4-FFF2-40B4-BE49-F238E27FC236}">
                <a16:creationId xmlns:a16="http://schemas.microsoft.com/office/drawing/2014/main" id="{043C86DB-F71D-4307-9EE5-BF8C27CB26A8}"/>
              </a:ext>
            </a:extLst>
          </p:cNvPr>
          <p:cNvSpPr>
            <a:spLocks xmlns:a="http://schemas.openxmlformats.org/drawingml/2006/main" noGrp="1"/>
          </p:cNvSpPr>
          <p:nvPr/>
        </p:nvSpPr>
        <p:spPr>
          <a:xfrm xmlns:a="http://schemas.openxmlformats.org/drawingml/2006/main">
            <a:off x="7191375" y="3028950"/>
            <a:ext cx="123825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23" name="">
            <a:extLst xmlns:a="http://schemas.openxmlformats.org/drawingml/2006/main">
              <a:ext uri="{FF2B5EF4-FFF2-40B4-BE49-F238E27FC236}">
                <a16:creationId xmlns:a16="http://schemas.microsoft.com/office/drawing/2014/main" id="{EA538B4B-6014-412E-98F0-FD7B58481F5A}"/>
              </a:ext>
            </a:extLst>
          </p:cNvPr>
          <p:cNvSpPr>
            <a:spLocks xmlns:a="http://schemas.openxmlformats.org/drawingml/2006/main" noGrp="1"/>
          </p:cNvSpPr>
          <p:nvPr/>
        </p:nvSpPr>
        <p:spPr>
          <a:xfrm xmlns:a="http://schemas.openxmlformats.org/drawingml/2006/main">
            <a:off x="8277225" y="28575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24" name="">
            <a:extLst xmlns:a="http://schemas.openxmlformats.org/drawingml/2006/main">
              <a:ext uri="{FF2B5EF4-FFF2-40B4-BE49-F238E27FC236}">
                <a16:creationId xmlns:a16="http://schemas.microsoft.com/office/drawing/2014/main" id="{A002E052-B45D-410E-B1E7-6471019464F7}"/>
              </a:ext>
            </a:extLst>
          </p:cNvPr>
          <p:cNvSpPr>
            <a:spLocks xmlns:a="http://schemas.openxmlformats.org/drawingml/2006/main" noGrp="1"/>
          </p:cNvSpPr>
          <p:nvPr/>
        </p:nvSpPr>
        <p:spPr>
          <a:xfrm xmlns:a="http://schemas.openxmlformats.org/drawingml/2006/main">
            <a:off x="7191375" y="26860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2. publish</a:t>
            </a:r>
          </a:p>
        </p:txBody>
      </p:sp>
      <p:sp>
        <p:nvSpPr>
          <p:cNvPr id="25" name="">
            <a:extLst xmlns:a="http://schemas.openxmlformats.org/drawingml/2006/main">
              <a:ext uri="{FF2B5EF4-FFF2-40B4-BE49-F238E27FC236}">
                <a16:creationId xmlns:a16="http://schemas.microsoft.com/office/drawing/2014/main" id="{A8CD2481-49A6-4B04-B181-70C87DB83493}"/>
              </a:ext>
            </a:extLst>
          </p:cNvPr>
          <p:cNvSpPr>
            <a:spLocks xmlns:a="http://schemas.openxmlformats.org/drawingml/2006/main" noGrp="1"/>
          </p:cNvSpPr>
          <p:nvPr/>
        </p:nvSpPr>
        <p:spPr>
          <a:xfrm xmlns:a="http://schemas.openxmlformats.org/drawingml/2006/main">
            <a:off x="3619500" y="5095875"/>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a:solidFill>
                  <a:srgbClr val="EF5A5A"/>
                </a:solidFill>
              </a:defRPr>
            </a:pPr>
            <a:r>
              <a:rPr sz="2325" b="1">
                <a:solidFill>
                  <a:srgbClr val="EF5A5A"/>
                </a:solidFill>
              </a:rPr>
              <a:t>E se il processo muore tra 1 e 2?</a:t>
            </a:r>
          </a:p>
        </p:txBody>
      </p:sp>
    </p:spTree>
    <p:extLst>
      <p:ext uri="{BB962C8B-B14F-4D97-AF65-F5344CB8AC3E}">
        <p14:creationId xmlns:p14="http://schemas.microsoft.com/office/powerpoint/2010/main" val="1467591718"/>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DC17AEB-2FDB-41DB-8FB6-AB2B872E094D}"/>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FAILURE MATRIX</a:t>
            </a:r>
          </a:p>
        </p:txBody>
      </p:sp>
      <p:sp>
        <p:nvSpPr>
          <p:cNvPr id="2" name="">
            <a:extLst xmlns:a="http://schemas.openxmlformats.org/drawingml/2006/main">
              <a:ext uri="{FF2B5EF4-FFF2-40B4-BE49-F238E27FC236}">
                <a16:creationId xmlns:a16="http://schemas.microsoft.com/office/drawing/2014/main" id="{0A8052E5-CCE4-45BA-A8F6-5C80735FA474}"/>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La finestra di errore produce verità divergenti</a:t>
            </a:r>
          </a:p>
        </p:txBody>
      </p:sp>
      <p:sp>
        <p:nvSpPr>
          <p:cNvPr id="3" name="">
            <a:extLst xmlns:a="http://schemas.openxmlformats.org/drawingml/2006/main">
              <a:ext uri="{FF2B5EF4-FFF2-40B4-BE49-F238E27FC236}">
                <a16:creationId xmlns:a16="http://schemas.microsoft.com/office/drawing/2014/main" id="{2D8F8C06-AE0D-4854-B32E-E05248046FE1}"/>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12</a:t>
            </a:r>
          </a:p>
        </p:txBody>
      </p:sp>
      <p:sp>
        <p:nvSpPr>
          <p:cNvPr id="4" name="">
            <a:extLst xmlns:a="http://schemas.openxmlformats.org/drawingml/2006/main">
              <a:ext uri="{FF2B5EF4-FFF2-40B4-BE49-F238E27FC236}">
                <a16:creationId xmlns:a16="http://schemas.microsoft.com/office/drawing/2014/main" id="{DFBFA649-1560-4EF5-9A22-F8186DABF39F}"/>
              </a:ext>
            </a:extLst>
          </p:cNvPr>
          <p:cNvSpPr>
            <a:spLocks xmlns:a="http://schemas.openxmlformats.org/drawingml/2006/main" noGrp="1"/>
          </p:cNvSpPr>
          <p:nvPr/>
        </p:nvSpPr>
        <p:spPr>
          <a:xfrm xmlns:a="http://schemas.openxmlformats.org/drawingml/2006/main">
            <a:off x="1143000" y="1714500"/>
            <a:ext cx="2000250" cy="45720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F7530549-CA5C-4C9E-B2F9-8C4C7F723441}"/>
              </a:ext>
            </a:extLst>
          </p:cNvPr>
          <p:cNvSpPr>
            <a:spLocks xmlns:a="http://schemas.openxmlformats.org/drawingml/2006/main" noGrp="1"/>
          </p:cNvSpPr>
          <p:nvPr/>
        </p:nvSpPr>
        <p:spPr>
          <a:xfrm xmlns:a="http://schemas.openxmlformats.org/drawingml/2006/main">
            <a:off x="1219200" y="18288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DB</a:t>
            </a:r>
          </a:p>
        </p:txBody>
      </p:sp>
      <p:sp>
        <p:nvSpPr>
          <p:cNvPr id="6" name="">
            <a:extLst xmlns:a="http://schemas.openxmlformats.org/drawingml/2006/main">
              <a:ext uri="{FF2B5EF4-FFF2-40B4-BE49-F238E27FC236}">
                <a16:creationId xmlns:a16="http://schemas.microsoft.com/office/drawing/2014/main" id="{F8FB1FD0-8779-4C32-A548-03F2935572D8}"/>
              </a:ext>
            </a:extLst>
          </p:cNvPr>
          <p:cNvSpPr>
            <a:spLocks xmlns:a="http://schemas.openxmlformats.org/drawingml/2006/main" noGrp="1"/>
          </p:cNvSpPr>
          <p:nvPr/>
        </p:nvSpPr>
        <p:spPr>
          <a:xfrm xmlns:a="http://schemas.openxmlformats.org/drawingml/2006/main">
            <a:off x="3381375" y="1714500"/>
            <a:ext cx="2000250" cy="45720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7" name="">
            <a:extLst xmlns:a="http://schemas.openxmlformats.org/drawingml/2006/main">
              <a:ext uri="{FF2B5EF4-FFF2-40B4-BE49-F238E27FC236}">
                <a16:creationId xmlns:a16="http://schemas.microsoft.com/office/drawing/2014/main" id="{45BC9083-23ED-4C81-BE95-415BF30C4F45}"/>
              </a:ext>
            </a:extLst>
          </p:cNvPr>
          <p:cNvSpPr>
            <a:spLocks xmlns:a="http://schemas.openxmlformats.org/drawingml/2006/main" noGrp="1"/>
          </p:cNvSpPr>
          <p:nvPr/>
        </p:nvSpPr>
        <p:spPr>
          <a:xfrm xmlns:a="http://schemas.openxmlformats.org/drawingml/2006/main">
            <a:off x="3457575" y="18288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EVENTO</a:t>
            </a:r>
          </a:p>
        </p:txBody>
      </p:sp>
      <p:sp>
        <p:nvSpPr>
          <p:cNvPr id="8" name="">
            <a:extLst xmlns:a="http://schemas.openxmlformats.org/drawingml/2006/main">
              <a:ext uri="{FF2B5EF4-FFF2-40B4-BE49-F238E27FC236}">
                <a16:creationId xmlns:a16="http://schemas.microsoft.com/office/drawing/2014/main" id="{8C17D593-A957-4B5C-8356-CBEDB9365F14}"/>
              </a:ext>
            </a:extLst>
          </p:cNvPr>
          <p:cNvSpPr>
            <a:spLocks xmlns:a="http://schemas.openxmlformats.org/drawingml/2006/main" noGrp="1"/>
          </p:cNvSpPr>
          <p:nvPr/>
        </p:nvSpPr>
        <p:spPr>
          <a:xfrm xmlns:a="http://schemas.openxmlformats.org/drawingml/2006/main">
            <a:off x="5619750" y="1714500"/>
            <a:ext cx="5429250" cy="45720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9" name="">
            <a:extLst xmlns:a="http://schemas.openxmlformats.org/drawingml/2006/main">
              <a:ext uri="{FF2B5EF4-FFF2-40B4-BE49-F238E27FC236}">
                <a16:creationId xmlns:a16="http://schemas.microsoft.com/office/drawing/2014/main" id="{D17E4F48-E712-44ED-A34C-B42D0BE097B8}"/>
              </a:ext>
            </a:extLst>
          </p:cNvPr>
          <p:cNvSpPr>
            <a:spLocks xmlns:a="http://schemas.openxmlformats.org/drawingml/2006/main" noGrp="1"/>
          </p:cNvSpPr>
          <p:nvPr/>
        </p:nvSpPr>
        <p:spPr>
          <a:xfrm xmlns:a="http://schemas.openxmlformats.org/drawingml/2006/main">
            <a:off x="5695950" y="1828800"/>
            <a:ext cx="527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ESITO</a:t>
            </a:r>
          </a:p>
        </p:txBody>
      </p:sp>
      <p:sp>
        <p:nvSpPr>
          <p:cNvPr id="10" name="">
            <a:extLst xmlns:a="http://schemas.openxmlformats.org/drawingml/2006/main">
              <a:ext uri="{FF2B5EF4-FFF2-40B4-BE49-F238E27FC236}">
                <a16:creationId xmlns:a16="http://schemas.microsoft.com/office/drawing/2014/main" id="{F8C74834-B77A-465B-AC32-D7B5C0255DE0}"/>
              </a:ext>
            </a:extLst>
          </p:cNvPr>
          <p:cNvSpPr>
            <a:spLocks xmlns:a="http://schemas.openxmlformats.org/drawingml/2006/main" noGrp="1"/>
          </p:cNvSpPr>
          <p:nvPr/>
        </p:nvSpPr>
        <p:spPr>
          <a:xfrm xmlns:a="http://schemas.openxmlformats.org/drawingml/2006/main">
            <a:off x="1143000" y="2171700"/>
            <a:ext cx="2000250" cy="7810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1" name="">
            <a:extLst xmlns:a="http://schemas.openxmlformats.org/drawingml/2006/main">
              <a:ext uri="{FF2B5EF4-FFF2-40B4-BE49-F238E27FC236}">
                <a16:creationId xmlns:a16="http://schemas.microsoft.com/office/drawing/2014/main" id="{415FA05C-415E-4ED5-9D8C-5C6A4AE5C75D}"/>
              </a:ext>
            </a:extLst>
          </p:cNvPr>
          <p:cNvSpPr>
            <a:spLocks xmlns:a="http://schemas.openxmlformats.org/drawingml/2006/main" noGrp="1"/>
          </p:cNvSpPr>
          <p:nvPr/>
        </p:nvSpPr>
        <p:spPr>
          <a:xfrm xmlns:a="http://schemas.openxmlformats.org/drawingml/2006/main">
            <a:off x="1238250" y="24003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7A36A"/>
                </a:solidFill>
              </a:defRPr>
            </a:pPr>
            <a:r>
              <a:rPr sz="1500" b="1">
                <a:solidFill>
                  <a:srgbClr val="27A36A"/>
                </a:solidFill>
              </a:rPr>
              <a:t>✓</a:t>
            </a:r>
          </a:p>
        </p:txBody>
      </p:sp>
      <p:sp>
        <p:nvSpPr>
          <p:cNvPr id="12" name="">
            <a:extLst xmlns:a="http://schemas.openxmlformats.org/drawingml/2006/main">
              <a:ext uri="{FF2B5EF4-FFF2-40B4-BE49-F238E27FC236}">
                <a16:creationId xmlns:a16="http://schemas.microsoft.com/office/drawing/2014/main" id="{5F9E45DB-53E1-43A0-B02D-33B10745814D}"/>
              </a:ext>
            </a:extLst>
          </p:cNvPr>
          <p:cNvSpPr>
            <a:spLocks xmlns:a="http://schemas.openxmlformats.org/drawingml/2006/main" noGrp="1"/>
          </p:cNvSpPr>
          <p:nvPr/>
        </p:nvSpPr>
        <p:spPr>
          <a:xfrm xmlns:a="http://schemas.openxmlformats.org/drawingml/2006/main">
            <a:off x="3381375" y="2171700"/>
            <a:ext cx="2000250" cy="7810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8D84CEDC-F78F-4BF7-9E6E-5D0FF7F22C66}"/>
              </a:ext>
            </a:extLst>
          </p:cNvPr>
          <p:cNvSpPr>
            <a:spLocks xmlns:a="http://schemas.openxmlformats.org/drawingml/2006/main" noGrp="1"/>
          </p:cNvSpPr>
          <p:nvPr/>
        </p:nvSpPr>
        <p:spPr>
          <a:xfrm xmlns:a="http://schemas.openxmlformats.org/drawingml/2006/main">
            <a:off x="3476625" y="24003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7A36A"/>
                </a:solidFill>
              </a:defRPr>
            </a:pPr>
            <a:r>
              <a:rPr sz="1500" b="1">
                <a:solidFill>
                  <a:srgbClr val="27A36A"/>
                </a:solidFill>
              </a:rPr>
              <a:t>✓</a:t>
            </a:r>
          </a:p>
        </p:txBody>
      </p:sp>
      <p:sp>
        <p:nvSpPr>
          <p:cNvPr id="14" name="">
            <a:extLst xmlns:a="http://schemas.openxmlformats.org/drawingml/2006/main">
              <a:ext uri="{FF2B5EF4-FFF2-40B4-BE49-F238E27FC236}">
                <a16:creationId xmlns:a16="http://schemas.microsoft.com/office/drawing/2014/main" id="{B3091838-D319-4E29-A20E-53779D9E6AFD}"/>
              </a:ext>
            </a:extLst>
          </p:cNvPr>
          <p:cNvSpPr>
            <a:spLocks xmlns:a="http://schemas.openxmlformats.org/drawingml/2006/main" noGrp="1"/>
          </p:cNvSpPr>
          <p:nvPr/>
        </p:nvSpPr>
        <p:spPr>
          <a:xfrm xmlns:a="http://schemas.openxmlformats.org/drawingml/2006/main">
            <a:off x="5619750" y="2171700"/>
            <a:ext cx="5429250" cy="7810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F5B76D20-1267-498F-8F04-94EEDB74E0E1}"/>
              </a:ext>
            </a:extLst>
          </p:cNvPr>
          <p:cNvSpPr>
            <a:spLocks xmlns:a="http://schemas.openxmlformats.org/drawingml/2006/main" noGrp="1"/>
          </p:cNvSpPr>
          <p:nvPr/>
        </p:nvSpPr>
        <p:spPr>
          <a:xfrm xmlns:a="http://schemas.openxmlformats.org/drawingml/2006/main">
            <a:off x="5715000" y="24003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flusso completo</a:t>
            </a:r>
          </a:p>
        </p:txBody>
      </p:sp>
      <p:sp>
        <p:nvSpPr>
          <p:cNvPr id="16" name="">
            <a:extLst xmlns:a="http://schemas.openxmlformats.org/drawingml/2006/main">
              <a:ext uri="{FF2B5EF4-FFF2-40B4-BE49-F238E27FC236}">
                <a16:creationId xmlns:a16="http://schemas.microsoft.com/office/drawing/2014/main" id="{3FEA1FAC-C155-4877-8BFB-78D085905D86}"/>
              </a:ext>
            </a:extLst>
          </p:cNvPr>
          <p:cNvSpPr>
            <a:spLocks xmlns:a="http://schemas.openxmlformats.org/drawingml/2006/main" noGrp="1"/>
          </p:cNvSpPr>
          <p:nvPr/>
        </p:nvSpPr>
        <p:spPr>
          <a:xfrm xmlns:a="http://schemas.openxmlformats.org/drawingml/2006/main">
            <a:off x="1143000" y="29527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268F6122-B84B-439E-A528-93EEE859C70D}"/>
              </a:ext>
            </a:extLst>
          </p:cNvPr>
          <p:cNvSpPr>
            <a:spLocks xmlns:a="http://schemas.openxmlformats.org/drawingml/2006/main" noGrp="1"/>
          </p:cNvSpPr>
          <p:nvPr/>
        </p:nvSpPr>
        <p:spPr>
          <a:xfrm xmlns:a="http://schemas.openxmlformats.org/drawingml/2006/main">
            <a:off x="1238250" y="31813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F5A5A"/>
                </a:solidFill>
              </a:defRPr>
            </a:pPr>
            <a:r>
              <a:rPr sz="1500" b="1">
                <a:solidFill>
                  <a:srgbClr val="EF5A5A"/>
                </a:solidFill>
              </a:rPr>
              <a:t>✓</a:t>
            </a:r>
          </a:p>
        </p:txBody>
      </p:sp>
      <p:sp>
        <p:nvSpPr>
          <p:cNvPr id="18" name="">
            <a:extLst xmlns:a="http://schemas.openxmlformats.org/drawingml/2006/main">
              <a:ext uri="{FF2B5EF4-FFF2-40B4-BE49-F238E27FC236}">
                <a16:creationId xmlns:a16="http://schemas.microsoft.com/office/drawing/2014/main" id="{193F1A66-D629-44E5-9A00-8E1BAA938687}"/>
              </a:ext>
            </a:extLst>
          </p:cNvPr>
          <p:cNvSpPr>
            <a:spLocks xmlns:a="http://schemas.openxmlformats.org/drawingml/2006/main" noGrp="1"/>
          </p:cNvSpPr>
          <p:nvPr/>
        </p:nvSpPr>
        <p:spPr>
          <a:xfrm xmlns:a="http://schemas.openxmlformats.org/drawingml/2006/main">
            <a:off x="3381375" y="29527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19" name="">
            <a:extLst xmlns:a="http://schemas.openxmlformats.org/drawingml/2006/main">
              <a:ext uri="{FF2B5EF4-FFF2-40B4-BE49-F238E27FC236}">
                <a16:creationId xmlns:a16="http://schemas.microsoft.com/office/drawing/2014/main" id="{7A6F8B39-B539-4291-B04E-5E70A44C088B}"/>
              </a:ext>
            </a:extLst>
          </p:cNvPr>
          <p:cNvSpPr>
            <a:spLocks xmlns:a="http://schemas.openxmlformats.org/drawingml/2006/main" noGrp="1"/>
          </p:cNvSpPr>
          <p:nvPr/>
        </p:nvSpPr>
        <p:spPr>
          <a:xfrm xmlns:a="http://schemas.openxmlformats.org/drawingml/2006/main">
            <a:off x="3476625" y="31813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F5A5A"/>
                </a:solidFill>
              </a:defRPr>
            </a:pPr>
            <a:r>
              <a:rPr sz="1500" b="1">
                <a:solidFill>
                  <a:srgbClr val="EF5A5A"/>
                </a:solidFill>
              </a:rPr>
              <a:t>×</a:t>
            </a:r>
          </a:p>
        </p:txBody>
      </p:sp>
      <p:sp>
        <p:nvSpPr>
          <p:cNvPr id="20" name="">
            <a:extLst xmlns:a="http://schemas.openxmlformats.org/drawingml/2006/main">
              <a:ext uri="{FF2B5EF4-FFF2-40B4-BE49-F238E27FC236}">
                <a16:creationId xmlns:a16="http://schemas.microsoft.com/office/drawing/2014/main" id="{8CD33322-80ED-4E5A-8D97-6D25063C3A1D}"/>
              </a:ext>
            </a:extLst>
          </p:cNvPr>
          <p:cNvSpPr>
            <a:spLocks xmlns:a="http://schemas.openxmlformats.org/drawingml/2006/main" noGrp="1"/>
          </p:cNvSpPr>
          <p:nvPr/>
        </p:nvSpPr>
        <p:spPr>
          <a:xfrm xmlns:a="http://schemas.openxmlformats.org/drawingml/2006/main">
            <a:off x="5619750" y="2952750"/>
            <a:ext cx="5429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140C6C2D-A501-49CE-B9A8-F24903D13DC3}"/>
              </a:ext>
            </a:extLst>
          </p:cNvPr>
          <p:cNvSpPr>
            <a:spLocks xmlns:a="http://schemas.openxmlformats.org/drawingml/2006/main" noGrp="1"/>
          </p:cNvSpPr>
          <p:nvPr/>
        </p:nvSpPr>
        <p:spPr>
          <a:xfrm xmlns:a="http://schemas.openxmlformats.org/drawingml/2006/main">
            <a:off x="5715000" y="318135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stato salvato, viste mai aggiornate</a:t>
            </a:r>
          </a:p>
        </p:txBody>
      </p:sp>
      <p:sp>
        <p:nvSpPr>
          <p:cNvPr id="22" name="">
            <a:extLst xmlns:a="http://schemas.openxmlformats.org/drawingml/2006/main">
              <a:ext uri="{FF2B5EF4-FFF2-40B4-BE49-F238E27FC236}">
                <a16:creationId xmlns:a16="http://schemas.microsoft.com/office/drawing/2014/main" id="{6AFE5281-34CA-4E9F-A1BD-5A50D4BE89F8}"/>
              </a:ext>
            </a:extLst>
          </p:cNvPr>
          <p:cNvSpPr>
            <a:spLocks xmlns:a="http://schemas.openxmlformats.org/drawingml/2006/main" noGrp="1"/>
          </p:cNvSpPr>
          <p:nvPr/>
        </p:nvSpPr>
        <p:spPr>
          <a:xfrm xmlns:a="http://schemas.openxmlformats.org/drawingml/2006/main">
            <a:off x="1143000" y="3733800"/>
            <a:ext cx="2000250" cy="7810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23" name="">
            <a:extLst xmlns:a="http://schemas.openxmlformats.org/drawingml/2006/main">
              <a:ext uri="{FF2B5EF4-FFF2-40B4-BE49-F238E27FC236}">
                <a16:creationId xmlns:a16="http://schemas.microsoft.com/office/drawing/2014/main" id="{DFBD593B-E78E-4119-87CE-217AE5CFC81F}"/>
              </a:ext>
            </a:extLst>
          </p:cNvPr>
          <p:cNvSpPr>
            <a:spLocks xmlns:a="http://schemas.openxmlformats.org/drawingml/2006/main" noGrp="1"/>
          </p:cNvSpPr>
          <p:nvPr/>
        </p:nvSpPr>
        <p:spPr>
          <a:xfrm xmlns:a="http://schemas.openxmlformats.org/drawingml/2006/main">
            <a:off x="1238250" y="3962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8A4C"/>
                </a:solidFill>
              </a:defRPr>
            </a:pPr>
            <a:r>
              <a:rPr sz="1500" b="1">
                <a:solidFill>
                  <a:srgbClr val="FF8A4C"/>
                </a:solidFill>
              </a:rPr>
              <a:t>×</a:t>
            </a:r>
          </a:p>
        </p:txBody>
      </p:sp>
      <p:sp>
        <p:nvSpPr>
          <p:cNvPr id="24" name="">
            <a:extLst xmlns:a="http://schemas.openxmlformats.org/drawingml/2006/main">
              <a:ext uri="{FF2B5EF4-FFF2-40B4-BE49-F238E27FC236}">
                <a16:creationId xmlns:a16="http://schemas.microsoft.com/office/drawing/2014/main" id="{C94CA801-9D5D-4382-918E-F7129DAA01D4}"/>
              </a:ext>
            </a:extLst>
          </p:cNvPr>
          <p:cNvSpPr>
            <a:spLocks xmlns:a="http://schemas.openxmlformats.org/drawingml/2006/main" noGrp="1"/>
          </p:cNvSpPr>
          <p:nvPr/>
        </p:nvSpPr>
        <p:spPr>
          <a:xfrm xmlns:a="http://schemas.openxmlformats.org/drawingml/2006/main">
            <a:off x="3381375" y="3733800"/>
            <a:ext cx="2000250" cy="7810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7C28CEA4-94AA-4EB0-9F54-27CDE6E957D4}"/>
              </a:ext>
            </a:extLst>
          </p:cNvPr>
          <p:cNvSpPr>
            <a:spLocks xmlns:a="http://schemas.openxmlformats.org/drawingml/2006/main" noGrp="1"/>
          </p:cNvSpPr>
          <p:nvPr/>
        </p:nvSpPr>
        <p:spPr>
          <a:xfrm xmlns:a="http://schemas.openxmlformats.org/drawingml/2006/main">
            <a:off x="3476625" y="3962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8A4C"/>
                </a:solidFill>
              </a:defRPr>
            </a:pPr>
            <a:r>
              <a:rPr sz="1500" b="1">
                <a:solidFill>
                  <a:srgbClr val="FF8A4C"/>
                </a:solidFill>
              </a:rPr>
              <a:t>✓</a:t>
            </a:r>
          </a:p>
        </p:txBody>
      </p:sp>
      <p:sp>
        <p:nvSpPr>
          <p:cNvPr id="26" name="">
            <a:extLst xmlns:a="http://schemas.openxmlformats.org/drawingml/2006/main">
              <a:ext uri="{FF2B5EF4-FFF2-40B4-BE49-F238E27FC236}">
                <a16:creationId xmlns:a16="http://schemas.microsoft.com/office/drawing/2014/main" id="{70B04565-8763-4A58-A90B-0DE2D4C1E2B6}"/>
              </a:ext>
            </a:extLst>
          </p:cNvPr>
          <p:cNvSpPr>
            <a:spLocks xmlns:a="http://schemas.openxmlformats.org/drawingml/2006/main" noGrp="1"/>
          </p:cNvSpPr>
          <p:nvPr/>
        </p:nvSpPr>
        <p:spPr>
          <a:xfrm xmlns:a="http://schemas.openxmlformats.org/drawingml/2006/main">
            <a:off x="5619750" y="3733800"/>
            <a:ext cx="5429250" cy="7810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27" name="">
            <a:extLst xmlns:a="http://schemas.openxmlformats.org/drawingml/2006/main">
              <a:ext uri="{FF2B5EF4-FFF2-40B4-BE49-F238E27FC236}">
                <a16:creationId xmlns:a16="http://schemas.microsoft.com/office/drawing/2014/main" id="{489FDB4E-0515-4C63-81F4-F8DC0171C6B9}"/>
              </a:ext>
            </a:extLst>
          </p:cNvPr>
          <p:cNvSpPr>
            <a:spLocks xmlns:a="http://schemas.openxmlformats.org/drawingml/2006/main" noGrp="1"/>
          </p:cNvSpPr>
          <p:nvPr/>
        </p:nvSpPr>
        <p:spPr>
          <a:xfrm xmlns:a="http://schemas.openxmlformats.org/drawingml/2006/main">
            <a:off x="5715000" y="39624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evento fantasma senza stato</a:t>
            </a:r>
          </a:p>
        </p:txBody>
      </p:sp>
      <p:sp>
        <p:nvSpPr>
          <p:cNvPr id="28" name="">
            <a:extLst xmlns:a="http://schemas.openxmlformats.org/drawingml/2006/main">
              <a:ext uri="{FF2B5EF4-FFF2-40B4-BE49-F238E27FC236}">
                <a16:creationId xmlns:a16="http://schemas.microsoft.com/office/drawing/2014/main" id="{2558BDA0-8131-4EF1-950D-83E92CBB3762}"/>
              </a:ext>
            </a:extLst>
          </p:cNvPr>
          <p:cNvSpPr>
            <a:spLocks xmlns:a="http://schemas.openxmlformats.org/drawingml/2006/main" noGrp="1"/>
          </p:cNvSpPr>
          <p:nvPr/>
        </p:nvSpPr>
        <p:spPr>
          <a:xfrm xmlns:a="http://schemas.openxmlformats.org/drawingml/2006/main">
            <a:off x="1143000" y="45148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29" name="">
            <a:extLst xmlns:a="http://schemas.openxmlformats.org/drawingml/2006/main">
              <a:ext uri="{FF2B5EF4-FFF2-40B4-BE49-F238E27FC236}">
                <a16:creationId xmlns:a16="http://schemas.microsoft.com/office/drawing/2014/main" id="{A589DB0F-270F-49F3-8EFC-C0CE830579F6}"/>
              </a:ext>
            </a:extLst>
          </p:cNvPr>
          <p:cNvSpPr>
            <a:spLocks xmlns:a="http://schemas.openxmlformats.org/drawingml/2006/main" noGrp="1"/>
          </p:cNvSpPr>
          <p:nvPr/>
        </p:nvSpPr>
        <p:spPr>
          <a:xfrm xmlns:a="http://schemas.openxmlformats.org/drawingml/2006/main">
            <a:off x="1238250" y="47434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C6EE6"/>
                </a:solidFill>
              </a:defRPr>
            </a:pPr>
            <a:r>
              <a:rPr sz="1500" b="1">
                <a:solidFill>
                  <a:srgbClr val="7C6EE6"/>
                </a:solidFill>
              </a:rPr>
              <a:t>?</a:t>
            </a:r>
          </a:p>
        </p:txBody>
      </p:sp>
      <p:sp>
        <p:nvSpPr>
          <p:cNvPr id="30" name="">
            <a:extLst xmlns:a="http://schemas.openxmlformats.org/drawingml/2006/main">
              <a:ext uri="{FF2B5EF4-FFF2-40B4-BE49-F238E27FC236}">
                <a16:creationId xmlns:a16="http://schemas.microsoft.com/office/drawing/2014/main" id="{D6637E4D-D38C-4DB4-A0D4-091627B07D6B}"/>
              </a:ext>
            </a:extLst>
          </p:cNvPr>
          <p:cNvSpPr>
            <a:spLocks xmlns:a="http://schemas.openxmlformats.org/drawingml/2006/main" noGrp="1"/>
          </p:cNvSpPr>
          <p:nvPr/>
        </p:nvSpPr>
        <p:spPr>
          <a:xfrm xmlns:a="http://schemas.openxmlformats.org/drawingml/2006/main">
            <a:off x="3381375" y="45148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31" name="">
            <a:extLst xmlns:a="http://schemas.openxmlformats.org/drawingml/2006/main">
              <a:ext uri="{FF2B5EF4-FFF2-40B4-BE49-F238E27FC236}">
                <a16:creationId xmlns:a16="http://schemas.microsoft.com/office/drawing/2014/main" id="{146F8944-FAA9-4DC8-ADB1-00B87FFDC109}"/>
              </a:ext>
            </a:extLst>
          </p:cNvPr>
          <p:cNvSpPr>
            <a:spLocks xmlns:a="http://schemas.openxmlformats.org/drawingml/2006/main" noGrp="1"/>
          </p:cNvSpPr>
          <p:nvPr/>
        </p:nvSpPr>
        <p:spPr>
          <a:xfrm xmlns:a="http://schemas.openxmlformats.org/drawingml/2006/main">
            <a:off x="3476625" y="47434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C6EE6"/>
                </a:solidFill>
              </a:defRPr>
            </a:pPr>
            <a:r>
              <a:rPr sz="1500" b="1">
                <a:solidFill>
                  <a:srgbClr val="7C6EE6"/>
                </a:solidFill>
              </a:rPr>
              <a:t>retry</a:t>
            </a:r>
          </a:p>
        </p:txBody>
      </p:sp>
      <p:sp>
        <p:nvSpPr>
          <p:cNvPr id="32" name="">
            <a:extLst xmlns:a="http://schemas.openxmlformats.org/drawingml/2006/main">
              <a:ext uri="{FF2B5EF4-FFF2-40B4-BE49-F238E27FC236}">
                <a16:creationId xmlns:a16="http://schemas.microsoft.com/office/drawing/2014/main" id="{09CFDC72-3D9D-49ED-A029-F45DBBE7D6F9}"/>
              </a:ext>
            </a:extLst>
          </p:cNvPr>
          <p:cNvSpPr>
            <a:spLocks xmlns:a="http://schemas.openxmlformats.org/drawingml/2006/main" noGrp="1"/>
          </p:cNvSpPr>
          <p:nvPr/>
        </p:nvSpPr>
        <p:spPr>
          <a:xfrm xmlns:a="http://schemas.openxmlformats.org/drawingml/2006/main">
            <a:off x="5619750" y="4514850"/>
            <a:ext cx="5429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33" name="">
            <a:extLst xmlns:a="http://schemas.openxmlformats.org/drawingml/2006/main">
              <a:ext uri="{FF2B5EF4-FFF2-40B4-BE49-F238E27FC236}">
                <a16:creationId xmlns:a16="http://schemas.microsoft.com/office/drawing/2014/main" id="{8F6050A4-971E-409B-BEDA-98572F402027}"/>
              </a:ext>
            </a:extLst>
          </p:cNvPr>
          <p:cNvSpPr>
            <a:spLocks xmlns:a="http://schemas.openxmlformats.org/drawingml/2006/main" noGrp="1"/>
          </p:cNvSpPr>
          <p:nvPr/>
        </p:nvSpPr>
        <p:spPr>
          <a:xfrm xmlns:a="http://schemas.openxmlformats.org/drawingml/2006/main">
            <a:off x="5715000" y="474345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duplicati o ordine incerto</a:t>
            </a:r>
          </a:p>
        </p:txBody>
      </p:sp>
      <p:sp>
        <p:nvSpPr>
          <p:cNvPr id="34" name="">
            <a:extLst xmlns:a="http://schemas.openxmlformats.org/drawingml/2006/main">
              <a:ext uri="{FF2B5EF4-FFF2-40B4-BE49-F238E27FC236}">
                <a16:creationId xmlns:a16="http://schemas.microsoft.com/office/drawing/2014/main" id="{C799668D-F6FB-44AC-A55A-62B5B3625AE2}"/>
              </a:ext>
            </a:extLst>
          </p:cNvPr>
          <p:cNvSpPr>
            <a:spLocks xmlns:a="http://schemas.openxmlformats.org/drawingml/2006/main" noGrp="1"/>
          </p:cNvSpPr>
          <p:nvPr/>
        </p:nvSpPr>
        <p:spPr>
          <a:xfrm xmlns:a="http://schemas.openxmlformats.org/drawingml/2006/main">
            <a:off x="3571875" y="557212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F5A5A"/>
                </a:solidFill>
              </a:defRPr>
            </a:pPr>
            <a:r>
              <a:rPr sz="1725" b="1">
                <a:solidFill>
                  <a:srgbClr val="EF5A5A"/>
                </a:solidFill>
              </a:rPr>
              <a:t>Il retry da solo non crea atomicità.</a:t>
            </a:r>
          </a:p>
        </p:txBody>
      </p:sp>
    </p:spTree>
    <p:extLst>
      <p:ext uri="{BB962C8B-B14F-4D97-AF65-F5344CB8AC3E}">
        <p14:creationId xmlns:p14="http://schemas.microsoft.com/office/powerpoint/2010/main" val="1265909475"/>
      </p:ext>
    </p:extLst>
  </p:cSld>
</p:sld>
</file>

<file path=ppt/slides/slide13.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174606-15E0-4670-B5AA-B0D2148B1231}"/>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UNA TRANSAZIONE LOCALE</a:t>
            </a:r>
          </a:p>
        </p:txBody>
      </p:sp>
      <p:sp>
        <p:nvSpPr>
          <p:cNvPr id="2" name="">
            <a:extLst xmlns:a="http://schemas.openxmlformats.org/drawingml/2006/main">
              <a:ext uri="{FF2B5EF4-FFF2-40B4-BE49-F238E27FC236}">
                <a16:creationId xmlns:a16="http://schemas.microsoft.com/office/drawing/2014/main" id="{59D20045-2550-4441-AD50-87E90B18DF25}"/>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Transactional outbox: stato ed evento nello stesso commit</a:t>
            </a:r>
          </a:p>
        </p:txBody>
      </p:sp>
      <p:sp>
        <p:nvSpPr>
          <p:cNvPr id="3" name="">
            <a:extLst xmlns:a="http://schemas.openxmlformats.org/drawingml/2006/main">
              <a:ext uri="{FF2B5EF4-FFF2-40B4-BE49-F238E27FC236}">
                <a16:creationId xmlns:a16="http://schemas.microsoft.com/office/drawing/2014/main" id="{3379B74A-AF64-4805-B10E-174FF1115E21}"/>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13</a:t>
            </a:r>
          </a:p>
        </p:txBody>
      </p:sp>
      <p:sp>
        <p:nvSpPr>
          <p:cNvPr id="4" name="">
            <a:extLst xmlns:a="http://schemas.openxmlformats.org/drawingml/2006/main">
              <a:ext uri="{FF2B5EF4-FFF2-40B4-BE49-F238E27FC236}">
                <a16:creationId xmlns:a16="http://schemas.microsoft.com/office/drawing/2014/main" id="{2DC48A0D-ABB4-49B1-AB19-E2BFEE5D440F}"/>
              </a:ext>
            </a:extLst>
          </p:cNvPr>
          <p:cNvSpPr>
            <a:spLocks xmlns:a="http://schemas.openxmlformats.org/drawingml/2006/main" noGrp="1"/>
          </p:cNvSpPr>
          <p:nvPr/>
        </p:nvSpPr>
        <p:spPr>
          <a:xfrm xmlns:a="http://schemas.openxmlformats.org/drawingml/2006/main">
            <a:off x="857250" y="1809750"/>
            <a:ext cx="6191250" cy="3143250"/>
          </a:xfrm>
          <a:prstGeom xmlns:a="http://schemas.openxmlformats.org/drawingml/2006/main" prst="roundRect">
            <a:avLst>
              <a:gd name="adj" fmla="val 2424"/>
            </a:avLst>
          </a:prstGeom>
          <a:solidFill xmlns:a="http://schemas.openxmlformats.org/drawingml/2006/main">
            <a:srgbClr val="E8F7FA"/>
          </a:solidFill>
          <a:ln xmlns:a="http://schemas.openxmlformats.org/drawingml/2006/main" w="9525">
            <a:solidFill>
              <a:srgbClr val="FFFFFF"/>
            </a:solidFill>
            <a:prstDash val="solid"/>
          </a:ln>
        </p:spPr>
      </p:sp>
      <p:sp>
        <p:nvSpPr>
          <p:cNvPr id="5" name="">
            <a:extLst xmlns:a="http://schemas.openxmlformats.org/drawingml/2006/main">
              <a:ext uri="{FF2B5EF4-FFF2-40B4-BE49-F238E27FC236}">
                <a16:creationId xmlns:a16="http://schemas.microsoft.com/office/drawing/2014/main" id="{3105F550-B447-4CC1-A6CD-D83A8DB12FBE}"/>
              </a:ext>
            </a:extLst>
          </p:cNvPr>
          <p:cNvSpPr>
            <a:spLocks xmlns:a="http://schemas.openxmlformats.org/drawingml/2006/main" noGrp="1"/>
          </p:cNvSpPr>
          <p:nvPr/>
        </p:nvSpPr>
        <p:spPr>
          <a:xfrm xmlns:a="http://schemas.openxmlformats.org/drawingml/2006/main">
            <a:off x="1143000" y="20478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POSTGRESQL</a:t>
            </a:r>
          </a:p>
        </p:txBody>
      </p:sp>
      <p:sp>
        <p:nvSpPr>
          <p:cNvPr id="6" name="">
            <a:extLst xmlns:a="http://schemas.openxmlformats.org/drawingml/2006/main">
              <a:ext uri="{FF2B5EF4-FFF2-40B4-BE49-F238E27FC236}">
                <a16:creationId xmlns:a16="http://schemas.microsoft.com/office/drawing/2014/main" id="{54D59410-8A9D-4E79-957E-654A62CAA684}"/>
              </a:ext>
            </a:extLst>
          </p:cNvPr>
          <p:cNvSpPr>
            <a:spLocks xmlns:a="http://schemas.openxmlformats.org/drawingml/2006/main" noGrp="1"/>
          </p:cNvSpPr>
          <p:nvPr/>
        </p:nvSpPr>
        <p:spPr>
          <a:xfrm xmlns:a="http://schemas.openxmlformats.org/drawingml/2006/main">
            <a:off x="1190625" y="2667000"/>
            <a:ext cx="23812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00B8D9"/>
            </a:solidFill>
            <a:prstDash val="solid"/>
          </a:ln>
        </p:spPr>
      </p:sp>
      <p:sp>
        <p:nvSpPr>
          <p:cNvPr id="7" name="">
            <a:extLst xmlns:a="http://schemas.openxmlformats.org/drawingml/2006/main">
              <a:ext uri="{FF2B5EF4-FFF2-40B4-BE49-F238E27FC236}">
                <a16:creationId xmlns:a16="http://schemas.microsoft.com/office/drawing/2014/main" id="{1BA38245-FDCA-4580-AAD4-F78E533FA638}"/>
              </a:ext>
            </a:extLst>
          </p:cNvPr>
          <p:cNvSpPr>
            <a:spLocks xmlns:a="http://schemas.openxmlformats.org/drawingml/2006/main" noGrp="1"/>
          </p:cNvSpPr>
          <p:nvPr/>
        </p:nvSpPr>
        <p:spPr>
          <a:xfrm xmlns:a="http://schemas.openxmlformats.org/drawingml/2006/main">
            <a:off x="1428750" y="290512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ratings</a:t>
            </a:r>
          </a:p>
        </p:txBody>
      </p:sp>
      <p:sp>
        <p:nvSpPr>
          <p:cNvPr id="8" name="">
            <a:extLst xmlns:a="http://schemas.openxmlformats.org/drawingml/2006/main">
              <a:ext uri="{FF2B5EF4-FFF2-40B4-BE49-F238E27FC236}">
                <a16:creationId xmlns:a16="http://schemas.microsoft.com/office/drawing/2014/main" id="{665EBFD1-AE57-4555-85BB-AD3C5EF1A797}"/>
              </a:ext>
            </a:extLst>
          </p:cNvPr>
          <p:cNvSpPr>
            <a:spLocks xmlns:a="http://schemas.openxmlformats.org/drawingml/2006/main" noGrp="1"/>
          </p:cNvSpPr>
          <p:nvPr/>
        </p:nvSpPr>
        <p:spPr>
          <a:xfrm xmlns:a="http://schemas.openxmlformats.org/drawingml/2006/main">
            <a:off x="1428750" y="3333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06D"/>
                </a:solidFill>
              </a:defRPr>
            </a:pPr>
            <a:r>
              <a:rPr sz="1275" b="0">
                <a:solidFill>
                  <a:srgbClr val="52606D"/>
                </a:solidFill>
              </a:rPr>
              <a:t>u1 • m1 • 9</a:t>
            </a:r>
          </a:p>
        </p:txBody>
      </p:sp>
      <p:sp>
        <p:nvSpPr>
          <p:cNvPr id="9" name="">
            <a:extLst xmlns:a="http://schemas.openxmlformats.org/drawingml/2006/main">
              <a:ext uri="{FF2B5EF4-FFF2-40B4-BE49-F238E27FC236}">
                <a16:creationId xmlns:a16="http://schemas.microsoft.com/office/drawing/2014/main" id="{B5598B79-BF36-4A11-94BE-D8DC79B28F94}"/>
              </a:ext>
            </a:extLst>
          </p:cNvPr>
          <p:cNvSpPr>
            <a:spLocks xmlns:a="http://schemas.openxmlformats.org/drawingml/2006/main" noGrp="1"/>
          </p:cNvSpPr>
          <p:nvPr/>
        </p:nvSpPr>
        <p:spPr>
          <a:xfrm xmlns:a="http://schemas.openxmlformats.org/drawingml/2006/main">
            <a:off x="4286250" y="2667000"/>
            <a:ext cx="23812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FF8A4C"/>
            </a:solidFill>
            <a:prstDash val="solid"/>
          </a:ln>
        </p:spPr>
      </p:sp>
      <p:sp>
        <p:nvSpPr>
          <p:cNvPr id="10" name="">
            <a:extLst xmlns:a="http://schemas.openxmlformats.org/drawingml/2006/main">
              <a:ext uri="{FF2B5EF4-FFF2-40B4-BE49-F238E27FC236}">
                <a16:creationId xmlns:a16="http://schemas.microsoft.com/office/drawing/2014/main" id="{EBFDD68E-631C-437E-B61A-6B4F3E20DB78}"/>
              </a:ext>
            </a:extLst>
          </p:cNvPr>
          <p:cNvSpPr>
            <a:spLocks xmlns:a="http://schemas.openxmlformats.org/drawingml/2006/main" noGrp="1"/>
          </p:cNvSpPr>
          <p:nvPr/>
        </p:nvSpPr>
        <p:spPr>
          <a:xfrm xmlns:a="http://schemas.openxmlformats.org/drawingml/2006/main">
            <a:off x="4524375" y="290512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outbox</a:t>
            </a:r>
          </a:p>
        </p:txBody>
      </p:sp>
      <p:sp>
        <p:nvSpPr>
          <p:cNvPr id="11" name="">
            <a:extLst xmlns:a="http://schemas.openxmlformats.org/drawingml/2006/main">
              <a:ext uri="{FF2B5EF4-FFF2-40B4-BE49-F238E27FC236}">
                <a16:creationId xmlns:a16="http://schemas.microsoft.com/office/drawing/2014/main" id="{3BE845A3-D771-4CC3-9869-346BA7B15A19}"/>
              </a:ext>
            </a:extLst>
          </p:cNvPr>
          <p:cNvSpPr>
            <a:spLocks xmlns:a="http://schemas.openxmlformats.org/drawingml/2006/main" noGrp="1"/>
          </p:cNvSpPr>
          <p:nvPr/>
        </p:nvSpPr>
        <p:spPr>
          <a:xfrm xmlns:a="http://schemas.openxmlformats.org/drawingml/2006/main">
            <a:off x="4524375" y="3333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2606D"/>
                </a:solidFill>
              </a:defRPr>
            </a:pPr>
            <a:r>
              <a:rPr sz="1275" b="0">
                <a:solidFill>
                  <a:srgbClr val="52606D"/>
                </a:solidFill>
              </a:rPr>
              <a:t>RatingCreated</a:t>
            </a:r>
          </a:p>
        </p:txBody>
      </p:sp>
      <p:sp>
        <p:nvSpPr>
          <p:cNvPr id="12" name="">
            <a:extLst xmlns:a="http://schemas.openxmlformats.org/drawingml/2006/main">
              <a:ext uri="{FF2B5EF4-FFF2-40B4-BE49-F238E27FC236}">
                <a16:creationId xmlns:a16="http://schemas.microsoft.com/office/drawing/2014/main" id="{180A8992-72D5-4A0B-BDA9-523BB63B0877}"/>
              </a:ext>
            </a:extLst>
          </p:cNvPr>
          <p:cNvSpPr>
            <a:spLocks xmlns:a="http://schemas.openxmlformats.org/drawingml/2006/main" noGrp="1"/>
          </p:cNvSpPr>
          <p:nvPr/>
        </p:nvSpPr>
        <p:spPr>
          <a:xfrm xmlns:a="http://schemas.openxmlformats.org/drawingml/2006/main">
            <a:off x="7334250" y="3171825"/>
            <a:ext cx="1428750" cy="381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3" name="">
            <a:extLst xmlns:a="http://schemas.openxmlformats.org/drawingml/2006/main">
              <a:ext uri="{FF2B5EF4-FFF2-40B4-BE49-F238E27FC236}">
                <a16:creationId xmlns:a16="http://schemas.microsoft.com/office/drawing/2014/main" id="{CD17D0DC-5414-4959-96DB-894793C5924C}"/>
              </a:ext>
            </a:extLst>
          </p:cNvPr>
          <p:cNvSpPr>
            <a:spLocks xmlns:a="http://schemas.openxmlformats.org/drawingml/2006/main" noGrp="1"/>
          </p:cNvSpPr>
          <p:nvPr/>
        </p:nvSpPr>
        <p:spPr>
          <a:xfrm xmlns:a="http://schemas.openxmlformats.org/drawingml/2006/main">
            <a:off x="8610600" y="300037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B7E34B"/>
                </a:solidFill>
              </a:defRPr>
            </a:pPr>
            <a:r>
              <a:rPr sz="2625" b="1">
                <a:solidFill>
                  <a:srgbClr val="B7E34B"/>
                </a:solidFill>
              </a:rPr>
              <a:t>›</a:t>
            </a:r>
          </a:p>
        </p:txBody>
      </p:sp>
      <p:sp>
        <p:nvSpPr>
          <p:cNvPr id="14" name="">
            <a:extLst xmlns:a="http://schemas.openxmlformats.org/drawingml/2006/main">
              <a:ext uri="{FF2B5EF4-FFF2-40B4-BE49-F238E27FC236}">
                <a16:creationId xmlns:a16="http://schemas.microsoft.com/office/drawing/2014/main" id="{23ACA3D0-51E6-4ECD-922A-56CDD7CDCB19}"/>
              </a:ext>
            </a:extLst>
          </p:cNvPr>
          <p:cNvSpPr>
            <a:spLocks xmlns:a="http://schemas.openxmlformats.org/drawingml/2006/main" noGrp="1"/>
          </p:cNvSpPr>
          <p:nvPr/>
        </p:nvSpPr>
        <p:spPr>
          <a:xfrm xmlns:a="http://schemas.openxmlformats.org/drawingml/2006/main">
            <a:off x="7334250" y="28289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7E34B"/>
                </a:solidFill>
              </a:defRPr>
            </a:pPr>
            <a:r>
              <a:rPr sz="1050" b="1">
                <a:solidFill>
                  <a:srgbClr val="B7E34B"/>
                </a:solidFill>
              </a:rPr>
              <a:t>relay</a:t>
            </a:r>
          </a:p>
        </p:txBody>
      </p:sp>
      <p:sp>
        <p:nvSpPr>
          <p:cNvPr id="15" name="">
            <a:extLst xmlns:a="http://schemas.openxmlformats.org/drawingml/2006/main">
              <a:ext uri="{FF2B5EF4-FFF2-40B4-BE49-F238E27FC236}">
                <a16:creationId xmlns:a16="http://schemas.microsoft.com/office/drawing/2014/main" id="{CBEEDE32-B509-41A5-8610-C8D0A9166D71}"/>
              </a:ext>
            </a:extLst>
          </p:cNvPr>
          <p:cNvSpPr>
            <a:spLocks xmlns:a="http://schemas.openxmlformats.org/drawingml/2006/main" noGrp="1"/>
          </p:cNvSpPr>
          <p:nvPr/>
        </p:nvSpPr>
        <p:spPr>
          <a:xfrm xmlns:a="http://schemas.openxmlformats.org/drawingml/2006/main">
            <a:off x="9239250" y="2667000"/>
            <a:ext cx="2095500" cy="1238250"/>
          </a:xfrm>
          <a:prstGeom xmlns:a="http://schemas.openxmlformats.org/drawingml/2006/main" prst="roundRect">
            <a:avLst>
              <a:gd name="adj" fmla="val 6154"/>
            </a:avLst>
          </a:prstGeom>
          <a:solidFill xmlns:a="http://schemas.openxmlformats.org/drawingml/2006/main">
            <a:srgbClr val="F4C84A"/>
          </a:solidFill>
          <a:ln xmlns:a="http://schemas.openxmlformats.org/drawingml/2006/main" w="9525">
            <a:solidFill>
              <a:srgbClr val="F4C84A"/>
            </a:solidFill>
            <a:prstDash val="solid"/>
          </a:ln>
        </p:spPr>
      </p:sp>
      <p:sp>
        <p:nvSpPr>
          <p:cNvPr id="16" name="">
            <a:extLst xmlns:a="http://schemas.openxmlformats.org/drawingml/2006/main">
              <a:ext uri="{FF2B5EF4-FFF2-40B4-BE49-F238E27FC236}">
                <a16:creationId xmlns:a16="http://schemas.microsoft.com/office/drawing/2014/main" id="{32E3AFCC-28A0-4671-9D36-AF60D5903A25}"/>
              </a:ext>
            </a:extLst>
          </p:cNvPr>
          <p:cNvSpPr>
            <a:spLocks xmlns:a="http://schemas.openxmlformats.org/drawingml/2006/main" noGrp="1"/>
          </p:cNvSpPr>
          <p:nvPr/>
        </p:nvSpPr>
        <p:spPr>
          <a:xfrm xmlns:a="http://schemas.openxmlformats.org/drawingml/2006/main">
            <a:off x="94297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F33"/>
                </a:solidFill>
              </a:defRPr>
            </a:pPr>
            <a:r>
              <a:rPr sz="1575" b="1">
                <a:solidFill>
                  <a:srgbClr val="0B1F33"/>
                </a:solidFill>
              </a:rPr>
              <a:t>EVENT LOG</a:t>
            </a:r>
          </a:p>
        </p:txBody>
      </p:sp>
      <p:sp>
        <p:nvSpPr>
          <p:cNvPr id="17" name="">
            <a:extLst xmlns:a="http://schemas.openxmlformats.org/drawingml/2006/main">
              <a:ext uri="{FF2B5EF4-FFF2-40B4-BE49-F238E27FC236}">
                <a16:creationId xmlns:a16="http://schemas.microsoft.com/office/drawing/2014/main" id="{F513267E-FE8A-4EB2-888B-D91CBCD23BF1}"/>
              </a:ext>
            </a:extLst>
          </p:cNvPr>
          <p:cNvSpPr>
            <a:spLocks xmlns:a="http://schemas.openxmlformats.org/drawingml/2006/main" noGrp="1"/>
          </p:cNvSpPr>
          <p:nvPr/>
        </p:nvSpPr>
        <p:spPr>
          <a:xfrm xmlns:a="http://schemas.openxmlformats.org/drawingml/2006/main">
            <a:off x="2952750" y="5381625"/>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FFFFFF"/>
                </a:solidFill>
              </a:defRPr>
            </a:pPr>
            <a:r>
              <a:rPr sz="1875" b="1">
                <a:solidFill>
                  <a:srgbClr val="FFFFFF"/>
                </a:solidFill>
              </a:rPr>
              <a:t>Commit atomico locale • pubblicazione ripetibile</a:t>
            </a:r>
          </a:p>
        </p:txBody>
      </p:sp>
    </p:spTree>
    <p:extLst>
      <p:ext uri="{BB962C8B-B14F-4D97-AF65-F5344CB8AC3E}">
        <p14:creationId xmlns:p14="http://schemas.microsoft.com/office/powerpoint/2010/main" val="544284024"/>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1875F0-3917-40AE-B7D0-5311178C0DC9}"/>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SCHEMA MINIMO</a:t>
            </a:r>
          </a:p>
        </p:txBody>
      </p:sp>
      <p:sp>
        <p:nvSpPr>
          <p:cNvPr id="2" name="">
            <a:extLst xmlns:a="http://schemas.openxmlformats.org/drawingml/2006/main">
              <a:ext uri="{FF2B5EF4-FFF2-40B4-BE49-F238E27FC236}">
                <a16:creationId xmlns:a16="http://schemas.microsoft.com/office/drawing/2014/main" id="{F9AB4CB1-B626-4275-BB03-887B1429DE25}"/>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L’outbox contiene un contratto, non una copia casuale</a:t>
            </a:r>
          </a:p>
        </p:txBody>
      </p:sp>
      <p:sp>
        <p:nvSpPr>
          <p:cNvPr id="3" name="">
            <a:extLst xmlns:a="http://schemas.openxmlformats.org/drawingml/2006/main">
              <a:ext uri="{FF2B5EF4-FFF2-40B4-BE49-F238E27FC236}">
                <a16:creationId xmlns:a16="http://schemas.microsoft.com/office/drawing/2014/main" id="{9ACA2759-89FF-4A03-95FA-F8802528461C}"/>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14</a:t>
            </a:r>
          </a:p>
        </p:txBody>
      </p:sp>
      <p:sp>
        <p:nvSpPr>
          <p:cNvPr id="4" name="">
            <a:extLst xmlns:a="http://schemas.openxmlformats.org/drawingml/2006/main">
              <a:ext uri="{FF2B5EF4-FFF2-40B4-BE49-F238E27FC236}">
                <a16:creationId xmlns:a16="http://schemas.microsoft.com/office/drawing/2014/main" id="{C674BBE8-581B-4CAD-9A82-DD658B6F6605}"/>
              </a:ext>
            </a:extLst>
          </p:cNvPr>
          <p:cNvSpPr>
            <a:spLocks xmlns:a="http://schemas.openxmlformats.org/drawingml/2006/main" noGrp="1"/>
          </p:cNvSpPr>
          <p:nvPr/>
        </p:nvSpPr>
        <p:spPr>
          <a:xfrm xmlns:a="http://schemas.openxmlformats.org/drawingml/2006/main">
            <a:off x="1714500" y="1666875"/>
            <a:ext cx="8763000" cy="3810000"/>
          </a:xfrm>
          <a:prstGeom xmlns:a="http://schemas.openxmlformats.org/drawingml/2006/main" prst="roundRect">
            <a:avLst>
              <a:gd name="adj" fmla="val 2000"/>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079EE984-C7AA-4A80-AE8C-8E82F505B3B3}"/>
              </a:ext>
            </a:extLst>
          </p:cNvPr>
          <p:cNvSpPr>
            <a:spLocks xmlns:a="http://schemas.openxmlformats.org/drawingml/2006/main" noGrp="1"/>
          </p:cNvSpPr>
          <p:nvPr/>
        </p:nvSpPr>
        <p:spPr>
          <a:xfrm xmlns:a="http://schemas.openxmlformats.org/drawingml/2006/main">
            <a:off x="1714500" y="1666875"/>
            <a:ext cx="95250" cy="38100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6" name="">
            <a:extLst xmlns:a="http://schemas.openxmlformats.org/drawingml/2006/main">
              <a:ext uri="{FF2B5EF4-FFF2-40B4-BE49-F238E27FC236}">
                <a16:creationId xmlns:a16="http://schemas.microsoft.com/office/drawing/2014/main" id="{E6C1B46B-FD37-4F5D-B99E-7E100B9934EB}"/>
              </a:ext>
            </a:extLst>
          </p:cNvPr>
          <p:cNvSpPr>
            <a:spLocks xmlns:a="http://schemas.openxmlformats.org/drawingml/2006/main" noGrp="1"/>
          </p:cNvSpPr>
          <p:nvPr/>
        </p:nvSpPr>
        <p:spPr>
          <a:xfrm xmlns:a="http://schemas.openxmlformats.org/drawingml/2006/main">
            <a:off x="2057400" y="1914525"/>
            <a:ext cx="8096250" cy="3352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defRPr>
            </a:pPr>
            <a:r>
              <a:rPr sz="1650" b="0">
                <a:solidFill>
                  <a:srgbClr val="FFFFFF"/>
                </a:solidFill>
              </a:rPr>
              <a:t>CREATE TABLE outbox_event (</a:t>
            </a:r>
          </a:p>
          <a:p xmlns:a="http://schemas.openxmlformats.org/drawingml/2006/main">
            <a:pPr algn="l">
              <a:defRPr sz="1650" b="0">
                <a:solidFill>
                  <a:srgbClr val="FFFFFF"/>
                </a:solidFill>
              </a:defRPr>
            </a:pPr>
            <a:r>
              <a:rPr sz="1650" b="0">
                <a:solidFill>
                  <a:srgbClr val="FFFFFF"/>
                </a:solidFill>
              </a:rPr>
              <a:t>  event_id UUID PRIMARY KEY,</a:t>
            </a:r>
          </a:p>
          <a:p xmlns:a="http://schemas.openxmlformats.org/drawingml/2006/main">
            <a:pPr algn="l">
              <a:defRPr sz="1650" b="0">
                <a:solidFill>
                  <a:srgbClr val="FFFFFF"/>
                </a:solidFill>
              </a:defRPr>
            </a:pPr>
            <a:r>
              <a:rPr sz="1650" b="0">
                <a:solidFill>
                  <a:srgbClr val="FFFFFF"/>
                </a:solidFill>
              </a:rPr>
              <a:t>  aggregate_type TEXT NOT NULL,</a:t>
            </a:r>
          </a:p>
          <a:p xmlns:a="http://schemas.openxmlformats.org/drawingml/2006/main">
            <a:pPr algn="l">
              <a:defRPr sz="1650" b="0">
                <a:solidFill>
                  <a:srgbClr val="FFFFFF"/>
                </a:solidFill>
              </a:defRPr>
            </a:pPr>
            <a:r>
              <a:rPr sz="1650" b="0">
                <a:solidFill>
                  <a:srgbClr val="FFFFFF"/>
                </a:solidFill>
              </a:rPr>
              <a:t>  aggregate_id TEXT NOT NULL,</a:t>
            </a:r>
          </a:p>
          <a:p xmlns:a="http://schemas.openxmlformats.org/drawingml/2006/main">
            <a:pPr algn="l">
              <a:defRPr sz="1650" b="0">
                <a:solidFill>
                  <a:srgbClr val="FFFFFF"/>
                </a:solidFill>
              </a:defRPr>
            </a:pPr>
            <a:r>
              <a:rPr sz="1650" b="0">
                <a:solidFill>
                  <a:srgbClr val="FFFFFF"/>
                </a:solidFill>
              </a:rPr>
              <a:t>  event_type TEXT NOT NULL,</a:t>
            </a:r>
          </a:p>
          <a:p xmlns:a="http://schemas.openxmlformats.org/drawingml/2006/main">
            <a:pPr algn="l">
              <a:defRPr sz="1650" b="0">
                <a:solidFill>
                  <a:srgbClr val="FFFFFF"/>
                </a:solidFill>
              </a:defRPr>
            </a:pPr>
            <a:r>
              <a:rPr sz="1650" b="0">
                <a:solidFill>
                  <a:srgbClr val="FFFFFF"/>
                </a:solidFill>
              </a:rPr>
              <a:t>  payload JSONB NOT NULL,</a:t>
            </a:r>
          </a:p>
          <a:p xmlns:a="http://schemas.openxmlformats.org/drawingml/2006/main">
            <a:pPr algn="l">
              <a:defRPr sz="1650" b="0">
                <a:solidFill>
                  <a:srgbClr val="FFFFFF"/>
                </a:solidFill>
              </a:defRPr>
            </a:pPr>
            <a:r>
              <a:rPr sz="1650" b="0">
                <a:solidFill>
                  <a:srgbClr val="FFFFFF"/>
                </a:solidFill>
              </a:rPr>
              <a:t>  occurred_at TIMESTAMPTZ NOT NULL,</a:t>
            </a:r>
          </a:p>
          <a:p xmlns:a="http://schemas.openxmlformats.org/drawingml/2006/main">
            <a:pPr algn="l">
              <a:defRPr sz="1650" b="0">
                <a:solidFill>
                  <a:srgbClr val="FFFFFF"/>
                </a:solidFill>
              </a:defRPr>
            </a:pPr>
            <a:r>
              <a:rPr sz="1650" b="0">
                <a:solidFill>
                  <a:srgbClr val="FFFFFF"/>
                </a:solidFill>
              </a:rPr>
              <a:t>  published_at TIMESTAMPTZ</a:t>
            </a:r>
          </a:p>
          <a:p xmlns:a="http://schemas.openxmlformats.org/drawingml/2006/main">
            <a:pPr algn="l">
              <a:defRPr sz="1650" b="0">
                <a:solidFill>
                  <a:srgbClr val="FFFFFF"/>
                </a:solidFill>
              </a:defRPr>
            </a:pPr>
            <a:r>
              <a:rPr sz="1650" b="0">
                <a:solidFill>
                  <a:srgbClr val="FFFFFF"/>
                </a:solidFill>
              </a:rPr>
              <a:t>);</a:t>
            </a:r>
          </a:p>
        </p:txBody>
      </p:sp>
      <p:sp>
        <p:nvSpPr>
          <p:cNvPr id="7" name="">
            <a:extLst xmlns:a="http://schemas.openxmlformats.org/drawingml/2006/main">
              <a:ext uri="{FF2B5EF4-FFF2-40B4-BE49-F238E27FC236}">
                <a16:creationId xmlns:a16="http://schemas.microsoft.com/office/drawing/2014/main" id="{3721B9CD-BDA8-420D-99A7-B024997408B0}"/>
              </a:ext>
            </a:extLst>
          </p:cNvPr>
          <p:cNvSpPr>
            <a:spLocks xmlns:a="http://schemas.openxmlformats.org/drawingml/2006/main" noGrp="1"/>
          </p:cNvSpPr>
          <p:nvPr/>
        </p:nvSpPr>
        <p:spPr>
          <a:xfrm xmlns:a="http://schemas.openxmlformats.org/drawingml/2006/main">
            <a:off x="2238375" y="5762625"/>
            <a:ext cx="771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1F33"/>
                </a:solidFill>
              </a:defRPr>
            </a:pPr>
            <a:r>
              <a:rPr sz="1575" b="1">
                <a:solidFill>
                  <a:srgbClr val="0B1F33"/>
                </a:solidFill>
              </a:rPr>
              <a:t>event_id abilita deduplica • aggregate_id sostiene ordine e routing</a:t>
            </a:r>
          </a:p>
        </p:txBody>
      </p:sp>
    </p:spTree>
    <p:extLst>
      <p:ext uri="{BB962C8B-B14F-4D97-AF65-F5344CB8AC3E}">
        <p14:creationId xmlns:p14="http://schemas.microsoft.com/office/powerpoint/2010/main" val="574071954"/>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E331AE-FC15-44E9-A4F1-62CB59CDEBB6}"/>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CHANGE DATA CAPTURE</a:t>
            </a:r>
          </a:p>
        </p:txBody>
      </p:sp>
      <p:sp>
        <p:nvSpPr>
          <p:cNvPr id="2" name="">
            <a:extLst xmlns:a="http://schemas.openxmlformats.org/drawingml/2006/main">
              <a:ext uri="{FF2B5EF4-FFF2-40B4-BE49-F238E27FC236}">
                <a16:creationId xmlns:a16="http://schemas.microsoft.com/office/drawing/2014/main" id="{53BF62BA-0D71-4AED-BFC1-6C7279E0569D}"/>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CDC osserva il log del database e alimenta gli eventi</a:t>
            </a:r>
          </a:p>
        </p:txBody>
      </p:sp>
      <p:sp>
        <p:nvSpPr>
          <p:cNvPr id="3" name="">
            <a:extLst xmlns:a="http://schemas.openxmlformats.org/drawingml/2006/main">
              <a:ext uri="{FF2B5EF4-FFF2-40B4-BE49-F238E27FC236}">
                <a16:creationId xmlns:a16="http://schemas.microsoft.com/office/drawing/2014/main" id="{8A40CE04-B758-4D6C-8B54-14EB92669E38}"/>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15</a:t>
            </a:r>
          </a:p>
        </p:txBody>
      </p:sp>
      <p:sp>
        <p:nvSpPr>
          <p:cNvPr id="4" name="">
            <a:extLst xmlns:a="http://schemas.openxmlformats.org/drawingml/2006/main">
              <a:ext uri="{FF2B5EF4-FFF2-40B4-BE49-F238E27FC236}">
                <a16:creationId xmlns:a16="http://schemas.microsoft.com/office/drawing/2014/main" id="{D2F32833-4A98-4281-9BCE-E9DC1CAF67B0}"/>
              </a:ext>
            </a:extLst>
          </p:cNvPr>
          <p:cNvSpPr>
            <a:spLocks xmlns:a="http://schemas.openxmlformats.org/drawingml/2006/main" noGrp="1"/>
          </p:cNvSpPr>
          <p:nvPr/>
        </p:nvSpPr>
        <p:spPr>
          <a:xfrm xmlns:a="http://schemas.openxmlformats.org/drawingml/2006/main">
            <a:off x="819150" y="18097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B8D9"/>
                </a:solidFill>
              </a:defRPr>
            </a:pPr>
            <a:r>
              <a:rPr sz="1800" b="1">
                <a:solidFill>
                  <a:srgbClr val="00B8D9"/>
                </a:solidFill>
              </a:rPr>
              <a:t>01</a:t>
            </a:r>
          </a:p>
        </p:txBody>
      </p:sp>
      <p:sp>
        <p:nvSpPr>
          <p:cNvPr id="5" name="">
            <a:extLst xmlns:a="http://schemas.openxmlformats.org/drawingml/2006/main">
              <a:ext uri="{FF2B5EF4-FFF2-40B4-BE49-F238E27FC236}">
                <a16:creationId xmlns:a16="http://schemas.microsoft.com/office/drawing/2014/main" id="{F03A880A-E630-46C7-83AE-0AE7D456E04D}"/>
              </a:ext>
            </a:extLst>
          </p:cNvPr>
          <p:cNvSpPr>
            <a:spLocks xmlns:a="http://schemas.openxmlformats.org/drawingml/2006/main" noGrp="1"/>
          </p:cNvSpPr>
          <p:nvPr/>
        </p:nvSpPr>
        <p:spPr>
          <a:xfrm xmlns:a="http://schemas.openxmlformats.org/drawingml/2006/main">
            <a:off x="1714500" y="18097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COMMIT</a:t>
            </a:r>
          </a:p>
        </p:txBody>
      </p:sp>
      <p:sp>
        <p:nvSpPr>
          <p:cNvPr id="6" name="">
            <a:extLst xmlns:a="http://schemas.openxmlformats.org/drawingml/2006/main">
              <a:ext uri="{FF2B5EF4-FFF2-40B4-BE49-F238E27FC236}">
                <a16:creationId xmlns:a16="http://schemas.microsoft.com/office/drawing/2014/main" id="{8176BFC3-6CEB-4A49-86D6-4CD425558481}"/>
              </a:ext>
            </a:extLst>
          </p:cNvPr>
          <p:cNvSpPr>
            <a:spLocks xmlns:a="http://schemas.openxmlformats.org/drawingml/2006/main" noGrp="1"/>
          </p:cNvSpPr>
          <p:nvPr/>
        </p:nvSpPr>
        <p:spPr>
          <a:xfrm xmlns:a="http://schemas.openxmlformats.org/drawingml/2006/main">
            <a:off x="4762500" y="180975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il database registra la modifica</a:t>
            </a:r>
          </a:p>
        </p:txBody>
      </p:sp>
      <p:sp>
        <p:nvSpPr>
          <p:cNvPr id="7" name="">
            <a:extLst xmlns:a="http://schemas.openxmlformats.org/drawingml/2006/main">
              <a:ext uri="{FF2B5EF4-FFF2-40B4-BE49-F238E27FC236}">
                <a16:creationId xmlns:a16="http://schemas.microsoft.com/office/drawing/2014/main" id="{7DFF3BCA-6DC5-4161-8E32-8B1529456069}"/>
              </a:ext>
            </a:extLst>
          </p:cNvPr>
          <p:cNvSpPr>
            <a:spLocks xmlns:a="http://schemas.openxmlformats.org/drawingml/2006/main" noGrp="1"/>
          </p:cNvSpPr>
          <p:nvPr/>
        </p:nvSpPr>
        <p:spPr>
          <a:xfrm xmlns:a="http://schemas.openxmlformats.org/drawingml/2006/main">
            <a:off x="819150" y="271462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8A4C"/>
                </a:solidFill>
              </a:defRPr>
            </a:pPr>
            <a:r>
              <a:rPr sz="1800" b="1">
                <a:solidFill>
                  <a:srgbClr val="FF8A4C"/>
                </a:solidFill>
              </a:rPr>
              <a:t>02</a:t>
            </a:r>
          </a:p>
        </p:txBody>
      </p:sp>
      <p:sp>
        <p:nvSpPr>
          <p:cNvPr id="8" name="">
            <a:extLst xmlns:a="http://schemas.openxmlformats.org/drawingml/2006/main">
              <a:ext uri="{FF2B5EF4-FFF2-40B4-BE49-F238E27FC236}">
                <a16:creationId xmlns:a16="http://schemas.microsoft.com/office/drawing/2014/main" id="{07E72B84-E5BB-42E9-B30E-206EEA332985}"/>
              </a:ext>
            </a:extLst>
          </p:cNvPr>
          <p:cNvSpPr>
            <a:spLocks xmlns:a="http://schemas.openxmlformats.org/drawingml/2006/main" noGrp="1"/>
          </p:cNvSpPr>
          <p:nvPr/>
        </p:nvSpPr>
        <p:spPr>
          <a:xfrm xmlns:a="http://schemas.openxmlformats.org/drawingml/2006/main">
            <a:off x="1714500" y="27146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CAPTURE</a:t>
            </a:r>
          </a:p>
        </p:txBody>
      </p:sp>
      <p:sp>
        <p:nvSpPr>
          <p:cNvPr id="9" name="">
            <a:extLst xmlns:a="http://schemas.openxmlformats.org/drawingml/2006/main">
              <a:ext uri="{FF2B5EF4-FFF2-40B4-BE49-F238E27FC236}">
                <a16:creationId xmlns:a16="http://schemas.microsoft.com/office/drawing/2014/main" id="{6585FA6E-09D3-4F17-9C86-B9ACD1DF782A}"/>
              </a:ext>
            </a:extLst>
          </p:cNvPr>
          <p:cNvSpPr>
            <a:spLocks xmlns:a="http://schemas.openxmlformats.org/drawingml/2006/main" noGrp="1"/>
          </p:cNvSpPr>
          <p:nvPr/>
        </p:nvSpPr>
        <p:spPr>
          <a:xfrm xmlns:a="http://schemas.openxmlformats.org/drawingml/2006/main">
            <a:off x="4762500" y="271462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connector legge il change log</a:t>
            </a:r>
          </a:p>
        </p:txBody>
      </p:sp>
      <p:sp>
        <p:nvSpPr>
          <p:cNvPr id="10" name="">
            <a:extLst xmlns:a="http://schemas.openxmlformats.org/drawingml/2006/main">
              <a:ext uri="{FF2B5EF4-FFF2-40B4-BE49-F238E27FC236}">
                <a16:creationId xmlns:a16="http://schemas.microsoft.com/office/drawing/2014/main" id="{F8E3A169-EFDB-4F66-A546-72711739E217}"/>
              </a:ext>
            </a:extLst>
          </p:cNvPr>
          <p:cNvSpPr>
            <a:spLocks xmlns:a="http://schemas.openxmlformats.org/drawingml/2006/main" noGrp="1"/>
          </p:cNvSpPr>
          <p:nvPr/>
        </p:nvSpPr>
        <p:spPr>
          <a:xfrm xmlns:a="http://schemas.openxmlformats.org/drawingml/2006/main">
            <a:off x="819150" y="36195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7C6EE6"/>
                </a:solidFill>
              </a:defRPr>
            </a:pPr>
            <a:r>
              <a:rPr sz="1800" b="1">
                <a:solidFill>
                  <a:srgbClr val="7C6EE6"/>
                </a:solidFill>
              </a:rPr>
              <a:t>03</a:t>
            </a:r>
          </a:p>
        </p:txBody>
      </p:sp>
      <p:sp>
        <p:nvSpPr>
          <p:cNvPr id="11" name="">
            <a:extLst xmlns:a="http://schemas.openxmlformats.org/drawingml/2006/main">
              <a:ext uri="{FF2B5EF4-FFF2-40B4-BE49-F238E27FC236}">
                <a16:creationId xmlns:a16="http://schemas.microsoft.com/office/drawing/2014/main" id="{225C4B59-8BC4-4935-B89F-379343F32A14}"/>
              </a:ext>
            </a:extLst>
          </p:cNvPr>
          <p:cNvSpPr>
            <a:spLocks xmlns:a="http://schemas.openxmlformats.org/drawingml/2006/main" noGrp="1"/>
          </p:cNvSpPr>
          <p:nvPr/>
        </p:nvSpPr>
        <p:spPr>
          <a:xfrm xmlns:a="http://schemas.openxmlformats.org/drawingml/2006/main">
            <a:off x="1714500" y="3619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ROUTE</a:t>
            </a:r>
          </a:p>
        </p:txBody>
      </p:sp>
      <p:sp>
        <p:nvSpPr>
          <p:cNvPr id="12" name="">
            <a:extLst xmlns:a="http://schemas.openxmlformats.org/drawingml/2006/main">
              <a:ext uri="{FF2B5EF4-FFF2-40B4-BE49-F238E27FC236}">
                <a16:creationId xmlns:a16="http://schemas.microsoft.com/office/drawing/2014/main" id="{DD450F0F-CEB0-4942-8903-907ACDDEDD70}"/>
              </a:ext>
            </a:extLst>
          </p:cNvPr>
          <p:cNvSpPr>
            <a:spLocks xmlns:a="http://schemas.openxmlformats.org/drawingml/2006/main" noGrp="1"/>
          </p:cNvSpPr>
          <p:nvPr/>
        </p:nvSpPr>
        <p:spPr>
          <a:xfrm xmlns:a="http://schemas.openxmlformats.org/drawingml/2006/main">
            <a:off x="4762500" y="3619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outbox event router costruisce il messaggio</a:t>
            </a:r>
          </a:p>
        </p:txBody>
      </p:sp>
      <p:sp>
        <p:nvSpPr>
          <p:cNvPr id="13" name="">
            <a:extLst xmlns:a="http://schemas.openxmlformats.org/drawingml/2006/main">
              <a:ext uri="{FF2B5EF4-FFF2-40B4-BE49-F238E27FC236}">
                <a16:creationId xmlns:a16="http://schemas.microsoft.com/office/drawing/2014/main" id="{4E31EBEB-0DA5-42CC-9762-1FD97D67D30B}"/>
              </a:ext>
            </a:extLst>
          </p:cNvPr>
          <p:cNvSpPr>
            <a:spLocks xmlns:a="http://schemas.openxmlformats.org/drawingml/2006/main" noGrp="1"/>
          </p:cNvSpPr>
          <p:nvPr/>
        </p:nvSpPr>
        <p:spPr>
          <a:xfrm xmlns:a="http://schemas.openxmlformats.org/drawingml/2006/main">
            <a:off x="819150" y="45243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7E34B"/>
                </a:solidFill>
              </a:defRPr>
            </a:pPr>
            <a:r>
              <a:rPr sz="1800" b="1">
                <a:solidFill>
                  <a:srgbClr val="B7E34B"/>
                </a:solidFill>
              </a:rPr>
              <a:t>04</a:t>
            </a:r>
          </a:p>
        </p:txBody>
      </p:sp>
      <p:sp>
        <p:nvSpPr>
          <p:cNvPr id="14" name="">
            <a:extLst xmlns:a="http://schemas.openxmlformats.org/drawingml/2006/main">
              <a:ext uri="{FF2B5EF4-FFF2-40B4-BE49-F238E27FC236}">
                <a16:creationId xmlns:a16="http://schemas.microsoft.com/office/drawing/2014/main" id="{2732FAC9-1EEE-401E-B2C1-96A54AA7D26C}"/>
              </a:ext>
            </a:extLst>
          </p:cNvPr>
          <p:cNvSpPr>
            <a:spLocks xmlns:a="http://schemas.openxmlformats.org/drawingml/2006/main" noGrp="1"/>
          </p:cNvSpPr>
          <p:nvPr/>
        </p:nvSpPr>
        <p:spPr>
          <a:xfrm xmlns:a="http://schemas.openxmlformats.org/drawingml/2006/main">
            <a:off x="1714500" y="45243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RESUME</a:t>
            </a:r>
          </a:p>
        </p:txBody>
      </p:sp>
      <p:sp>
        <p:nvSpPr>
          <p:cNvPr id="15" name="">
            <a:extLst xmlns:a="http://schemas.openxmlformats.org/drawingml/2006/main">
              <a:ext uri="{FF2B5EF4-FFF2-40B4-BE49-F238E27FC236}">
                <a16:creationId xmlns:a16="http://schemas.microsoft.com/office/drawing/2014/main" id="{D731C49F-1C20-4813-B6CE-BED28FA05F08}"/>
              </a:ext>
            </a:extLst>
          </p:cNvPr>
          <p:cNvSpPr>
            <a:spLocks xmlns:a="http://schemas.openxmlformats.org/drawingml/2006/main" noGrp="1"/>
          </p:cNvSpPr>
          <p:nvPr/>
        </p:nvSpPr>
        <p:spPr>
          <a:xfrm xmlns:a="http://schemas.openxmlformats.org/drawingml/2006/main">
            <a:off x="4762500" y="45243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offset o token permettono la ripartenza</a:t>
            </a:r>
          </a:p>
        </p:txBody>
      </p:sp>
    </p:spTree>
    <p:extLst>
      <p:ext uri="{BB962C8B-B14F-4D97-AF65-F5344CB8AC3E}">
        <p14:creationId xmlns:p14="http://schemas.microsoft.com/office/powerpoint/2010/main" val="399200042"/>
      </p:ext>
    </p:extLst>
  </p:cSld>
</p:sld>
</file>

<file path=ppt/slides/slide1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208DF3-CF7D-49D2-8D83-73F3F79DE4D8}"/>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DATAFLIX • PROBLEMA REALE</a:t>
            </a:r>
          </a:p>
        </p:txBody>
      </p:sp>
      <p:sp>
        <p:nvSpPr>
          <p:cNvPr id="2" name="">
            <a:extLst xmlns:a="http://schemas.openxmlformats.org/drawingml/2006/main">
              <a:ext uri="{FF2B5EF4-FFF2-40B4-BE49-F238E27FC236}">
                <a16:creationId xmlns:a16="http://schemas.microsoft.com/office/drawing/2014/main" id="{AB1A3375-936D-42DA-8F47-3EC5F61A498B}"/>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La consegna “almeno una volta” cambia il codice</a:t>
            </a:r>
          </a:p>
        </p:txBody>
      </p:sp>
      <p:sp>
        <p:nvSpPr>
          <p:cNvPr id="3" name="">
            <a:extLst xmlns:a="http://schemas.openxmlformats.org/drawingml/2006/main">
              <a:ext uri="{FF2B5EF4-FFF2-40B4-BE49-F238E27FC236}">
                <a16:creationId xmlns:a16="http://schemas.microsoft.com/office/drawing/2014/main" id="{733B1E56-3A63-41EB-B0AE-EF45DD6D2A8C}"/>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16</a:t>
            </a:r>
          </a:p>
        </p:txBody>
      </p:sp>
      <p:sp>
        <p:nvSpPr>
          <p:cNvPr id="4" name="">
            <a:extLst xmlns:a="http://schemas.openxmlformats.org/drawingml/2006/main">
              <a:ext uri="{FF2B5EF4-FFF2-40B4-BE49-F238E27FC236}">
                <a16:creationId xmlns:a16="http://schemas.microsoft.com/office/drawing/2014/main" id="{D56C4A39-6890-4F4B-8D2E-8AEBEB55B8A0}"/>
              </a:ext>
            </a:extLst>
          </p:cNvPr>
          <p:cNvSpPr>
            <a:spLocks xmlns:a="http://schemas.openxmlformats.org/drawingml/2006/main" noGrp="1"/>
          </p:cNvSpPr>
          <p:nvPr/>
        </p:nvSpPr>
        <p:spPr>
          <a:xfrm xmlns:a="http://schemas.openxmlformats.org/drawingml/2006/main">
            <a:off x="742950" y="1752600"/>
            <a:ext cx="85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0" b="1">
                <a:solidFill>
                  <a:srgbClr val="7C6EE6"/>
                </a:solidFill>
              </a:defRPr>
            </a:pPr>
            <a:r>
              <a:rPr sz="8250" b="1">
                <a:solidFill>
                  <a:srgbClr val="7C6EE6"/>
                </a:solidFill>
              </a:rPr>
              <a:t>“</a:t>
            </a:r>
          </a:p>
        </p:txBody>
      </p:sp>
      <p:sp>
        <p:nvSpPr>
          <p:cNvPr id="5" name="">
            <a:extLst xmlns:a="http://schemas.openxmlformats.org/drawingml/2006/main">
              <a:ext uri="{FF2B5EF4-FFF2-40B4-BE49-F238E27FC236}">
                <a16:creationId xmlns:a16="http://schemas.microsoft.com/office/drawing/2014/main" id="{FBEDF7C9-3524-4AC7-922B-AF47512F80F4}"/>
              </a:ext>
            </a:extLst>
          </p:cNvPr>
          <p:cNvSpPr>
            <a:spLocks xmlns:a="http://schemas.openxmlformats.org/drawingml/2006/main" noGrp="1"/>
          </p:cNvSpPr>
          <p:nvPr/>
        </p:nvSpPr>
        <p:spPr>
          <a:xfrm xmlns:a="http://schemas.openxmlformats.org/drawingml/2006/main">
            <a:off x="1676400" y="1943100"/>
            <a:ext cx="8953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FFFFF"/>
                </a:solidFill>
              </a:defRPr>
            </a:pPr>
            <a:r>
              <a:rPr sz="2775" b="1">
                <a:solidFill>
                  <a:srgbClr val="FFFFFF"/>
                </a:solidFill>
              </a:rPr>
              <a:t>Un evento può arrivare due volte. Il consumer deve produrre lo stesso risultato che avrebbe prodotto una volta.</a:t>
            </a:r>
          </a:p>
        </p:txBody>
      </p:sp>
      <p:sp>
        <p:nvSpPr>
          <p:cNvPr id="6" name="">
            <a:extLst xmlns:a="http://schemas.openxmlformats.org/drawingml/2006/main">
              <a:ext uri="{FF2B5EF4-FFF2-40B4-BE49-F238E27FC236}">
                <a16:creationId xmlns:a16="http://schemas.microsoft.com/office/drawing/2014/main" id="{177881F3-3996-43AA-9CE1-10B5B845F119}"/>
              </a:ext>
            </a:extLst>
          </p:cNvPr>
          <p:cNvSpPr>
            <a:spLocks xmlns:a="http://schemas.openxmlformats.org/drawingml/2006/main" noGrp="1"/>
          </p:cNvSpPr>
          <p:nvPr/>
        </p:nvSpPr>
        <p:spPr>
          <a:xfrm xmlns:a="http://schemas.openxmlformats.org/drawingml/2006/main">
            <a:off x="1676400" y="4762500"/>
            <a:ext cx="3048000" cy="7620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Tree>
    <p:extLst>
      <p:ext uri="{BB962C8B-B14F-4D97-AF65-F5344CB8AC3E}">
        <p14:creationId xmlns:p14="http://schemas.microsoft.com/office/powerpoint/2010/main" val="1363098010"/>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A2C419-FA38-49D1-8902-DA903CC55433}"/>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DEDUPLICA</a:t>
            </a:r>
          </a:p>
        </p:txBody>
      </p:sp>
      <p:sp>
        <p:nvSpPr>
          <p:cNvPr id="2" name="">
            <a:extLst xmlns:a="http://schemas.openxmlformats.org/drawingml/2006/main">
              <a:ext uri="{FF2B5EF4-FFF2-40B4-BE49-F238E27FC236}">
                <a16:creationId xmlns:a16="http://schemas.microsoft.com/office/drawing/2014/main" id="{8AA92911-D626-4437-A571-6E313CC6C20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Idempotenza: stesso event_id, stesso effetto</a:t>
            </a:r>
          </a:p>
        </p:txBody>
      </p:sp>
      <p:sp>
        <p:nvSpPr>
          <p:cNvPr id="3" name="">
            <a:extLst xmlns:a="http://schemas.openxmlformats.org/drawingml/2006/main">
              <a:ext uri="{FF2B5EF4-FFF2-40B4-BE49-F238E27FC236}">
                <a16:creationId xmlns:a16="http://schemas.microsoft.com/office/drawing/2014/main" id="{EC9E1CDC-E715-4CCE-B587-379AEBB45654}"/>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17</a:t>
            </a:r>
          </a:p>
        </p:txBody>
      </p:sp>
      <p:sp>
        <p:nvSpPr>
          <p:cNvPr id="4" name="">
            <a:extLst xmlns:a="http://schemas.openxmlformats.org/drawingml/2006/main">
              <a:ext uri="{FF2B5EF4-FFF2-40B4-BE49-F238E27FC236}">
                <a16:creationId xmlns:a16="http://schemas.microsoft.com/office/drawing/2014/main" id="{547B063D-1002-454E-A021-EFBADE6AB195}"/>
              </a:ext>
            </a:extLst>
          </p:cNvPr>
          <p:cNvSpPr>
            <a:spLocks xmlns:a="http://schemas.openxmlformats.org/drawingml/2006/main" noGrp="1"/>
          </p:cNvSpPr>
          <p:nvPr/>
        </p:nvSpPr>
        <p:spPr>
          <a:xfrm xmlns:a="http://schemas.openxmlformats.org/drawingml/2006/main">
            <a:off x="1619250" y="1762125"/>
            <a:ext cx="8953500" cy="3143250"/>
          </a:xfrm>
          <a:prstGeom xmlns:a="http://schemas.openxmlformats.org/drawingml/2006/main" prst="roundRect">
            <a:avLst>
              <a:gd name="adj" fmla="val 2424"/>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32F6AFDF-C146-412A-B879-423DDD1F8937}"/>
              </a:ext>
            </a:extLst>
          </p:cNvPr>
          <p:cNvSpPr>
            <a:spLocks xmlns:a="http://schemas.openxmlformats.org/drawingml/2006/main" noGrp="1"/>
          </p:cNvSpPr>
          <p:nvPr/>
        </p:nvSpPr>
        <p:spPr>
          <a:xfrm xmlns:a="http://schemas.openxmlformats.org/drawingml/2006/main">
            <a:off x="1619250" y="1762125"/>
            <a:ext cx="95250" cy="314325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6" name="">
            <a:extLst xmlns:a="http://schemas.openxmlformats.org/drawingml/2006/main">
              <a:ext uri="{FF2B5EF4-FFF2-40B4-BE49-F238E27FC236}">
                <a16:creationId xmlns:a16="http://schemas.microsoft.com/office/drawing/2014/main" id="{CAB26195-7984-417E-864E-F0F581EC3318}"/>
              </a:ext>
            </a:extLst>
          </p:cNvPr>
          <p:cNvSpPr>
            <a:spLocks xmlns:a="http://schemas.openxmlformats.org/drawingml/2006/main" noGrp="1"/>
          </p:cNvSpPr>
          <p:nvPr/>
        </p:nvSpPr>
        <p:spPr>
          <a:xfrm xmlns:a="http://schemas.openxmlformats.org/drawingml/2006/main">
            <a:off x="1962150" y="2009775"/>
            <a:ext cx="828675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defRPr>
            </a:pPr>
            <a:r>
              <a:rPr sz="1650" b="0">
                <a:solidFill>
                  <a:srgbClr val="FFFFFF"/>
                </a:solidFill>
              </a:rPr>
              <a:t>BEGIN;</a:t>
            </a:r>
          </a:p>
          <a:p xmlns:a="http://schemas.openxmlformats.org/drawingml/2006/main">
            <a:r>
              <a:t/>
            </a:r>
          </a:p>
          <a:p xmlns:a="http://schemas.openxmlformats.org/drawingml/2006/main">
            <a:pPr algn="l">
              <a:defRPr sz="1650" b="0">
                <a:solidFill>
                  <a:srgbClr val="FFFFFF"/>
                </a:solidFill>
              </a:defRPr>
            </a:pPr>
            <a:r>
              <a:rPr sz="1650" b="0">
                <a:solidFill>
                  <a:srgbClr val="FFFFFF"/>
                </a:solidFill>
              </a:rPr>
              <a:t>INSERT INTO processed_event(event_id, consumer)</a:t>
            </a:r>
          </a:p>
          <a:p xmlns:a="http://schemas.openxmlformats.org/drawingml/2006/main">
            <a:pPr algn="l">
              <a:defRPr sz="1650" b="0">
                <a:solidFill>
                  <a:srgbClr val="FFFFFF"/>
                </a:solidFill>
              </a:defRPr>
            </a:pPr>
            <a:r>
              <a:rPr sz="1650" b="0">
                <a:solidFill>
                  <a:srgbClr val="FFFFFF"/>
                </a:solidFill>
              </a:rPr>
              <a:t>VALUES (:event_id, 'search-projector')</a:t>
            </a:r>
          </a:p>
          <a:p xmlns:a="http://schemas.openxmlformats.org/drawingml/2006/main">
            <a:pPr algn="l">
              <a:defRPr sz="1650" b="0">
                <a:solidFill>
                  <a:srgbClr val="FFFFFF"/>
                </a:solidFill>
              </a:defRPr>
            </a:pPr>
            <a:r>
              <a:rPr sz="1650" b="0">
                <a:solidFill>
                  <a:srgbClr val="FFFFFF"/>
                </a:solidFill>
              </a:rPr>
              <a:t>ON CONFLICT DO NOTHING;</a:t>
            </a:r>
          </a:p>
          <a:p xmlns:a="http://schemas.openxmlformats.org/drawingml/2006/main">
            <a:r>
              <a:t/>
            </a:r>
          </a:p>
          <a:p xmlns:a="http://schemas.openxmlformats.org/drawingml/2006/main">
            <a:pPr algn="l">
              <a:defRPr sz="1650" b="0">
                <a:solidFill>
                  <a:srgbClr val="FFFFFF"/>
                </a:solidFill>
              </a:defRPr>
            </a:pPr>
            <a:r>
              <a:rPr sz="1650" b="0">
                <a:solidFill>
                  <a:srgbClr val="FFFFFF"/>
                </a:solidFill>
              </a:rPr>
              <a:t>-- aggiorna la projection solo se l'INSERT ha creato la riga</a:t>
            </a:r>
          </a:p>
          <a:p xmlns:a="http://schemas.openxmlformats.org/drawingml/2006/main">
            <a:r>
              <a:t/>
            </a:r>
          </a:p>
          <a:p xmlns:a="http://schemas.openxmlformats.org/drawingml/2006/main">
            <a:pPr algn="l">
              <a:defRPr sz="1650" b="0">
                <a:solidFill>
                  <a:srgbClr val="FFFFFF"/>
                </a:solidFill>
              </a:defRPr>
            </a:pPr>
            <a:r>
              <a:rPr sz="1650" b="0">
                <a:solidFill>
                  <a:srgbClr val="FFFFFF"/>
                </a:solidFill>
              </a:rPr>
              <a:t>COMMIT;</a:t>
            </a:r>
          </a:p>
        </p:txBody>
      </p:sp>
      <p:sp>
        <p:nvSpPr>
          <p:cNvPr id="7" name="">
            <a:extLst xmlns:a="http://schemas.openxmlformats.org/drawingml/2006/main">
              <a:ext uri="{FF2B5EF4-FFF2-40B4-BE49-F238E27FC236}">
                <a16:creationId xmlns:a16="http://schemas.microsoft.com/office/drawing/2014/main" id="{25B86EC4-3D27-46F7-94CF-4CDFBF3FB6A6}"/>
              </a:ext>
            </a:extLst>
          </p:cNvPr>
          <p:cNvSpPr>
            <a:spLocks xmlns:a="http://schemas.openxmlformats.org/drawingml/2006/main" noGrp="1"/>
          </p:cNvSpPr>
          <p:nvPr/>
        </p:nvSpPr>
        <p:spPr>
          <a:xfrm xmlns:a="http://schemas.openxmlformats.org/drawingml/2006/main">
            <a:off x="2190750" y="5381625"/>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La deduplica deve condividere il confine transazionale con l’effetto.</a:t>
            </a:r>
          </a:p>
        </p:txBody>
      </p:sp>
    </p:spTree>
    <p:extLst>
      <p:ext uri="{BB962C8B-B14F-4D97-AF65-F5344CB8AC3E}">
        <p14:creationId xmlns:p14="http://schemas.microsoft.com/office/powerpoint/2010/main" val="1628636219"/>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E34A53D-6BD6-4B12-B90D-C45395983B41}"/>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ORDERING</a:t>
            </a:r>
          </a:p>
        </p:txBody>
      </p:sp>
      <p:sp>
        <p:nvSpPr>
          <p:cNvPr id="2" name="">
            <a:extLst xmlns:a="http://schemas.openxmlformats.org/drawingml/2006/main">
              <a:ext uri="{FF2B5EF4-FFF2-40B4-BE49-F238E27FC236}">
                <a16:creationId xmlns:a16="http://schemas.microsoft.com/office/drawing/2014/main" id="{E8F69E2F-D677-419C-B80C-F04D2A9D461B}"/>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Ordine globale costoso; ordine per aggregato spesso sufficiente</a:t>
            </a:r>
          </a:p>
        </p:txBody>
      </p:sp>
      <p:sp>
        <p:nvSpPr>
          <p:cNvPr id="3" name="">
            <a:extLst xmlns:a="http://schemas.openxmlformats.org/drawingml/2006/main">
              <a:ext uri="{FF2B5EF4-FFF2-40B4-BE49-F238E27FC236}">
                <a16:creationId xmlns:a16="http://schemas.microsoft.com/office/drawing/2014/main" id="{AF797330-8C9A-473D-A0BE-E7AB62EFD8EA}"/>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18</a:t>
            </a:r>
          </a:p>
        </p:txBody>
      </p:sp>
      <p:sp>
        <p:nvSpPr>
          <p:cNvPr id="4" name="">
            <a:extLst xmlns:a="http://schemas.openxmlformats.org/drawingml/2006/main">
              <a:ext uri="{FF2B5EF4-FFF2-40B4-BE49-F238E27FC236}">
                <a16:creationId xmlns:a16="http://schemas.microsoft.com/office/drawing/2014/main" id="{B1A97D14-7C66-4704-99CE-0DBE31AD9560}"/>
              </a:ext>
            </a:extLst>
          </p:cNvPr>
          <p:cNvSpPr>
            <a:spLocks xmlns:a="http://schemas.openxmlformats.org/drawingml/2006/main" noGrp="1"/>
          </p:cNvSpPr>
          <p:nvPr/>
        </p:nvSpPr>
        <p:spPr>
          <a:xfrm xmlns:a="http://schemas.openxmlformats.org/drawingml/2006/main">
            <a:off x="1190625" y="1809750"/>
            <a:ext cx="1714500" cy="685800"/>
          </a:xfrm>
          <a:prstGeom xmlns:a="http://schemas.openxmlformats.org/drawingml/2006/main" prst="roundRect">
            <a:avLst>
              <a:gd name="adj" fmla="val 11111"/>
            </a:avLst>
          </a:prstGeom>
          <a:solidFill xmlns:a="http://schemas.openxmlformats.org/drawingml/2006/main">
            <a:srgbClr val="00B8D9"/>
          </a:solidFill>
          <a:ln xmlns:a="http://schemas.openxmlformats.org/drawingml/2006/main" w="9525">
            <a:solidFill>
              <a:srgbClr val="00B8D9"/>
            </a:solidFill>
            <a:prstDash val="solid"/>
          </a:ln>
        </p:spPr>
      </p:sp>
      <p:sp>
        <p:nvSpPr>
          <p:cNvPr id="5" name="">
            <a:extLst xmlns:a="http://schemas.openxmlformats.org/drawingml/2006/main">
              <a:ext uri="{FF2B5EF4-FFF2-40B4-BE49-F238E27FC236}">
                <a16:creationId xmlns:a16="http://schemas.microsoft.com/office/drawing/2014/main" id="{A9B15347-8854-4BD1-9A84-AE56EA9CD553}"/>
              </a:ext>
            </a:extLst>
          </p:cNvPr>
          <p:cNvSpPr>
            <a:spLocks xmlns:a="http://schemas.openxmlformats.org/drawingml/2006/main" noGrp="1"/>
          </p:cNvSpPr>
          <p:nvPr/>
        </p:nvSpPr>
        <p:spPr>
          <a:xfrm xmlns:a="http://schemas.openxmlformats.org/drawingml/2006/main">
            <a:off x="1381125" y="20193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u1</a:t>
            </a:r>
          </a:p>
        </p:txBody>
      </p:sp>
      <p:sp>
        <p:nvSpPr>
          <p:cNvPr id="6" name="">
            <a:extLst xmlns:a="http://schemas.openxmlformats.org/drawingml/2006/main">
              <a:ext uri="{FF2B5EF4-FFF2-40B4-BE49-F238E27FC236}">
                <a16:creationId xmlns:a16="http://schemas.microsoft.com/office/drawing/2014/main" id="{7C042D40-2D58-4B61-83BC-68983F9B0F73}"/>
              </a:ext>
            </a:extLst>
          </p:cNvPr>
          <p:cNvSpPr>
            <a:spLocks xmlns:a="http://schemas.openxmlformats.org/drawingml/2006/main" noGrp="1"/>
          </p:cNvSpPr>
          <p:nvPr/>
        </p:nvSpPr>
        <p:spPr>
          <a:xfrm xmlns:a="http://schemas.openxmlformats.org/drawingml/2006/main">
            <a:off x="3286125" y="2124075"/>
            <a:ext cx="1238250" cy="381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7" name="">
            <a:extLst xmlns:a="http://schemas.openxmlformats.org/drawingml/2006/main">
              <a:ext uri="{FF2B5EF4-FFF2-40B4-BE49-F238E27FC236}">
                <a16:creationId xmlns:a16="http://schemas.microsoft.com/office/drawing/2014/main" id="{67A0E54F-E7C9-459B-A134-7AB61F0E8CA7}"/>
              </a:ext>
            </a:extLst>
          </p:cNvPr>
          <p:cNvSpPr>
            <a:spLocks xmlns:a="http://schemas.openxmlformats.org/drawingml/2006/main" noGrp="1"/>
          </p:cNvSpPr>
          <p:nvPr/>
        </p:nvSpPr>
        <p:spPr>
          <a:xfrm xmlns:a="http://schemas.openxmlformats.org/drawingml/2006/main">
            <a:off x="4371975" y="19526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00B8D9"/>
                </a:solidFill>
              </a:defRPr>
            </a:pPr>
            <a:r>
              <a:rPr sz="2625" b="1">
                <a:solidFill>
                  <a:srgbClr val="00B8D9"/>
                </a:solidFill>
              </a:rPr>
              <a:t>›</a:t>
            </a:r>
          </a:p>
        </p:txBody>
      </p:sp>
      <p:sp>
        <p:nvSpPr>
          <p:cNvPr id="8" name="">
            <a:extLst xmlns:a="http://schemas.openxmlformats.org/drawingml/2006/main">
              <a:ext uri="{FF2B5EF4-FFF2-40B4-BE49-F238E27FC236}">
                <a16:creationId xmlns:a16="http://schemas.microsoft.com/office/drawing/2014/main" id="{2D0B7057-4156-4CE0-9CA3-2C0D46DA466B}"/>
              </a:ext>
            </a:extLst>
          </p:cNvPr>
          <p:cNvSpPr>
            <a:spLocks xmlns:a="http://schemas.openxmlformats.org/drawingml/2006/main" noGrp="1"/>
          </p:cNvSpPr>
          <p:nvPr/>
        </p:nvSpPr>
        <p:spPr>
          <a:xfrm xmlns:a="http://schemas.openxmlformats.org/drawingml/2006/main">
            <a:off x="3286125" y="17811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B8D9"/>
                </a:solidFill>
              </a:defRPr>
            </a:pPr>
            <a:r>
              <a:rPr sz="1050" b="1">
                <a:solidFill>
                  <a:srgbClr val="00B8D9"/>
                </a:solidFill>
              </a:rPr>
              <a:t>partition key</a:t>
            </a:r>
          </a:p>
        </p:txBody>
      </p:sp>
      <p:sp>
        <p:nvSpPr>
          <p:cNvPr id="9" name="">
            <a:extLst xmlns:a="http://schemas.openxmlformats.org/drawingml/2006/main">
              <a:ext uri="{FF2B5EF4-FFF2-40B4-BE49-F238E27FC236}">
                <a16:creationId xmlns:a16="http://schemas.microsoft.com/office/drawing/2014/main" id="{B59F649D-5BF9-4A68-9FED-7AFA29AD7E09}"/>
              </a:ext>
            </a:extLst>
          </p:cNvPr>
          <p:cNvSpPr>
            <a:spLocks xmlns:a="http://schemas.openxmlformats.org/drawingml/2006/main" noGrp="1"/>
          </p:cNvSpPr>
          <p:nvPr/>
        </p:nvSpPr>
        <p:spPr>
          <a:xfrm xmlns:a="http://schemas.openxmlformats.org/drawingml/2006/main">
            <a:off x="4953000" y="1809750"/>
            <a:ext cx="5810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DDE3"/>
            </a:solidFill>
            <a:prstDash val="solid"/>
          </a:ln>
        </p:spPr>
      </p:sp>
      <p:sp>
        <p:nvSpPr>
          <p:cNvPr id="10" name="">
            <a:extLst xmlns:a="http://schemas.openxmlformats.org/drawingml/2006/main">
              <a:ext uri="{FF2B5EF4-FFF2-40B4-BE49-F238E27FC236}">
                <a16:creationId xmlns:a16="http://schemas.microsoft.com/office/drawing/2014/main" id="{C65677AF-D6FA-4203-9F8A-EDD43788A412}"/>
              </a:ext>
            </a:extLst>
          </p:cNvPr>
          <p:cNvSpPr>
            <a:spLocks xmlns:a="http://schemas.openxmlformats.org/drawingml/2006/main" noGrp="1"/>
          </p:cNvSpPr>
          <p:nvPr/>
        </p:nvSpPr>
        <p:spPr>
          <a:xfrm xmlns:a="http://schemas.openxmlformats.org/drawingml/2006/main">
            <a:off x="5238750" y="20193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827"/>
                </a:solidFill>
              </a:defRPr>
            </a:pPr>
            <a:r>
              <a:rPr sz="1650" b="1">
                <a:solidFill>
                  <a:srgbClr val="111827"/>
                </a:solidFill>
              </a:rPr>
              <a:t>e1 → e2 → e3</a:t>
            </a:r>
          </a:p>
        </p:txBody>
      </p:sp>
      <p:sp>
        <p:nvSpPr>
          <p:cNvPr id="11" name="">
            <a:extLst xmlns:a="http://schemas.openxmlformats.org/drawingml/2006/main">
              <a:ext uri="{FF2B5EF4-FFF2-40B4-BE49-F238E27FC236}">
                <a16:creationId xmlns:a16="http://schemas.microsoft.com/office/drawing/2014/main" id="{201F73C6-7377-4F59-B7B0-2985F80D50A2}"/>
              </a:ext>
            </a:extLst>
          </p:cNvPr>
          <p:cNvSpPr>
            <a:spLocks xmlns:a="http://schemas.openxmlformats.org/drawingml/2006/main" noGrp="1"/>
          </p:cNvSpPr>
          <p:nvPr/>
        </p:nvSpPr>
        <p:spPr>
          <a:xfrm xmlns:a="http://schemas.openxmlformats.org/drawingml/2006/main">
            <a:off x="1190625" y="2857500"/>
            <a:ext cx="1714500" cy="685800"/>
          </a:xfrm>
          <a:prstGeom xmlns:a="http://schemas.openxmlformats.org/drawingml/2006/main" prst="roundRect">
            <a:avLst>
              <a:gd name="adj" fmla="val 11111"/>
            </a:avLst>
          </a:prstGeom>
          <a:solidFill xmlns:a="http://schemas.openxmlformats.org/drawingml/2006/main">
            <a:srgbClr val="FF8A4C"/>
          </a:solidFill>
          <a:ln xmlns:a="http://schemas.openxmlformats.org/drawingml/2006/main" w="9525">
            <a:solidFill>
              <a:srgbClr val="FF8A4C"/>
            </a:solidFill>
            <a:prstDash val="solid"/>
          </a:ln>
        </p:spPr>
      </p:sp>
      <p:sp>
        <p:nvSpPr>
          <p:cNvPr id="12" name="">
            <a:extLst xmlns:a="http://schemas.openxmlformats.org/drawingml/2006/main">
              <a:ext uri="{FF2B5EF4-FFF2-40B4-BE49-F238E27FC236}">
                <a16:creationId xmlns:a16="http://schemas.microsoft.com/office/drawing/2014/main" id="{39E43343-F9CE-42FC-B265-3ADA1AE7A0D8}"/>
              </a:ext>
            </a:extLst>
          </p:cNvPr>
          <p:cNvSpPr>
            <a:spLocks xmlns:a="http://schemas.openxmlformats.org/drawingml/2006/main" noGrp="1"/>
          </p:cNvSpPr>
          <p:nvPr/>
        </p:nvSpPr>
        <p:spPr>
          <a:xfrm xmlns:a="http://schemas.openxmlformats.org/drawingml/2006/main">
            <a:off x="1381125" y="30670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u2</a:t>
            </a:r>
          </a:p>
        </p:txBody>
      </p:sp>
      <p:sp>
        <p:nvSpPr>
          <p:cNvPr id="13" name="">
            <a:extLst xmlns:a="http://schemas.openxmlformats.org/drawingml/2006/main">
              <a:ext uri="{FF2B5EF4-FFF2-40B4-BE49-F238E27FC236}">
                <a16:creationId xmlns:a16="http://schemas.microsoft.com/office/drawing/2014/main" id="{FB794EEC-5DF9-444D-BC75-F7FD6845E203}"/>
              </a:ext>
            </a:extLst>
          </p:cNvPr>
          <p:cNvSpPr>
            <a:spLocks xmlns:a="http://schemas.openxmlformats.org/drawingml/2006/main" noGrp="1"/>
          </p:cNvSpPr>
          <p:nvPr/>
        </p:nvSpPr>
        <p:spPr>
          <a:xfrm xmlns:a="http://schemas.openxmlformats.org/drawingml/2006/main">
            <a:off x="3286125" y="3171825"/>
            <a:ext cx="123825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4" name="">
            <a:extLst xmlns:a="http://schemas.openxmlformats.org/drawingml/2006/main">
              <a:ext uri="{FF2B5EF4-FFF2-40B4-BE49-F238E27FC236}">
                <a16:creationId xmlns:a16="http://schemas.microsoft.com/office/drawing/2014/main" id="{6914BB8C-1ED7-49F0-B36B-A51CB8678A69}"/>
              </a:ext>
            </a:extLst>
          </p:cNvPr>
          <p:cNvSpPr>
            <a:spLocks xmlns:a="http://schemas.openxmlformats.org/drawingml/2006/main" noGrp="1"/>
          </p:cNvSpPr>
          <p:nvPr/>
        </p:nvSpPr>
        <p:spPr>
          <a:xfrm xmlns:a="http://schemas.openxmlformats.org/drawingml/2006/main">
            <a:off x="4371975" y="300037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15" name="">
            <a:extLst xmlns:a="http://schemas.openxmlformats.org/drawingml/2006/main">
              <a:ext uri="{FF2B5EF4-FFF2-40B4-BE49-F238E27FC236}">
                <a16:creationId xmlns:a16="http://schemas.microsoft.com/office/drawing/2014/main" id="{1C3D74BF-CF46-4DD2-9170-A1E90143480F}"/>
              </a:ext>
            </a:extLst>
          </p:cNvPr>
          <p:cNvSpPr>
            <a:spLocks xmlns:a="http://schemas.openxmlformats.org/drawingml/2006/main" noGrp="1"/>
          </p:cNvSpPr>
          <p:nvPr/>
        </p:nvSpPr>
        <p:spPr>
          <a:xfrm xmlns:a="http://schemas.openxmlformats.org/drawingml/2006/main">
            <a:off x="3286125" y="28289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partition key</a:t>
            </a:r>
          </a:p>
        </p:txBody>
      </p:sp>
      <p:sp>
        <p:nvSpPr>
          <p:cNvPr id="16" name="">
            <a:extLst xmlns:a="http://schemas.openxmlformats.org/drawingml/2006/main">
              <a:ext uri="{FF2B5EF4-FFF2-40B4-BE49-F238E27FC236}">
                <a16:creationId xmlns:a16="http://schemas.microsoft.com/office/drawing/2014/main" id="{DBB0E141-871F-4DDE-808A-60E28EF95652}"/>
              </a:ext>
            </a:extLst>
          </p:cNvPr>
          <p:cNvSpPr>
            <a:spLocks xmlns:a="http://schemas.openxmlformats.org/drawingml/2006/main" noGrp="1"/>
          </p:cNvSpPr>
          <p:nvPr/>
        </p:nvSpPr>
        <p:spPr>
          <a:xfrm xmlns:a="http://schemas.openxmlformats.org/drawingml/2006/main">
            <a:off x="4953000" y="2857500"/>
            <a:ext cx="5810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1DD1623D-AD08-4E5A-B748-0F3C084506BB}"/>
              </a:ext>
            </a:extLst>
          </p:cNvPr>
          <p:cNvSpPr>
            <a:spLocks xmlns:a="http://schemas.openxmlformats.org/drawingml/2006/main" noGrp="1"/>
          </p:cNvSpPr>
          <p:nvPr/>
        </p:nvSpPr>
        <p:spPr>
          <a:xfrm xmlns:a="http://schemas.openxmlformats.org/drawingml/2006/main">
            <a:off x="5238750" y="30670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827"/>
                </a:solidFill>
              </a:defRPr>
            </a:pPr>
            <a:r>
              <a:rPr sz="1650" b="1">
                <a:solidFill>
                  <a:srgbClr val="111827"/>
                </a:solidFill>
              </a:rPr>
              <a:t>e7 → e8</a:t>
            </a:r>
          </a:p>
        </p:txBody>
      </p:sp>
      <p:sp>
        <p:nvSpPr>
          <p:cNvPr id="18" name="">
            <a:extLst xmlns:a="http://schemas.openxmlformats.org/drawingml/2006/main">
              <a:ext uri="{FF2B5EF4-FFF2-40B4-BE49-F238E27FC236}">
                <a16:creationId xmlns:a16="http://schemas.microsoft.com/office/drawing/2014/main" id="{1A000C5F-4DB1-426C-96E9-3141566DC7AA}"/>
              </a:ext>
            </a:extLst>
          </p:cNvPr>
          <p:cNvSpPr>
            <a:spLocks xmlns:a="http://schemas.openxmlformats.org/drawingml/2006/main" noGrp="1"/>
          </p:cNvSpPr>
          <p:nvPr/>
        </p:nvSpPr>
        <p:spPr>
          <a:xfrm xmlns:a="http://schemas.openxmlformats.org/drawingml/2006/main">
            <a:off x="1190625" y="3905250"/>
            <a:ext cx="1714500" cy="685800"/>
          </a:xfrm>
          <a:prstGeom xmlns:a="http://schemas.openxmlformats.org/drawingml/2006/main" prst="roundRect">
            <a:avLst>
              <a:gd name="adj" fmla="val 11111"/>
            </a:avLst>
          </a:prstGeom>
          <a:solidFill xmlns:a="http://schemas.openxmlformats.org/drawingml/2006/main">
            <a:srgbClr val="7C6EE6"/>
          </a:solidFill>
          <a:ln xmlns:a="http://schemas.openxmlformats.org/drawingml/2006/main" w="9525">
            <a:solidFill>
              <a:srgbClr val="7C6EE6"/>
            </a:solidFill>
            <a:prstDash val="solid"/>
          </a:ln>
        </p:spPr>
      </p:sp>
      <p:sp>
        <p:nvSpPr>
          <p:cNvPr id="19" name="">
            <a:extLst xmlns:a="http://schemas.openxmlformats.org/drawingml/2006/main">
              <a:ext uri="{FF2B5EF4-FFF2-40B4-BE49-F238E27FC236}">
                <a16:creationId xmlns:a16="http://schemas.microsoft.com/office/drawing/2014/main" id="{07C34A37-A5BE-4D6E-85E1-A256B7CF8455}"/>
              </a:ext>
            </a:extLst>
          </p:cNvPr>
          <p:cNvSpPr>
            <a:spLocks xmlns:a="http://schemas.openxmlformats.org/drawingml/2006/main" noGrp="1"/>
          </p:cNvSpPr>
          <p:nvPr/>
        </p:nvSpPr>
        <p:spPr>
          <a:xfrm xmlns:a="http://schemas.openxmlformats.org/drawingml/2006/main">
            <a:off x="1381125"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m1</a:t>
            </a:r>
          </a:p>
        </p:txBody>
      </p:sp>
      <p:sp>
        <p:nvSpPr>
          <p:cNvPr id="20" name="">
            <a:extLst xmlns:a="http://schemas.openxmlformats.org/drawingml/2006/main">
              <a:ext uri="{FF2B5EF4-FFF2-40B4-BE49-F238E27FC236}">
                <a16:creationId xmlns:a16="http://schemas.microsoft.com/office/drawing/2014/main" id="{3C671AD5-216F-49FD-A82F-972D84858792}"/>
              </a:ext>
            </a:extLst>
          </p:cNvPr>
          <p:cNvSpPr>
            <a:spLocks xmlns:a="http://schemas.openxmlformats.org/drawingml/2006/main" noGrp="1"/>
          </p:cNvSpPr>
          <p:nvPr/>
        </p:nvSpPr>
        <p:spPr>
          <a:xfrm xmlns:a="http://schemas.openxmlformats.org/drawingml/2006/main">
            <a:off x="3286125" y="4219575"/>
            <a:ext cx="1238250" cy="3810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21" name="">
            <a:extLst xmlns:a="http://schemas.openxmlformats.org/drawingml/2006/main">
              <a:ext uri="{FF2B5EF4-FFF2-40B4-BE49-F238E27FC236}">
                <a16:creationId xmlns:a16="http://schemas.microsoft.com/office/drawing/2014/main" id="{74F0BBB3-3CE2-43CB-ACA0-480AF1E33E78}"/>
              </a:ext>
            </a:extLst>
          </p:cNvPr>
          <p:cNvSpPr>
            <a:spLocks xmlns:a="http://schemas.openxmlformats.org/drawingml/2006/main" noGrp="1"/>
          </p:cNvSpPr>
          <p:nvPr/>
        </p:nvSpPr>
        <p:spPr>
          <a:xfrm xmlns:a="http://schemas.openxmlformats.org/drawingml/2006/main">
            <a:off x="4371975" y="4048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7C6EE6"/>
                </a:solidFill>
              </a:defRPr>
            </a:pPr>
            <a:r>
              <a:rPr sz="2625" b="1">
                <a:solidFill>
                  <a:srgbClr val="7C6EE6"/>
                </a:solidFill>
              </a:rPr>
              <a:t>›</a:t>
            </a:r>
          </a:p>
        </p:txBody>
      </p:sp>
      <p:sp>
        <p:nvSpPr>
          <p:cNvPr id="22" name="">
            <a:extLst xmlns:a="http://schemas.openxmlformats.org/drawingml/2006/main">
              <a:ext uri="{FF2B5EF4-FFF2-40B4-BE49-F238E27FC236}">
                <a16:creationId xmlns:a16="http://schemas.microsoft.com/office/drawing/2014/main" id="{380FF85A-8677-449B-8A97-67CFB6548746}"/>
              </a:ext>
            </a:extLst>
          </p:cNvPr>
          <p:cNvSpPr>
            <a:spLocks xmlns:a="http://schemas.openxmlformats.org/drawingml/2006/main" noGrp="1"/>
          </p:cNvSpPr>
          <p:nvPr/>
        </p:nvSpPr>
        <p:spPr>
          <a:xfrm xmlns:a="http://schemas.openxmlformats.org/drawingml/2006/main">
            <a:off x="3286125" y="38766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6EE6"/>
                </a:solidFill>
              </a:defRPr>
            </a:pPr>
            <a:r>
              <a:rPr sz="1050" b="1">
                <a:solidFill>
                  <a:srgbClr val="7C6EE6"/>
                </a:solidFill>
              </a:rPr>
              <a:t>partition key</a:t>
            </a:r>
          </a:p>
        </p:txBody>
      </p:sp>
      <p:sp>
        <p:nvSpPr>
          <p:cNvPr id="23" name="">
            <a:extLst xmlns:a="http://schemas.openxmlformats.org/drawingml/2006/main">
              <a:ext uri="{FF2B5EF4-FFF2-40B4-BE49-F238E27FC236}">
                <a16:creationId xmlns:a16="http://schemas.microsoft.com/office/drawing/2014/main" id="{E2A30162-F74A-47EF-BAAC-095103E9F033}"/>
              </a:ext>
            </a:extLst>
          </p:cNvPr>
          <p:cNvSpPr>
            <a:spLocks xmlns:a="http://schemas.openxmlformats.org/drawingml/2006/main" noGrp="1"/>
          </p:cNvSpPr>
          <p:nvPr/>
        </p:nvSpPr>
        <p:spPr>
          <a:xfrm xmlns:a="http://schemas.openxmlformats.org/drawingml/2006/main">
            <a:off x="4953000" y="3905250"/>
            <a:ext cx="5810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DDE3"/>
            </a:solidFill>
            <a:prstDash val="solid"/>
          </a:ln>
        </p:spPr>
      </p:sp>
      <p:sp>
        <p:nvSpPr>
          <p:cNvPr id="24" name="">
            <a:extLst xmlns:a="http://schemas.openxmlformats.org/drawingml/2006/main">
              <a:ext uri="{FF2B5EF4-FFF2-40B4-BE49-F238E27FC236}">
                <a16:creationId xmlns:a16="http://schemas.microsoft.com/office/drawing/2014/main" id="{94FB37EF-15E5-4600-91E2-B224BB666AEA}"/>
              </a:ext>
            </a:extLst>
          </p:cNvPr>
          <p:cNvSpPr>
            <a:spLocks xmlns:a="http://schemas.openxmlformats.org/drawingml/2006/main" noGrp="1"/>
          </p:cNvSpPr>
          <p:nvPr/>
        </p:nvSpPr>
        <p:spPr>
          <a:xfrm xmlns:a="http://schemas.openxmlformats.org/drawingml/2006/main">
            <a:off x="5238750" y="41148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827"/>
                </a:solidFill>
              </a:defRPr>
            </a:pPr>
            <a:r>
              <a:rPr sz="1650" b="1">
                <a:solidFill>
                  <a:srgbClr val="111827"/>
                </a:solidFill>
              </a:rPr>
              <a:t>e4 → e5 → e6</a:t>
            </a:r>
          </a:p>
        </p:txBody>
      </p:sp>
      <p:sp>
        <p:nvSpPr>
          <p:cNvPr id="25" name="">
            <a:extLst xmlns:a="http://schemas.openxmlformats.org/drawingml/2006/main">
              <a:ext uri="{FF2B5EF4-FFF2-40B4-BE49-F238E27FC236}">
                <a16:creationId xmlns:a16="http://schemas.microsoft.com/office/drawing/2014/main" id="{98EB5193-2CDF-4103-AF05-A5F3B67B28D8}"/>
              </a:ext>
            </a:extLst>
          </p:cNvPr>
          <p:cNvSpPr>
            <a:spLocks xmlns:a="http://schemas.openxmlformats.org/drawingml/2006/main" noGrp="1"/>
          </p:cNvSpPr>
          <p:nvPr/>
        </p:nvSpPr>
        <p:spPr>
          <a:xfrm xmlns:a="http://schemas.openxmlformats.org/drawingml/2006/main">
            <a:off x="2047875" y="542925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Usa aggregate_id come chiave quando l’ordine per entità è il requisito.</a:t>
            </a:r>
          </a:p>
        </p:txBody>
      </p:sp>
    </p:spTree>
    <p:extLst>
      <p:ext uri="{BB962C8B-B14F-4D97-AF65-F5344CB8AC3E}">
        <p14:creationId xmlns:p14="http://schemas.microsoft.com/office/powerpoint/2010/main" val="1877918398"/>
      </p:ext>
    </p:extLst>
  </p:cSld>
</p:sld>
</file>

<file path=ppt/slides/slide19.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613B2A8-A658-4657-B0A9-F8BD7E63099B}"/>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REPLAY + REBUILD</a:t>
            </a:r>
          </a:p>
        </p:txBody>
      </p:sp>
      <p:sp>
        <p:nvSpPr>
          <p:cNvPr id="2" name="">
            <a:extLst xmlns:a="http://schemas.openxmlformats.org/drawingml/2006/main">
              <a:ext uri="{FF2B5EF4-FFF2-40B4-BE49-F238E27FC236}">
                <a16:creationId xmlns:a16="http://schemas.microsoft.com/office/drawing/2014/main" id="{C4EFBAD4-C5AE-43A8-8302-BB5F7C8F6482}"/>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Una projection affidabile deve poter essere ricostruita</a:t>
            </a:r>
          </a:p>
        </p:txBody>
      </p:sp>
      <p:sp>
        <p:nvSpPr>
          <p:cNvPr id="3" name="">
            <a:extLst xmlns:a="http://schemas.openxmlformats.org/drawingml/2006/main">
              <a:ext uri="{FF2B5EF4-FFF2-40B4-BE49-F238E27FC236}">
                <a16:creationId xmlns:a16="http://schemas.microsoft.com/office/drawing/2014/main" id="{B056CFBD-D106-4D9A-AA5F-4A1C5CF262F2}"/>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19</a:t>
            </a:r>
          </a:p>
        </p:txBody>
      </p:sp>
      <p:sp>
        <p:nvSpPr>
          <p:cNvPr id="4" name="">
            <a:extLst xmlns:a="http://schemas.openxmlformats.org/drawingml/2006/main">
              <a:ext uri="{FF2B5EF4-FFF2-40B4-BE49-F238E27FC236}">
                <a16:creationId xmlns:a16="http://schemas.microsoft.com/office/drawing/2014/main" id="{EE37F5B8-BD19-4394-AE00-EED6A30F15DF}"/>
              </a:ext>
            </a:extLst>
          </p:cNvPr>
          <p:cNvSpPr>
            <a:spLocks xmlns:a="http://schemas.openxmlformats.org/drawingml/2006/main" noGrp="1"/>
          </p:cNvSpPr>
          <p:nvPr/>
        </p:nvSpPr>
        <p:spPr>
          <a:xfrm xmlns:a="http://schemas.openxmlformats.org/drawingml/2006/main">
            <a:off x="904875" y="2143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4C84A"/>
                </a:solidFill>
              </a:defRPr>
            </a:pPr>
            <a:r>
              <a:rPr sz="1800" b="1">
                <a:solidFill>
                  <a:srgbClr val="F4C84A"/>
                </a:solidFill>
              </a:rPr>
              <a:t>EVENT HISTORY</a:t>
            </a:r>
          </a:p>
        </p:txBody>
      </p:sp>
      <p:sp>
        <p:nvSpPr>
          <p:cNvPr id="5" name="">
            <a:extLst xmlns:a="http://schemas.openxmlformats.org/drawingml/2006/main">
              <a:ext uri="{FF2B5EF4-FFF2-40B4-BE49-F238E27FC236}">
                <a16:creationId xmlns:a16="http://schemas.microsoft.com/office/drawing/2014/main" id="{907F7957-D1BD-43B3-A9EE-3FC2D2263770}"/>
              </a:ext>
            </a:extLst>
          </p:cNvPr>
          <p:cNvSpPr>
            <a:spLocks xmlns:a="http://schemas.openxmlformats.org/drawingml/2006/main" noGrp="1"/>
          </p:cNvSpPr>
          <p:nvPr/>
        </p:nvSpPr>
        <p:spPr>
          <a:xfrm xmlns:a="http://schemas.openxmlformats.org/drawingml/2006/main">
            <a:off x="3476625" y="2362200"/>
            <a:ext cx="1428750" cy="381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6" name="">
            <a:extLst xmlns:a="http://schemas.openxmlformats.org/drawingml/2006/main">
              <a:ext uri="{FF2B5EF4-FFF2-40B4-BE49-F238E27FC236}">
                <a16:creationId xmlns:a16="http://schemas.microsoft.com/office/drawing/2014/main" id="{5CE1EB68-4CAE-4CC2-863D-4C05202F9E6D}"/>
              </a:ext>
            </a:extLst>
          </p:cNvPr>
          <p:cNvSpPr>
            <a:spLocks xmlns:a="http://schemas.openxmlformats.org/drawingml/2006/main" noGrp="1"/>
          </p:cNvSpPr>
          <p:nvPr/>
        </p:nvSpPr>
        <p:spPr>
          <a:xfrm xmlns:a="http://schemas.openxmlformats.org/drawingml/2006/main">
            <a:off x="4752975" y="21907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B7E34B"/>
                </a:solidFill>
              </a:defRPr>
            </a:pPr>
            <a:r>
              <a:rPr sz="2625" b="1">
                <a:solidFill>
                  <a:srgbClr val="B7E34B"/>
                </a:solidFill>
              </a:rPr>
              <a:t>›</a:t>
            </a:r>
          </a:p>
        </p:txBody>
      </p:sp>
      <p:sp>
        <p:nvSpPr>
          <p:cNvPr id="7" name="">
            <a:extLst xmlns:a="http://schemas.openxmlformats.org/drawingml/2006/main">
              <a:ext uri="{FF2B5EF4-FFF2-40B4-BE49-F238E27FC236}">
                <a16:creationId xmlns:a16="http://schemas.microsoft.com/office/drawing/2014/main" id="{C6C1A87A-7E7C-4D65-ADF3-E75A119E69BA}"/>
              </a:ext>
            </a:extLst>
          </p:cNvPr>
          <p:cNvSpPr>
            <a:spLocks xmlns:a="http://schemas.openxmlformats.org/drawingml/2006/main" noGrp="1"/>
          </p:cNvSpPr>
          <p:nvPr/>
        </p:nvSpPr>
        <p:spPr>
          <a:xfrm xmlns:a="http://schemas.openxmlformats.org/drawingml/2006/main">
            <a:off x="3476625" y="20193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7E34B"/>
                </a:solidFill>
              </a:defRPr>
            </a:pPr>
            <a:r>
              <a:rPr sz="1050" b="1">
                <a:solidFill>
                  <a:srgbClr val="B7E34B"/>
                </a:solidFill>
              </a:rPr>
              <a:t>replay</a:t>
            </a:r>
          </a:p>
        </p:txBody>
      </p:sp>
      <p:sp>
        <p:nvSpPr>
          <p:cNvPr id="8" name="">
            <a:extLst xmlns:a="http://schemas.openxmlformats.org/drawingml/2006/main">
              <a:ext uri="{FF2B5EF4-FFF2-40B4-BE49-F238E27FC236}">
                <a16:creationId xmlns:a16="http://schemas.microsoft.com/office/drawing/2014/main" id="{5B81A278-F4E5-4383-AE42-26D7180CFEC4}"/>
              </a:ext>
            </a:extLst>
          </p:cNvPr>
          <p:cNvSpPr>
            <a:spLocks xmlns:a="http://schemas.openxmlformats.org/drawingml/2006/main" noGrp="1"/>
          </p:cNvSpPr>
          <p:nvPr/>
        </p:nvSpPr>
        <p:spPr>
          <a:xfrm xmlns:a="http://schemas.openxmlformats.org/drawingml/2006/main">
            <a:off x="5191125" y="2143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B8D9"/>
                </a:solidFill>
              </a:defRPr>
            </a:pPr>
            <a:r>
              <a:rPr sz="1800" b="1">
                <a:solidFill>
                  <a:srgbClr val="00B8D9"/>
                </a:solidFill>
              </a:rPr>
              <a:t>PROJECTOR v2</a:t>
            </a:r>
          </a:p>
        </p:txBody>
      </p:sp>
      <p:sp>
        <p:nvSpPr>
          <p:cNvPr id="9" name="">
            <a:extLst xmlns:a="http://schemas.openxmlformats.org/drawingml/2006/main">
              <a:ext uri="{FF2B5EF4-FFF2-40B4-BE49-F238E27FC236}">
                <a16:creationId xmlns:a16="http://schemas.microsoft.com/office/drawing/2014/main" id="{CDBA3D60-6CB2-4F3E-9164-ACB9032D5842}"/>
              </a:ext>
            </a:extLst>
          </p:cNvPr>
          <p:cNvSpPr>
            <a:spLocks xmlns:a="http://schemas.openxmlformats.org/drawingml/2006/main" noGrp="1"/>
          </p:cNvSpPr>
          <p:nvPr/>
        </p:nvSpPr>
        <p:spPr>
          <a:xfrm xmlns:a="http://schemas.openxmlformats.org/drawingml/2006/main">
            <a:off x="7762875" y="2362200"/>
            <a:ext cx="142875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0" name="">
            <a:extLst xmlns:a="http://schemas.openxmlformats.org/drawingml/2006/main">
              <a:ext uri="{FF2B5EF4-FFF2-40B4-BE49-F238E27FC236}">
                <a16:creationId xmlns:a16="http://schemas.microsoft.com/office/drawing/2014/main" id="{7DD3E6E2-87FB-4359-B2DB-36C584428304}"/>
              </a:ext>
            </a:extLst>
          </p:cNvPr>
          <p:cNvSpPr>
            <a:spLocks xmlns:a="http://schemas.openxmlformats.org/drawingml/2006/main" noGrp="1"/>
          </p:cNvSpPr>
          <p:nvPr/>
        </p:nvSpPr>
        <p:spPr>
          <a:xfrm xmlns:a="http://schemas.openxmlformats.org/drawingml/2006/main">
            <a:off x="9039225" y="21907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11" name="">
            <a:extLst xmlns:a="http://schemas.openxmlformats.org/drawingml/2006/main">
              <a:ext uri="{FF2B5EF4-FFF2-40B4-BE49-F238E27FC236}">
                <a16:creationId xmlns:a16="http://schemas.microsoft.com/office/drawing/2014/main" id="{05BED098-1235-412E-B9E1-DDC4F302EA17}"/>
              </a:ext>
            </a:extLst>
          </p:cNvPr>
          <p:cNvSpPr>
            <a:spLocks xmlns:a="http://schemas.openxmlformats.org/drawingml/2006/main" noGrp="1"/>
          </p:cNvSpPr>
          <p:nvPr/>
        </p:nvSpPr>
        <p:spPr>
          <a:xfrm xmlns:a="http://schemas.openxmlformats.org/drawingml/2006/main">
            <a:off x="7762875" y="20193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build</a:t>
            </a:r>
          </a:p>
        </p:txBody>
      </p:sp>
      <p:sp>
        <p:nvSpPr>
          <p:cNvPr id="12" name="">
            <a:extLst xmlns:a="http://schemas.openxmlformats.org/drawingml/2006/main">
              <a:ext uri="{FF2B5EF4-FFF2-40B4-BE49-F238E27FC236}">
                <a16:creationId xmlns:a16="http://schemas.microsoft.com/office/drawing/2014/main" id="{50484385-7A98-49D9-99D4-899F6CD0F748}"/>
              </a:ext>
            </a:extLst>
          </p:cNvPr>
          <p:cNvSpPr>
            <a:spLocks xmlns:a="http://schemas.openxmlformats.org/drawingml/2006/main" noGrp="1"/>
          </p:cNvSpPr>
          <p:nvPr/>
        </p:nvSpPr>
        <p:spPr>
          <a:xfrm xmlns:a="http://schemas.openxmlformats.org/drawingml/2006/main">
            <a:off x="9382125" y="1714500"/>
            <a:ext cx="2095500" cy="2333625"/>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F87E08E3-45A3-4533-A129-340AE0C766F5}"/>
              </a:ext>
            </a:extLst>
          </p:cNvPr>
          <p:cNvSpPr>
            <a:spLocks xmlns:a="http://schemas.openxmlformats.org/drawingml/2006/main" noGrp="1"/>
          </p:cNvSpPr>
          <p:nvPr/>
        </p:nvSpPr>
        <p:spPr>
          <a:xfrm xmlns:a="http://schemas.openxmlformats.org/drawingml/2006/main">
            <a:off x="9382125" y="1714500"/>
            <a:ext cx="2095500" cy="95250"/>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14" name="">
            <a:extLst xmlns:a="http://schemas.openxmlformats.org/drawingml/2006/main">
              <a:ext uri="{FF2B5EF4-FFF2-40B4-BE49-F238E27FC236}">
                <a16:creationId xmlns:a16="http://schemas.microsoft.com/office/drawing/2014/main" id="{AE845748-79DA-4A1C-B0C6-EAE622D9DE5C}"/>
              </a:ext>
            </a:extLst>
          </p:cNvPr>
          <p:cNvSpPr>
            <a:spLocks xmlns:a="http://schemas.openxmlformats.org/drawingml/2006/main" noGrp="1"/>
          </p:cNvSpPr>
          <p:nvPr/>
        </p:nvSpPr>
        <p:spPr>
          <a:xfrm xmlns:a="http://schemas.openxmlformats.org/drawingml/2006/main">
            <a:off x="9675495" y="2047875"/>
            <a:ext cx="1508760" cy="266700"/>
          </a:xfrm>
          <a:prstGeom xmlns:a="http://schemas.openxmlformats.org/drawingml/2006/main" prst="ellipse">
            <a:avLst/>
          </a:prstGeom>
          <a:solidFill xmlns:a="http://schemas.openxmlformats.org/drawingml/2006/main">
            <a:srgbClr val="EF5A5A"/>
          </a:solidFill>
          <a:ln xmlns:a="http://schemas.openxmlformats.org/drawingml/2006/main" w="9525">
            <a:solidFill>
              <a:srgbClr val="EF5A5A"/>
            </a:solidFill>
            <a:prstDash val="solid"/>
          </a:ln>
        </p:spPr>
      </p:sp>
      <p:sp>
        <p:nvSpPr>
          <p:cNvPr id="15" name="">
            <a:extLst xmlns:a="http://schemas.openxmlformats.org/drawingml/2006/main">
              <a:ext uri="{FF2B5EF4-FFF2-40B4-BE49-F238E27FC236}">
                <a16:creationId xmlns:a16="http://schemas.microsoft.com/office/drawing/2014/main" id="{B7C03E3F-1439-4D8A-83E4-62D57009B16F}"/>
              </a:ext>
            </a:extLst>
          </p:cNvPr>
          <p:cNvSpPr>
            <a:spLocks xmlns:a="http://schemas.openxmlformats.org/drawingml/2006/main" noGrp="1"/>
          </p:cNvSpPr>
          <p:nvPr/>
        </p:nvSpPr>
        <p:spPr>
          <a:xfrm xmlns:a="http://schemas.openxmlformats.org/drawingml/2006/main">
            <a:off x="9675495" y="2181225"/>
            <a:ext cx="1508760" cy="666750"/>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16" name="">
            <a:extLst xmlns:a="http://schemas.openxmlformats.org/drawingml/2006/main">
              <a:ext uri="{FF2B5EF4-FFF2-40B4-BE49-F238E27FC236}">
                <a16:creationId xmlns:a16="http://schemas.microsoft.com/office/drawing/2014/main" id="{222F94B4-0599-4C83-A342-F22FD17294DA}"/>
              </a:ext>
            </a:extLst>
          </p:cNvPr>
          <p:cNvSpPr>
            <a:spLocks xmlns:a="http://schemas.openxmlformats.org/drawingml/2006/main" noGrp="1"/>
          </p:cNvSpPr>
          <p:nvPr/>
        </p:nvSpPr>
        <p:spPr>
          <a:xfrm xmlns:a="http://schemas.openxmlformats.org/drawingml/2006/main">
            <a:off x="9675495" y="2667000"/>
            <a:ext cx="1508760" cy="266700"/>
          </a:xfrm>
          <a:prstGeom xmlns:a="http://schemas.openxmlformats.org/drawingml/2006/main" prst="ellipse">
            <a:avLst/>
          </a:prstGeom>
          <a:solidFill xmlns:a="http://schemas.openxmlformats.org/drawingml/2006/main">
            <a:srgbClr val="EF5A5A"/>
          </a:solidFill>
          <a:ln xmlns:a="http://schemas.openxmlformats.org/drawingml/2006/main" w="9525">
            <a:solidFill>
              <a:srgbClr val="EF5A5A"/>
            </a:solidFill>
            <a:prstDash val="solid"/>
          </a:ln>
        </p:spPr>
      </p:sp>
      <p:sp>
        <p:nvSpPr>
          <p:cNvPr id="17" name="">
            <a:extLst xmlns:a="http://schemas.openxmlformats.org/drawingml/2006/main">
              <a:ext uri="{FF2B5EF4-FFF2-40B4-BE49-F238E27FC236}">
                <a16:creationId xmlns:a16="http://schemas.microsoft.com/office/drawing/2014/main" id="{1E56BCDB-E073-4EE5-ABAC-9DF69600DA9F}"/>
              </a:ext>
            </a:extLst>
          </p:cNvPr>
          <p:cNvSpPr>
            <a:spLocks xmlns:a="http://schemas.openxmlformats.org/drawingml/2006/main" noGrp="1"/>
          </p:cNvSpPr>
          <p:nvPr/>
        </p:nvSpPr>
        <p:spPr>
          <a:xfrm xmlns:a="http://schemas.openxmlformats.org/drawingml/2006/main">
            <a:off x="9496425" y="349567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INDEX v2</a:t>
            </a:r>
          </a:p>
        </p:txBody>
      </p:sp>
      <p:sp>
        <p:nvSpPr>
          <p:cNvPr id="18" name="">
            <a:extLst xmlns:a="http://schemas.openxmlformats.org/drawingml/2006/main">
              <a:ext uri="{FF2B5EF4-FFF2-40B4-BE49-F238E27FC236}">
                <a16:creationId xmlns:a16="http://schemas.microsoft.com/office/drawing/2014/main" id="{2D66E7D7-4754-479E-A7DF-41063903C0D3}"/>
              </a:ext>
            </a:extLst>
          </p:cNvPr>
          <p:cNvSpPr>
            <a:spLocks xmlns:a="http://schemas.openxmlformats.org/drawingml/2006/main" noGrp="1"/>
          </p:cNvSpPr>
          <p:nvPr/>
        </p:nvSpPr>
        <p:spPr>
          <a:xfrm xmlns:a="http://schemas.openxmlformats.org/drawingml/2006/main">
            <a:off x="9496425" y="3752850"/>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nuova projection</a:t>
            </a:r>
          </a:p>
        </p:txBody>
      </p:sp>
      <p:sp>
        <p:nvSpPr>
          <p:cNvPr id="19" name="">
            <a:extLst xmlns:a="http://schemas.openxmlformats.org/drawingml/2006/main">
              <a:ext uri="{FF2B5EF4-FFF2-40B4-BE49-F238E27FC236}">
                <a16:creationId xmlns:a16="http://schemas.microsoft.com/office/drawing/2014/main" id="{4ABA2CCB-6796-4592-AC32-E19BE415AB73}"/>
              </a:ext>
            </a:extLst>
          </p:cNvPr>
          <p:cNvSpPr>
            <a:spLocks xmlns:a="http://schemas.openxmlformats.org/drawingml/2006/main" noGrp="1"/>
          </p:cNvSpPr>
          <p:nvPr/>
        </p:nvSpPr>
        <p:spPr>
          <a:xfrm xmlns:a="http://schemas.openxmlformats.org/drawingml/2006/main">
            <a:off x="2000250" y="37147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FFFF"/>
                </a:solidFill>
              </a:defRPr>
            </a:pPr>
            <a:r>
              <a:rPr sz="1575" b="1">
                <a:solidFill>
                  <a:srgbClr val="FFFFFF"/>
                </a:solidFill>
              </a:rPr>
              <a:t>Verifica conteggi e lag</a:t>
            </a:r>
          </a:p>
        </p:txBody>
      </p:sp>
      <p:sp>
        <p:nvSpPr>
          <p:cNvPr id="20" name="">
            <a:extLst xmlns:a="http://schemas.openxmlformats.org/drawingml/2006/main">
              <a:ext uri="{FF2B5EF4-FFF2-40B4-BE49-F238E27FC236}">
                <a16:creationId xmlns:a16="http://schemas.microsoft.com/office/drawing/2014/main" id="{12148A8A-B0C2-47C7-8C4F-E5BCC60E0141}"/>
              </a:ext>
            </a:extLst>
          </p:cNvPr>
          <p:cNvSpPr>
            <a:spLocks xmlns:a="http://schemas.openxmlformats.org/drawingml/2006/main" noGrp="1"/>
          </p:cNvSpPr>
          <p:nvPr/>
        </p:nvSpPr>
        <p:spPr>
          <a:xfrm xmlns:a="http://schemas.openxmlformats.org/drawingml/2006/main">
            <a:off x="5191125" y="37147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FFFF"/>
                </a:solidFill>
              </a:defRPr>
            </a:pPr>
            <a:r>
              <a:rPr sz="1575" b="1">
                <a:solidFill>
                  <a:srgbClr val="FFFFFF"/>
                </a:solidFill>
              </a:rPr>
              <a:t>Switch alias</a:t>
            </a:r>
          </a:p>
        </p:txBody>
      </p:sp>
      <p:sp>
        <p:nvSpPr>
          <p:cNvPr id="21" name="">
            <a:extLst xmlns:a="http://schemas.openxmlformats.org/drawingml/2006/main">
              <a:ext uri="{FF2B5EF4-FFF2-40B4-BE49-F238E27FC236}">
                <a16:creationId xmlns:a16="http://schemas.microsoft.com/office/drawing/2014/main" id="{4961C73F-E7C4-4A08-9C63-C8BB66919AF3}"/>
              </a:ext>
            </a:extLst>
          </p:cNvPr>
          <p:cNvSpPr>
            <a:spLocks xmlns:a="http://schemas.openxmlformats.org/drawingml/2006/main" noGrp="1"/>
          </p:cNvSpPr>
          <p:nvPr/>
        </p:nvSpPr>
        <p:spPr>
          <a:xfrm xmlns:a="http://schemas.openxmlformats.org/drawingml/2006/main">
            <a:off x="8096250" y="371475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FFFFF"/>
                </a:solidFill>
              </a:defRPr>
            </a:pPr>
            <a:r>
              <a:rPr sz="1575" b="1">
                <a:solidFill>
                  <a:srgbClr val="FFFFFF"/>
                </a:solidFill>
              </a:rPr>
              <a:t>Rimuovi v1 dopo il controllo</a:t>
            </a:r>
          </a:p>
        </p:txBody>
      </p:sp>
      <p:sp>
        <p:nvSpPr>
          <p:cNvPr id="22" name="">
            <a:extLst xmlns:a="http://schemas.openxmlformats.org/drawingml/2006/main">
              <a:ext uri="{FF2B5EF4-FFF2-40B4-BE49-F238E27FC236}">
                <a16:creationId xmlns:a16="http://schemas.microsoft.com/office/drawing/2014/main" id="{BB4B3DA6-8DFB-4FF5-99F1-7823A68E0CB6}"/>
              </a:ext>
            </a:extLst>
          </p:cNvPr>
          <p:cNvSpPr>
            <a:spLocks xmlns:a="http://schemas.openxmlformats.org/drawingml/2006/main" noGrp="1"/>
          </p:cNvSpPr>
          <p:nvPr/>
        </p:nvSpPr>
        <p:spPr>
          <a:xfrm xmlns:a="http://schemas.openxmlformats.org/drawingml/2006/main">
            <a:off x="1762125" y="5286375"/>
            <a:ext cx="866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Ricostruibile significa: sorgente, procedura, tempo e criterio di verifica.</a:t>
            </a:r>
          </a:p>
        </p:txBody>
      </p:sp>
    </p:spTree>
    <p:extLst>
      <p:ext uri="{BB962C8B-B14F-4D97-AF65-F5344CB8AC3E}">
        <p14:creationId xmlns:p14="http://schemas.microsoft.com/office/powerpoint/2010/main" val="854306167"/>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3DF1C9-F5E2-45FC-9DD7-898F61744BDA}"/>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NON UNA SCUSA</a:t>
            </a:r>
          </a:p>
        </p:txBody>
      </p:sp>
      <p:sp>
        <p:nvSpPr>
          <p:cNvPr id="2" name="">
            <a:extLst xmlns:a="http://schemas.openxmlformats.org/drawingml/2006/main">
              <a:ext uri="{FF2B5EF4-FFF2-40B4-BE49-F238E27FC236}">
                <a16:creationId xmlns:a16="http://schemas.microsoft.com/office/drawing/2014/main" id="{7F02F8E6-45A2-45DA-9723-3AA06268D52B}"/>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Eventual consistency è un intervallo misurabile</a:t>
            </a:r>
          </a:p>
        </p:txBody>
      </p:sp>
      <p:sp>
        <p:nvSpPr>
          <p:cNvPr id="3" name="">
            <a:extLst xmlns:a="http://schemas.openxmlformats.org/drawingml/2006/main">
              <a:ext uri="{FF2B5EF4-FFF2-40B4-BE49-F238E27FC236}">
                <a16:creationId xmlns:a16="http://schemas.microsoft.com/office/drawing/2014/main" id="{63F032EB-97DB-4B14-9248-4CDC05AA54D6}"/>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20</a:t>
            </a:r>
          </a:p>
        </p:txBody>
      </p:sp>
      <p:sp>
        <p:nvSpPr>
          <p:cNvPr id="4" name="">
            <a:extLst xmlns:a="http://schemas.openxmlformats.org/drawingml/2006/main">
              <a:ext uri="{FF2B5EF4-FFF2-40B4-BE49-F238E27FC236}">
                <a16:creationId xmlns:a16="http://schemas.microsoft.com/office/drawing/2014/main" id="{FAF34124-5F02-4045-BCB2-8B35AB05DA38}"/>
              </a:ext>
            </a:extLst>
          </p:cNvPr>
          <p:cNvSpPr>
            <a:spLocks xmlns:a="http://schemas.openxmlformats.org/drawingml/2006/main" noGrp="1"/>
          </p:cNvSpPr>
          <p:nvPr/>
        </p:nvSpPr>
        <p:spPr>
          <a:xfrm xmlns:a="http://schemas.openxmlformats.org/drawingml/2006/main">
            <a:off x="1047750" y="2238375"/>
            <a:ext cx="114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00B8D9"/>
                </a:solidFill>
              </a:defRPr>
            </a:pPr>
            <a:r>
              <a:rPr sz="2700" b="1">
                <a:solidFill>
                  <a:srgbClr val="00B8D9"/>
                </a:solidFill>
              </a:rPr>
              <a:t>T0</a:t>
            </a:r>
          </a:p>
        </p:txBody>
      </p:sp>
      <p:sp>
        <p:nvSpPr>
          <p:cNvPr id="5" name="">
            <a:extLst xmlns:a="http://schemas.openxmlformats.org/drawingml/2006/main">
              <a:ext uri="{FF2B5EF4-FFF2-40B4-BE49-F238E27FC236}">
                <a16:creationId xmlns:a16="http://schemas.microsoft.com/office/drawing/2014/main" id="{EDC45ACF-AAA1-40B4-AEAD-48944F35184E}"/>
              </a:ext>
            </a:extLst>
          </p:cNvPr>
          <p:cNvSpPr>
            <a:spLocks xmlns:a="http://schemas.openxmlformats.org/drawingml/2006/main" noGrp="1"/>
          </p:cNvSpPr>
          <p:nvPr/>
        </p:nvSpPr>
        <p:spPr>
          <a:xfrm xmlns:a="http://schemas.openxmlformats.org/drawingml/2006/main">
            <a:off x="1047750" y="28575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commit</a:t>
            </a:r>
          </a:p>
        </p:txBody>
      </p:sp>
      <p:sp>
        <p:nvSpPr>
          <p:cNvPr id="6" name="">
            <a:extLst xmlns:a="http://schemas.openxmlformats.org/drawingml/2006/main">
              <a:ext uri="{FF2B5EF4-FFF2-40B4-BE49-F238E27FC236}">
                <a16:creationId xmlns:a16="http://schemas.microsoft.com/office/drawing/2014/main" id="{67463F8B-8007-4091-9A58-78D3180655C9}"/>
              </a:ext>
            </a:extLst>
          </p:cNvPr>
          <p:cNvSpPr>
            <a:spLocks xmlns:a="http://schemas.openxmlformats.org/drawingml/2006/main" noGrp="1"/>
          </p:cNvSpPr>
          <p:nvPr/>
        </p:nvSpPr>
        <p:spPr>
          <a:xfrm xmlns:a="http://schemas.openxmlformats.org/drawingml/2006/main">
            <a:off x="2381250" y="2647950"/>
            <a:ext cx="638175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7" name="">
            <a:extLst xmlns:a="http://schemas.openxmlformats.org/drawingml/2006/main">
              <a:ext uri="{FF2B5EF4-FFF2-40B4-BE49-F238E27FC236}">
                <a16:creationId xmlns:a16="http://schemas.microsoft.com/office/drawing/2014/main" id="{DAEE8184-A7F6-4666-97F2-CC587127573B}"/>
              </a:ext>
            </a:extLst>
          </p:cNvPr>
          <p:cNvSpPr>
            <a:spLocks xmlns:a="http://schemas.openxmlformats.org/drawingml/2006/main" noGrp="1"/>
          </p:cNvSpPr>
          <p:nvPr/>
        </p:nvSpPr>
        <p:spPr>
          <a:xfrm xmlns:a="http://schemas.openxmlformats.org/drawingml/2006/main">
            <a:off x="8610600" y="24765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8" name="">
            <a:extLst xmlns:a="http://schemas.openxmlformats.org/drawingml/2006/main">
              <a:ext uri="{FF2B5EF4-FFF2-40B4-BE49-F238E27FC236}">
                <a16:creationId xmlns:a16="http://schemas.microsoft.com/office/drawing/2014/main" id="{E14C4EA1-A705-4DCF-BD78-A1D02DAC90EF}"/>
              </a:ext>
            </a:extLst>
          </p:cNvPr>
          <p:cNvSpPr>
            <a:spLocks xmlns:a="http://schemas.openxmlformats.org/drawingml/2006/main" noGrp="1"/>
          </p:cNvSpPr>
          <p:nvPr/>
        </p:nvSpPr>
        <p:spPr>
          <a:xfrm xmlns:a="http://schemas.openxmlformats.org/drawingml/2006/main">
            <a:off x="2381250" y="2305050"/>
            <a:ext cx="638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propagation lag</a:t>
            </a:r>
          </a:p>
        </p:txBody>
      </p:sp>
      <p:sp>
        <p:nvSpPr>
          <p:cNvPr id="9" name="">
            <a:extLst xmlns:a="http://schemas.openxmlformats.org/drawingml/2006/main">
              <a:ext uri="{FF2B5EF4-FFF2-40B4-BE49-F238E27FC236}">
                <a16:creationId xmlns:a16="http://schemas.microsoft.com/office/drawing/2014/main" id="{9723600C-1A5A-41F0-96AC-2E97E1D4D755}"/>
              </a:ext>
            </a:extLst>
          </p:cNvPr>
          <p:cNvSpPr>
            <a:spLocks xmlns:a="http://schemas.openxmlformats.org/drawingml/2006/main" noGrp="1"/>
          </p:cNvSpPr>
          <p:nvPr/>
        </p:nvSpPr>
        <p:spPr>
          <a:xfrm xmlns:a="http://schemas.openxmlformats.org/drawingml/2006/main">
            <a:off x="9096375" y="2238375"/>
            <a:ext cx="114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B7E34B"/>
                </a:solidFill>
              </a:defRPr>
            </a:pPr>
            <a:r>
              <a:rPr sz="2700" b="1">
                <a:solidFill>
                  <a:srgbClr val="B7E34B"/>
                </a:solidFill>
              </a:rPr>
              <a:t>T1</a:t>
            </a:r>
          </a:p>
        </p:txBody>
      </p:sp>
      <p:sp>
        <p:nvSpPr>
          <p:cNvPr id="10" name="">
            <a:extLst xmlns:a="http://schemas.openxmlformats.org/drawingml/2006/main">
              <a:ext uri="{FF2B5EF4-FFF2-40B4-BE49-F238E27FC236}">
                <a16:creationId xmlns:a16="http://schemas.microsoft.com/office/drawing/2014/main" id="{C62A0E88-0016-4082-880C-0EEB4C91A40C}"/>
              </a:ext>
            </a:extLst>
          </p:cNvPr>
          <p:cNvSpPr>
            <a:spLocks xmlns:a="http://schemas.openxmlformats.org/drawingml/2006/main" noGrp="1"/>
          </p:cNvSpPr>
          <p:nvPr/>
        </p:nvSpPr>
        <p:spPr>
          <a:xfrm xmlns:a="http://schemas.openxmlformats.org/drawingml/2006/main">
            <a:off x="8667750" y="28575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projection aggiornata</a:t>
            </a:r>
          </a:p>
        </p:txBody>
      </p:sp>
      <p:sp>
        <p:nvSpPr>
          <p:cNvPr id="11" name="">
            <a:extLst xmlns:a="http://schemas.openxmlformats.org/drawingml/2006/main">
              <a:ext uri="{FF2B5EF4-FFF2-40B4-BE49-F238E27FC236}">
                <a16:creationId xmlns:a16="http://schemas.microsoft.com/office/drawing/2014/main" id="{6F301AD0-DFC4-4209-B113-D86E253FE2A5}"/>
              </a:ext>
            </a:extLst>
          </p:cNvPr>
          <p:cNvSpPr>
            <a:spLocks xmlns:a="http://schemas.openxmlformats.org/drawingml/2006/main" noGrp="1"/>
          </p:cNvSpPr>
          <p:nvPr/>
        </p:nvSpPr>
        <p:spPr>
          <a:xfrm xmlns:a="http://schemas.openxmlformats.org/drawingml/2006/main">
            <a:off x="3476625" y="3952875"/>
            <a:ext cx="523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FFFFF"/>
                </a:solidFill>
              </a:defRPr>
            </a:pPr>
            <a:r>
              <a:rPr sz="2550" b="1">
                <a:solidFill>
                  <a:srgbClr val="FFFFFF"/>
                </a:solidFill>
              </a:rPr>
              <a:t>stale window = T1 − T0</a:t>
            </a:r>
          </a:p>
        </p:txBody>
      </p:sp>
      <p:sp>
        <p:nvSpPr>
          <p:cNvPr id="12" name="">
            <a:extLst xmlns:a="http://schemas.openxmlformats.org/drawingml/2006/main">
              <a:ext uri="{FF2B5EF4-FFF2-40B4-BE49-F238E27FC236}">
                <a16:creationId xmlns:a16="http://schemas.microsoft.com/office/drawing/2014/main" id="{5E19A4AF-40A4-487D-83C6-A9561700F8BC}"/>
              </a:ext>
            </a:extLst>
          </p:cNvPr>
          <p:cNvSpPr>
            <a:spLocks xmlns:a="http://schemas.openxmlformats.org/drawingml/2006/main" noGrp="1"/>
          </p:cNvSpPr>
          <p:nvPr/>
        </p:nvSpPr>
        <p:spPr>
          <a:xfrm xmlns:a="http://schemas.openxmlformats.org/drawingml/2006/main">
            <a:off x="2857500" y="5095875"/>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C8D4DE"/>
                </a:solidFill>
              </a:defRPr>
            </a:pPr>
            <a:r>
              <a:rPr sz="1800" b="1">
                <a:solidFill>
                  <a:srgbClr val="C8D4DE"/>
                </a:solidFill>
              </a:rPr>
              <a:t>Definisci SLO, timeout e comportamento oltre soglia.</a:t>
            </a:r>
          </a:p>
        </p:txBody>
      </p:sp>
    </p:spTree>
    <p:extLst>
      <p:ext uri="{BB962C8B-B14F-4D97-AF65-F5344CB8AC3E}">
        <p14:creationId xmlns:p14="http://schemas.microsoft.com/office/powerpoint/2010/main" val="1546620161"/>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2F702A-A94D-4C35-93D6-8DEA34B8D442}"/>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STALENESS PER REQUISITO</a:t>
            </a:r>
          </a:p>
        </p:txBody>
      </p:sp>
      <p:sp>
        <p:nvSpPr>
          <p:cNvPr id="2" name="">
            <a:extLst xmlns:a="http://schemas.openxmlformats.org/drawingml/2006/main">
              <a:ext uri="{FF2B5EF4-FFF2-40B4-BE49-F238E27FC236}">
                <a16:creationId xmlns:a16="http://schemas.microsoft.com/office/drawing/2014/main" id="{DD7F3325-F161-4084-B5B3-4E2E84E39199}"/>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Ogni feature ha un freshness budget differente</a:t>
            </a:r>
          </a:p>
        </p:txBody>
      </p:sp>
      <p:sp>
        <p:nvSpPr>
          <p:cNvPr id="3" name="">
            <a:extLst xmlns:a="http://schemas.openxmlformats.org/drawingml/2006/main">
              <a:ext uri="{FF2B5EF4-FFF2-40B4-BE49-F238E27FC236}">
                <a16:creationId xmlns:a16="http://schemas.microsoft.com/office/drawing/2014/main" id="{925EA797-C970-4F29-8E7B-59A0EF55709A}"/>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21</a:t>
            </a:r>
          </a:p>
        </p:txBody>
      </p:sp>
      <p:sp>
        <p:nvSpPr>
          <p:cNvPr id="4" name="">
            <a:extLst xmlns:a="http://schemas.openxmlformats.org/drawingml/2006/main">
              <a:ext uri="{FF2B5EF4-FFF2-40B4-BE49-F238E27FC236}">
                <a16:creationId xmlns:a16="http://schemas.microsoft.com/office/drawing/2014/main" id="{51BA30E5-77D9-412C-8533-86E148556F76}"/>
              </a:ext>
            </a:extLst>
          </p:cNvPr>
          <p:cNvSpPr>
            <a:spLocks xmlns:a="http://schemas.openxmlformats.org/drawingml/2006/main" noGrp="1"/>
          </p:cNvSpPr>
          <p:nvPr/>
        </p:nvSpPr>
        <p:spPr>
          <a:xfrm xmlns:a="http://schemas.openxmlformats.org/drawingml/2006/main">
            <a:off x="809625" y="1714500"/>
            <a:ext cx="10429875" cy="685800"/>
          </a:xfrm>
          <a:prstGeom xmlns:a="http://schemas.openxmlformats.org/drawingml/2006/main" prst="roundRect">
            <a:avLst>
              <a:gd name="adj" fmla="val 11111"/>
            </a:avLst>
          </a:prstGeom>
          <a:solidFill xmlns:a="http://schemas.openxmlformats.org/drawingml/2006/main">
            <a:srgbClr val="E8F7FA"/>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E04AB1A4-C12F-4A1E-9F4A-C9647845E277}"/>
              </a:ext>
            </a:extLst>
          </p:cNvPr>
          <p:cNvSpPr>
            <a:spLocks xmlns:a="http://schemas.openxmlformats.org/drawingml/2006/main" noGrp="1"/>
          </p:cNvSpPr>
          <p:nvPr/>
        </p:nvSpPr>
        <p:spPr>
          <a:xfrm xmlns:a="http://schemas.openxmlformats.org/drawingml/2006/main">
            <a:off x="1047750" y="1885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F5A5A"/>
                </a:solidFill>
              </a:defRPr>
            </a:pPr>
            <a:r>
              <a:rPr sz="1500" b="1">
                <a:solidFill>
                  <a:srgbClr val="EF5A5A"/>
                </a:solidFill>
              </a:rPr>
              <a:t>PAGAMENTO</a:t>
            </a:r>
          </a:p>
        </p:txBody>
      </p:sp>
      <p:sp>
        <p:nvSpPr>
          <p:cNvPr id="6" name="">
            <a:extLst xmlns:a="http://schemas.openxmlformats.org/drawingml/2006/main">
              <a:ext uri="{FF2B5EF4-FFF2-40B4-BE49-F238E27FC236}">
                <a16:creationId xmlns:a16="http://schemas.microsoft.com/office/drawing/2014/main" id="{02F5BAAE-02AF-46B9-90E0-DFE6BC2D6CF3}"/>
              </a:ext>
            </a:extLst>
          </p:cNvPr>
          <p:cNvSpPr>
            <a:spLocks xmlns:a="http://schemas.openxmlformats.org/drawingml/2006/main" noGrp="1"/>
          </p:cNvSpPr>
          <p:nvPr/>
        </p:nvSpPr>
        <p:spPr>
          <a:xfrm xmlns:a="http://schemas.openxmlformats.org/drawingml/2006/main">
            <a:off x="3429000" y="18859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1F33"/>
                </a:solidFill>
              </a:defRPr>
            </a:pPr>
            <a:r>
              <a:rPr sz="1800" b="1">
                <a:solidFill>
                  <a:srgbClr val="0B1F33"/>
                </a:solidFill>
              </a:rPr>
              <a:t>0 s</a:t>
            </a:r>
          </a:p>
        </p:txBody>
      </p:sp>
      <p:sp>
        <p:nvSpPr>
          <p:cNvPr id="7" name="">
            <a:extLst xmlns:a="http://schemas.openxmlformats.org/drawingml/2006/main">
              <a:ext uri="{FF2B5EF4-FFF2-40B4-BE49-F238E27FC236}">
                <a16:creationId xmlns:a16="http://schemas.microsoft.com/office/drawing/2014/main" id="{70E734AF-1505-4D3D-98A4-36FCD02D260C}"/>
              </a:ext>
            </a:extLst>
          </p:cNvPr>
          <p:cNvSpPr>
            <a:spLocks xmlns:a="http://schemas.openxmlformats.org/drawingml/2006/main" noGrp="1"/>
          </p:cNvSpPr>
          <p:nvPr/>
        </p:nvSpPr>
        <p:spPr>
          <a:xfrm xmlns:a="http://schemas.openxmlformats.org/drawingml/2006/main">
            <a:off x="5476875" y="18859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conferma autorevole</a:t>
            </a:r>
          </a:p>
        </p:txBody>
      </p:sp>
      <p:sp>
        <p:nvSpPr>
          <p:cNvPr id="8" name="">
            <a:extLst xmlns:a="http://schemas.openxmlformats.org/drawingml/2006/main">
              <a:ext uri="{FF2B5EF4-FFF2-40B4-BE49-F238E27FC236}">
                <a16:creationId xmlns:a16="http://schemas.microsoft.com/office/drawing/2014/main" id="{AC7E5226-1488-4A39-8C07-4E4380C6B32A}"/>
              </a:ext>
            </a:extLst>
          </p:cNvPr>
          <p:cNvSpPr>
            <a:spLocks xmlns:a="http://schemas.openxmlformats.org/drawingml/2006/main" noGrp="1"/>
          </p:cNvSpPr>
          <p:nvPr/>
        </p:nvSpPr>
        <p:spPr>
          <a:xfrm xmlns:a="http://schemas.openxmlformats.org/drawingml/2006/main">
            <a:off x="809625" y="2647950"/>
            <a:ext cx="1042987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2CBC2789-1211-49F1-A398-833633004E81}"/>
              </a:ext>
            </a:extLst>
          </p:cNvPr>
          <p:cNvSpPr>
            <a:spLocks xmlns:a="http://schemas.openxmlformats.org/drawingml/2006/main" noGrp="1"/>
          </p:cNvSpPr>
          <p:nvPr/>
        </p:nvSpPr>
        <p:spPr>
          <a:xfrm xmlns:a="http://schemas.openxmlformats.org/drawingml/2006/main">
            <a:off x="1047750" y="28194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B8D9"/>
                </a:solidFill>
              </a:defRPr>
            </a:pPr>
            <a:r>
              <a:rPr sz="1500" b="1">
                <a:solidFill>
                  <a:srgbClr val="00B8D9"/>
                </a:solidFill>
              </a:rPr>
              <a:t>PROFILO</a:t>
            </a:r>
          </a:p>
        </p:txBody>
      </p:sp>
      <p:sp>
        <p:nvSpPr>
          <p:cNvPr id="10" name="">
            <a:extLst xmlns:a="http://schemas.openxmlformats.org/drawingml/2006/main">
              <a:ext uri="{FF2B5EF4-FFF2-40B4-BE49-F238E27FC236}">
                <a16:creationId xmlns:a16="http://schemas.microsoft.com/office/drawing/2014/main" id="{EB45A53D-7C17-4262-931E-4DFAA5D8DED9}"/>
              </a:ext>
            </a:extLst>
          </p:cNvPr>
          <p:cNvSpPr>
            <a:spLocks xmlns:a="http://schemas.openxmlformats.org/drawingml/2006/main" noGrp="1"/>
          </p:cNvSpPr>
          <p:nvPr/>
        </p:nvSpPr>
        <p:spPr>
          <a:xfrm xmlns:a="http://schemas.openxmlformats.org/drawingml/2006/main">
            <a:off x="3429000" y="28194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1F33"/>
                </a:solidFill>
              </a:defRPr>
            </a:pPr>
            <a:r>
              <a:rPr sz="1800" b="1">
                <a:solidFill>
                  <a:srgbClr val="0B1F33"/>
                </a:solidFill>
              </a:rPr>
              <a:t>&lt; 1 s</a:t>
            </a:r>
          </a:p>
        </p:txBody>
      </p:sp>
      <p:sp>
        <p:nvSpPr>
          <p:cNvPr id="11" name="">
            <a:extLst xmlns:a="http://schemas.openxmlformats.org/drawingml/2006/main">
              <a:ext uri="{FF2B5EF4-FFF2-40B4-BE49-F238E27FC236}">
                <a16:creationId xmlns:a16="http://schemas.microsoft.com/office/drawing/2014/main" id="{F5B21DB2-C9EF-4B6F-A3CC-12F31E52CC62}"/>
              </a:ext>
            </a:extLst>
          </p:cNvPr>
          <p:cNvSpPr>
            <a:spLocks xmlns:a="http://schemas.openxmlformats.org/drawingml/2006/main" noGrp="1"/>
          </p:cNvSpPr>
          <p:nvPr/>
        </p:nvSpPr>
        <p:spPr>
          <a:xfrm xmlns:a="http://schemas.openxmlformats.org/drawingml/2006/main">
            <a:off x="5476875" y="28194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read-your-writes</a:t>
            </a:r>
          </a:p>
        </p:txBody>
      </p:sp>
      <p:sp>
        <p:nvSpPr>
          <p:cNvPr id="12" name="">
            <a:extLst xmlns:a="http://schemas.openxmlformats.org/drawingml/2006/main">
              <a:ext uri="{FF2B5EF4-FFF2-40B4-BE49-F238E27FC236}">
                <a16:creationId xmlns:a16="http://schemas.microsoft.com/office/drawing/2014/main" id="{0D6F4EFD-4965-4D0C-A799-4583F0152E72}"/>
              </a:ext>
            </a:extLst>
          </p:cNvPr>
          <p:cNvSpPr>
            <a:spLocks xmlns:a="http://schemas.openxmlformats.org/drawingml/2006/main" noGrp="1"/>
          </p:cNvSpPr>
          <p:nvPr/>
        </p:nvSpPr>
        <p:spPr>
          <a:xfrm xmlns:a="http://schemas.openxmlformats.org/drawingml/2006/main">
            <a:off x="809625" y="3581400"/>
            <a:ext cx="10429875" cy="685800"/>
          </a:xfrm>
          <a:prstGeom xmlns:a="http://schemas.openxmlformats.org/drawingml/2006/main" prst="roundRect">
            <a:avLst>
              <a:gd name="adj" fmla="val 11111"/>
            </a:avLst>
          </a:prstGeom>
          <a:solidFill xmlns:a="http://schemas.openxmlformats.org/drawingml/2006/main">
            <a:srgbClr val="E8F7FA"/>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BADC3031-E51B-4137-A23F-3B21FBE8EF36}"/>
              </a:ext>
            </a:extLst>
          </p:cNvPr>
          <p:cNvSpPr>
            <a:spLocks xmlns:a="http://schemas.openxmlformats.org/drawingml/2006/main" noGrp="1"/>
          </p:cNvSpPr>
          <p:nvPr/>
        </p:nvSpPr>
        <p:spPr>
          <a:xfrm xmlns:a="http://schemas.openxmlformats.org/drawingml/2006/main">
            <a:off x="1047750" y="3752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8A4C"/>
                </a:solidFill>
              </a:defRPr>
            </a:pPr>
            <a:r>
              <a:rPr sz="1500" b="1">
                <a:solidFill>
                  <a:srgbClr val="FF8A4C"/>
                </a:solidFill>
              </a:rPr>
              <a:t>RICERCA</a:t>
            </a:r>
          </a:p>
        </p:txBody>
      </p:sp>
      <p:sp>
        <p:nvSpPr>
          <p:cNvPr id="14" name="">
            <a:extLst xmlns:a="http://schemas.openxmlformats.org/drawingml/2006/main">
              <a:ext uri="{FF2B5EF4-FFF2-40B4-BE49-F238E27FC236}">
                <a16:creationId xmlns:a16="http://schemas.microsoft.com/office/drawing/2014/main" id="{1D436D40-5E41-44E0-A757-6C2FF565F71C}"/>
              </a:ext>
            </a:extLst>
          </p:cNvPr>
          <p:cNvSpPr>
            <a:spLocks xmlns:a="http://schemas.openxmlformats.org/drawingml/2006/main" noGrp="1"/>
          </p:cNvSpPr>
          <p:nvPr/>
        </p:nvSpPr>
        <p:spPr>
          <a:xfrm xmlns:a="http://schemas.openxmlformats.org/drawingml/2006/main">
            <a:off x="3429000" y="37528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1F33"/>
                </a:solidFill>
              </a:defRPr>
            </a:pPr>
            <a:r>
              <a:rPr sz="1800" b="1">
                <a:solidFill>
                  <a:srgbClr val="0B1F33"/>
                </a:solidFill>
              </a:rPr>
              <a:t>&lt; 30 s</a:t>
            </a:r>
          </a:p>
        </p:txBody>
      </p:sp>
      <p:sp>
        <p:nvSpPr>
          <p:cNvPr id="15" name="">
            <a:extLst xmlns:a="http://schemas.openxmlformats.org/drawingml/2006/main">
              <a:ext uri="{FF2B5EF4-FFF2-40B4-BE49-F238E27FC236}">
                <a16:creationId xmlns:a16="http://schemas.microsoft.com/office/drawing/2014/main" id="{2425BD45-A255-4442-A213-B3A7E3C86267}"/>
              </a:ext>
            </a:extLst>
          </p:cNvPr>
          <p:cNvSpPr>
            <a:spLocks xmlns:a="http://schemas.openxmlformats.org/drawingml/2006/main" noGrp="1"/>
          </p:cNvSpPr>
          <p:nvPr/>
        </p:nvSpPr>
        <p:spPr>
          <a:xfrm xmlns:a="http://schemas.openxmlformats.org/drawingml/2006/main">
            <a:off x="5476875" y="37528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indice derivato</a:t>
            </a:r>
          </a:p>
        </p:txBody>
      </p:sp>
      <p:sp>
        <p:nvSpPr>
          <p:cNvPr id="16" name="">
            <a:extLst xmlns:a="http://schemas.openxmlformats.org/drawingml/2006/main">
              <a:ext uri="{FF2B5EF4-FFF2-40B4-BE49-F238E27FC236}">
                <a16:creationId xmlns:a16="http://schemas.microsoft.com/office/drawing/2014/main" id="{CC7E1B30-4CD1-44CA-A7C8-2FCA8C73A2FF}"/>
              </a:ext>
            </a:extLst>
          </p:cNvPr>
          <p:cNvSpPr>
            <a:spLocks xmlns:a="http://schemas.openxmlformats.org/drawingml/2006/main" noGrp="1"/>
          </p:cNvSpPr>
          <p:nvPr/>
        </p:nvSpPr>
        <p:spPr>
          <a:xfrm xmlns:a="http://schemas.openxmlformats.org/drawingml/2006/main">
            <a:off x="809625" y="4514850"/>
            <a:ext cx="10429875"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DFC5C3A1-9CAC-4028-AB2C-0AB86019960A}"/>
              </a:ext>
            </a:extLst>
          </p:cNvPr>
          <p:cNvSpPr>
            <a:spLocks xmlns:a="http://schemas.openxmlformats.org/drawingml/2006/main" noGrp="1"/>
          </p:cNvSpPr>
          <p:nvPr/>
        </p:nvSpPr>
        <p:spPr>
          <a:xfrm xmlns:a="http://schemas.openxmlformats.org/drawingml/2006/main">
            <a:off x="1047750" y="4686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7C6EE6"/>
                </a:solidFill>
              </a:defRPr>
            </a:pPr>
            <a:r>
              <a:rPr sz="1500" b="1">
                <a:solidFill>
                  <a:srgbClr val="7C6EE6"/>
                </a:solidFill>
              </a:rPr>
              <a:t>ANALYTICS</a:t>
            </a:r>
          </a:p>
        </p:txBody>
      </p:sp>
      <p:sp>
        <p:nvSpPr>
          <p:cNvPr id="18" name="">
            <a:extLst xmlns:a="http://schemas.openxmlformats.org/drawingml/2006/main">
              <a:ext uri="{FF2B5EF4-FFF2-40B4-BE49-F238E27FC236}">
                <a16:creationId xmlns:a16="http://schemas.microsoft.com/office/drawing/2014/main" id="{9940B80F-7F2A-4F92-A75C-956F4651AE0C}"/>
              </a:ext>
            </a:extLst>
          </p:cNvPr>
          <p:cNvSpPr>
            <a:spLocks xmlns:a="http://schemas.openxmlformats.org/drawingml/2006/main" noGrp="1"/>
          </p:cNvSpPr>
          <p:nvPr/>
        </p:nvSpPr>
        <p:spPr>
          <a:xfrm xmlns:a="http://schemas.openxmlformats.org/drawingml/2006/main">
            <a:off x="3429000" y="46863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1F33"/>
                </a:solidFill>
              </a:defRPr>
            </a:pPr>
            <a:r>
              <a:rPr sz="1800" b="1">
                <a:solidFill>
                  <a:srgbClr val="0B1F33"/>
                </a:solidFill>
              </a:rPr>
              <a:t>&lt; 15 min</a:t>
            </a:r>
          </a:p>
        </p:txBody>
      </p:sp>
      <p:sp>
        <p:nvSpPr>
          <p:cNvPr id="19" name="">
            <a:extLst xmlns:a="http://schemas.openxmlformats.org/drawingml/2006/main">
              <a:ext uri="{FF2B5EF4-FFF2-40B4-BE49-F238E27FC236}">
                <a16:creationId xmlns:a16="http://schemas.microsoft.com/office/drawing/2014/main" id="{DFC72E26-DF62-4B47-BFD4-BBFFF5F87511}"/>
              </a:ext>
            </a:extLst>
          </p:cNvPr>
          <p:cNvSpPr>
            <a:spLocks xmlns:a="http://schemas.openxmlformats.org/drawingml/2006/main" noGrp="1"/>
          </p:cNvSpPr>
          <p:nvPr/>
        </p:nvSpPr>
        <p:spPr>
          <a:xfrm xmlns:a="http://schemas.openxmlformats.org/drawingml/2006/main">
            <a:off x="5476875" y="4686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batch o stream</a:t>
            </a:r>
          </a:p>
        </p:txBody>
      </p:sp>
    </p:spTree>
    <p:extLst>
      <p:ext uri="{BB962C8B-B14F-4D97-AF65-F5344CB8AC3E}">
        <p14:creationId xmlns:p14="http://schemas.microsoft.com/office/powerpoint/2010/main" val="1022584227"/>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254D907-D011-4635-991E-B287D821C634}"/>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UX PER DATI STALE</a:t>
            </a:r>
          </a:p>
        </p:txBody>
      </p:sp>
      <p:sp>
        <p:nvSpPr>
          <p:cNvPr id="2" name="">
            <a:extLst xmlns:a="http://schemas.openxmlformats.org/drawingml/2006/main">
              <a:ext uri="{FF2B5EF4-FFF2-40B4-BE49-F238E27FC236}">
                <a16:creationId xmlns:a16="http://schemas.microsoft.com/office/drawing/2014/main" id="{3B02BC42-73F4-46E1-8685-508534E9748B}"/>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L’interfaccia deve dichiarare ciò che il sistema sa</a:t>
            </a:r>
          </a:p>
        </p:txBody>
      </p:sp>
      <p:sp>
        <p:nvSpPr>
          <p:cNvPr id="3" name="">
            <a:extLst xmlns:a="http://schemas.openxmlformats.org/drawingml/2006/main">
              <a:ext uri="{FF2B5EF4-FFF2-40B4-BE49-F238E27FC236}">
                <a16:creationId xmlns:a16="http://schemas.microsoft.com/office/drawing/2014/main" id="{F7570008-BC5B-48AE-B6C5-6B6F6E19D85E}"/>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22</a:t>
            </a:r>
          </a:p>
        </p:txBody>
      </p:sp>
      <p:sp>
        <p:nvSpPr>
          <p:cNvPr id="4" name="">
            <a:extLst xmlns:a="http://schemas.openxmlformats.org/drawingml/2006/main">
              <a:ext uri="{FF2B5EF4-FFF2-40B4-BE49-F238E27FC236}">
                <a16:creationId xmlns:a16="http://schemas.microsoft.com/office/drawing/2014/main" id="{6B0EAFAC-A905-4A84-859B-720D20B47889}"/>
              </a:ext>
            </a:extLst>
          </p:cNvPr>
          <p:cNvSpPr>
            <a:spLocks xmlns:a="http://schemas.openxmlformats.org/drawingml/2006/main" noGrp="1"/>
          </p:cNvSpPr>
          <p:nvPr/>
        </p:nvSpPr>
        <p:spPr>
          <a:xfrm xmlns:a="http://schemas.openxmlformats.org/drawingml/2006/main">
            <a:off x="685800" y="1762125"/>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57EAF33D-48A1-4E04-888C-4FAA27CCFF2B}"/>
              </a:ext>
            </a:extLst>
          </p:cNvPr>
          <p:cNvSpPr>
            <a:spLocks xmlns:a="http://schemas.openxmlformats.org/drawingml/2006/main" noGrp="1"/>
          </p:cNvSpPr>
          <p:nvPr/>
        </p:nvSpPr>
        <p:spPr>
          <a:xfrm xmlns:a="http://schemas.openxmlformats.org/drawingml/2006/main">
            <a:off x="685800" y="1762125"/>
            <a:ext cx="5095875" cy="85725"/>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91A0E4E3-A0CD-4D98-9BB7-8084EF0C63EE}"/>
              </a:ext>
            </a:extLst>
          </p:cNvPr>
          <p:cNvSpPr>
            <a:spLocks xmlns:a="http://schemas.openxmlformats.org/drawingml/2006/main" noGrp="1"/>
          </p:cNvSpPr>
          <p:nvPr/>
        </p:nvSpPr>
        <p:spPr>
          <a:xfrm xmlns:a="http://schemas.openxmlformats.org/drawingml/2006/main">
            <a:off x="895350" y="1971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OPTIMISTIC UI</a:t>
            </a:r>
          </a:p>
        </p:txBody>
      </p:sp>
      <p:sp>
        <p:nvSpPr>
          <p:cNvPr id="7" name="">
            <a:extLst xmlns:a="http://schemas.openxmlformats.org/drawingml/2006/main">
              <a:ext uri="{FF2B5EF4-FFF2-40B4-BE49-F238E27FC236}">
                <a16:creationId xmlns:a16="http://schemas.microsoft.com/office/drawing/2014/main" id="{D1E3AB23-55AB-44A1-A5A3-1E599E842E1A}"/>
              </a:ext>
            </a:extLst>
          </p:cNvPr>
          <p:cNvSpPr>
            <a:spLocks xmlns:a="http://schemas.openxmlformats.org/drawingml/2006/main" noGrp="1"/>
          </p:cNvSpPr>
          <p:nvPr/>
        </p:nvSpPr>
        <p:spPr>
          <a:xfrm xmlns:a="http://schemas.openxmlformats.org/drawingml/2006/main">
            <a:off x="895350" y="2352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0B8D9"/>
                </a:solidFill>
              </a:defRPr>
            </a:pPr>
            <a:r>
              <a:rPr sz="1200" b="1">
                <a:solidFill>
                  <a:srgbClr val="00B8D9"/>
                </a:solidFill>
              </a:rPr>
              <a:t>pending sync</a:t>
            </a:r>
          </a:p>
        </p:txBody>
      </p:sp>
      <p:sp>
        <p:nvSpPr>
          <p:cNvPr id="8" name="">
            <a:extLst xmlns:a="http://schemas.openxmlformats.org/drawingml/2006/main">
              <a:ext uri="{FF2B5EF4-FFF2-40B4-BE49-F238E27FC236}">
                <a16:creationId xmlns:a16="http://schemas.microsoft.com/office/drawing/2014/main" id="{2F135639-B610-454E-9E00-912DF7F26E2D}"/>
              </a:ext>
            </a:extLst>
          </p:cNvPr>
          <p:cNvSpPr>
            <a:spLocks xmlns:a="http://schemas.openxmlformats.org/drawingml/2006/main" noGrp="1"/>
          </p:cNvSpPr>
          <p:nvPr/>
        </p:nvSpPr>
        <p:spPr>
          <a:xfrm xmlns:a="http://schemas.openxmlformats.org/drawingml/2006/main">
            <a:off x="895350" y="2714625"/>
            <a:ext cx="4676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mostra subito il voto</a:t>
            </a:r>
          </a:p>
        </p:txBody>
      </p:sp>
      <p:sp>
        <p:nvSpPr>
          <p:cNvPr id="9" name="">
            <a:extLst xmlns:a="http://schemas.openxmlformats.org/drawingml/2006/main">
              <a:ext uri="{FF2B5EF4-FFF2-40B4-BE49-F238E27FC236}">
                <a16:creationId xmlns:a16="http://schemas.microsoft.com/office/drawing/2014/main" id="{E39DF07D-BF82-48C1-9B1D-85635892842C}"/>
              </a:ext>
            </a:extLst>
          </p:cNvPr>
          <p:cNvSpPr>
            <a:spLocks xmlns:a="http://schemas.openxmlformats.org/drawingml/2006/main" noGrp="1"/>
          </p:cNvSpPr>
          <p:nvPr/>
        </p:nvSpPr>
        <p:spPr>
          <a:xfrm xmlns:a="http://schemas.openxmlformats.org/drawingml/2006/main">
            <a:off x="6115050" y="1762125"/>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10" name="">
            <a:extLst xmlns:a="http://schemas.openxmlformats.org/drawingml/2006/main">
              <a:ext uri="{FF2B5EF4-FFF2-40B4-BE49-F238E27FC236}">
                <a16:creationId xmlns:a16="http://schemas.microsoft.com/office/drawing/2014/main" id="{8C9AE89E-178E-484E-B0F7-770881E51769}"/>
              </a:ext>
            </a:extLst>
          </p:cNvPr>
          <p:cNvSpPr>
            <a:spLocks xmlns:a="http://schemas.openxmlformats.org/drawingml/2006/main" noGrp="1"/>
          </p:cNvSpPr>
          <p:nvPr/>
        </p:nvSpPr>
        <p:spPr>
          <a:xfrm xmlns:a="http://schemas.openxmlformats.org/drawingml/2006/main">
            <a:off x="6115050" y="1762125"/>
            <a:ext cx="5095875" cy="85725"/>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11" name="">
            <a:extLst xmlns:a="http://schemas.openxmlformats.org/drawingml/2006/main">
              <a:ext uri="{FF2B5EF4-FFF2-40B4-BE49-F238E27FC236}">
                <a16:creationId xmlns:a16="http://schemas.microsoft.com/office/drawing/2014/main" id="{DBD6F327-1E12-4951-AAFC-1A821CC4CEDE}"/>
              </a:ext>
            </a:extLst>
          </p:cNvPr>
          <p:cNvSpPr>
            <a:spLocks xmlns:a="http://schemas.openxmlformats.org/drawingml/2006/main" noGrp="1"/>
          </p:cNvSpPr>
          <p:nvPr/>
        </p:nvSpPr>
        <p:spPr>
          <a:xfrm xmlns:a="http://schemas.openxmlformats.org/drawingml/2006/main">
            <a:off x="6324600" y="1971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AUTHORITATIVE READ</a:t>
            </a:r>
          </a:p>
        </p:txBody>
      </p:sp>
      <p:sp>
        <p:nvSpPr>
          <p:cNvPr id="12" name="">
            <a:extLst xmlns:a="http://schemas.openxmlformats.org/drawingml/2006/main">
              <a:ext uri="{FF2B5EF4-FFF2-40B4-BE49-F238E27FC236}">
                <a16:creationId xmlns:a16="http://schemas.microsoft.com/office/drawing/2014/main" id="{76110E4A-F634-4F0B-A74C-26AE30B59707}"/>
              </a:ext>
            </a:extLst>
          </p:cNvPr>
          <p:cNvSpPr>
            <a:spLocks xmlns:a="http://schemas.openxmlformats.org/drawingml/2006/main" noGrp="1"/>
          </p:cNvSpPr>
          <p:nvPr/>
        </p:nvSpPr>
        <p:spPr>
          <a:xfrm xmlns:a="http://schemas.openxmlformats.org/drawingml/2006/main">
            <a:off x="6324600" y="2352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EF5A5A"/>
                </a:solidFill>
              </a:defRPr>
            </a:pPr>
            <a:r>
              <a:rPr sz="1200" b="1">
                <a:solidFill>
                  <a:srgbClr val="EF5A5A"/>
                </a:solidFill>
              </a:rPr>
              <a:t>azioni critiche</a:t>
            </a:r>
          </a:p>
        </p:txBody>
      </p:sp>
      <p:sp>
        <p:nvSpPr>
          <p:cNvPr id="13" name="">
            <a:extLst xmlns:a="http://schemas.openxmlformats.org/drawingml/2006/main">
              <a:ext uri="{FF2B5EF4-FFF2-40B4-BE49-F238E27FC236}">
                <a16:creationId xmlns:a16="http://schemas.microsoft.com/office/drawing/2014/main" id="{42B49078-E842-4454-A9D8-091E184B4D21}"/>
              </a:ext>
            </a:extLst>
          </p:cNvPr>
          <p:cNvSpPr>
            <a:spLocks xmlns:a="http://schemas.openxmlformats.org/drawingml/2006/main" noGrp="1"/>
          </p:cNvSpPr>
          <p:nvPr/>
        </p:nvSpPr>
        <p:spPr>
          <a:xfrm xmlns:a="http://schemas.openxmlformats.org/drawingml/2006/main">
            <a:off x="6324600" y="2714625"/>
            <a:ext cx="4676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rileggi dalla fonte</a:t>
            </a:r>
          </a:p>
        </p:txBody>
      </p:sp>
      <p:sp>
        <p:nvSpPr>
          <p:cNvPr id="14" name="">
            <a:extLst xmlns:a="http://schemas.openxmlformats.org/drawingml/2006/main">
              <a:ext uri="{FF2B5EF4-FFF2-40B4-BE49-F238E27FC236}">
                <a16:creationId xmlns:a16="http://schemas.microsoft.com/office/drawing/2014/main" id="{CD377A01-467E-4FC2-85EC-8F3C40ACE157}"/>
              </a:ext>
            </a:extLst>
          </p:cNvPr>
          <p:cNvSpPr>
            <a:spLocks xmlns:a="http://schemas.openxmlformats.org/drawingml/2006/main" noGrp="1"/>
          </p:cNvSpPr>
          <p:nvPr/>
        </p:nvSpPr>
        <p:spPr>
          <a:xfrm xmlns:a="http://schemas.openxmlformats.org/drawingml/2006/main">
            <a:off x="685800" y="3429000"/>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57575D3A-C6ED-4F56-8C4C-A92834E70D5A}"/>
              </a:ext>
            </a:extLst>
          </p:cNvPr>
          <p:cNvSpPr>
            <a:spLocks xmlns:a="http://schemas.openxmlformats.org/drawingml/2006/main" noGrp="1"/>
          </p:cNvSpPr>
          <p:nvPr/>
        </p:nvSpPr>
        <p:spPr>
          <a:xfrm xmlns:a="http://schemas.openxmlformats.org/drawingml/2006/main">
            <a:off x="685800" y="3429000"/>
            <a:ext cx="5095875" cy="85725"/>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6" name="">
            <a:extLst xmlns:a="http://schemas.openxmlformats.org/drawingml/2006/main">
              <a:ext uri="{FF2B5EF4-FFF2-40B4-BE49-F238E27FC236}">
                <a16:creationId xmlns:a16="http://schemas.microsoft.com/office/drawing/2014/main" id="{81663E6C-E018-42E4-9C71-7E7A21800934}"/>
              </a:ext>
            </a:extLst>
          </p:cNvPr>
          <p:cNvSpPr>
            <a:spLocks xmlns:a="http://schemas.openxmlformats.org/drawingml/2006/main" noGrp="1"/>
          </p:cNvSpPr>
          <p:nvPr/>
        </p:nvSpPr>
        <p:spPr>
          <a:xfrm xmlns:a="http://schemas.openxmlformats.org/drawingml/2006/main">
            <a:off x="895350" y="3638550"/>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VERSION TOKEN</a:t>
            </a:r>
          </a:p>
        </p:txBody>
      </p:sp>
      <p:sp>
        <p:nvSpPr>
          <p:cNvPr id="17" name="">
            <a:extLst xmlns:a="http://schemas.openxmlformats.org/drawingml/2006/main">
              <a:ext uri="{FF2B5EF4-FFF2-40B4-BE49-F238E27FC236}">
                <a16:creationId xmlns:a16="http://schemas.microsoft.com/office/drawing/2014/main" id="{860EE2D2-F640-4C6D-BD2E-627BB272DA32}"/>
              </a:ext>
            </a:extLst>
          </p:cNvPr>
          <p:cNvSpPr>
            <a:spLocks xmlns:a="http://schemas.openxmlformats.org/drawingml/2006/main" noGrp="1"/>
          </p:cNvSpPr>
          <p:nvPr/>
        </p:nvSpPr>
        <p:spPr>
          <a:xfrm xmlns:a="http://schemas.openxmlformats.org/drawingml/2006/main">
            <a:off x="895350" y="4019550"/>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6EE6"/>
                </a:solidFill>
              </a:defRPr>
            </a:pPr>
            <a:r>
              <a:rPr sz="1200" b="1">
                <a:solidFill>
                  <a:srgbClr val="7C6EE6"/>
                </a:solidFill>
              </a:rPr>
              <a:t>evita overwrite</a:t>
            </a:r>
          </a:p>
        </p:txBody>
      </p:sp>
      <p:sp>
        <p:nvSpPr>
          <p:cNvPr id="18" name="">
            <a:extLst xmlns:a="http://schemas.openxmlformats.org/drawingml/2006/main">
              <a:ext uri="{FF2B5EF4-FFF2-40B4-BE49-F238E27FC236}">
                <a16:creationId xmlns:a16="http://schemas.microsoft.com/office/drawing/2014/main" id="{2B8AEFB8-6A25-4B46-9B75-D052B68F4007}"/>
              </a:ext>
            </a:extLst>
          </p:cNvPr>
          <p:cNvSpPr>
            <a:spLocks xmlns:a="http://schemas.openxmlformats.org/drawingml/2006/main" noGrp="1"/>
          </p:cNvSpPr>
          <p:nvPr/>
        </p:nvSpPr>
        <p:spPr>
          <a:xfrm xmlns:a="http://schemas.openxmlformats.org/drawingml/2006/main">
            <a:off x="895350" y="4381500"/>
            <a:ext cx="4676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confronta versione</a:t>
            </a:r>
          </a:p>
        </p:txBody>
      </p:sp>
      <p:sp>
        <p:nvSpPr>
          <p:cNvPr id="19" name="">
            <a:extLst xmlns:a="http://schemas.openxmlformats.org/drawingml/2006/main">
              <a:ext uri="{FF2B5EF4-FFF2-40B4-BE49-F238E27FC236}">
                <a16:creationId xmlns:a16="http://schemas.microsoft.com/office/drawing/2014/main" id="{593FE5CA-B8D5-4966-9722-C46C907F9061}"/>
              </a:ext>
            </a:extLst>
          </p:cNvPr>
          <p:cNvSpPr>
            <a:spLocks xmlns:a="http://schemas.openxmlformats.org/drawingml/2006/main" noGrp="1"/>
          </p:cNvSpPr>
          <p:nvPr/>
        </p:nvSpPr>
        <p:spPr>
          <a:xfrm xmlns:a="http://schemas.openxmlformats.org/drawingml/2006/main">
            <a:off x="6115050" y="3429000"/>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20" name="">
            <a:extLst xmlns:a="http://schemas.openxmlformats.org/drawingml/2006/main">
              <a:ext uri="{FF2B5EF4-FFF2-40B4-BE49-F238E27FC236}">
                <a16:creationId xmlns:a16="http://schemas.microsoft.com/office/drawing/2014/main" id="{DC6F6A78-03A4-49AD-A332-0226E23A62ED}"/>
              </a:ext>
            </a:extLst>
          </p:cNvPr>
          <p:cNvSpPr>
            <a:spLocks xmlns:a="http://schemas.openxmlformats.org/drawingml/2006/main" noGrp="1"/>
          </p:cNvSpPr>
          <p:nvPr/>
        </p:nvSpPr>
        <p:spPr>
          <a:xfrm xmlns:a="http://schemas.openxmlformats.org/drawingml/2006/main">
            <a:off x="6115050" y="3429000"/>
            <a:ext cx="5095875" cy="85725"/>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21" name="">
            <a:extLst xmlns:a="http://schemas.openxmlformats.org/drawingml/2006/main">
              <a:ext uri="{FF2B5EF4-FFF2-40B4-BE49-F238E27FC236}">
                <a16:creationId xmlns:a16="http://schemas.microsoft.com/office/drawing/2014/main" id="{75DE50C4-497A-4E6F-8253-81B84A412D81}"/>
              </a:ext>
            </a:extLst>
          </p:cNvPr>
          <p:cNvSpPr>
            <a:spLocks xmlns:a="http://schemas.openxmlformats.org/drawingml/2006/main" noGrp="1"/>
          </p:cNvSpPr>
          <p:nvPr/>
        </p:nvSpPr>
        <p:spPr>
          <a:xfrm xmlns:a="http://schemas.openxmlformats.org/drawingml/2006/main">
            <a:off x="6324600" y="3638550"/>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STATUS</a:t>
            </a:r>
          </a:p>
        </p:txBody>
      </p:sp>
      <p:sp>
        <p:nvSpPr>
          <p:cNvPr id="22" name="">
            <a:extLst xmlns:a="http://schemas.openxmlformats.org/drawingml/2006/main">
              <a:ext uri="{FF2B5EF4-FFF2-40B4-BE49-F238E27FC236}">
                <a16:creationId xmlns:a16="http://schemas.microsoft.com/office/drawing/2014/main" id="{CB7AD474-BF69-4B5B-B301-03FFC950C116}"/>
              </a:ext>
            </a:extLst>
          </p:cNvPr>
          <p:cNvSpPr>
            <a:spLocks xmlns:a="http://schemas.openxmlformats.org/drawingml/2006/main" noGrp="1"/>
          </p:cNvSpPr>
          <p:nvPr/>
        </p:nvSpPr>
        <p:spPr>
          <a:xfrm xmlns:a="http://schemas.openxmlformats.org/drawingml/2006/main">
            <a:off x="6324600" y="4019550"/>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8A4C"/>
                </a:solidFill>
              </a:defRPr>
            </a:pPr>
            <a:r>
              <a:rPr sz="1200" b="1">
                <a:solidFill>
                  <a:srgbClr val="FF8A4C"/>
                </a:solidFill>
              </a:rPr>
              <a:t>degrada con chiarezza</a:t>
            </a:r>
          </a:p>
        </p:txBody>
      </p:sp>
      <p:sp>
        <p:nvSpPr>
          <p:cNvPr id="23" name="">
            <a:extLst xmlns:a="http://schemas.openxmlformats.org/drawingml/2006/main">
              <a:ext uri="{FF2B5EF4-FFF2-40B4-BE49-F238E27FC236}">
                <a16:creationId xmlns:a16="http://schemas.microsoft.com/office/drawing/2014/main" id="{DE663561-F649-4E9A-ACD6-511C781C1FDB}"/>
              </a:ext>
            </a:extLst>
          </p:cNvPr>
          <p:cNvSpPr>
            <a:spLocks xmlns:a="http://schemas.openxmlformats.org/drawingml/2006/main" noGrp="1"/>
          </p:cNvSpPr>
          <p:nvPr/>
        </p:nvSpPr>
        <p:spPr>
          <a:xfrm xmlns:a="http://schemas.openxmlformats.org/drawingml/2006/main">
            <a:off x="6324600" y="4381500"/>
            <a:ext cx="4676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“aggiornamento in corso”</a:t>
            </a:r>
          </a:p>
        </p:txBody>
      </p:sp>
      <p:sp>
        <p:nvSpPr>
          <p:cNvPr id="24" name="">
            <a:extLst xmlns:a="http://schemas.openxmlformats.org/drawingml/2006/main">
              <a:ext uri="{FF2B5EF4-FFF2-40B4-BE49-F238E27FC236}">
                <a16:creationId xmlns:a16="http://schemas.microsoft.com/office/drawing/2014/main" id="{C23E4BA0-1974-4402-A6DC-ADE0D37F10E7}"/>
              </a:ext>
            </a:extLst>
          </p:cNvPr>
          <p:cNvSpPr>
            <a:spLocks xmlns:a="http://schemas.openxmlformats.org/drawingml/2006/main" noGrp="1"/>
          </p:cNvSpPr>
          <p:nvPr/>
        </p:nvSpPr>
        <p:spPr>
          <a:xfrm xmlns:a="http://schemas.openxmlformats.org/drawingml/2006/main">
            <a:off x="3190875" y="5381625"/>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La consistenza è anche un contratto con l’utente.</a:t>
            </a:r>
          </a:p>
        </p:txBody>
      </p:sp>
    </p:spTree>
    <p:extLst>
      <p:ext uri="{BB962C8B-B14F-4D97-AF65-F5344CB8AC3E}">
        <p14:creationId xmlns:p14="http://schemas.microsoft.com/office/powerpoint/2010/main" val="1143978825"/>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172D5C-6F1E-45AB-80E2-F75954F3042C}"/>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READ PATH</a:t>
            </a:r>
          </a:p>
        </p:txBody>
      </p:sp>
      <p:sp>
        <p:nvSpPr>
          <p:cNvPr id="2" name="">
            <a:extLst xmlns:a="http://schemas.openxmlformats.org/drawingml/2006/main">
              <a:ext uri="{FF2B5EF4-FFF2-40B4-BE49-F238E27FC236}">
                <a16:creationId xmlns:a16="http://schemas.microsoft.com/office/drawing/2014/main" id="{D85E831F-ECB4-48DC-B2A5-C8E9C1B2C454}"/>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Cache-aside: la cache accelera, la fonte decide</a:t>
            </a:r>
          </a:p>
        </p:txBody>
      </p:sp>
      <p:sp>
        <p:nvSpPr>
          <p:cNvPr id="3" name="">
            <a:extLst xmlns:a="http://schemas.openxmlformats.org/drawingml/2006/main">
              <a:ext uri="{FF2B5EF4-FFF2-40B4-BE49-F238E27FC236}">
                <a16:creationId xmlns:a16="http://schemas.microsoft.com/office/drawing/2014/main" id="{FFC8F13F-6AA7-46F7-A9F6-63646CFF9A41}"/>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23</a:t>
            </a:r>
          </a:p>
        </p:txBody>
      </p:sp>
      <p:sp>
        <p:nvSpPr>
          <p:cNvPr id="4" name="">
            <a:extLst xmlns:a="http://schemas.openxmlformats.org/drawingml/2006/main">
              <a:ext uri="{FF2B5EF4-FFF2-40B4-BE49-F238E27FC236}">
                <a16:creationId xmlns:a16="http://schemas.microsoft.com/office/drawing/2014/main" id="{8A2EC66F-8AAF-4729-92E0-0F352B8157D1}"/>
              </a:ext>
            </a:extLst>
          </p:cNvPr>
          <p:cNvSpPr>
            <a:spLocks xmlns:a="http://schemas.openxmlformats.org/drawingml/2006/main" noGrp="1"/>
          </p:cNvSpPr>
          <p:nvPr/>
        </p:nvSpPr>
        <p:spPr>
          <a:xfrm xmlns:a="http://schemas.openxmlformats.org/drawingml/2006/main">
            <a:off x="819150" y="17145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8A4C"/>
                </a:solidFill>
              </a:defRPr>
            </a:pPr>
            <a:r>
              <a:rPr sz="1800" b="1">
                <a:solidFill>
                  <a:srgbClr val="FF8A4C"/>
                </a:solidFill>
              </a:rPr>
              <a:t>01</a:t>
            </a:r>
          </a:p>
        </p:txBody>
      </p:sp>
      <p:sp>
        <p:nvSpPr>
          <p:cNvPr id="5" name="">
            <a:extLst xmlns:a="http://schemas.openxmlformats.org/drawingml/2006/main">
              <a:ext uri="{FF2B5EF4-FFF2-40B4-BE49-F238E27FC236}">
                <a16:creationId xmlns:a16="http://schemas.microsoft.com/office/drawing/2014/main" id="{4A6B5927-BCBC-4AD4-9359-A8992991B5EE}"/>
              </a:ext>
            </a:extLst>
          </p:cNvPr>
          <p:cNvSpPr>
            <a:spLocks xmlns:a="http://schemas.openxmlformats.org/drawingml/2006/main" noGrp="1"/>
          </p:cNvSpPr>
          <p:nvPr/>
        </p:nvSpPr>
        <p:spPr>
          <a:xfrm xmlns:a="http://schemas.openxmlformats.org/drawingml/2006/main">
            <a:off x="1714500" y="1714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LOOKUP</a:t>
            </a:r>
          </a:p>
        </p:txBody>
      </p:sp>
      <p:sp>
        <p:nvSpPr>
          <p:cNvPr id="6" name="">
            <a:extLst xmlns:a="http://schemas.openxmlformats.org/drawingml/2006/main">
              <a:ext uri="{FF2B5EF4-FFF2-40B4-BE49-F238E27FC236}">
                <a16:creationId xmlns:a16="http://schemas.microsoft.com/office/drawing/2014/main" id="{4B5845C2-1578-440A-8329-7879D2A5A8C0}"/>
              </a:ext>
            </a:extLst>
          </p:cNvPr>
          <p:cNvSpPr>
            <a:spLocks xmlns:a="http://schemas.openxmlformats.org/drawingml/2006/main" noGrp="1"/>
          </p:cNvSpPr>
          <p:nvPr/>
        </p:nvSpPr>
        <p:spPr>
          <a:xfrm xmlns:a="http://schemas.openxmlformats.org/drawingml/2006/main">
            <a:off x="4762500" y="1714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l’applicazione chiede la chiave alla cache</a:t>
            </a:r>
          </a:p>
        </p:txBody>
      </p:sp>
      <p:sp>
        <p:nvSpPr>
          <p:cNvPr id="7" name="">
            <a:extLst xmlns:a="http://schemas.openxmlformats.org/drawingml/2006/main">
              <a:ext uri="{FF2B5EF4-FFF2-40B4-BE49-F238E27FC236}">
                <a16:creationId xmlns:a16="http://schemas.microsoft.com/office/drawing/2014/main" id="{8B1D0C4F-4171-4F43-8B99-C932EEFD3B7A}"/>
              </a:ext>
            </a:extLst>
          </p:cNvPr>
          <p:cNvSpPr>
            <a:spLocks xmlns:a="http://schemas.openxmlformats.org/drawingml/2006/main" noGrp="1"/>
          </p:cNvSpPr>
          <p:nvPr/>
        </p:nvSpPr>
        <p:spPr>
          <a:xfrm xmlns:a="http://schemas.openxmlformats.org/drawingml/2006/main">
            <a:off x="819150" y="25717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B8D9"/>
                </a:solidFill>
              </a:defRPr>
            </a:pPr>
            <a:r>
              <a:rPr sz="1800" b="1">
                <a:solidFill>
                  <a:srgbClr val="00B8D9"/>
                </a:solidFill>
              </a:rPr>
              <a:t>02</a:t>
            </a:r>
          </a:p>
        </p:txBody>
      </p:sp>
      <p:sp>
        <p:nvSpPr>
          <p:cNvPr id="8" name="">
            <a:extLst xmlns:a="http://schemas.openxmlformats.org/drawingml/2006/main">
              <a:ext uri="{FF2B5EF4-FFF2-40B4-BE49-F238E27FC236}">
                <a16:creationId xmlns:a16="http://schemas.microsoft.com/office/drawing/2014/main" id="{FC80C230-B6FF-4FBB-B7E7-ECEE5BA81450}"/>
              </a:ext>
            </a:extLst>
          </p:cNvPr>
          <p:cNvSpPr>
            <a:spLocks xmlns:a="http://schemas.openxmlformats.org/drawingml/2006/main" noGrp="1"/>
          </p:cNvSpPr>
          <p:nvPr/>
        </p:nvSpPr>
        <p:spPr>
          <a:xfrm xmlns:a="http://schemas.openxmlformats.org/drawingml/2006/main">
            <a:off x="1714500" y="25717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MISS</a:t>
            </a:r>
          </a:p>
        </p:txBody>
      </p:sp>
      <p:sp>
        <p:nvSpPr>
          <p:cNvPr id="9" name="">
            <a:extLst xmlns:a="http://schemas.openxmlformats.org/drawingml/2006/main">
              <a:ext uri="{FF2B5EF4-FFF2-40B4-BE49-F238E27FC236}">
                <a16:creationId xmlns:a16="http://schemas.microsoft.com/office/drawing/2014/main" id="{A9A47EEE-D826-4EFA-A36A-EBC981E708FD}"/>
              </a:ext>
            </a:extLst>
          </p:cNvPr>
          <p:cNvSpPr>
            <a:spLocks xmlns:a="http://schemas.openxmlformats.org/drawingml/2006/main" noGrp="1"/>
          </p:cNvSpPr>
          <p:nvPr/>
        </p:nvSpPr>
        <p:spPr>
          <a:xfrm xmlns:a="http://schemas.openxmlformats.org/drawingml/2006/main">
            <a:off x="4762500" y="257175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legge la fonte autorevole</a:t>
            </a:r>
          </a:p>
        </p:txBody>
      </p:sp>
      <p:sp>
        <p:nvSpPr>
          <p:cNvPr id="10" name="">
            <a:extLst xmlns:a="http://schemas.openxmlformats.org/drawingml/2006/main">
              <a:ext uri="{FF2B5EF4-FFF2-40B4-BE49-F238E27FC236}">
                <a16:creationId xmlns:a16="http://schemas.microsoft.com/office/drawing/2014/main" id="{A7F24718-DCB3-414B-BCCF-26314150CD65}"/>
              </a:ext>
            </a:extLst>
          </p:cNvPr>
          <p:cNvSpPr>
            <a:spLocks xmlns:a="http://schemas.openxmlformats.org/drawingml/2006/main" noGrp="1"/>
          </p:cNvSpPr>
          <p:nvPr/>
        </p:nvSpPr>
        <p:spPr>
          <a:xfrm xmlns:a="http://schemas.openxmlformats.org/drawingml/2006/main">
            <a:off x="819150" y="34290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7C6EE6"/>
                </a:solidFill>
              </a:defRPr>
            </a:pPr>
            <a:r>
              <a:rPr sz="1800" b="1">
                <a:solidFill>
                  <a:srgbClr val="7C6EE6"/>
                </a:solidFill>
              </a:rPr>
              <a:t>03</a:t>
            </a:r>
          </a:p>
        </p:txBody>
      </p:sp>
      <p:sp>
        <p:nvSpPr>
          <p:cNvPr id="11" name="">
            <a:extLst xmlns:a="http://schemas.openxmlformats.org/drawingml/2006/main">
              <a:ext uri="{FF2B5EF4-FFF2-40B4-BE49-F238E27FC236}">
                <a16:creationId xmlns:a16="http://schemas.microsoft.com/office/drawing/2014/main" id="{4942B21E-AD81-4D8B-A2CD-4F91A8DEDA6D}"/>
              </a:ext>
            </a:extLst>
          </p:cNvPr>
          <p:cNvSpPr>
            <a:spLocks xmlns:a="http://schemas.openxmlformats.org/drawingml/2006/main" noGrp="1"/>
          </p:cNvSpPr>
          <p:nvPr/>
        </p:nvSpPr>
        <p:spPr>
          <a:xfrm xmlns:a="http://schemas.openxmlformats.org/drawingml/2006/main">
            <a:off x="1714500" y="3429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FILL</a:t>
            </a:r>
          </a:p>
        </p:txBody>
      </p:sp>
      <p:sp>
        <p:nvSpPr>
          <p:cNvPr id="12" name="">
            <a:extLst xmlns:a="http://schemas.openxmlformats.org/drawingml/2006/main">
              <a:ext uri="{FF2B5EF4-FFF2-40B4-BE49-F238E27FC236}">
                <a16:creationId xmlns:a16="http://schemas.microsoft.com/office/drawing/2014/main" id="{EFAE4324-89BE-452C-B715-6048F29D4AD2}"/>
              </a:ext>
            </a:extLst>
          </p:cNvPr>
          <p:cNvSpPr>
            <a:spLocks xmlns:a="http://schemas.openxmlformats.org/drawingml/2006/main" noGrp="1"/>
          </p:cNvSpPr>
          <p:nvPr/>
        </p:nvSpPr>
        <p:spPr>
          <a:xfrm xmlns:a="http://schemas.openxmlformats.org/drawingml/2006/main">
            <a:off x="4762500" y="34290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scrive il valore in cache con TTL</a:t>
            </a:r>
          </a:p>
        </p:txBody>
      </p:sp>
      <p:sp>
        <p:nvSpPr>
          <p:cNvPr id="13" name="">
            <a:extLst xmlns:a="http://schemas.openxmlformats.org/drawingml/2006/main">
              <a:ext uri="{FF2B5EF4-FFF2-40B4-BE49-F238E27FC236}">
                <a16:creationId xmlns:a16="http://schemas.microsoft.com/office/drawing/2014/main" id="{033029F6-B3FD-4996-A210-7A0ABC922F6A}"/>
              </a:ext>
            </a:extLst>
          </p:cNvPr>
          <p:cNvSpPr>
            <a:spLocks xmlns:a="http://schemas.openxmlformats.org/drawingml/2006/main" noGrp="1"/>
          </p:cNvSpPr>
          <p:nvPr/>
        </p:nvSpPr>
        <p:spPr>
          <a:xfrm xmlns:a="http://schemas.openxmlformats.org/drawingml/2006/main">
            <a:off x="819150" y="42862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7E34B"/>
                </a:solidFill>
              </a:defRPr>
            </a:pPr>
            <a:r>
              <a:rPr sz="1800" b="1">
                <a:solidFill>
                  <a:srgbClr val="B7E34B"/>
                </a:solidFill>
              </a:rPr>
              <a:t>04</a:t>
            </a:r>
          </a:p>
        </p:txBody>
      </p:sp>
      <p:sp>
        <p:nvSpPr>
          <p:cNvPr id="14" name="">
            <a:extLst xmlns:a="http://schemas.openxmlformats.org/drawingml/2006/main">
              <a:ext uri="{FF2B5EF4-FFF2-40B4-BE49-F238E27FC236}">
                <a16:creationId xmlns:a16="http://schemas.microsoft.com/office/drawing/2014/main" id="{F7B5E836-E5F3-42C8-A140-B7BB1949D8C8}"/>
              </a:ext>
            </a:extLst>
          </p:cNvPr>
          <p:cNvSpPr>
            <a:spLocks xmlns:a="http://schemas.openxmlformats.org/drawingml/2006/main" noGrp="1"/>
          </p:cNvSpPr>
          <p:nvPr/>
        </p:nvSpPr>
        <p:spPr>
          <a:xfrm xmlns:a="http://schemas.openxmlformats.org/drawingml/2006/main">
            <a:off x="1714500" y="42862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RETURN</a:t>
            </a:r>
          </a:p>
        </p:txBody>
      </p:sp>
      <p:sp>
        <p:nvSpPr>
          <p:cNvPr id="15" name="">
            <a:extLst xmlns:a="http://schemas.openxmlformats.org/drawingml/2006/main">
              <a:ext uri="{FF2B5EF4-FFF2-40B4-BE49-F238E27FC236}">
                <a16:creationId xmlns:a16="http://schemas.microsoft.com/office/drawing/2014/main" id="{A820240F-92F7-481A-ABBA-600BEC86DF31}"/>
              </a:ext>
            </a:extLst>
          </p:cNvPr>
          <p:cNvSpPr>
            <a:spLocks xmlns:a="http://schemas.openxmlformats.org/drawingml/2006/main" noGrp="1"/>
          </p:cNvSpPr>
          <p:nvPr/>
        </p:nvSpPr>
        <p:spPr>
          <a:xfrm xmlns:a="http://schemas.openxmlformats.org/drawingml/2006/main">
            <a:off x="4762500" y="428625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restituisce il valore al client</a:t>
            </a:r>
          </a:p>
        </p:txBody>
      </p:sp>
      <p:sp>
        <p:nvSpPr>
          <p:cNvPr id="16" name="">
            <a:extLst xmlns:a="http://schemas.openxmlformats.org/drawingml/2006/main">
              <a:ext uri="{FF2B5EF4-FFF2-40B4-BE49-F238E27FC236}">
                <a16:creationId xmlns:a16="http://schemas.microsoft.com/office/drawing/2014/main" id="{5FAABAF7-5C96-43A1-946F-AFAF8580D91D}"/>
              </a:ext>
            </a:extLst>
          </p:cNvPr>
          <p:cNvSpPr>
            <a:spLocks xmlns:a="http://schemas.openxmlformats.org/drawingml/2006/main" noGrp="1"/>
          </p:cNvSpPr>
          <p:nvPr/>
        </p:nvSpPr>
        <p:spPr>
          <a:xfrm xmlns:a="http://schemas.openxmlformats.org/drawingml/2006/main">
            <a:off x="3048000" y="538162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EF5A5A"/>
                </a:solidFill>
              </a:defRPr>
            </a:pPr>
            <a:r>
              <a:rPr sz="1800" b="1">
                <a:solidFill>
                  <a:srgbClr val="EF5A5A"/>
                </a:solidFill>
              </a:rPr>
              <a:t>Write: aggiorna la fonte, poi invalida la chiave.</a:t>
            </a:r>
          </a:p>
        </p:txBody>
      </p:sp>
    </p:spTree>
    <p:extLst>
      <p:ext uri="{BB962C8B-B14F-4D97-AF65-F5344CB8AC3E}">
        <p14:creationId xmlns:p14="http://schemas.microsoft.com/office/powerpoint/2010/main" val="1235615842"/>
      </p:ext>
    </p:extLst>
  </p:cSld>
</p:sld>
</file>

<file path=ppt/slides/slide24.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37307B4-7236-43A8-903A-4964ED2EFB51}"/>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CACHE INVALIDATION</a:t>
            </a:r>
          </a:p>
        </p:txBody>
      </p:sp>
      <p:sp>
        <p:nvSpPr>
          <p:cNvPr id="2" name="">
            <a:extLst xmlns:a="http://schemas.openxmlformats.org/drawingml/2006/main">
              <a:ext uri="{FF2B5EF4-FFF2-40B4-BE49-F238E27FC236}">
                <a16:creationId xmlns:a16="http://schemas.microsoft.com/office/drawing/2014/main" id="{24317F9A-1AFB-4555-801B-7CB90B45665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Anche l’ordine update–invalidate contiene una race</a:t>
            </a:r>
          </a:p>
        </p:txBody>
      </p:sp>
      <p:sp>
        <p:nvSpPr>
          <p:cNvPr id="3" name="">
            <a:extLst xmlns:a="http://schemas.openxmlformats.org/drawingml/2006/main">
              <a:ext uri="{FF2B5EF4-FFF2-40B4-BE49-F238E27FC236}">
                <a16:creationId xmlns:a16="http://schemas.microsoft.com/office/drawing/2014/main" id="{63B795B0-9F46-4B35-B68A-D9C14E1ED8CA}"/>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24</a:t>
            </a:r>
          </a:p>
        </p:txBody>
      </p:sp>
      <p:sp>
        <p:nvSpPr>
          <p:cNvPr id="4" name="">
            <a:extLst xmlns:a="http://schemas.openxmlformats.org/drawingml/2006/main">
              <a:ext uri="{FF2B5EF4-FFF2-40B4-BE49-F238E27FC236}">
                <a16:creationId xmlns:a16="http://schemas.microsoft.com/office/drawing/2014/main" id="{AAF7EF47-E4AD-47C6-8E94-108E908179C5}"/>
              </a:ext>
            </a:extLst>
          </p:cNvPr>
          <p:cNvSpPr>
            <a:spLocks xmlns:a="http://schemas.openxmlformats.org/drawingml/2006/main" noGrp="1"/>
          </p:cNvSpPr>
          <p:nvPr/>
        </p:nvSpPr>
        <p:spPr>
          <a:xfrm xmlns:a="http://schemas.openxmlformats.org/drawingml/2006/main">
            <a:off x="1047750" y="171450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EF5A5A"/>
                </a:solidFill>
              </a:defRPr>
            </a:pPr>
            <a:r>
              <a:rPr sz="1650" b="1">
                <a:solidFill>
                  <a:srgbClr val="EF5A5A"/>
                </a:solidFill>
              </a:rPr>
              <a:t>SBAGLIATO</a:t>
            </a:r>
          </a:p>
        </p:txBody>
      </p:sp>
      <p:sp>
        <p:nvSpPr>
          <p:cNvPr id="5" name="">
            <a:extLst xmlns:a="http://schemas.openxmlformats.org/drawingml/2006/main">
              <a:ext uri="{FF2B5EF4-FFF2-40B4-BE49-F238E27FC236}">
                <a16:creationId xmlns:a16="http://schemas.microsoft.com/office/drawing/2014/main" id="{AB96ED54-A6A1-4EE9-877E-7FC9B6E20E35}"/>
              </a:ext>
            </a:extLst>
          </p:cNvPr>
          <p:cNvSpPr>
            <a:spLocks xmlns:a="http://schemas.openxmlformats.org/drawingml/2006/main" noGrp="1"/>
          </p:cNvSpPr>
          <p:nvPr/>
        </p:nvSpPr>
        <p:spPr>
          <a:xfrm xmlns:a="http://schemas.openxmlformats.org/drawingml/2006/main">
            <a:off x="819150" y="22860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EF5A5A"/>
                </a:solidFill>
              </a:defRPr>
            </a:pPr>
            <a:r>
              <a:rPr sz="1800" b="1">
                <a:solidFill>
                  <a:srgbClr val="EF5A5A"/>
                </a:solidFill>
              </a:rPr>
              <a:t>01</a:t>
            </a:r>
          </a:p>
        </p:txBody>
      </p:sp>
      <p:sp>
        <p:nvSpPr>
          <p:cNvPr id="6" name="">
            <a:extLst xmlns:a="http://schemas.openxmlformats.org/drawingml/2006/main">
              <a:ext uri="{FF2B5EF4-FFF2-40B4-BE49-F238E27FC236}">
                <a16:creationId xmlns:a16="http://schemas.microsoft.com/office/drawing/2014/main" id="{52BF1EA0-D668-4DB6-8899-752A77B523A9}"/>
              </a:ext>
            </a:extLst>
          </p:cNvPr>
          <p:cNvSpPr>
            <a:spLocks xmlns:a="http://schemas.openxmlformats.org/drawingml/2006/main" noGrp="1"/>
          </p:cNvSpPr>
          <p:nvPr/>
        </p:nvSpPr>
        <p:spPr>
          <a:xfrm xmlns:a="http://schemas.openxmlformats.org/drawingml/2006/main">
            <a:off x="1714500" y="2286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DELETE CACHE</a:t>
            </a:r>
          </a:p>
        </p:txBody>
      </p:sp>
      <p:sp>
        <p:nvSpPr>
          <p:cNvPr id="7" name="">
            <a:extLst xmlns:a="http://schemas.openxmlformats.org/drawingml/2006/main">
              <a:ext uri="{FF2B5EF4-FFF2-40B4-BE49-F238E27FC236}">
                <a16:creationId xmlns:a16="http://schemas.microsoft.com/office/drawing/2014/main" id="{3ECFB4F0-D34C-438E-A2A6-AFC0420616A1}"/>
              </a:ext>
            </a:extLst>
          </p:cNvPr>
          <p:cNvSpPr>
            <a:spLocks xmlns:a="http://schemas.openxmlformats.org/drawingml/2006/main" noGrp="1"/>
          </p:cNvSpPr>
          <p:nvPr/>
        </p:nvSpPr>
        <p:spPr>
          <a:xfrm xmlns:a="http://schemas.openxmlformats.org/drawingml/2006/main">
            <a:off x="4762500" y="22860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rimuove la chiave</a:t>
            </a:r>
          </a:p>
        </p:txBody>
      </p:sp>
      <p:sp>
        <p:nvSpPr>
          <p:cNvPr id="8" name="">
            <a:extLst xmlns:a="http://schemas.openxmlformats.org/drawingml/2006/main">
              <a:ext uri="{FF2B5EF4-FFF2-40B4-BE49-F238E27FC236}">
                <a16:creationId xmlns:a16="http://schemas.microsoft.com/office/drawing/2014/main" id="{3402F02A-2092-409E-931B-CE64D7C8604B}"/>
              </a:ext>
            </a:extLst>
          </p:cNvPr>
          <p:cNvSpPr>
            <a:spLocks xmlns:a="http://schemas.openxmlformats.org/drawingml/2006/main" noGrp="1"/>
          </p:cNvSpPr>
          <p:nvPr/>
        </p:nvSpPr>
        <p:spPr>
          <a:xfrm xmlns:a="http://schemas.openxmlformats.org/drawingml/2006/main">
            <a:off x="819150" y="30480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8A4C"/>
                </a:solidFill>
              </a:defRPr>
            </a:pPr>
            <a:r>
              <a:rPr sz="1800" b="1">
                <a:solidFill>
                  <a:srgbClr val="FF8A4C"/>
                </a:solidFill>
              </a:rPr>
              <a:t>02</a:t>
            </a:r>
          </a:p>
        </p:txBody>
      </p:sp>
      <p:sp>
        <p:nvSpPr>
          <p:cNvPr id="9" name="">
            <a:extLst xmlns:a="http://schemas.openxmlformats.org/drawingml/2006/main">
              <a:ext uri="{FF2B5EF4-FFF2-40B4-BE49-F238E27FC236}">
                <a16:creationId xmlns:a16="http://schemas.microsoft.com/office/drawing/2014/main" id="{D198DE5E-6DD3-447F-A9EB-44A6233EC1EC}"/>
              </a:ext>
            </a:extLst>
          </p:cNvPr>
          <p:cNvSpPr>
            <a:spLocks xmlns:a="http://schemas.openxmlformats.org/drawingml/2006/main" noGrp="1"/>
          </p:cNvSpPr>
          <p:nvPr/>
        </p:nvSpPr>
        <p:spPr>
          <a:xfrm xmlns:a="http://schemas.openxmlformats.org/drawingml/2006/main">
            <a:off x="1714500" y="3048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CONCURRENT READ</a:t>
            </a:r>
          </a:p>
        </p:txBody>
      </p:sp>
      <p:sp>
        <p:nvSpPr>
          <p:cNvPr id="10" name="">
            <a:extLst xmlns:a="http://schemas.openxmlformats.org/drawingml/2006/main">
              <a:ext uri="{FF2B5EF4-FFF2-40B4-BE49-F238E27FC236}">
                <a16:creationId xmlns:a16="http://schemas.microsoft.com/office/drawing/2014/main" id="{E7F56435-F515-4A03-9B1B-A6AEF5166985}"/>
              </a:ext>
            </a:extLst>
          </p:cNvPr>
          <p:cNvSpPr>
            <a:spLocks xmlns:a="http://schemas.openxmlformats.org/drawingml/2006/main" noGrp="1"/>
          </p:cNvSpPr>
          <p:nvPr/>
        </p:nvSpPr>
        <p:spPr>
          <a:xfrm xmlns:a="http://schemas.openxmlformats.org/drawingml/2006/main">
            <a:off x="4762500" y="30480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rilegge il vecchio valore dal DB</a:t>
            </a:r>
          </a:p>
        </p:txBody>
      </p:sp>
      <p:sp>
        <p:nvSpPr>
          <p:cNvPr id="11" name="">
            <a:extLst xmlns:a="http://schemas.openxmlformats.org/drawingml/2006/main">
              <a:ext uri="{FF2B5EF4-FFF2-40B4-BE49-F238E27FC236}">
                <a16:creationId xmlns:a16="http://schemas.microsoft.com/office/drawing/2014/main" id="{2FD830C3-9004-4B01-8AD4-3B5E14ABC404}"/>
              </a:ext>
            </a:extLst>
          </p:cNvPr>
          <p:cNvSpPr>
            <a:spLocks xmlns:a="http://schemas.openxmlformats.org/drawingml/2006/main" noGrp="1"/>
          </p:cNvSpPr>
          <p:nvPr/>
        </p:nvSpPr>
        <p:spPr>
          <a:xfrm xmlns:a="http://schemas.openxmlformats.org/drawingml/2006/main">
            <a:off x="819150" y="38100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7C6EE6"/>
                </a:solidFill>
              </a:defRPr>
            </a:pPr>
            <a:r>
              <a:rPr sz="1800" b="1">
                <a:solidFill>
                  <a:srgbClr val="7C6EE6"/>
                </a:solidFill>
              </a:rPr>
              <a:t>03</a:t>
            </a:r>
          </a:p>
        </p:txBody>
      </p:sp>
      <p:sp>
        <p:nvSpPr>
          <p:cNvPr id="12" name="">
            <a:extLst xmlns:a="http://schemas.openxmlformats.org/drawingml/2006/main">
              <a:ext uri="{FF2B5EF4-FFF2-40B4-BE49-F238E27FC236}">
                <a16:creationId xmlns:a16="http://schemas.microsoft.com/office/drawing/2014/main" id="{5129CB6F-CABE-42D5-982C-3568D0A4FF45}"/>
              </a:ext>
            </a:extLst>
          </p:cNvPr>
          <p:cNvSpPr>
            <a:spLocks xmlns:a="http://schemas.openxmlformats.org/drawingml/2006/main" noGrp="1"/>
          </p:cNvSpPr>
          <p:nvPr/>
        </p:nvSpPr>
        <p:spPr>
          <a:xfrm xmlns:a="http://schemas.openxmlformats.org/drawingml/2006/main">
            <a:off x="1714500" y="3810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REFILL</a:t>
            </a:r>
          </a:p>
        </p:txBody>
      </p:sp>
      <p:sp>
        <p:nvSpPr>
          <p:cNvPr id="13" name="">
            <a:extLst xmlns:a="http://schemas.openxmlformats.org/drawingml/2006/main">
              <a:ext uri="{FF2B5EF4-FFF2-40B4-BE49-F238E27FC236}">
                <a16:creationId xmlns:a16="http://schemas.microsoft.com/office/drawing/2014/main" id="{4DA71962-81BD-4E8E-8B01-460BC5648194}"/>
              </a:ext>
            </a:extLst>
          </p:cNvPr>
          <p:cNvSpPr>
            <a:spLocks xmlns:a="http://schemas.openxmlformats.org/drawingml/2006/main" noGrp="1"/>
          </p:cNvSpPr>
          <p:nvPr/>
        </p:nvSpPr>
        <p:spPr>
          <a:xfrm xmlns:a="http://schemas.openxmlformats.org/drawingml/2006/main">
            <a:off x="4762500" y="38100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rimette il vecchio valore in cache</a:t>
            </a:r>
          </a:p>
        </p:txBody>
      </p:sp>
      <p:sp>
        <p:nvSpPr>
          <p:cNvPr id="14" name="">
            <a:extLst xmlns:a="http://schemas.openxmlformats.org/drawingml/2006/main">
              <a:ext uri="{FF2B5EF4-FFF2-40B4-BE49-F238E27FC236}">
                <a16:creationId xmlns:a16="http://schemas.microsoft.com/office/drawing/2014/main" id="{4546CAE4-4177-468B-982C-F69B175B7B0C}"/>
              </a:ext>
            </a:extLst>
          </p:cNvPr>
          <p:cNvSpPr>
            <a:spLocks xmlns:a="http://schemas.openxmlformats.org/drawingml/2006/main" noGrp="1"/>
          </p:cNvSpPr>
          <p:nvPr/>
        </p:nvSpPr>
        <p:spPr>
          <a:xfrm xmlns:a="http://schemas.openxmlformats.org/drawingml/2006/main">
            <a:off x="819150" y="45720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B8D9"/>
                </a:solidFill>
              </a:defRPr>
            </a:pPr>
            <a:r>
              <a:rPr sz="1800" b="1">
                <a:solidFill>
                  <a:srgbClr val="00B8D9"/>
                </a:solidFill>
              </a:rPr>
              <a:t>04</a:t>
            </a:r>
          </a:p>
        </p:txBody>
      </p:sp>
      <p:sp>
        <p:nvSpPr>
          <p:cNvPr id="15" name="">
            <a:extLst xmlns:a="http://schemas.openxmlformats.org/drawingml/2006/main">
              <a:ext uri="{FF2B5EF4-FFF2-40B4-BE49-F238E27FC236}">
                <a16:creationId xmlns:a16="http://schemas.microsoft.com/office/drawing/2014/main" id="{EE2B534F-B44D-4390-8D3C-19487144FDA9}"/>
              </a:ext>
            </a:extLst>
          </p:cNvPr>
          <p:cNvSpPr>
            <a:spLocks xmlns:a="http://schemas.openxmlformats.org/drawingml/2006/main" noGrp="1"/>
          </p:cNvSpPr>
          <p:nvPr/>
        </p:nvSpPr>
        <p:spPr>
          <a:xfrm xmlns:a="http://schemas.openxmlformats.org/drawingml/2006/main">
            <a:off x="1714500" y="4572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UPDATE DB</a:t>
            </a:r>
          </a:p>
        </p:txBody>
      </p:sp>
      <p:sp>
        <p:nvSpPr>
          <p:cNvPr id="16" name="">
            <a:extLst xmlns:a="http://schemas.openxmlformats.org/drawingml/2006/main">
              <a:ext uri="{FF2B5EF4-FFF2-40B4-BE49-F238E27FC236}">
                <a16:creationId xmlns:a16="http://schemas.microsoft.com/office/drawing/2014/main" id="{F053E62D-CB07-4AEA-8B4E-98A99FE57C2F}"/>
              </a:ext>
            </a:extLst>
          </p:cNvPr>
          <p:cNvSpPr>
            <a:spLocks xmlns:a="http://schemas.openxmlformats.org/drawingml/2006/main" noGrp="1"/>
          </p:cNvSpPr>
          <p:nvPr/>
        </p:nvSpPr>
        <p:spPr>
          <a:xfrm xmlns:a="http://schemas.openxmlformats.org/drawingml/2006/main">
            <a:off x="4762500" y="45720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la fonte cambia, cache resta stale</a:t>
            </a:r>
          </a:p>
        </p:txBody>
      </p:sp>
      <p:sp>
        <p:nvSpPr>
          <p:cNvPr id="17" name="">
            <a:extLst xmlns:a="http://schemas.openxmlformats.org/drawingml/2006/main">
              <a:ext uri="{FF2B5EF4-FFF2-40B4-BE49-F238E27FC236}">
                <a16:creationId xmlns:a16="http://schemas.microsoft.com/office/drawing/2014/main" id="{E05A7371-AB32-41AF-A983-0CE5274812DC}"/>
              </a:ext>
            </a:extLst>
          </p:cNvPr>
          <p:cNvSpPr>
            <a:spLocks xmlns:a="http://schemas.openxmlformats.org/drawingml/2006/main" noGrp="1"/>
          </p:cNvSpPr>
          <p:nvPr/>
        </p:nvSpPr>
        <p:spPr>
          <a:xfrm xmlns:a="http://schemas.openxmlformats.org/drawingml/2006/main">
            <a:off x="7096125" y="2238375"/>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75" b="1">
                <a:solidFill>
                  <a:srgbClr val="B7E34B"/>
                </a:solidFill>
              </a:defRPr>
            </a:pPr>
            <a:r>
              <a:rPr sz="2175" b="1">
                <a:solidFill>
                  <a:srgbClr val="B7E34B"/>
                </a:solidFill>
              </a:rPr>
              <a:t>Preferisci: update source → invalidate cache.</a:t>
            </a:r>
          </a:p>
        </p:txBody>
      </p:sp>
      <p:sp>
        <p:nvSpPr>
          <p:cNvPr id="18" name="">
            <a:extLst xmlns:a="http://schemas.openxmlformats.org/drawingml/2006/main">
              <a:ext uri="{FF2B5EF4-FFF2-40B4-BE49-F238E27FC236}">
                <a16:creationId xmlns:a16="http://schemas.microsoft.com/office/drawing/2014/main" id="{CD13E117-6530-4C27-B95D-F00792B9B14B}"/>
              </a:ext>
            </a:extLst>
          </p:cNvPr>
          <p:cNvSpPr>
            <a:spLocks xmlns:a="http://schemas.openxmlformats.org/drawingml/2006/main" noGrp="1"/>
          </p:cNvSpPr>
          <p:nvPr/>
        </p:nvSpPr>
        <p:spPr>
          <a:xfrm xmlns:a="http://schemas.openxmlformats.org/drawingml/2006/main">
            <a:off x="7239000" y="333375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Poi misura miss, hit, eviction e stale read.</a:t>
            </a:r>
          </a:p>
        </p:txBody>
      </p:sp>
    </p:spTree>
    <p:extLst>
      <p:ext uri="{BB962C8B-B14F-4D97-AF65-F5344CB8AC3E}">
        <p14:creationId xmlns:p14="http://schemas.microsoft.com/office/powerpoint/2010/main" val="2126406629"/>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FCE7666-653F-4A4F-A0E7-FE218E9D9A62}"/>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CATALOG → SEARCH</a:t>
            </a:r>
          </a:p>
        </p:txBody>
      </p:sp>
      <p:sp>
        <p:nvSpPr>
          <p:cNvPr id="2" name="">
            <a:extLst xmlns:a="http://schemas.openxmlformats.org/drawingml/2006/main">
              <a:ext uri="{FF2B5EF4-FFF2-40B4-BE49-F238E27FC236}">
                <a16:creationId xmlns:a16="http://schemas.microsoft.com/office/drawing/2014/main" id="{4AC2833D-64B4-4770-8E3C-43AC51DB8498}"/>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Search è una projection: ranking veloce, verità altrove</a:t>
            </a:r>
          </a:p>
        </p:txBody>
      </p:sp>
      <p:sp>
        <p:nvSpPr>
          <p:cNvPr id="3" name="">
            <a:extLst xmlns:a="http://schemas.openxmlformats.org/drawingml/2006/main">
              <a:ext uri="{FF2B5EF4-FFF2-40B4-BE49-F238E27FC236}">
                <a16:creationId xmlns:a16="http://schemas.microsoft.com/office/drawing/2014/main" id="{29D0D791-BFFD-4284-A692-D334201FC3B8}"/>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25</a:t>
            </a:r>
          </a:p>
        </p:txBody>
      </p:sp>
      <p:sp>
        <p:nvSpPr>
          <p:cNvPr id="4" name="">
            <a:extLst xmlns:a="http://schemas.openxmlformats.org/drawingml/2006/main">
              <a:ext uri="{FF2B5EF4-FFF2-40B4-BE49-F238E27FC236}">
                <a16:creationId xmlns:a16="http://schemas.microsoft.com/office/drawing/2014/main" id="{7DE35CC7-0A37-4569-930B-EA726E23D0BB}"/>
              </a:ext>
            </a:extLst>
          </p:cNvPr>
          <p:cNvSpPr>
            <a:spLocks xmlns:a="http://schemas.openxmlformats.org/drawingml/2006/main" noGrp="1"/>
          </p:cNvSpPr>
          <p:nvPr/>
        </p:nvSpPr>
        <p:spPr>
          <a:xfrm xmlns:a="http://schemas.openxmlformats.org/drawingml/2006/main">
            <a:off x="1047750" y="1905000"/>
            <a:ext cx="2571750" cy="2667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A4B83B2D-308F-488B-A278-2B0697CD4DDE}"/>
              </a:ext>
            </a:extLst>
          </p:cNvPr>
          <p:cNvSpPr>
            <a:spLocks xmlns:a="http://schemas.openxmlformats.org/drawingml/2006/main" noGrp="1"/>
          </p:cNvSpPr>
          <p:nvPr/>
        </p:nvSpPr>
        <p:spPr>
          <a:xfrm xmlns:a="http://schemas.openxmlformats.org/drawingml/2006/main">
            <a:off x="1047750" y="1905000"/>
            <a:ext cx="2571750" cy="9525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6" name="">
            <a:extLst xmlns:a="http://schemas.openxmlformats.org/drawingml/2006/main">
              <a:ext uri="{FF2B5EF4-FFF2-40B4-BE49-F238E27FC236}">
                <a16:creationId xmlns:a16="http://schemas.microsoft.com/office/drawing/2014/main" id="{EFEC3FF4-307F-42C1-B242-8833C33A5C4C}"/>
              </a:ext>
            </a:extLst>
          </p:cNvPr>
          <p:cNvSpPr>
            <a:spLocks xmlns:a="http://schemas.openxmlformats.org/drawingml/2006/main" noGrp="1"/>
          </p:cNvSpPr>
          <p:nvPr/>
        </p:nvSpPr>
        <p:spPr>
          <a:xfrm xmlns:a="http://schemas.openxmlformats.org/drawingml/2006/main">
            <a:off x="1407795" y="2238375"/>
            <a:ext cx="1851660" cy="266700"/>
          </a:xfrm>
          <a:prstGeom xmlns:a="http://schemas.openxmlformats.org/drawingml/2006/main" prst="ellipse">
            <a:avLst/>
          </a:prstGeom>
          <a:solidFill xmlns:a="http://schemas.openxmlformats.org/drawingml/2006/main">
            <a:srgbClr val="7C6EE6"/>
          </a:solidFill>
          <a:ln xmlns:a="http://schemas.openxmlformats.org/drawingml/2006/main" w="9525">
            <a:solidFill>
              <a:srgbClr val="7C6EE6"/>
            </a:solidFill>
            <a:prstDash val="solid"/>
          </a:ln>
        </p:spPr>
      </p:sp>
      <p:sp>
        <p:nvSpPr>
          <p:cNvPr id="7" name="">
            <a:extLst xmlns:a="http://schemas.openxmlformats.org/drawingml/2006/main">
              <a:ext uri="{FF2B5EF4-FFF2-40B4-BE49-F238E27FC236}">
                <a16:creationId xmlns:a16="http://schemas.microsoft.com/office/drawing/2014/main" id="{CD2B67DF-7525-475C-BA10-D7B2CA64CDF1}"/>
              </a:ext>
            </a:extLst>
          </p:cNvPr>
          <p:cNvSpPr>
            <a:spLocks xmlns:a="http://schemas.openxmlformats.org/drawingml/2006/main" noGrp="1"/>
          </p:cNvSpPr>
          <p:nvPr/>
        </p:nvSpPr>
        <p:spPr>
          <a:xfrm xmlns:a="http://schemas.openxmlformats.org/drawingml/2006/main">
            <a:off x="1407795" y="2371725"/>
            <a:ext cx="1851660" cy="66675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8" name="">
            <a:extLst xmlns:a="http://schemas.openxmlformats.org/drawingml/2006/main">
              <a:ext uri="{FF2B5EF4-FFF2-40B4-BE49-F238E27FC236}">
                <a16:creationId xmlns:a16="http://schemas.microsoft.com/office/drawing/2014/main" id="{7CFEBA85-C8B7-429A-99D9-F1C99FE9A155}"/>
              </a:ext>
            </a:extLst>
          </p:cNvPr>
          <p:cNvSpPr>
            <a:spLocks xmlns:a="http://schemas.openxmlformats.org/drawingml/2006/main" noGrp="1"/>
          </p:cNvSpPr>
          <p:nvPr/>
        </p:nvSpPr>
        <p:spPr>
          <a:xfrm xmlns:a="http://schemas.openxmlformats.org/drawingml/2006/main">
            <a:off x="1407795" y="2857500"/>
            <a:ext cx="1851660" cy="266700"/>
          </a:xfrm>
          <a:prstGeom xmlns:a="http://schemas.openxmlformats.org/drawingml/2006/main" prst="ellipse">
            <a:avLst/>
          </a:prstGeom>
          <a:solidFill xmlns:a="http://schemas.openxmlformats.org/drawingml/2006/main">
            <a:srgbClr val="7C6EE6"/>
          </a:solidFill>
          <a:ln xmlns:a="http://schemas.openxmlformats.org/drawingml/2006/main" w="9525">
            <a:solidFill>
              <a:srgbClr val="7C6EE6"/>
            </a:solidFill>
            <a:prstDash val="solid"/>
          </a:ln>
        </p:spPr>
      </p:sp>
      <p:sp>
        <p:nvSpPr>
          <p:cNvPr id="9" name="">
            <a:extLst xmlns:a="http://schemas.openxmlformats.org/drawingml/2006/main">
              <a:ext uri="{FF2B5EF4-FFF2-40B4-BE49-F238E27FC236}">
                <a16:creationId xmlns:a16="http://schemas.microsoft.com/office/drawing/2014/main" id="{52481C1A-06D4-487E-9786-6C667FBC5E1A}"/>
              </a:ext>
            </a:extLst>
          </p:cNvPr>
          <p:cNvSpPr>
            <a:spLocks xmlns:a="http://schemas.openxmlformats.org/drawingml/2006/main" noGrp="1"/>
          </p:cNvSpPr>
          <p:nvPr/>
        </p:nvSpPr>
        <p:spPr>
          <a:xfrm xmlns:a="http://schemas.openxmlformats.org/drawingml/2006/main">
            <a:off x="1162050" y="401955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CATALOG</a:t>
            </a:r>
          </a:p>
        </p:txBody>
      </p:sp>
      <p:sp>
        <p:nvSpPr>
          <p:cNvPr id="10" name="">
            <a:extLst xmlns:a="http://schemas.openxmlformats.org/drawingml/2006/main">
              <a:ext uri="{FF2B5EF4-FFF2-40B4-BE49-F238E27FC236}">
                <a16:creationId xmlns:a16="http://schemas.microsoft.com/office/drawing/2014/main" id="{F41C46FB-6B89-4E21-BABF-57D2F7AAB752}"/>
              </a:ext>
            </a:extLst>
          </p:cNvPr>
          <p:cNvSpPr>
            <a:spLocks xmlns:a="http://schemas.openxmlformats.org/drawingml/2006/main" noGrp="1"/>
          </p:cNvSpPr>
          <p:nvPr/>
        </p:nvSpPr>
        <p:spPr>
          <a:xfrm xmlns:a="http://schemas.openxmlformats.org/drawingml/2006/main">
            <a:off x="1162050" y="4276725"/>
            <a:ext cx="2343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titolo autorevole</a:t>
            </a:r>
          </a:p>
        </p:txBody>
      </p:sp>
      <p:sp>
        <p:nvSpPr>
          <p:cNvPr id="11" name="">
            <a:extLst xmlns:a="http://schemas.openxmlformats.org/drawingml/2006/main">
              <a:ext uri="{FF2B5EF4-FFF2-40B4-BE49-F238E27FC236}">
                <a16:creationId xmlns:a16="http://schemas.microsoft.com/office/drawing/2014/main" id="{9E47496D-BD7B-42AB-8568-14C02FEB98E8}"/>
              </a:ext>
            </a:extLst>
          </p:cNvPr>
          <p:cNvSpPr>
            <a:spLocks xmlns:a="http://schemas.openxmlformats.org/drawingml/2006/main" noGrp="1"/>
          </p:cNvSpPr>
          <p:nvPr/>
        </p:nvSpPr>
        <p:spPr>
          <a:xfrm xmlns:a="http://schemas.openxmlformats.org/drawingml/2006/main">
            <a:off x="3905250" y="2838450"/>
            <a:ext cx="161925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2" name="">
            <a:extLst xmlns:a="http://schemas.openxmlformats.org/drawingml/2006/main">
              <a:ext uri="{FF2B5EF4-FFF2-40B4-BE49-F238E27FC236}">
                <a16:creationId xmlns:a16="http://schemas.microsoft.com/office/drawing/2014/main" id="{7A99642C-FCB5-4D53-A47E-AF14BB510EBD}"/>
              </a:ext>
            </a:extLst>
          </p:cNvPr>
          <p:cNvSpPr>
            <a:spLocks xmlns:a="http://schemas.openxmlformats.org/drawingml/2006/main" noGrp="1"/>
          </p:cNvSpPr>
          <p:nvPr/>
        </p:nvSpPr>
        <p:spPr>
          <a:xfrm xmlns:a="http://schemas.openxmlformats.org/drawingml/2006/main">
            <a:off x="5372100" y="26670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13" name="">
            <a:extLst xmlns:a="http://schemas.openxmlformats.org/drawingml/2006/main">
              <a:ext uri="{FF2B5EF4-FFF2-40B4-BE49-F238E27FC236}">
                <a16:creationId xmlns:a16="http://schemas.microsoft.com/office/drawing/2014/main" id="{CE5D60D6-3C18-46A0-840A-ADA77FDCCDEC}"/>
              </a:ext>
            </a:extLst>
          </p:cNvPr>
          <p:cNvSpPr>
            <a:spLocks xmlns:a="http://schemas.openxmlformats.org/drawingml/2006/main" noGrp="1"/>
          </p:cNvSpPr>
          <p:nvPr/>
        </p:nvSpPr>
        <p:spPr>
          <a:xfrm xmlns:a="http://schemas.openxmlformats.org/drawingml/2006/main">
            <a:off x="3905250" y="24955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MovieUpdated</a:t>
            </a:r>
          </a:p>
        </p:txBody>
      </p:sp>
      <p:sp>
        <p:nvSpPr>
          <p:cNvPr id="14" name="">
            <a:extLst xmlns:a="http://schemas.openxmlformats.org/drawingml/2006/main">
              <a:ext uri="{FF2B5EF4-FFF2-40B4-BE49-F238E27FC236}">
                <a16:creationId xmlns:a16="http://schemas.microsoft.com/office/drawing/2014/main" id="{E0E036B9-1B56-43AF-80A5-C0C3759A3607}"/>
              </a:ext>
            </a:extLst>
          </p:cNvPr>
          <p:cNvSpPr>
            <a:spLocks xmlns:a="http://schemas.openxmlformats.org/drawingml/2006/main" noGrp="1"/>
          </p:cNvSpPr>
          <p:nvPr/>
        </p:nvSpPr>
        <p:spPr>
          <a:xfrm xmlns:a="http://schemas.openxmlformats.org/drawingml/2006/main">
            <a:off x="6096000" y="1905000"/>
            <a:ext cx="2571750" cy="2667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038E4CFA-3498-402D-B696-8048CC6359F0}"/>
              </a:ext>
            </a:extLst>
          </p:cNvPr>
          <p:cNvSpPr>
            <a:spLocks xmlns:a="http://schemas.openxmlformats.org/drawingml/2006/main" noGrp="1"/>
          </p:cNvSpPr>
          <p:nvPr/>
        </p:nvSpPr>
        <p:spPr>
          <a:xfrm xmlns:a="http://schemas.openxmlformats.org/drawingml/2006/main">
            <a:off x="6096000" y="1905000"/>
            <a:ext cx="2571750" cy="95250"/>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16" name="">
            <a:extLst xmlns:a="http://schemas.openxmlformats.org/drawingml/2006/main">
              <a:ext uri="{FF2B5EF4-FFF2-40B4-BE49-F238E27FC236}">
                <a16:creationId xmlns:a16="http://schemas.microsoft.com/office/drawing/2014/main" id="{5D51ACAC-1D63-4F53-9AB4-6060A61DB784}"/>
              </a:ext>
            </a:extLst>
          </p:cNvPr>
          <p:cNvSpPr>
            <a:spLocks xmlns:a="http://schemas.openxmlformats.org/drawingml/2006/main" noGrp="1"/>
          </p:cNvSpPr>
          <p:nvPr/>
        </p:nvSpPr>
        <p:spPr>
          <a:xfrm xmlns:a="http://schemas.openxmlformats.org/drawingml/2006/main">
            <a:off x="6456045" y="2238375"/>
            <a:ext cx="1851660" cy="266700"/>
          </a:xfrm>
          <a:prstGeom xmlns:a="http://schemas.openxmlformats.org/drawingml/2006/main" prst="ellipse">
            <a:avLst/>
          </a:prstGeom>
          <a:solidFill xmlns:a="http://schemas.openxmlformats.org/drawingml/2006/main">
            <a:srgbClr val="EF5A5A"/>
          </a:solidFill>
          <a:ln xmlns:a="http://schemas.openxmlformats.org/drawingml/2006/main" w="9525">
            <a:solidFill>
              <a:srgbClr val="EF5A5A"/>
            </a:solidFill>
            <a:prstDash val="solid"/>
          </a:ln>
        </p:spPr>
      </p:sp>
      <p:sp>
        <p:nvSpPr>
          <p:cNvPr id="17" name="">
            <a:extLst xmlns:a="http://schemas.openxmlformats.org/drawingml/2006/main">
              <a:ext uri="{FF2B5EF4-FFF2-40B4-BE49-F238E27FC236}">
                <a16:creationId xmlns:a16="http://schemas.microsoft.com/office/drawing/2014/main" id="{B219C385-6DC8-41D5-9C00-B6D868CAEAE6}"/>
              </a:ext>
            </a:extLst>
          </p:cNvPr>
          <p:cNvSpPr>
            <a:spLocks xmlns:a="http://schemas.openxmlformats.org/drawingml/2006/main" noGrp="1"/>
          </p:cNvSpPr>
          <p:nvPr/>
        </p:nvSpPr>
        <p:spPr>
          <a:xfrm xmlns:a="http://schemas.openxmlformats.org/drawingml/2006/main">
            <a:off x="6456045" y="2371725"/>
            <a:ext cx="1851660" cy="666750"/>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18" name="">
            <a:extLst xmlns:a="http://schemas.openxmlformats.org/drawingml/2006/main">
              <a:ext uri="{FF2B5EF4-FFF2-40B4-BE49-F238E27FC236}">
                <a16:creationId xmlns:a16="http://schemas.microsoft.com/office/drawing/2014/main" id="{BB58375D-B87F-4A28-B05F-92798560ACF2}"/>
              </a:ext>
            </a:extLst>
          </p:cNvPr>
          <p:cNvSpPr>
            <a:spLocks xmlns:a="http://schemas.openxmlformats.org/drawingml/2006/main" noGrp="1"/>
          </p:cNvSpPr>
          <p:nvPr/>
        </p:nvSpPr>
        <p:spPr>
          <a:xfrm xmlns:a="http://schemas.openxmlformats.org/drawingml/2006/main">
            <a:off x="6456045" y="2857500"/>
            <a:ext cx="1851660" cy="266700"/>
          </a:xfrm>
          <a:prstGeom xmlns:a="http://schemas.openxmlformats.org/drawingml/2006/main" prst="ellipse">
            <a:avLst/>
          </a:prstGeom>
          <a:solidFill xmlns:a="http://schemas.openxmlformats.org/drawingml/2006/main">
            <a:srgbClr val="EF5A5A"/>
          </a:solidFill>
          <a:ln xmlns:a="http://schemas.openxmlformats.org/drawingml/2006/main" w="9525">
            <a:solidFill>
              <a:srgbClr val="EF5A5A"/>
            </a:solidFill>
            <a:prstDash val="solid"/>
          </a:ln>
        </p:spPr>
      </p:sp>
      <p:sp>
        <p:nvSpPr>
          <p:cNvPr id="19" name="">
            <a:extLst xmlns:a="http://schemas.openxmlformats.org/drawingml/2006/main">
              <a:ext uri="{FF2B5EF4-FFF2-40B4-BE49-F238E27FC236}">
                <a16:creationId xmlns:a16="http://schemas.microsoft.com/office/drawing/2014/main" id="{B9CAFE34-99F1-4F82-8D97-1E1875CDC11C}"/>
              </a:ext>
            </a:extLst>
          </p:cNvPr>
          <p:cNvSpPr>
            <a:spLocks xmlns:a="http://schemas.openxmlformats.org/drawingml/2006/main" noGrp="1"/>
          </p:cNvSpPr>
          <p:nvPr/>
        </p:nvSpPr>
        <p:spPr>
          <a:xfrm xmlns:a="http://schemas.openxmlformats.org/drawingml/2006/main">
            <a:off x="6210300" y="401955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SEARCH</a:t>
            </a:r>
          </a:p>
        </p:txBody>
      </p:sp>
      <p:sp>
        <p:nvSpPr>
          <p:cNvPr id="20" name="">
            <a:extLst xmlns:a="http://schemas.openxmlformats.org/drawingml/2006/main">
              <a:ext uri="{FF2B5EF4-FFF2-40B4-BE49-F238E27FC236}">
                <a16:creationId xmlns:a16="http://schemas.microsoft.com/office/drawing/2014/main" id="{0E6C56B7-D357-4835-B540-4C8ACA4954B4}"/>
              </a:ext>
            </a:extLst>
          </p:cNvPr>
          <p:cNvSpPr>
            <a:spLocks xmlns:a="http://schemas.openxmlformats.org/drawingml/2006/main" noGrp="1"/>
          </p:cNvSpPr>
          <p:nvPr/>
        </p:nvSpPr>
        <p:spPr>
          <a:xfrm xmlns:a="http://schemas.openxmlformats.org/drawingml/2006/main">
            <a:off x="6210300" y="4276725"/>
            <a:ext cx="2343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52606D"/>
                </a:solidFill>
              </a:defRPr>
            </a:pPr>
            <a:r>
              <a:rPr sz="1050" b="0">
                <a:solidFill>
                  <a:srgbClr val="52606D"/>
                </a:solidFill>
              </a:rPr>
              <a:t>text + keyword</a:t>
            </a:r>
          </a:p>
        </p:txBody>
      </p:sp>
      <p:sp>
        <p:nvSpPr>
          <p:cNvPr id="21" name="">
            <a:extLst xmlns:a="http://schemas.openxmlformats.org/drawingml/2006/main">
              <a:ext uri="{FF2B5EF4-FFF2-40B4-BE49-F238E27FC236}">
                <a16:creationId xmlns:a16="http://schemas.microsoft.com/office/drawing/2014/main" id="{9459A001-AB28-4EA8-A93A-CB169AF23645}"/>
              </a:ext>
            </a:extLst>
          </p:cNvPr>
          <p:cNvSpPr>
            <a:spLocks xmlns:a="http://schemas.openxmlformats.org/drawingml/2006/main" noGrp="1"/>
          </p:cNvSpPr>
          <p:nvPr/>
        </p:nvSpPr>
        <p:spPr>
          <a:xfrm xmlns:a="http://schemas.openxmlformats.org/drawingml/2006/main">
            <a:off x="8953500" y="2838450"/>
            <a:ext cx="1428750" cy="381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22" name="">
            <a:extLst xmlns:a="http://schemas.openxmlformats.org/drawingml/2006/main">
              <a:ext uri="{FF2B5EF4-FFF2-40B4-BE49-F238E27FC236}">
                <a16:creationId xmlns:a16="http://schemas.microsoft.com/office/drawing/2014/main" id="{C660DB8B-B368-4BA3-B3EE-B24AEF8B576A}"/>
              </a:ext>
            </a:extLst>
          </p:cNvPr>
          <p:cNvSpPr>
            <a:spLocks xmlns:a="http://schemas.openxmlformats.org/drawingml/2006/main" noGrp="1"/>
          </p:cNvSpPr>
          <p:nvPr/>
        </p:nvSpPr>
        <p:spPr>
          <a:xfrm xmlns:a="http://schemas.openxmlformats.org/drawingml/2006/main">
            <a:off x="10229850" y="26670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00B8D9"/>
                </a:solidFill>
              </a:defRPr>
            </a:pPr>
            <a:r>
              <a:rPr sz="2625" b="1">
                <a:solidFill>
                  <a:srgbClr val="00B8D9"/>
                </a:solidFill>
              </a:rPr>
              <a:t>›</a:t>
            </a:r>
          </a:p>
        </p:txBody>
      </p:sp>
      <p:sp>
        <p:nvSpPr>
          <p:cNvPr id="23" name="">
            <a:extLst xmlns:a="http://schemas.openxmlformats.org/drawingml/2006/main">
              <a:ext uri="{FF2B5EF4-FFF2-40B4-BE49-F238E27FC236}">
                <a16:creationId xmlns:a16="http://schemas.microsoft.com/office/drawing/2014/main" id="{5A2B5407-61C1-40EC-8D95-67341E83370C}"/>
              </a:ext>
            </a:extLst>
          </p:cNvPr>
          <p:cNvSpPr>
            <a:spLocks xmlns:a="http://schemas.openxmlformats.org/drawingml/2006/main" noGrp="1"/>
          </p:cNvSpPr>
          <p:nvPr/>
        </p:nvSpPr>
        <p:spPr>
          <a:xfrm xmlns:a="http://schemas.openxmlformats.org/drawingml/2006/main">
            <a:off x="8953500" y="24955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B8D9"/>
                </a:solidFill>
              </a:defRPr>
            </a:pPr>
            <a:r>
              <a:rPr sz="1050" b="1">
                <a:solidFill>
                  <a:srgbClr val="00B8D9"/>
                </a:solidFill>
              </a:rPr>
              <a:t>query</a:t>
            </a:r>
          </a:p>
        </p:txBody>
      </p:sp>
      <p:sp>
        <p:nvSpPr>
          <p:cNvPr id="24" name="">
            <a:extLst xmlns:a="http://schemas.openxmlformats.org/drawingml/2006/main">
              <a:ext uri="{FF2B5EF4-FFF2-40B4-BE49-F238E27FC236}">
                <a16:creationId xmlns:a16="http://schemas.microsoft.com/office/drawing/2014/main" id="{A4C1C376-50B8-49B3-AEB8-4BF98CAEBBB7}"/>
              </a:ext>
            </a:extLst>
          </p:cNvPr>
          <p:cNvSpPr>
            <a:spLocks xmlns:a="http://schemas.openxmlformats.org/drawingml/2006/main" noGrp="1"/>
          </p:cNvSpPr>
          <p:nvPr/>
        </p:nvSpPr>
        <p:spPr>
          <a:xfrm xmlns:a="http://schemas.openxmlformats.org/drawingml/2006/main">
            <a:off x="10287000" y="2762250"/>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CLIENT</a:t>
            </a:r>
          </a:p>
        </p:txBody>
      </p:sp>
      <p:sp>
        <p:nvSpPr>
          <p:cNvPr id="25" name="">
            <a:extLst xmlns:a="http://schemas.openxmlformats.org/drawingml/2006/main">
              <a:ext uri="{FF2B5EF4-FFF2-40B4-BE49-F238E27FC236}">
                <a16:creationId xmlns:a16="http://schemas.microsoft.com/office/drawing/2014/main" id="{7A6F3693-FA42-4218-B048-E3459B5C7B35}"/>
              </a:ext>
            </a:extLst>
          </p:cNvPr>
          <p:cNvSpPr>
            <a:spLocks xmlns:a="http://schemas.openxmlformats.org/drawingml/2006/main" noGrp="1"/>
          </p:cNvSpPr>
          <p:nvPr/>
        </p:nvSpPr>
        <p:spPr>
          <a:xfrm xmlns:a="http://schemas.openxmlformats.org/drawingml/2006/main">
            <a:off x="2381250" y="5381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Delete, schema change e reindexing sono parte del contratto.</a:t>
            </a:r>
          </a:p>
        </p:txBody>
      </p:sp>
    </p:spTree>
    <p:extLst>
      <p:ext uri="{BB962C8B-B14F-4D97-AF65-F5344CB8AC3E}">
        <p14:creationId xmlns:p14="http://schemas.microsoft.com/office/powerpoint/2010/main" val="371289410"/>
      </p:ext>
    </p:extLst>
  </p:cSld>
</p:sld>
</file>

<file path=ppt/slides/slide2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214516-D14B-4FA0-941D-36D369FFDA61}"/>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COMMAND ≠ QUERY</a:t>
            </a:r>
          </a:p>
        </p:txBody>
      </p:sp>
      <p:sp>
        <p:nvSpPr>
          <p:cNvPr id="2" name="">
            <a:extLst xmlns:a="http://schemas.openxmlformats.org/drawingml/2006/main">
              <a:ext uri="{FF2B5EF4-FFF2-40B4-BE49-F238E27FC236}">
                <a16:creationId xmlns:a16="http://schemas.microsoft.com/office/drawing/2014/main" id="{882F0D63-D4D4-41D9-B166-E26FF151E99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CQRS separa il modello che decide da quello che risponde</a:t>
            </a:r>
          </a:p>
        </p:txBody>
      </p:sp>
      <p:sp>
        <p:nvSpPr>
          <p:cNvPr id="3" name="">
            <a:extLst xmlns:a="http://schemas.openxmlformats.org/drawingml/2006/main">
              <a:ext uri="{FF2B5EF4-FFF2-40B4-BE49-F238E27FC236}">
                <a16:creationId xmlns:a16="http://schemas.microsoft.com/office/drawing/2014/main" id="{2BDC3955-D3D5-4578-83A4-06B4045BA09E}"/>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26</a:t>
            </a:r>
          </a:p>
        </p:txBody>
      </p:sp>
      <p:sp>
        <p:nvSpPr>
          <p:cNvPr id="4" name="">
            <a:extLst xmlns:a="http://schemas.openxmlformats.org/drawingml/2006/main">
              <a:ext uri="{FF2B5EF4-FFF2-40B4-BE49-F238E27FC236}">
                <a16:creationId xmlns:a16="http://schemas.microsoft.com/office/drawing/2014/main" id="{FDC70561-D1B9-41D1-8258-24003E778CA5}"/>
              </a:ext>
            </a:extLst>
          </p:cNvPr>
          <p:cNvSpPr>
            <a:spLocks xmlns:a="http://schemas.openxmlformats.org/drawingml/2006/main" noGrp="1"/>
          </p:cNvSpPr>
          <p:nvPr/>
        </p:nvSpPr>
        <p:spPr>
          <a:xfrm xmlns:a="http://schemas.openxmlformats.org/drawingml/2006/main">
            <a:off x="809625" y="1809750"/>
            <a:ext cx="4476750" cy="3143250"/>
          </a:xfrm>
          <a:prstGeom xmlns:a="http://schemas.openxmlformats.org/drawingml/2006/main" prst="roundRect">
            <a:avLst>
              <a:gd name="adj" fmla="val 2424"/>
            </a:avLst>
          </a:prstGeom>
          <a:solidFill xmlns:a="http://schemas.openxmlformats.org/drawingml/2006/main">
            <a:srgbClr val="E8F7FA"/>
          </a:solidFill>
          <a:ln xmlns:a="http://schemas.openxmlformats.org/drawingml/2006/main" w="9525">
            <a:solidFill>
              <a:srgbClr val="FFFFFF"/>
            </a:solidFill>
            <a:prstDash val="solid"/>
          </a:ln>
        </p:spPr>
      </p:sp>
      <p:sp>
        <p:nvSpPr>
          <p:cNvPr id="5" name="">
            <a:extLst xmlns:a="http://schemas.openxmlformats.org/drawingml/2006/main">
              <a:ext uri="{FF2B5EF4-FFF2-40B4-BE49-F238E27FC236}">
                <a16:creationId xmlns:a16="http://schemas.microsoft.com/office/drawing/2014/main" id="{AFC6EB44-DC4C-486B-A550-D7FB1E1E44D9}"/>
              </a:ext>
            </a:extLst>
          </p:cNvPr>
          <p:cNvSpPr>
            <a:spLocks xmlns:a="http://schemas.openxmlformats.org/drawingml/2006/main" noGrp="1"/>
          </p:cNvSpPr>
          <p:nvPr/>
        </p:nvSpPr>
        <p:spPr>
          <a:xfrm xmlns:a="http://schemas.openxmlformats.org/drawingml/2006/main">
            <a:off x="1143000" y="2095500"/>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B1F33"/>
                </a:solidFill>
              </a:defRPr>
            </a:pPr>
            <a:r>
              <a:rPr sz="1950" b="1">
                <a:solidFill>
                  <a:srgbClr val="0B1F33"/>
                </a:solidFill>
              </a:rPr>
              <a:t>WRITE MODEL</a:t>
            </a:r>
          </a:p>
        </p:txBody>
      </p:sp>
      <p:sp>
        <p:nvSpPr>
          <p:cNvPr id="6" name="">
            <a:extLst xmlns:a="http://schemas.openxmlformats.org/drawingml/2006/main">
              <a:ext uri="{FF2B5EF4-FFF2-40B4-BE49-F238E27FC236}">
                <a16:creationId xmlns:a16="http://schemas.microsoft.com/office/drawing/2014/main" id="{B9870EDB-8A6E-41D0-A1C7-4F7D36AD367D}"/>
              </a:ext>
            </a:extLst>
          </p:cNvPr>
          <p:cNvSpPr>
            <a:spLocks xmlns:a="http://schemas.openxmlformats.org/drawingml/2006/main" noGrp="1"/>
          </p:cNvSpPr>
          <p:nvPr/>
        </p:nvSpPr>
        <p:spPr>
          <a:xfrm xmlns:a="http://schemas.openxmlformats.org/drawingml/2006/main">
            <a:off x="1428750" y="2762250"/>
            <a:ext cx="3238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11827"/>
                </a:solidFill>
              </a:defRPr>
            </a:pPr>
            <a:r>
              <a:rPr sz="1725" b="0">
                <a:solidFill>
                  <a:srgbClr val="111827"/>
                </a:solidFill>
              </a:rPr>
              <a:t>• business rules</a:t>
            </a:r>
          </a:p>
          <a:p xmlns:a="http://schemas.openxmlformats.org/drawingml/2006/main">
            <a:pPr algn="l">
              <a:defRPr sz="1725" b="0">
                <a:solidFill>
                  <a:srgbClr val="111827"/>
                </a:solidFill>
              </a:defRPr>
            </a:pPr>
            <a:r>
              <a:rPr sz="1725" b="0">
                <a:solidFill>
                  <a:srgbClr val="111827"/>
                </a:solidFill>
              </a:rPr>
              <a:t>• invarianti</a:t>
            </a:r>
          </a:p>
          <a:p xmlns:a="http://schemas.openxmlformats.org/drawingml/2006/main">
            <a:pPr algn="l">
              <a:defRPr sz="1725" b="0">
                <a:solidFill>
                  <a:srgbClr val="111827"/>
                </a:solidFill>
              </a:defRPr>
            </a:pPr>
            <a:r>
              <a:rPr sz="1725" b="0">
                <a:solidFill>
                  <a:srgbClr val="111827"/>
                </a:solidFill>
              </a:rPr>
              <a:t>• transazioni</a:t>
            </a:r>
          </a:p>
          <a:p xmlns:a="http://schemas.openxmlformats.org/drawingml/2006/main">
            <a:pPr algn="l">
              <a:defRPr sz="1725" b="0">
                <a:solidFill>
                  <a:srgbClr val="111827"/>
                </a:solidFill>
              </a:defRPr>
            </a:pPr>
            <a:r>
              <a:rPr sz="1725" b="0">
                <a:solidFill>
                  <a:srgbClr val="111827"/>
                </a:solidFill>
              </a:rPr>
              <a:t>• comandi</a:t>
            </a:r>
          </a:p>
        </p:txBody>
      </p:sp>
      <p:sp>
        <p:nvSpPr>
          <p:cNvPr id="7" name="">
            <a:extLst xmlns:a="http://schemas.openxmlformats.org/drawingml/2006/main">
              <a:ext uri="{FF2B5EF4-FFF2-40B4-BE49-F238E27FC236}">
                <a16:creationId xmlns:a16="http://schemas.microsoft.com/office/drawing/2014/main" id="{AC1657F2-2926-4325-ABB8-C9D48FCF4DDF}"/>
              </a:ext>
            </a:extLst>
          </p:cNvPr>
          <p:cNvSpPr>
            <a:spLocks xmlns:a="http://schemas.openxmlformats.org/drawingml/2006/main" noGrp="1"/>
          </p:cNvSpPr>
          <p:nvPr/>
        </p:nvSpPr>
        <p:spPr>
          <a:xfrm xmlns:a="http://schemas.openxmlformats.org/drawingml/2006/main">
            <a:off x="6905625" y="1809750"/>
            <a:ext cx="4476750" cy="3143250"/>
          </a:xfrm>
          <a:prstGeom xmlns:a="http://schemas.openxmlformats.org/drawingml/2006/main" prst="roundRect">
            <a:avLst>
              <a:gd name="adj" fmla="val 2424"/>
            </a:avLst>
          </a:prstGeom>
          <a:solidFill xmlns:a="http://schemas.openxmlformats.org/drawingml/2006/main">
            <a:srgbClr val="FFF0E8"/>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85D073CB-34BF-4126-8E85-A99F63029EB5}"/>
              </a:ext>
            </a:extLst>
          </p:cNvPr>
          <p:cNvSpPr>
            <a:spLocks xmlns:a="http://schemas.openxmlformats.org/drawingml/2006/main" noGrp="1"/>
          </p:cNvSpPr>
          <p:nvPr/>
        </p:nvSpPr>
        <p:spPr>
          <a:xfrm xmlns:a="http://schemas.openxmlformats.org/drawingml/2006/main">
            <a:off x="7239000" y="2095500"/>
            <a:ext cx="381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B1F33"/>
                </a:solidFill>
              </a:defRPr>
            </a:pPr>
            <a:r>
              <a:rPr sz="1950" b="1">
                <a:solidFill>
                  <a:srgbClr val="0B1F33"/>
                </a:solidFill>
              </a:rPr>
              <a:t>READ MODEL</a:t>
            </a:r>
          </a:p>
        </p:txBody>
      </p:sp>
      <p:sp>
        <p:nvSpPr>
          <p:cNvPr id="9" name="">
            <a:extLst xmlns:a="http://schemas.openxmlformats.org/drawingml/2006/main">
              <a:ext uri="{FF2B5EF4-FFF2-40B4-BE49-F238E27FC236}">
                <a16:creationId xmlns:a16="http://schemas.microsoft.com/office/drawing/2014/main" id="{CFFF75D3-610C-4EAC-AE6B-6417702719A1}"/>
              </a:ext>
            </a:extLst>
          </p:cNvPr>
          <p:cNvSpPr>
            <a:spLocks xmlns:a="http://schemas.openxmlformats.org/drawingml/2006/main" noGrp="1"/>
          </p:cNvSpPr>
          <p:nvPr/>
        </p:nvSpPr>
        <p:spPr>
          <a:xfrm xmlns:a="http://schemas.openxmlformats.org/drawingml/2006/main">
            <a:off x="7524750" y="2762250"/>
            <a:ext cx="3238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11827"/>
                </a:solidFill>
              </a:defRPr>
            </a:pPr>
            <a:r>
              <a:rPr sz="1725" b="0">
                <a:solidFill>
                  <a:srgbClr val="111827"/>
                </a:solidFill>
              </a:rPr>
              <a:t>• projection</a:t>
            </a:r>
          </a:p>
          <a:p xmlns:a="http://schemas.openxmlformats.org/drawingml/2006/main">
            <a:pPr algn="l">
              <a:defRPr sz="1725" b="0">
                <a:solidFill>
                  <a:srgbClr val="111827"/>
                </a:solidFill>
              </a:defRPr>
            </a:pPr>
            <a:r>
              <a:rPr sz="1725" b="0">
                <a:solidFill>
                  <a:srgbClr val="111827"/>
                </a:solidFill>
              </a:rPr>
              <a:t>• query semplici</a:t>
            </a:r>
          </a:p>
          <a:p xmlns:a="http://schemas.openxmlformats.org/drawingml/2006/main">
            <a:pPr algn="l">
              <a:defRPr sz="1725" b="0">
                <a:solidFill>
                  <a:srgbClr val="111827"/>
                </a:solidFill>
              </a:defRPr>
            </a:pPr>
            <a:r>
              <a:rPr sz="1725" b="0">
                <a:solidFill>
                  <a:srgbClr val="111827"/>
                </a:solidFill>
              </a:rPr>
              <a:t>• schema denormalizzato</a:t>
            </a:r>
          </a:p>
          <a:p xmlns:a="http://schemas.openxmlformats.org/drawingml/2006/main">
            <a:pPr algn="l">
              <a:defRPr sz="1725" b="0">
                <a:solidFill>
                  <a:srgbClr val="111827"/>
                </a:solidFill>
              </a:defRPr>
            </a:pPr>
            <a:r>
              <a:rPr sz="1725" b="0">
                <a:solidFill>
                  <a:srgbClr val="111827"/>
                </a:solidFill>
              </a:rPr>
              <a:t>• scaling letture</a:t>
            </a:r>
          </a:p>
        </p:txBody>
      </p:sp>
      <p:sp>
        <p:nvSpPr>
          <p:cNvPr id="10" name="">
            <a:extLst xmlns:a="http://schemas.openxmlformats.org/drawingml/2006/main">
              <a:ext uri="{FF2B5EF4-FFF2-40B4-BE49-F238E27FC236}">
                <a16:creationId xmlns:a16="http://schemas.microsoft.com/office/drawing/2014/main" id="{CE8448F2-B0CA-4560-BCF7-4124B66C00B6}"/>
              </a:ext>
            </a:extLst>
          </p:cNvPr>
          <p:cNvSpPr>
            <a:spLocks xmlns:a="http://schemas.openxmlformats.org/drawingml/2006/main" noGrp="1"/>
          </p:cNvSpPr>
          <p:nvPr/>
        </p:nvSpPr>
        <p:spPr>
          <a:xfrm xmlns:a="http://schemas.openxmlformats.org/drawingml/2006/main">
            <a:off x="5381625" y="3219450"/>
            <a:ext cx="1428750" cy="381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1" name="">
            <a:extLst xmlns:a="http://schemas.openxmlformats.org/drawingml/2006/main">
              <a:ext uri="{FF2B5EF4-FFF2-40B4-BE49-F238E27FC236}">
                <a16:creationId xmlns:a16="http://schemas.microsoft.com/office/drawing/2014/main" id="{F0DAB8F0-5451-426C-9F18-02D297611CB6}"/>
              </a:ext>
            </a:extLst>
          </p:cNvPr>
          <p:cNvSpPr>
            <a:spLocks xmlns:a="http://schemas.openxmlformats.org/drawingml/2006/main" noGrp="1"/>
          </p:cNvSpPr>
          <p:nvPr/>
        </p:nvSpPr>
        <p:spPr>
          <a:xfrm xmlns:a="http://schemas.openxmlformats.org/drawingml/2006/main">
            <a:off x="6657975" y="304800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B7E34B"/>
                </a:solidFill>
              </a:defRPr>
            </a:pPr>
            <a:r>
              <a:rPr sz="2625" b="1">
                <a:solidFill>
                  <a:srgbClr val="B7E34B"/>
                </a:solidFill>
              </a:rPr>
              <a:t>›</a:t>
            </a:r>
          </a:p>
        </p:txBody>
      </p:sp>
      <p:sp>
        <p:nvSpPr>
          <p:cNvPr id="12" name="">
            <a:extLst xmlns:a="http://schemas.openxmlformats.org/drawingml/2006/main">
              <a:ext uri="{FF2B5EF4-FFF2-40B4-BE49-F238E27FC236}">
                <a16:creationId xmlns:a16="http://schemas.microsoft.com/office/drawing/2014/main" id="{65239399-7536-4D51-BD5D-89642ACF2603}"/>
              </a:ext>
            </a:extLst>
          </p:cNvPr>
          <p:cNvSpPr>
            <a:spLocks xmlns:a="http://schemas.openxmlformats.org/drawingml/2006/main" noGrp="1"/>
          </p:cNvSpPr>
          <p:nvPr/>
        </p:nvSpPr>
        <p:spPr>
          <a:xfrm xmlns:a="http://schemas.openxmlformats.org/drawingml/2006/main">
            <a:off x="5381625" y="28765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7E34B"/>
                </a:solidFill>
              </a:defRPr>
            </a:pPr>
            <a:r>
              <a:rPr sz="1050" b="1">
                <a:solidFill>
                  <a:srgbClr val="B7E34B"/>
                </a:solidFill>
              </a:rPr>
              <a:t>eventi</a:t>
            </a:r>
          </a:p>
        </p:txBody>
      </p:sp>
      <p:sp>
        <p:nvSpPr>
          <p:cNvPr id="13" name="">
            <a:extLst xmlns:a="http://schemas.openxmlformats.org/drawingml/2006/main">
              <a:ext uri="{FF2B5EF4-FFF2-40B4-BE49-F238E27FC236}">
                <a16:creationId xmlns:a16="http://schemas.microsoft.com/office/drawing/2014/main" id="{5137594A-6174-4B4D-B1CF-8AAB5B46E35E}"/>
              </a:ext>
            </a:extLst>
          </p:cNvPr>
          <p:cNvSpPr>
            <a:spLocks xmlns:a="http://schemas.openxmlformats.org/drawingml/2006/main" noGrp="1"/>
          </p:cNvSpPr>
          <p:nvPr/>
        </p:nvSpPr>
        <p:spPr>
          <a:xfrm xmlns:a="http://schemas.openxmlformats.org/drawingml/2006/main">
            <a:off x="2047875" y="538162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Separare aggiunge sincronizzazione: usalo quando il beneficio è reale.</a:t>
            </a:r>
          </a:p>
        </p:txBody>
      </p:sp>
    </p:spTree>
    <p:extLst>
      <p:ext uri="{BB962C8B-B14F-4D97-AF65-F5344CB8AC3E}">
        <p14:creationId xmlns:p14="http://schemas.microsoft.com/office/powerpoint/2010/main" val="770901898"/>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A73D107-2235-430A-AB27-8AF7A68DC98E}"/>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QUERY CROSS-SERVICE</a:t>
            </a:r>
          </a:p>
        </p:txBody>
      </p:sp>
      <p:sp>
        <p:nvSpPr>
          <p:cNvPr id="2" name="">
            <a:extLst xmlns:a="http://schemas.openxmlformats.org/drawingml/2006/main">
              <a:ext uri="{FF2B5EF4-FFF2-40B4-BE49-F238E27FC236}">
                <a16:creationId xmlns:a16="http://schemas.microsoft.com/office/drawing/2014/main" id="{4A5D43E0-7647-4CF4-B517-A07CF8FDBCE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API composition unisce risultati al momento della richiesta</a:t>
            </a:r>
          </a:p>
        </p:txBody>
      </p:sp>
      <p:sp>
        <p:nvSpPr>
          <p:cNvPr id="3" name="">
            <a:extLst xmlns:a="http://schemas.openxmlformats.org/drawingml/2006/main">
              <a:ext uri="{FF2B5EF4-FFF2-40B4-BE49-F238E27FC236}">
                <a16:creationId xmlns:a16="http://schemas.microsoft.com/office/drawing/2014/main" id="{EE7263A1-37EA-4C5E-8B93-C6424071C297}"/>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27</a:t>
            </a:r>
          </a:p>
        </p:txBody>
      </p:sp>
      <p:sp>
        <p:nvSpPr>
          <p:cNvPr id="4" name="">
            <a:extLst xmlns:a="http://schemas.openxmlformats.org/drawingml/2006/main">
              <a:ext uri="{FF2B5EF4-FFF2-40B4-BE49-F238E27FC236}">
                <a16:creationId xmlns:a16="http://schemas.microsoft.com/office/drawing/2014/main" id="{E1DEC1CA-293C-4504-B042-02DB04794016}"/>
              </a:ext>
            </a:extLst>
          </p:cNvPr>
          <p:cNvSpPr>
            <a:spLocks xmlns:a="http://schemas.openxmlformats.org/drawingml/2006/main" noGrp="1"/>
          </p:cNvSpPr>
          <p:nvPr/>
        </p:nvSpPr>
        <p:spPr>
          <a:xfrm xmlns:a="http://schemas.openxmlformats.org/drawingml/2006/main">
            <a:off x="857250" y="28575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1F33"/>
                </a:solidFill>
              </a:defRPr>
            </a:pPr>
            <a:r>
              <a:rPr sz="1800" b="1">
                <a:solidFill>
                  <a:srgbClr val="0B1F33"/>
                </a:solidFill>
              </a:rPr>
              <a:t>CLIENT</a:t>
            </a:r>
          </a:p>
        </p:txBody>
      </p:sp>
      <p:sp>
        <p:nvSpPr>
          <p:cNvPr id="5" name="">
            <a:extLst xmlns:a="http://schemas.openxmlformats.org/drawingml/2006/main">
              <a:ext uri="{FF2B5EF4-FFF2-40B4-BE49-F238E27FC236}">
                <a16:creationId xmlns:a16="http://schemas.microsoft.com/office/drawing/2014/main" id="{EAF9B4CD-5023-40E3-BB61-101DBD40D706}"/>
              </a:ext>
            </a:extLst>
          </p:cNvPr>
          <p:cNvSpPr>
            <a:spLocks xmlns:a="http://schemas.openxmlformats.org/drawingml/2006/main" noGrp="1"/>
          </p:cNvSpPr>
          <p:nvPr/>
        </p:nvSpPr>
        <p:spPr>
          <a:xfrm xmlns:a="http://schemas.openxmlformats.org/drawingml/2006/main">
            <a:off x="2619375" y="3076575"/>
            <a:ext cx="1238250" cy="381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22E331E7-5FCF-4AE3-8778-7CE235627F30}"/>
              </a:ext>
            </a:extLst>
          </p:cNvPr>
          <p:cNvSpPr>
            <a:spLocks xmlns:a="http://schemas.openxmlformats.org/drawingml/2006/main" noGrp="1"/>
          </p:cNvSpPr>
          <p:nvPr/>
        </p:nvSpPr>
        <p:spPr>
          <a:xfrm xmlns:a="http://schemas.openxmlformats.org/drawingml/2006/main">
            <a:off x="370522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00B8D9"/>
                </a:solidFill>
              </a:defRPr>
            </a:pPr>
            <a:r>
              <a:rPr sz="2625" b="1">
                <a:solidFill>
                  <a:srgbClr val="00B8D9"/>
                </a:solidFill>
              </a:rPr>
              <a:t>›</a:t>
            </a:r>
          </a:p>
        </p:txBody>
      </p:sp>
      <p:sp>
        <p:nvSpPr>
          <p:cNvPr id="7" name="">
            <a:extLst xmlns:a="http://schemas.openxmlformats.org/drawingml/2006/main">
              <a:ext uri="{FF2B5EF4-FFF2-40B4-BE49-F238E27FC236}">
                <a16:creationId xmlns:a16="http://schemas.microsoft.com/office/drawing/2014/main" id="{64CD3265-B904-44E5-B37E-8133914BC125}"/>
              </a:ext>
            </a:extLst>
          </p:cNvPr>
          <p:cNvSpPr>
            <a:spLocks xmlns:a="http://schemas.openxmlformats.org/drawingml/2006/main" noGrp="1"/>
          </p:cNvSpPr>
          <p:nvPr/>
        </p:nvSpPr>
        <p:spPr>
          <a:xfrm xmlns:a="http://schemas.openxmlformats.org/drawingml/2006/main">
            <a:off x="2619375" y="27336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B8D9"/>
                </a:solidFill>
              </a:defRPr>
            </a:pPr>
            <a:r>
              <a:rPr sz="1050" b="1">
                <a:solidFill>
                  <a:srgbClr val="00B8D9"/>
                </a:solidFill>
              </a:rPr>
              <a:t>GET /home</a:t>
            </a:r>
          </a:p>
        </p:txBody>
      </p:sp>
      <p:sp>
        <p:nvSpPr>
          <p:cNvPr id="8" name="">
            <a:extLst xmlns:a="http://schemas.openxmlformats.org/drawingml/2006/main">
              <a:ext uri="{FF2B5EF4-FFF2-40B4-BE49-F238E27FC236}">
                <a16:creationId xmlns:a16="http://schemas.microsoft.com/office/drawing/2014/main" id="{FD385903-6C97-49BF-B96B-06B7DF85FDD8}"/>
              </a:ext>
            </a:extLst>
          </p:cNvPr>
          <p:cNvSpPr>
            <a:spLocks xmlns:a="http://schemas.openxmlformats.org/drawingml/2006/main" noGrp="1"/>
          </p:cNvSpPr>
          <p:nvPr/>
        </p:nvSpPr>
        <p:spPr>
          <a:xfrm xmlns:a="http://schemas.openxmlformats.org/drawingml/2006/main">
            <a:off x="4191000" y="2333625"/>
            <a:ext cx="21907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B08B42FD-9417-434A-992A-A3F888661F3A}"/>
              </a:ext>
            </a:extLst>
          </p:cNvPr>
          <p:cNvSpPr>
            <a:spLocks xmlns:a="http://schemas.openxmlformats.org/drawingml/2006/main" noGrp="1"/>
          </p:cNvSpPr>
          <p:nvPr/>
        </p:nvSpPr>
        <p:spPr>
          <a:xfrm xmlns:a="http://schemas.openxmlformats.org/drawingml/2006/main">
            <a:off x="4476750" y="28575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COMPOSER</a:t>
            </a:r>
          </a:p>
        </p:txBody>
      </p:sp>
      <p:sp>
        <p:nvSpPr>
          <p:cNvPr id="10" name="">
            <a:extLst xmlns:a="http://schemas.openxmlformats.org/drawingml/2006/main">
              <a:ext uri="{FF2B5EF4-FFF2-40B4-BE49-F238E27FC236}">
                <a16:creationId xmlns:a16="http://schemas.microsoft.com/office/drawing/2014/main" id="{8BDFC5D2-2628-4890-ABC0-971B29F0BF7C}"/>
              </a:ext>
            </a:extLst>
          </p:cNvPr>
          <p:cNvSpPr>
            <a:spLocks xmlns:a="http://schemas.openxmlformats.org/drawingml/2006/main" noGrp="1"/>
          </p:cNvSpPr>
          <p:nvPr/>
        </p:nvSpPr>
        <p:spPr>
          <a:xfrm xmlns:a="http://schemas.openxmlformats.org/drawingml/2006/main">
            <a:off x="6429375" y="2124075"/>
            <a:ext cx="857250" cy="38100"/>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1" name="">
            <a:extLst xmlns:a="http://schemas.openxmlformats.org/drawingml/2006/main">
              <a:ext uri="{FF2B5EF4-FFF2-40B4-BE49-F238E27FC236}">
                <a16:creationId xmlns:a16="http://schemas.microsoft.com/office/drawing/2014/main" id="{5CA9DC71-5DC8-4390-B3A6-9228D7366034}"/>
              </a:ext>
            </a:extLst>
          </p:cNvPr>
          <p:cNvSpPr>
            <a:spLocks xmlns:a="http://schemas.openxmlformats.org/drawingml/2006/main" noGrp="1"/>
          </p:cNvSpPr>
          <p:nvPr/>
        </p:nvSpPr>
        <p:spPr>
          <a:xfrm xmlns:a="http://schemas.openxmlformats.org/drawingml/2006/main">
            <a:off x="7134225" y="19526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7C6EE6"/>
                </a:solidFill>
              </a:defRPr>
            </a:pPr>
            <a:r>
              <a:rPr sz="2625" b="1">
                <a:solidFill>
                  <a:srgbClr val="7C6EE6"/>
                </a:solidFill>
              </a:rPr>
              <a:t>›</a:t>
            </a:r>
          </a:p>
        </p:txBody>
      </p:sp>
      <p:sp>
        <p:nvSpPr>
          <p:cNvPr id="12" name="">
            <a:extLst xmlns:a="http://schemas.openxmlformats.org/drawingml/2006/main">
              <a:ext uri="{FF2B5EF4-FFF2-40B4-BE49-F238E27FC236}">
                <a16:creationId xmlns:a16="http://schemas.microsoft.com/office/drawing/2014/main" id="{08F4C4C8-701C-45C1-A91D-3CD44C459737}"/>
              </a:ext>
            </a:extLst>
          </p:cNvPr>
          <p:cNvSpPr>
            <a:spLocks xmlns:a="http://schemas.openxmlformats.org/drawingml/2006/main" noGrp="1"/>
          </p:cNvSpPr>
          <p:nvPr/>
        </p:nvSpPr>
        <p:spPr>
          <a:xfrm xmlns:a="http://schemas.openxmlformats.org/drawingml/2006/main">
            <a:off x="6429375" y="17811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6EE6"/>
                </a:solidFill>
              </a:defRPr>
            </a:pPr>
            <a:r>
              <a:rPr sz="1050" b="1">
                <a:solidFill>
                  <a:srgbClr val="7C6EE6"/>
                </a:solidFill>
              </a:rPr>
              <a:t>API</a:t>
            </a:r>
          </a:p>
        </p:txBody>
      </p:sp>
      <p:sp>
        <p:nvSpPr>
          <p:cNvPr id="13" name="">
            <a:extLst xmlns:a="http://schemas.openxmlformats.org/drawingml/2006/main">
              <a:ext uri="{FF2B5EF4-FFF2-40B4-BE49-F238E27FC236}">
                <a16:creationId xmlns:a16="http://schemas.microsoft.com/office/drawing/2014/main" id="{4EBCC9CE-AF25-43BD-B196-D06F63EAB988}"/>
              </a:ext>
            </a:extLst>
          </p:cNvPr>
          <p:cNvSpPr>
            <a:spLocks xmlns:a="http://schemas.openxmlformats.org/drawingml/2006/main" noGrp="1"/>
          </p:cNvSpPr>
          <p:nvPr/>
        </p:nvSpPr>
        <p:spPr>
          <a:xfrm xmlns:a="http://schemas.openxmlformats.org/drawingml/2006/main">
            <a:off x="7429500" y="1714500"/>
            <a:ext cx="28575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7C6EE6"/>
            </a:solidFill>
            <a:prstDash val="solid"/>
          </a:ln>
        </p:spPr>
      </p:sp>
      <p:sp>
        <p:nvSpPr>
          <p:cNvPr id="14" name="">
            <a:extLst xmlns:a="http://schemas.openxmlformats.org/drawingml/2006/main">
              <a:ext uri="{FF2B5EF4-FFF2-40B4-BE49-F238E27FC236}">
                <a16:creationId xmlns:a16="http://schemas.microsoft.com/office/drawing/2014/main" id="{3B403645-08E0-4F2B-A644-03C742905250}"/>
              </a:ext>
            </a:extLst>
          </p:cNvPr>
          <p:cNvSpPr>
            <a:spLocks xmlns:a="http://schemas.openxmlformats.org/drawingml/2006/main" noGrp="1"/>
          </p:cNvSpPr>
          <p:nvPr/>
        </p:nvSpPr>
        <p:spPr>
          <a:xfrm xmlns:a="http://schemas.openxmlformats.org/drawingml/2006/main">
            <a:off x="7715250" y="1943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CATALOG</a:t>
            </a:r>
          </a:p>
        </p:txBody>
      </p:sp>
      <p:sp>
        <p:nvSpPr>
          <p:cNvPr id="15" name="">
            <a:extLst xmlns:a="http://schemas.openxmlformats.org/drawingml/2006/main">
              <a:ext uri="{FF2B5EF4-FFF2-40B4-BE49-F238E27FC236}">
                <a16:creationId xmlns:a16="http://schemas.microsoft.com/office/drawing/2014/main" id="{8C1746A7-F788-4594-8C9A-0D1C5DDAAEEB}"/>
              </a:ext>
            </a:extLst>
          </p:cNvPr>
          <p:cNvSpPr>
            <a:spLocks xmlns:a="http://schemas.openxmlformats.org/drawingml/2006/main" noGrp="1"/>
          </p:cNvSpPr>
          <p:nvPr/>
        </p:nvSpPr>
        <p:spPr>
          <a:xfrm xmlns:a="http://schemas.openxmlformats.org/drawingml/2006/main">
            <a:off x="6429375" y="3362325"/>
            <a:ext cx="857250" cy="381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6" name="">
            <a:extLst xmlns:a="http://schemas.openxmlformats.org/drawingml/2006/main">
              <a:ext uri="{FF2B5EF4-FFF2-40B4-BE49-F238E27FC236}">
                <a16:creationId xmlns:a16="http://schemas.microsoft.com/office/drawing/2014/main" id="{86AF252C-BEC5-422C-A547-D90728F77378}"/>
              </a:ext>
            </a:extLst>
          </p:cNvPr>
          <p:cNvSpPr>
            <a:spLocks xmlns:a="http://schemas.openxmlformats.org/drawingml/2006/main" noGrp="1"/>
          </p:cNvSpPr>
          <p:nvPr/>
        </p:nvSpPr>
        <p:spPr>
          <a:xfrm xmlns:a="http://schemas.openxmlformats.org/drawingml/2006/main">
            <a:off x="7134225" y="319087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B7E34B"/>
                </a:solidFill>
              </a:defRPr>
            </a:pPr>
            <a:r>
              <a:rPr sz="2625" b="1">
                <a:solidFill>
                  <a:srgbClr val="B7E34B"/>
                </a:solidFill>
              </a:rPr>
              <a:t>›</a:t>
            </a:r>
          </a:p>
        </p:txBody>
      </p:sp>
      <p:sp>
        <p:nvSpPr>
          <p:cNvPr id="17" name="">
            <a:extLst xmlns:a="http://schemas.openxmlformats.org/drawingml/2006/main">
              <a:ext uri="{FF2B5EF4-FFF2-40B4-BE49-F238E27FC236}">
                <a16:creationId xmlns:a16="http://schemas.microsoft.com/office/drawing/2014/main" id="{B77E75AF-A3B5-45FE-BC52-3147865AEA0B}"/>
              </a:ext>
            </a:extLst>
          </p:cNvPr>
          <p:cNvSpPr>
            <a:spLocks xmlns:a="http://schemas.openxmlformats.org/drawingml/2006/main" noGrp="1"/>
          </p:cNvSpPr>
          <p:nvPr/>
        </p:nvSpPr>
        <p:spPr>
          <a:xfrm xmlns:a="http://schemas.openxmlformats.org/drawingml/2006/main">
            <a:off x="6429375" y="3019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7E34B"/>
                </a:solidFill>
              </a:defRPr>
            </a:pPr>
            <a:r>
              <a:rPr sz="1050" b="1">
                <a:solidFill>
                  <a:srgbClr val="B7E34B"/>
                </a:solidFill>
              </a:rPr>
              <a:t>API</a:t>
            </a:r>
          </a:p>
        </p:txBody>
      </p:sp>
      <p:sp>
        <p:nvSpPr>
          <p:cNvPr id="18" name="">
            <a:extLst xmlns:a="http://schemas.openxmlformats.org/drawingml/2006/main">
              <a:ext uri="{FF2B5EF4-FFF2-40B4-BE49-F238E27FC236}">
                <a16:creationId xmlns:a16="http://schemas.microsoft.com/office/drawing/2014/main" id="{617FD46C-8332-4171-81A2-BED7DC4C2B84}"/>
              </a:ext>
            </a:extLst>
          </p:cNvPr>
          <p:cNvSpPr>
            <a:spLocks xmlns:a="http://schemas.openxmlformats.org/drawingml/2006/main" noGrp="1"/>
          </p:cNvSpPr>
          <p:nvPr/>
        </p:nvSpPr>
        <p:spPr>
          <a:xfrm xmlns:a="http://schemas.openxmlformats.org/drawingml/2006/main">
            <a:off x="7429500" y="2952750"/>
            <a:ext cx="28575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B7E34B"/>
            </a:solidFill>
            <a:prstDash val="solid"/>
          </a:ln>
        </p:spPr>
      </p:sp>
      <p:sp>
        <p:nvSpPr>
          <p:cNvPr id="19" name="">
            <a:extLst xmlns:a="http://schemas.openxmlformats.org/drawingml/2006/main">
              <a:ext uri="{FF2B5EF4-FFF2-40B4-BE49-F238E27FC236}">
                <a16:creationId xmlns:a16="http://schemas.microsoft.com/office/drawing/2014/main" id="{84272DBC-4D0A-4BEB-9D33-830CFB7DF77D}"/>
              </a:ext>
            </a:extLst>
          </p:cNvPr>
          <p:cNvSpPr>
            <a:spLocks xmlns:a="http://schemas.openxmlformats.org/drawingml/2006/main" noGrp="1"/>
          </p:cNvSpPr>
          <p:nvPr/>
        </p:nvSpPr>
        <p:spPr>
          <a:xfrm xmlns:a="http://schemas.openxmlformats.org/drawingml/2006/main">
            <a:off x="7715250" y="31813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SOCIAL</a:t>
            </a:r>
          </a:p>
        </p:txBody>
      </p:sp>
      <p:sp>
        <p:nvSpPr>
          <p:cNvPr id="20" name="">
            <a:extLst xmlns:a="http://schemas.openxmlformats.org/drawingml/2006/main">
              <a:ext uri="{FF2B5EF4-FFF2-40B4-BE49-F238E27FC236}">
                <a16:creationId xmlns:a16="http://schemas.microsoft.com/office/drawing/2014/main" id="{7CDC9D06-6AA7-418E-A357-CE33DE5EB2AA}"/>
              </a:ext>
            </a:extLst>
          </p:cNvPr>
          <p:cNvSpPr>
            <a:spLocks xmlns:a="http://schemas.openxmlformats.org/drawingml/2006/main" noGrp="1"/>
          </p:cNvSpPr>
          <p:nvPr/>
        </p:nvSpPr>
        <p:spPr>
          <a:xfrm xmlns:a="http://schemas.openxmlformats.org/drawingml/2006/main">
            <a:off x="6429375" y="4600575"/>
            <a:ext cx="857250" cy="381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21" name="">
            <a:extLst xmlns:a="http://schemas.openxmlformats.org/drawingml/2006/main">
              <a:ext uri="{FF2B5EF4-FFF2-40B4-BE49-F238E27FC236}">
                <a16:creationId xmlns:a16="http://schemas.microsoft.com/office/drawing/2014/main" id="{6F8CF0F2-A742-44DA-A9D0-766CE98F07BC}"/>
              </a:ext>
            </a:extLst>
          </p:cNvPr>
          <p:cNvSpPr>
            <a:spLocks xmlns:a="http://schemas.openxmlformats.org/drawingml/2006/main" noGrp="1"/>
          </p:cNvSpPr>
          <p:nvPr/>
        </p:nvSpPr>
        <p:spPr>
          <a:xfrm xmlns:a="http://schemas.openxmlformats.org/drawingml/2006/main">
            <a:off x="7134225" y="4429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00B8D9"/>
                </a:solidFill>
              </a:defRPr>
            </a:pPr>
            <a:r>
              <a:rPr sz="2625" b="1">
                <a:solidFill>
                  <a:srgbClr val="00B8D9"/>
                </a:solidFill>
              </a:rPr>
              <a:t>›</a:t>
            </a:r>
          </a:p>
        </p:txBody>
      </p:sp>
      <p:sp>
        <p:nvSpPr>
          <p:cNvPr id="22" name="">
            <a:extLst xmlns:a="http://schemas.openxmlformats.org/drawingml/2006/main">
              <a:ext uri="{FF2B5EF4-FFF2-40B4-BE49-F238E27FC236}">
                <a16:creationId xmlns:a16="http://schemas.microsoft.com/office/drawing/2014/main" id="{43453032-0EFB-40ED-A5EA-F181DE489468}"/>
              </a:ext>
            </a:extLst>
          </p:cNvPr>
          <p:cNvSpPr>
            <a:spLocks xmlns:a="http://schemas.openxmlformats.org/drawingml/2006/main" noGrp="1"/>
          </p:cNvSpPr>
          <p:nvPr/>
        </p:nvSpPr>
        <p:spPr>
          <a:xfrm xmlns:a="http://schemas.openxmlformats.org/drawingml/2006/main">
            <a:off x="6429375" y="42576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B8D9"/>
                </a:solidFill>
              </a:defRPr>
            </a:pPr>
            <a:r>
              <a:rPr sz="1050" b="1">
                <a:solidFill>
                  <a:srgbClr val="00B8D9"/>
                </a:solidFill>
              </a:rPr>
              <a:t>API</a:t>
            </a:r>
          </a:p>
        </p:txBody>
      </p:sp>
      <p:sp>
        <p:nvSpPr>
          <p:cNvPr id="23" name="">
            <a:extLst xmlns:a="http://schemas.openxmlformats.org/drawingml/2006/main">
              <a:ext uri="{FF2B5EF4-FFF2-40B4-BE49-F238E27FC236}">
                <a16:creationId xmlns:a16="http://schemas.microsoft.com/office/drawing/2014/main" id="{BF5A6DFA-7057-4962-8B4D-F5645F9B6DCA}"/>
              </a:ext>
            </a:extLst>
          </p:cNvPr>
          <p:cNvSpPr>
            <a:spLocks xmlns:a="http://schemas.openxmlformats.org/drawingml/2006/main" noGrp="1"/>
          </p:cNvSpPr>
          <p:nvPr/>
        </p:nvSpPr>
        <p:spPr>
          <a:xfrm xmlns:a="http://schemas.openxmlformats.org/drawingml/2006/main">
            <a:off x="7429500" y="4191000"/>
            <a:ext cx="28575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00B8D9"/>
            </a:solidFill>
            <a:prstDash val="solid"/>
          </a:ln>
        </p:spPr>
      </p:sp>
      <p:sp>
        <p:nvSpPr>
          <p:cNvPr id="24" name="">
            <a:extLst xmlns:a="http://schemas.openxmlformats.org/drawingml/2006/main">
              <a:ext uri="{FF2B5EF4-FFF2-40B4-BE49-F238E27FC236}">
                <a16:creationId xmlns:a16="http://schemas.microsoft.com/office/drawing/2014/main" id="{0FE04223-E5E7-4922-8B33-E0B001A17C4D}"/>
              </a:ext>
            </a:extLst>
          </p:cNvPr>
          <p:cNvSpPr>
            <a:spLocks xmlns:a="http://schemas.openxmlformats.org/drawingml/2006/main" noGrp="1"/>
          </p:cNvSpPr>
          <p:nvPr/>
        </p:nvSpPr>
        <p:spPr>
          <a:xfrm xmlns:a="http://schemas.openxmlformats.org/drawingml/2006/main">
            <a:off x="7715250" y="44196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ACCOUNT</a:t>
            </a:r>
          </a:p>
        </p:txBody>
      </p:sp>
      <p:sp>
        <p:nvSpPr>
          <p:cNvPr id="25" name="">
            <a:extLst xmlns:a="http://schemas.openxmlformats.org/drawingml/2006/main">
              <a:ext uri="{FF2B5EF4-FFF2-40B4-BE49-F238E27FC236}">
                <a16:creationId xmlns:a16="http://schemas.microsoft.com/office/drawing/2014/main" id="{2B5797D5-0393-41F3-9C2F-B08A92B4B4A1}"/>
              </a:ext>
            </a:extLst>
          </p:cNvPr>
          <p:cNvSpPr>
            <a:spLocks xmlns:a="http://schemas.openxmlformats.org/drawingml/2006/main" noGrp="1"/>
          </p:cNvSpPr>
          <p:nvPr/>
        </p:nvSpPr>
        <p:spPr>
          <a:xfrm xmlns:a="http://schemas.openxmlformats.org/drawingml/2006/main">
            <a:off x="2286000" y="5476875"/>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Semplice finché latenza, failure e fan-out restano controllabili.</a:t>
            </a:r>
          </a:p>
        </p:txBody>
      </p:sp>
    </p:spTree>
    <p:extLst>
      <p:ext uri="{BB962C8B-B14F-4D97-AF65-F5344CB8AC3E}">
        <p14:creationId xmlns:p14="http://schemas.microsoft.com/office/powerpoint/2010/main" val="326923601"/>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7B68C7-32B0-4BA5-840B-BFACAAB2051A}"/>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MATERIALIZED VIEW</a:t>
            </a:r>
          </a:p>
        </p:txBody>
      </p:sp>
      <p:sp>
        <p:nvSpPr>
          <p:cNvPr id="2" name="">
            <a:extLst xmlns:a="http://schemas.openxmlformats.org/drawingml/2006/main">
              <a:ext uri="{FF2B5EF4-FFF2-40B4-BE49-F238E27FC236}">
                <a16:creationId xmlns:a16="http://schemas.microsoft.com/office/drawing/2014/main" id="{D28EAA79-258C-41E2-B750-D967849C7890}"/>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Una read model precompone ciò che la schermata chiede</a:t>
            </a:r>
          </a:p>
        </p:txBody>
      </p:sp>
      <p:sp>
        <p:nvSpPr>
          <p:cNvPr id="3" name="">
            <a:extLst xmlns:a="http://schemas.openxmlformats.org/drawingml/2006/main">
              <a:ext uri="{FF2B5EF4-FFF2-40B4-BE49-F238E27FC236}">
                <a16:creationId xmlns:a16="http://schemas.microsoft.com/office/drawing/2014/main" id="{3103D501-CE07-494D-887F-18273AC0A783}"/>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28</a:t>
            </a:r>
          </a:p>
        </p:txBody>
      </p:sp>
      <p:sp>
        <p:nvSpPr>
          <p:cNvPr id="4" name="">
            <a:extLst xmlns:a="http://schemas.openxmlformats.org/drawingml/2006/main">
              <a:ext uri="{FF2B5EF4-FFF2-40B4-BE49-F238E27FC236}">
                <a16:creationId xmlns:a16="http://schemas.microsoft.com/office/drawing/2014/main" id="{DAE91DE3-6043-47E2-988E-6AD5F113D1A6}"/>
              </a:ext>
            </a:extLst>
          </p:cNvPr>
          <p:cNvSpPr>
            <a:spLocks xmlns:a="http://schemas.openxmlformats.org/drawingml/2006/main" noGrp="1"/>
          </p:cNvSpPr>
          <p:nvPr/>
        </p:nvSpPr>
        <p:spPr>
          <a:xfrm xmlns:a="http://schemas.openxmlformats.org/drawingml/2006/main">
            <a:off x="1952625" y="1762125"/>
            <a:ext cx="8286750" cy="3143250"/>
          </a:xfrm>
          <a:prstGeom xmlns:a="http://schemas.openxmlformats.org/drawingml/2006/main" prst="roundRect">
            <a:avLst>
              <a:gd name="adj" fmla="val 2424"/>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7D036BAE-7367-434C-8FA7-554213BD526F}"/>
              </a:ext>
            </a:extLst>
          </p:cNvPr>
          <p:cNvSpPr>
            <a:spLocks xmlns:a="http://schemas.openxmlformats.org/drawingml/2006/main" noGrp="1"/>
          </p:cNvSpPr>
          <p:nvPr/>
        </p:nvSpPr>
        <p:spPr>
          <a:xfrm xmlns:a="http://schemas.openxmlformats.org/drawingml/2006/main">
            <a:off x="1952625" y="1762125"/>
            <a:ext cx="95250" cy="314325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6" name="">
            <a:extLst xmlns:a="http://schemas.openxmlformats.org/drawingml/2006/main">
              <a:ext uri="{FF2B5EF4-FFF2-40B4-BE49-F238E27FC236}">
                <a16:creationId xmlns:a16="http://schemas.microsoft.com/office/drawing/2014/main" id="{17E13EDE-F76D-48B2-9244-7E363EE5661D}"/>
              </a:ext>
            </a:extLst>
          </p:cNvPr>
          <p:cNvSpPr>
            <a:spLocks xmlns:a="http://schemas.openxmlformats.org/drawingml/2006/main" noGrp="1"/>
          </p:cNvSpPr>
          <p:nvPr/>
        </p:nvSpPr>
        <p:spPr>
          <a:xfrm xmlns:a="http://schemas.openxmlformats.org/drawingml/2006/main">
            <a:off x="2295525" y="2009775"/>
            <a:ext cx="76200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FFFFFF"/>
                </a:solidFill>
              </a:defRPr>
            </a:pPr>
            <a:r>
              <a:rPr sz="1725" b="0">
                <a:solidFill>
                  <a:srgbClr val="FFFFFF"/>
                </a:solidFill>
              </a:rPr>
              <a:t>home:u1 = {</a:t>
            </a:r>
          </a:p>
          <a:p xmlns:a="http://schemas.openxmlformats.org/drawingml/2006/main">
            <a:pPr algn="l">
              <a:defRPr sz="1725" b="0">
                <a:solidFill>
                  <a:srgbClr val="FFFFFF"/>
                </a:solidFill>
              </a:defRPr>
            </a:pPr>
            <a:r>
              <a:rPr sz="1725" b="0">
                <a:solidFill>
                  <a:srgbClr val="FFFFFF"/>
                </a:solidFill>
              </a:rPr>
              <a:t>  "continueWatching": [...],</a:t>
            </a:r>
          </a:p>
          <a:p xmlns:a="http://schemas.openxmlformats.org/drawingml/2006/main">
            <a:pPr algn="l">
              <a:defRPr sz="1725" b="0">
                <a:solidFill>
                  <a:srgbClr val="FFFFFF"/>
                </a:solidFill>
              </a:defRPr>
            </a:pPr>
            <a:r>
              <a:rPr sz="1725" b="0">
                <a:solidFill>
                  <a:srgbClr val="FFFFFF"/>
                </a:solidFill>
              </a:rPr>
              <a:t>  "recommended": [...],</a:t>
            </a:r>
          </a:p>
          <a:p xmlns:a="http://schemas.openxmlformats.org/drawingml/2006/main">
            <a:pPr algn="l">
              <a:defRPr sz="1725" b="0">
                <a:solidFill>
                  <a:srgbClr val="FFFFFF"/>
                </a:solidFill>
              </a:defRPr>
            </a:pPr>
            <a:r>
              <a:rPr sz="1725" b="0">
                <a:solidFill>
                  <a:srgbClr val="FFFFFF"/>
                </a:solidFill>
              </a:rPr>
              <a:t>  "subscription": "premium",</a:t>
            </a:r>
          </a:p>
          <a:p xmlns:a="http://schemas.openxmlformats.org/drawingml/2006/main">
            <a:pPr algn="l">
              <a:defRPr sz="1725" b="0">
                <a:solidFill>
                  <a:srgbClr val="FFFFFF"/>
                </a:solidFill>
              </a:defRPr>
            </a:pPr>
            <a:r>
              <a:rPr sz="1725" b="0">
                <a:solidFill>
                  <a:srgbClr val="FFFFFF"/>
                </a:solidFill>
              </a:rPr>
              <a:t>  "generatedAt": "2026-09-03T15:20:11Z",</a:t>
            </a:r>
          </a:p>
          <a:p xmlns:a="http://schemas.openxmlformats.org/drawingml/2006/main">
            <a:pPr algn="l">
              <a:defRPr sz="1725" b="0">
                <a:solidFill>
                  <a:srgbClr val="FFFFFF"/>
                </a:solidFill>
              </a:defRPr>
            </a:pPr>
            <a:r>
              <a:rPr sz="1725" b="0">
                <a:solidFill>
                  <a:srgbClr val="FFFFFF"/>
                </a:solidFill>
              </a:rPr>
              <a:t>  "sourceVersions": {"catalog": 84, "social": 221}</a:t>
            </a:r>
          </a:p>
          <a:p xmlns:a="http://schemas.openxmlformats.org/drawingml/2006/main">
            <a:pPr algn="l">
              <a:defRPr sz="1725" b="0">
                <a:solidFill>
                  <a:srgbClr val="FFFFFF"/>
                </a:solidFill>
              </a:defRPr>
            </a:pPr>
            <a:r>
              <a:rPr sz="1725" b="0">
                <a:solidFill>
                  <a:srgbClr val="FFFFFF"/>
                </a:solidFill>
              </a:rPr>
              <a:t>}</a:t>
            </a:r>
          </a:p>
        </p:txBody>
      </p:sp>
      <p:sp>
        <p:nvSpPr>
          <p:cNvPr id="7" name="">
            <a:extLst xmlns:a="http://schemas.openxmlformats.org/drawingml/2006/main">
              <a:ext uri="{FF2B5EF4-FFF2-40B4-BE49-F238E27FC236}">
                <a16:creationId xmlns:a16="http://schemas.microsoft.com/office/drawing/2014/main" id="{BC331D99-F7A8-4078-83DA-4C402503CD09}"/>
              </a:ext>
            </a:extLst>
          </p:cNvPr>
          <p:cNvSpPr>
            <a:spLocks xmlns:a="http://schemas.openxmlformats.org/drawingml/2006/main" noGrp="1"/>
          </p:cNvSpPr>
          <p:nvPr/>
        </p:nvSpPr>
        <p:spPr>
          <a:xfrm xmlns:a="http://schemas.openxmlformats.org/drawingml/2006/main">
            <a:off x="2381250" y="5381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Query rapida • copia derivata • versione e freschezza visibili</a:t>
            </a:r>
          </a:p>
        </p:txBody>
      </p:sp>
    </p:spTree>
    <p:extLst>
      <p:ext uri="{BB962C8B-B14F-4D97-AF65-F5344CB8AC3E}">
        <p14:creationId xmlns:p14="http://schemas.microsoft.com/office/powerpoint/2010/main" val="904493590"/>
      </p:ext>
    </p:extLst>
  </p:cSld>
</p:sld>
</file>

<file path=ppt/slides/slide29.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1230CE-03D0-4D1A-86F0-AB60377074CB}"/>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CONTRATTI NEL TEMPO</a:t>
            </a:r>
          </a:p>
        </p:txBody>
      </p:sp>
      <p:sp>
        <p:nvSpPr>
          <p:cNvPr id="2" name="">
            <a:extLst xmlns:a="http://schemas.openxmlformats.org/drawingml/2006/main">
              <a:ext uri="{FF2B5EF4-FFF2-40B4-BE49-F238E27FC236}">
                <a16:creationId xmlns:a16="http://schemas.microsoft.com/office/drawing/2014/main" id="{3ACF598E-C37B-44CC-91C4-E4165F5B071E}"/>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Schema evolution: producer e consumer non cambiano insieme</a:t>
            </a:r>
          </a:p>
        </p:txBody>
      </p:sp>
      <p:sp>
        <p:nvSpPr>
          <p:cNvPr id="3" name="">
            <a:extLst xmlns:a="http://schemas.openxmlformats.org/drawingml/2006/main">
              <a:ext uri="{FF2B5EF4-FFF2-40B4-BE49-F238E27FC236}">
                <a16:creationId xmlns:a16="http://schemas.microsoft.com/office/drawing/2014/main" id="{ADF19CE6-984F-4EBF-B60D-E604F0EE90A8}"/>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29</a:t>
            </a:r>
          </a:p>
        </p:txBody>
      </p:sp>
      <p:sp>
        <p:nvSpPr>
          <p:cNvPr id="4" name="">
            <a:extLst xmlns:a="http://schemas.openxmlformats.org/drawingml/2006/main">
              <a:ext uri="{FF2B5EF4-FFF2-40B4-BE49-F238E27FC236}">
                <a16:creationId xmlns:a16="http://schemas.microsoft.com/office/drawing/2014/main" id="{95FB9127-BB22-4D62-B73F-2C1A3F458881}"/>
              </a:ext>
            </a:extLst>
          </p:cNvPr>
          <p:cNvSpPr>
            <a:spLocks xmlns:a="http://schemas.openxmlformats.org/drawingml/2006/main" noGrp="1"/>
          </p:cNvSpPr>
          <p:nvPr/>
        </p:nvSpPr>
        <p:spPr>
          <a:xfrm xmlns:a="http://schemas.openxmlformats.org/drawingml/2006/main">
            <a:off x="1143000" y="18097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0B8D9"/>
                </a:solidFill>
              </a:defRPr>
            </a:pPr>
            <a:r>
              <a:rPr sz="1875" b="1">
                <a:solidFill>
                  <a:srgbClr val="00B8D9"/>
                </a:solidFill>
              </a:rPr>
              <a:t>EVENT v1</a:t>
            </a:r>
          </a:p>
        </p:txBody>
      </p:sp>
      <p:sp>
        <p:nvSpPr>
          <p:cNvPr id="5" name="">
            <a:extLst xmlns:a="http://schemas.openxmlformats.org/drawingml/2006/main">
              <a:ext uri="{FF2B5EF4-FFF2-40B4-BE49-F238E27FC236}">
                <a16:creationId xmlns:a16="http://schemas.microsoft.com/office/drawing/2014/main" id="{69F0FB20-DE18-4C9E-9AD4-8839A816319C}"/>
              </a:ext>
            </a:extLst>
          </p:cNvPr>
          <p:cNvSpPr>
            <a:spLocks xmlns:a="http://schemas.openxmlformats.org/drawingml/2006/main" noGrp="1"/>
          </p:cNvSpPr>
          <p:nvPr/>
        </p:nvSpPr>
        <p:spPr>
          <a:xfrm xmlns:a="http://schemas.openxmlformats.org/drawingml/2006/main">
            <a:off x="857250" y="2333625"/>
            <a:ext cx="3048000" cy="2095500"/>
          </a:xfrm>
          <a:prstGeom xmlns:a="http://schemas.openxmlformats.org/drawingml/2006/main" prst="roundRect">
            <a:avLst>
              <a:gd name="adj" fmla="val 3636"/>
            </a:avLst>
          </a:prstGeom>
          <a:solidFill xmlns:a="http://schemas.openxmlformats.org/drawingml/2006/main">
            <a:srgbClr val="0B1F33"/>
          </a:solidFill>
          <a:ln xmlns:a="http://schemas.openxmlformats.org/drawingml/2006/main" w="9525">
            <a:solidFill>
              <a:srgbClr val="0B1F33"/>
            </a:solidFill>
            <a:prstDash val="solid"/>
          </a:ln>
        </p:spPr>
      </p:sp>
      <p:sp>
        <p:nvSpPr>
          <p:cNvPr id="6" name="">
            <a:extLst xmlns:a="http://schemas.openxmlformats.org/drawingml/2006/main">
              <a:ext uri="{FF2B5EF4-FFF2-40B4-BE49-F238E27FC236}">
                <a16:creationId xmlns:a16="http://schemas.microsoft.com/office/drawing/2014/main" id="{A3D5D0D8-3906-4B25-A3E6-C2D23B33E622}"/>
              </a:ext>
            </a:extLst>
          </p:cNvPr>
          <p:cNvSpPr>
            <a:spLocks xmlns:a="http://schemas.openxmlformats.org/drawingml/2006/main" noGrp="1"/>
          </p:cNvSpPr>
          <p:nvPr/>
        </p:nvSpPr>
        <p:spPr>
          <a:xfrm xmlns:a="http://schemas.openxmlformats.org/drawingml/2006/main">
            <a:off x="857250" y="2333625"/>
            <a:ext cx="95250" cy="20955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7" name="">
            <a:extLst xmlns:a="http://schemas.openxmlformats.org/drawingml/2006/main">
              <a:ext uri="{FF2B5EF4-FFF2-40B4-BE49-F238E27FC236}">
                <a16:creationId xmlns:a16="http://schemas.microsoft.com/office/drawing/2014/main" id="{80ACA636-6088-4717-971D-B50604CF8818}"/>
              </a:ext>
            </a:extLst>
          </p:cNvPr>
          <p:cNvSpPr>
            <a:spLocks xmlns:a="http://schemas.openxmlformats.org/drawingml/2006/main" noGrp="1"/>
          </p:cNvSpPr>
          <p:nvPr/>
        </p:nvSpPr>
        <p:spPr>
          <a:xfrm xmlns:a="http://schemas.openxmlformats.org/drawingml/2006/main">
            <a:off x="1200150" y="2581275"/>
            <a:ext cx="23812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a:t>
            </a:r>
          </a:p>
          <a:p xmlns:a="http://schemas.openxmlformats.org/drawingml/2006/main">
            <a:pPr algn="l">
              <a:defRPr sz="1425" b="0">
                <a:solidFill>
                  <a:srgbClr val="FFFFFF"/>
                </a:solidFill>
              </a:defRPr>
            </a:pPr>
            <a:r>
              <a:rPr sz="1425" b="0">
                <a:solidFill>
                  <a:srgbClr val="FFFFFF"/>
                </a:solidFill>
              </a:rPr>
              <a:t>  "eventType": "MovieUpdated",</a:t>
            </a:r>
          </a:p>
          <a:p xmlns:a="http://schemas.openxmlformats.org/drawingml/2006/main">
            <a:pPr algn="l">
              <a:defRPr sz="1425" b="0">
                <a:solidFill>
                  <a:srgbClr val="FFFFFF"/>
                </a:solidFill>
              </a:defRPr>
            </a:pPr>
            <a:r>
              <a:rPr sz="1425" b="0">
                <a:solidFill>
                  <a:srgbClr val="FFFFFF"/>
                </a:solidFill>
              </a:rPr>
              <a:t>  "movieId": "m1",</a:t>
            </a:r>
          </a:p>
          <a:p xmlns:a="http://schemas.openxmlformats.org/drawingml/2006/main">
            <a:pPr algn="l">
              <a:defRPr sz="1425" b="0">
                <a:solidFill>
                  <a:srgbClr val="FFFFFF"/>
                </a:solidFill>
              </a:defRPr>
            </a:pPr>
            <a:r>
              <a:rPr sz="1425" b="0">
                <a:solidFill>
                  <a:srgbClr val="FFFFFF"/>
                </a:solidFill>
              </a:rPr>
              <a:t>  "title": "Interstellar"</a:t>
            </a:r>
          </a:p>
          <a:p xmlns:a="http://schemas.openxmlformats.org/drawingml/2006/main">
            <a:pPr algn="l">
              <a:defRPr sz="1425" b="0">
                <a:solidFill>
                  <a:srgbClr val="FFFFFF"/>
                </a:solidFill>
              </a:defRPr>
            </a:pPr>
            <a:r>
              <a:rPr sz="1425" b="0">
                <a:solidFill>
                  <a:srgbClr val="FFFFFF"/>
                </a:solidFill>
              </a:rPr>
              <a:t>}</a:t>
            </a:r>
          </a:p>
        </p:txBody>
      </p:sp>
      <p:sp>
        <p:nvSpPr>
          <p:cNvPr id="8" name="">
            <a:extLst xmlns:a="http://schemas.openxmlformats.org/drawingml/2006/main">
              <a:ext uri="{FF2B5EF4-FFF2-40B4-BE49-F238E27FC236}">
                <a16:creationId xmlns:a16="http://schemas.microsoft.com/office/drawing/2014/main" id="{00DBE737-C1E2-484B-92EC-E5BDECA505FD}"/>
              </a:ext>
            </a:extLst>
          </p:cNvPr>
          <p:cNvSpPr>
            <a:spLocks xmlns:a="http://schemas.openxmlformats.org/drawingml/2006/main" noGrp="1"/>
          </p:cNvSpPr>
          <p:nvPr/>
        </p:nvSpPr>
        <p:spPr>
          <a:xfrm xmlns:a="http://schemas.openxmlformats.org/drawingml/2006/main">
            <a:off x="7810500" y="18097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FF8A4C"/>
                </a:solidFill>
              </a:defRPr>
            </a:pPr>
            <a:r>
              <a:rPr sz="1875" b="1">
                <a:solidFill>
                  <a:srgbClr val="FF8A4C"/>
                </a:solidFill>
              </a:rPr>
              <a:t>EVENT v2</a:t>
            </a:r>
          </a:p>
        </p:txBody>
      </p:sp>
      <p:sp>
        <p:nvSpPr>
          <p:cNvPr id="9" name="">
            <a:extLst xmlns:a="http://schemas.openxmlformats.org/drawingml/2006/main">
              <a:ext uri="{FF2B5EF4-FFF2-40B4-BE49-F238E27FC236}">
                <a16:creationId xmlns:a16="http://schemas.microsoft.com/office/drawing/2014/main" id="{0C7C856B-AC57-41F3-84F8-B508B914A9CB}"/>
              </a:ext>
            </a:extLst>
          </p:cNvPr>
          <p:cNvSpPr>
            <a:spLocks xmlns:a="http://schemas.openxmlformats.org/drawingml/2006/main" noGrp="1"/>
          </p:cNvSpPr>
          <p:nvPr/>
        </p:nvSpPr>
        <p:spPr>
          <a:xfrm xmlns:a="http://schemas.openxmlformats.org/drawingml/2006/main">
            <a:off x="7477125" y="2333625"/>
            <a:ext cx="3714750" cy="2381250"/>
          </a:xfrm>
          <a:prstGeom xmlns:a="http://schemas.openxmlformats.org/drawingml/2006/main" prst="roundRect">
            <a:avLst>
              <a:gd name="adj" fmla="val 3200"/>
            </a:avLst>
          </a:prstGeom>
          <a:solidFill xmlns:a="http://schemas.openxmlformats.org/drawingml/2006/main">
            <a:srgbClr val="0B1F33"/>
          </a:solidFill>
          <a:ln xmlns:a="http://schemas.openxmlformats.org/drawingml/2006/main" w="9525">
            <a:solidFill>
              <a:srgbClr val="0B1F33"/>
            </a:solidFill>
            <a:prstDash val="solid"/>
          </a:ln>
        </p:spPr>
      </p:sp>
      <p:sp>
        <p:nvSpPr>
          <p:cNvPr id="10" name="">
            <a:extLst xmlns:a="http://schemas.openxmlformats.org/drawingml/2006/main">
              <a:ext uri="{FF2B5EF4-FFF2-40B4-BE49-F238E27FC236}">
                <a16:creationId xmlns:a16="http://schemas.microsoft.com/office/drawing/2014/main" id="{CF7AA77A-586E-4E15-B6D7-8BCEE1C0EFFF}"/>
              </a:ext>
            </a:extLst>
          </p:cNvPr>
          <p:cNvSpPr>
            <a:spLocks xmlns:a="http://schemas.openxmlformats.org/drawingml/2006/main" noGrp="1"/>
          </p:cNvSpPr>
          <p:nvPr/>
        </p:nvSpPr>
        <p:spPr>
          <a:xfrm xmlns:a="http://schemas.openxmlformats.org/drawingml/2006/main">
            <a:off x="7477125" y="2333625"/>
            <a:ext cx="95250" cy="238125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1" name="">
            <a:extLst xmlns:a="http://schemas.openxmlformats.org/drawingml/2006/main">
              <a:ext uri="{FF2B5EF4-FFF2-40B4-BE49-F238E27FC236}">
                <a16:creationId xmlns:a16="http://schemas.microsoft.com/office/drawing/2014/main" id="{86B34CEA-9BAD-45E9-9473-00F91D1A46D5}"/>
              </a:ext>
            </a:extLst>
          </p:cNvPr>
          <p:cNvSpPr>
            <a:spLocks xmlns:a="http://schemas.openxmlformats.org/drawingml/2006/main" noGrp="1"/>
          </p:cNvSpPr>
          <p:nvPr/>
        </p:nvSpPr>
        <p:spPr>
          <a:xfrm xmlns:a="http://schemas.openxmlformats.org/drawingml/2006/main">
            <a:off x="7820025" y="2581275"/>
            <a:ext cx="30480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a:t>
            </a:r>
          </a:p>
          <a:p xmlns:a="http://schemas.openxmlformats.org/drawingml/2006/main">
            <a:pPr algn="l">
              <a:defRPr sz="1350" b="0">
                <a:solidFill>
                  <a:srgbClr val="FFFFFF"/>
                </a:solidFill>
              </a:defRPr>
            </a:pPr>
            <a:r>
              <a:rPr sz="1350" b="0">
                <a:solidFill>
                  <a:srgbClr val="FFFFFF"/>
                </a:solidFill>
              </a:rPr>
              <a:t>  "eventType": "MovieUpdated",</a:t>
            </a:r>
          </a:p>
          <a:p xmlns:a="http://schemas.openxmlformats.org/drawingml/2006/main">
            <a:pPr algn="l">
              <a:defRPr sz="1350" b="0">
                <a:solidFill>
                  <a:srgbClr val="FFFFFF"/>
                </a:solidFill>
              </a:defRPr>
            </a:pPr>
            <a:r>
              <a:rPr sz="1350" b="0">
                <a:solidFill>
                  <a:srgbClr val="FFFFFF"/>
                </a:solidFill>
              </a:rPr>
              <a:t>  "movieId": "m1",</a:t>
            </a:r>
          </a:p>
          <a:p xmlns:a="http://schemas.openxmlformats.org/drawingml/2006/main">
            <a:pPr algn="l">
              <a:defRPr sz="1350" b="0">
                <a:solidFill>
                  <a:srgbClr val="FFFFFF"/>
                </a:solidFill>
              </a:defRPr>
            </a:pPr>
            <a:r>
              <a:rPr sz="1350" b="0">
                <a:solidFill>
                  <a:srgbClr val="FFFFFF"/>
                </a:solidFill>
              </a:rPr>
              <a:t>  "title": "Interstellar",</a:t>
            </a:r>
          </a:p>
          <a:p xmlns:a="http://schemas.openxmlformats.org/drawingml/2006/main">
            <a:pPr algn="l">
              <a:defRPr sz="1350" b="0">
                <a:solidFill>
                  <a:srgbClr val="FFFFFF"/>
                </a:solidFill>
              </a:defRPr>
            </a:pPr>
            <a:r>
              <a:rPr sz="1350" b="0">
                <a:solidFill>
                  <a:srgbClr val="FFFFFF"/>
                </a:solidFill>
              </a:rPr>
              <a:t>  "availableCountries": ["IT","ES"]</a:t>
            </a:r>
          </a:p>
          <a:p xmlns:a="http://schemas.openxmlformats.org/drawingml/2006/main">
            <a:pPr algn="l">
              <a:defRPr sz="1350" b="0">
                <a:solidFill>
                  <a:srgbClr val="FFFFFF"/>
                </a:solidFill>
              </a:defRPr>
            </a:pPr>
            <a:r>
              <a:rPr sz="1350" b="0">
                <a:solidFill>
                  <a:srgbClr val="FFFFFF"/>
                </a:solidFill>
              </a:rPr>
              <a:t>}</a:t>
            </a:r>
          </a:p>
        </p:txBody>
      </p:sp>
      <p:sp>
        <p:nvSpPr>
          <p:cNvPr id="12" name="">
            <a:extLst xmlns:a="http://schemas.openxmlformats.org/drawingml/2006/main">
              <a:ext uri="{FF2B5EF4-FFF2-40B4-BE49-F238E27FC236}">
                <a16:creationId xmlns:a16="http://schemas.microsoft.com/office/drawing/2014/main" id="{1FF85079-9D00-4C32-B870-3C4A41136685}"/>
              </a:ext>
            </a:extLst>
          </p:cNvPr>
          <p:cNvSpPr>
            <a:spLocks xmlns:a="http://schemas.openxmlformats.org/drawingml/2006/main" noGrp="1"/>
          </p:cNvSpPr>
          <p:nvPr/>
        </p:nvSpPr>
        <p:spPr>
          <a:xfrm xmlns:a="http://schemas.openxmlformats.org/drawingml/2006/main">
            <a:off x="4286250" y="3267075"/>
            <a:ext cx="2667000" cy="381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3" name="">
            <a:extLst xmlns:a="http://schemas.openxmlformats.org/drawingml/2006/main">
              <a:ext uri="{FF2B5EF4-FFF2-40B4-BE49-F238E27FC236}">
                <a16:creationId xmlns:a16="http://schemas.microsoft.com/office/drawing/2014/main" id="{25D8744A-9D77-48DC-9D99-C649D34C1E54}"/>
              </a:ext>
            </a:extLst>
          </p:cNvPr>
          <p:cNvSpPr>
            <a:spLocks xmlns:a="http://schemas.openxmlformats.org/drawingml/2006/main" noGrp="1"/>
          </p:cNvSpPr>
          <p:nvPr/>
        </p:nvSpPr>
        <p:spPr>
          <a:xfrm xmlns:a="http://schemas.openxmlformats.org/drawingml/2006/main">
            <a:off x="6800850" y="30956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B7E34B"/>
                </a:solidFill>
              </a:defRPr>
            </a:pPr>
            <a:r>
              <a:rPr sz="2625" b="1">
                <a:solidFill>
                  <a:srgbClr val="B7E34B"/>
                </a:solidFill>
              </a:rPr>
              <a:t>›</a:t>
            </a:r>
          </a:p>
        </p:txBody>
      </p:sp>
      <p:sp>
        <p:nvSpPr>
          <p:cNvPr id="14" name="">
            <a:extLst xmlns:a="http://schemas.openxmlformats.org/drawingml/2006/main">
              <a:ext uri="{FF2B5EF4-FFF2-40B4-BE49-F238E27FC236}">
                <a16:creationId xmlns:a16="http://schemas.microsoft.com/office/drawing/2014/main" id="{6FEE6A4A-94E6-4791-ACA6-B0907A9294B5}"/>
              </a:ext>
            </a:extLst>
          </p:cNvPr>
          <p:cNvSpPr>
            <a:spLocks xmlns:a="http://schemas.openxmlformats.org/drawingml/2006/main" noGrp="1"/>
          </p:cNvSpPr>
          <p:nvPr/>
        </p:nvSpPr>
        <p:spPr>
          <a:xfrm xmlns:a="http://schemas.openxmlformats.org/drawingml/2006/main">
            <a:off x="4286250" y="29241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7E34B"/>
                </a:solidFill>
              </a:defRPr>
            </a:pPr>
            <a:r>
              <a:rPr sz="1050" b="1">
                <a:solidFill>
                  <a:srgbClr val="B7E34B"/>
                </a:solidFill>
              </a:rPr>
              <a:t>compatibilità</a:t>
            </a:r>
          </a:p>
        </p:txBody>
      </p:sp>
      <p:sp>
        <p:nvSpPr>
          <p:cNvPr id="15" name="">
            <a:extLst xmlns:a="http://schemas.openxmlformats.org/drawingml/2006/main">
              <a:ext uri="{FF2B5EF4-FFF2-40B4-BE49-F238E27FC236}">
                <a16:creationId xmlns:a16="http://schemas.microsoft.com/office/drawing/2014/main" id="{CD69A2B2-D85E-4FFC-9ADF-29B0205F6B6E}"/>
              </a:ext>
            </a:extLst>
          </p:cNvPr>
          <p:cNvSpPr>
            <a:spLocks xmlns:a="http://schemas.openxmlformats.org/drawingml/2006/main" noGrp="1"/>
          </p:cNvSpPr>
          <p:nvPr/>
        </p:nvSpPr>
        <p:spPr>
          <a:xfrm xmlns:a="http://schemas.openxmlformats.org/drawingml/2006/main">
            <a:off x="2095500" y="5381625"/>
            <a:ext cx="800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Aggiungere è spesso più sicuro che rinominare o cambiare significato.</a:t>
            </a:r>
          </a:p>
        </p:txBody>
      </p:sp>
    </p:spTree>
    <p:extLst>
      <p:ext uri="{BB962C8B-B14F-4D97-AF65-F5344CB8AC3E}">
        <p14:creationId xmlns:p14="http://schemas.microsoft.com/office/powerpoint/2010/main" val="1905067693"/>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264AAD-FD3F-4814-8644-E075522B3516}"/>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METADATI STANDARD</a:t>
            </a:r>
          </a:p>
        </p:txBody>
      </p:sp>
      <p:sp>
        <p:nvSpPr>
          <p:cNvPr id="2" name="">
            <a:extLst xmlns:a="http://schemas.openxmlformats.org/drawingml/2006/main">
              <a:ext uri="{FF2B5EF4-FFF2-40B4-BE49-F238E27FC236}">
                <a16:creationId xmlns:a16="http://schemas.microsoft.com/office/drawing/2014/main" id="{97835861-792D-44DF-B81A-589B1ABF6B1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Un event envelope rende il contratto osservabile</a:t>
            </a:r>
          </a:p>
        </p:txBody>
      </p:sp>
      <p:sp>
        <p:nvSpPr>
          <p:cNvPr id="3" name="">
            <a:extLst xmlns:a="http://schemas.openxmlformats.org/drawingml/2006/main">
              <a:ext uri="{FF2B5EF4-FFF2-40B4-BE49-F238E27FC236}">
                <a16:creationId xmlns:a16="http://schemas.microsoft.com/office/drawing/2014/main" id="{FC9E6603-760B-4639-8934-9D7C32A2CF0C}"/>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30</a:t>
            </a:r>
          </a:p>
        </p:txBody>
      </p:sp>
      <p:sp>
        <p:nvSpPr>
          <p:cNvPr id="4" name="">
            <a:extLst xmlns:a="http://schemas.openxmlformats.org/drawingml/2006/main">
              <a:ext uri="{FF2B5EF4-FFF2-40B4-BE49-F238E27FC236}">
                <a16:creationId xmlns:a16="http://schemas.microsoft.com/office/drawing/2014/main" id="{9CFA0A22-6346-49B4-BE7A-8056FD09DE4B}"/>
              </a:ext>
            </a:extLst>
          </p:cNvPr>
          <p:cNvSpPr>
            <a:spLocks xmlns:a="http://schemas.openxmlformats.org/drawingml/2006/main" noGrp="1"/>
          </p:cNvSpPr>
          <p:nvPr/>
        </p:nvSpPr>
        <p:spPr>
          <a:xfrm xmlns:a="http://schemas.openxmlformats.org/drawingml/2006/main">
            <a:off x="1381125" y="1524000"/>
            <a:ext cx="9429750" cy="4000500"/>
          </a:xfrm>
          <a:prstGeom xmlns:a="http://schemas.openxmlformats.org/drawingml/2006/main" prst="roundRect">
            <a:avLst>
              <a:gd name="adj" fmla="val 1905"/>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E6339F72-DD0C-44D6-8F26-5ED0F3E8F93B}"/>
              </a:ext>
            </a:extLst>
          </p:cNvPr>
          <p:cNvSpPr>
            <a:spLocks xmlns:a="http://schemas.openxmlformats.org/drawingml/2006/main" noGrp="1"/>
          </p:cNvSpPr>
          <p:nvPr/>
        </p:nvSpPr>
        <p:spPr>
          <a:xfrm xmlns:a="http://schemas.openxmlformats.org/drawingml/2006/main">
            <a:off x="1381125" y="1524000"/>
            <a:ext cx="95250" cy="4000500"/>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86914585-C143-4F07-BDBF-AC42502CB0D2}"/>
              </a:ext>
            </a:extLst>
          </p:cNvPr>
          <p:cNvSpPr>
            <a:spLocks xmlns:a="http://schemas.openxmlformats.org/drawingml/2006/main" noGrp="1"/>
          </p:cNvSpPr>
          <p:nvPr/>
        </p:nvSpPr>
        <p:spPr>
          <a:xfrm xmlns:a="http://schemas.openxmlformats.org/drawingml/2006/main">
            <a:off x="1724025" y="1771650"/>
            <a:ext cx="8763000" cy="3543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a:t>
            </a:r>
          </a:p>
          <a:p xmlns:a="http://schemas.openxmlformats.org/drawingml/2006/main">
            <a:pPr algn="l">
              <a:defRPr sz="1500" b="0">
                <a:solidFill>
                  <a:srgbClr val="FFFFFF"/>
                </a:solidFill>
              </a:defRPr>
            </a:pPr>
            <a:r>
              <a:rPr sz="1500" b="0">
                <a:solidFill>
                  <a:srgbClr val="FFFFFF"/>
                </a:solidFill>
              </a:rPr>
              <a:t>  "id": "2c5…",</a:t>
            </a:r>
          </a:p>
          <a:p xmlns:a="http://schemas.openxmlformats.org/drawingml/2006/main">
            <a:pPr algn="l">
              <a:defRPr sz="1500" b="0">
                <a:solidFill>
                  <a:srgbClr val="FFFFFF"/>
                </a:solidFill>
              </a:defRPr>
            </a:pPr>
            <a:r>
              <a:rPr sz="1500" b="0">
                <a:solidFill>
                  <a:srgbClr val="FFFFFF"/>
                </a:solidFill>
              </a:rPr>
              <a:t>  "source": "rating-service",</a:t>
            </a:r>
          </a:p>
          <a:p xmlns:a="http://schemas.openxmlformats.org/drawingml/2006/main">
            <a:pPr algn="l">
              <a:defRPr sz="1500" b="0">
                <a:solidFill>
                  <a:srgbClr val="FFFFFF"/>
                </a:solidFill>
              </a:defRPr>
            </a:pPr>
            <a:r>
              <a:rPr sz="1500" b="0">
                <a:solidFill>
                  <a:srgbClr val="FFFFFF"/>
                </a:solidFill>
              </a:rPr>
              <a:t>  "type": "dataflix.rating.created.v1",</a:t>
            </a:r>
          </a:p>
          <a:p xmlns:a="http://schemas.openxmlformats.org/drawingml/2006/main">
            <a:pPr algn="l">
              <a:defRPr sz="1500" b="0">
                <a:solidFill>
                  <a:srgbClr val="FFFFFF"/>
                </a:solidFill>
              </a:defRPr>
            </a:pPr>
            <a:r>
              <a:rPr sz="1500" b="0">
                <a:solidFill>
                  <a:srgbClr val="FFFFFF"/>
                </a:solidFill>
              </a:rPr>
              <a:t>  "subject": "rating/u1/m1",</a:t>
            </a:r>
          </a:p>
          <a:p xmlns:a="http://schemas.openxmlformats.org/drawingml/2006/main">
            <a:pPr algn="l">
              <a:defRPr sz="1500" b="0">
                <a:solidFill>
                  <a:srgbClr val="FFFFFF"/>
                </a:solidFill>
              </a:defRPr>
            </a:pPr>
            <a:r>
              <a:rPr sz="1500" b="0">
                <a:solidFill>
                  <a:srgbClr val="FFFFFF"/>
                </a:solidFill>
              </a:rPr>
              <a:t>  "time": "2026-09-03T15:20:11Z",</a:t>
            </a:r>
          </a:p>
          <a:p xmlns:a="http://schemas.openxmlformats.org/drawingml/2006/main">
            <a:pPr algn="l">
              <a:defRPr sz="1500" b="0">
                <a:solidFill>
                  <a:srgbClr val="FFFFFF"/>
                </a:solidFill>
              </a:defRPr>
            </a:pPr>
            <a:r>
              <a:rPr sz="1500" b="0">
                <a:solidFill>
                  <a:srgbClr val="FFFFFF"/>
                </a:solidFill>
              </a:rPr>
              <a:t>  "correlationId": "req-847",</a:t>
            </a:r>
          </a:p>
          <a:p xmlns:a="http://schemas.openxmlformats.org/drawingml/2006/main">
            <a:pPr algn="l">
              <a:defRPr sz="1500" b="0">
                <a:solidFill>
                  <a:srgbClr val="FFFFFF"/>
                </a:solidFill>
              </a:defRPr>
            </a:pPr>
            <a:r>
              <a:rPr sz="1500" b="0">
                <a:solidFill>
                  <a:srgbClr val="FFFFFF"/>
                </a:solidFill>
              </a:rPr>
              <a:t>  "data": {"userId":"u1","movieId":"m1","score":9}</a:t>
            </a:r>
          </a:p>
          <a:p xmlns:a="http://schemas.openxmlformats.org/drawingml/2006/main">
            <a:pPr algn="l">
              <a:defRPr sz="1500" b="0">
                <a:solidFill>
                  <a:srgbClr val="FFFFFF"/>
                </a:solidFill>
              </a:defRPr>
            </a:pPr>
            <a:r>
              <a:rPr sz="1500" b="0">
                <a:solidFill>
                  <a:srgbClr val="FFFFFF"/>
                </a:solidFill>
              </a:rPr>
              <a:t>}</a:t>
            </a:r>
          </a:p>
        </p:txBody>
      </p:sp>
      <p:sp>
        <p:nvSpPr>
          <p:cNvPr id="7" name="">
            <a:extLst xmlns:a="http://schemas.openxmlformats.org/drawingml/2006/main">
              <a:ext uri="{FF2B5EF4-FFF2-40B4-BE49-F238E27FC236}">
                <a16:creationId xmlns:a16="http://schemas.microsoft.com/office/drawing/2014/main" id="{3E38EE2A-9843-4268-9C6B-A09214AFCD86}"/>
              </a:ext>
            </a:extLst>
          </p:cNvPr>
          <p:cNvSpPr>
            <a:spLocks xmlns:a="http://schemas.openxmlformats.org/drawingml/2006/main" noGrp="1"/>
          </p:cNvSpPr>
          <p:nvPr/>
        </p:nvSpPr>
        <p:spPr>
          <a:xfrm xmlns:a="http://schemas.openxmlformats.org/drawingml/2006/main">
            <a:off x="2857500" y="5810250"/>
            <a:ext cx="647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Identità • provenienza • versione • correlazione • payload</a:t>
            </a:r>
          </a:p>
        </p:txBody>
      </p:sp>
    </p:spTree>
    <p:extLst>
      <p:ext uri="{BB962C8B-B14F-4D97-AF65-F5344CB8AC3E}">
        <p14:creationId xmlns:p14="http://schemas.microsoft.com/office/powerpoint/2010/main" val="602388174"/>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E3AF234-CD3E-4CDB-AB16-90595A8616E2}"/>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PRODUCER × CONSUMER</a:t>
            </a:r>
          </a:p>
        </p:txBody>
      </p:sp>
      <p:sp>
        <p:nvSpPr>
          <p:cNvPr id="2" name="">
            <a:extLst xmlns:a="http://schemas.openxmlformats.org/drawingml/2006/main">
              <a:ext uri="{FF2B5EF4-FFF2-40B4-BE49-F238E27FC236}">
                <a16:creationId xmlns:a16="http://schemas.microsoft.com/office/drawing/2014/main" id="{15F8A3BC-C3ED-4B97-8D32-6A7F9526DDE0}"/>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Compatibilità è una matrice, non una speranza</a:t>
            </a:r>
          </a:p>
        </p:txBody>
      </p:sp>
      <p:sp>
        <p:nvSpPr>
          <p:cNvPr id="3" name="">
            <a:extLst xmlns:a="http://schemas.openxmlformats.org/drawingml/2006/main">
              <a:ext uri="{FF2B5EF4-FFF2-40B4-BE49-F238E27FC236}">
                <a16:creationId xmlns:a16="http://schemas.microsoft.com/office/drawing/2014/main" id="{B4332C68-5F03-42B5-B59F-E868A7286C64}"/>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31</a:t>
            </a:r>
          </a:p>
        </p:txBody>
      </p:sp>
      <p:sp>
        <p:nvSpPr>
          <p:cNvPr id="4" name="">
            <a:extLst xmlns:a="http://schemas.openxmlformats.org/drawingml/2006/main">
              <a:ext uri="{FF2B5EF4-FFF2-40B4-BE49-F238E27FC236}">
                <a16:creationId xmlns:a16="http://schemas.microsoft.com/office/drawing/2014/main" id="{06F256A3-5AE5-4057-9C65-39A96DB7C600}"/>
              </a:ext>
            </a:extLst>
          </p:cNvPr>
          <p:cNvSpPr>
            <a:spLocks xmlns:a="http://schemas.openxmlformats.org/drawingml/2006/main" noGrp="1"/>
          </p:cNvSpPr>
          <p:nvPr/>
        </p:nvSpPr>
        <p:spPr>
          <a:xfrm xmlns:a="http://schemas.openxmlformats.org/drawingml/2006/main">
            <a:off x="904875" y="1762125"/>
            <a:ext cx="2857500" cy="55245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016217B5-FCC5-42D8-9A96-1951CC28E886}"/>
              </a:ext>
            </a:extLst>
          </p:cNvPr>
          <p:cNvSpPr>
            <a:spLocks xmlns:a="http://schemas.openxmlformats.org/drawingml/2006/main" noGrp="1"/>
          </p:cNvSpPr>
          <p:nvPr/>
        </p:nvSpPr>
        <p:spPr>
          <a:xfrm xmlns:a="http://schemas.openxmlformats.org/drawingml/2006/main">
            <a:off x="981075" y="19240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D438A79E-7204-4059-898D-E2AB13C623E1}"/>
              </a:ext>
            </a:extLst>
          </p:cNvPr>
          <p:cNvSpPr>
            <a:spLocks xmlns:a="http://schemas.openxmlformats.org/drawingml/2006/main" noGrp="1"/>
          </p:cNvSpPr>
          <p:nvPr/>
        </p:nvSpPr>
        <p:spPr>
          <a:xfrm xmlns:a="http://schemas.openxmlformats.org/drawingml/2006/main">
            <a:off x="3857625" y="1762125"/>
            <a:ext cx="3571875" cy="55245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7" name="">
            <a:extLst xmlns:a="http://schemas.openxmlformats.org/drawingml/2006/main">
              <a:ext uri="{FF2B5EF4-FFF2-40B4-BE49-F238E27FC236}">
                <a16:creationId xmlns:a16="http://schemas.microsoft.com/office/drawing/2014/main" id="{FD9BD67E-0008-454B-8774-B47D6A330025}"/>
              </a:ext>
            </a:extLst>
          </p:cNvPr>
          <p:cNvSpPr>
            <a:spLocks xmlns:a="http://schemas.openxmlformats.org/drawingml/2006/main" noGrp="1"/>
          </p:cNvSpPr>
          <p:nvPr/>
        </p:nvSpPr>
        <p:spPr>
          <a:xfrm xmlns:a="http://schemas.openxmlformats.org/drawingml/2006/main">
            <a:off x="3933825" y="1924050"/>
            <a:ext cx="3419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Consumer v1</a:t>
            </a:r>
          </a:p>
        </p:txBody>
      </p:sp>
      <p:sp>
        <p:nvSpPr>
          <p:cNvPr id="8" name="">
            <a:extLst xmlns:a="http://schemas.openxmlformats.org/drawingml/2006/main">
              <a:ext uri="{FF2B5EF4-FFF2-40B4-BE49-F238E27FC236}">
                <a16:creationId xmlns:a16="http://schemas.microsoft.com/office/drawing/2014/main" id="{D891B853-4855-4CBD-AAE4-51DF1076C675}"/>
              </a:ext>
            </a:extLst>
          </p:cNvPr>
          <p:cNvSpPr>
            <a:spLocks xmlns:a="http://schemas.openxmlformats.org/drawingml/2006/main" noGrp="1"/>
          </p:cNvSpPr>
          <p:nvPr/>
        </p:nvSpPr>
        <p:spPr>
          <a:xfrm xmlns:a="http://schemas.openxmlformats.org/drawingml/2006/main">
            <a:off x="7524750" y="1762125"/>
            <a:ext cx="3571875" cy="55245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9" name="">
            <a:extLst xmlns:a="http://schemas.openxmlformats.org/drawingml/2006/main">
              <a:ext uri="{FF2B5EF4-FFF2-40B4-BE49-F238E27FC236}">
                <a16:creationId xmlns:a16="http://schemas.microsoft.com/office/drawing/2014/main" id="{AD344026-8055-4F57-9641-530E2606B04B}"/>
              </a:ext>
            </a:extLst>
          </p:cNvPr>
          <p:cNvSpPr>
            <a:spLocks xmlns:a="http://schemas.openxmlformats.org/drawingml/2006/main" noGrp="1"/>
          </p:cNvSpPr>
          <p:nvPr/>
        </p:nvSpPr>
        <p:spPr>
          <a:xfrm xmlns:a="http://schemas.openxmlformats.org/drawingml/2006/main">
            <a:off x="7600950" y="1924050"/>
            <a:ext cx="3419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Consumer v2</a:t>
            </a:r>
          </a:p>
        </p:txBody>
      </p:sp>
      <p:sp>
        <p:nvSpPr>
          <p:cNvPr id="10" name="">
            <a:extLst xmlns:a="http://schemas.openxmlformats.org/drawingml/2006/main">
              <a:ext uri="{FF2B5EF4-FFF2-40B4-BE49-F238E27FC236}">
                <a16:creationId xmlns:a16="http://schemas.microsoft.com/office/drawing/2014/main" id="{8EF8A514-CA09-4158-8BC7-EDC04C44A512}"/>
              </a:ext>
            </a:extLst>
          </p:cNvPr>
          <p:cNvSpPr>
            <a:spLocks xmlns:a="http://schemas.openxmlformats.org/drawingml/2006/main" noGrp="1"/>
          </p:cNvSpPr>
          <p:nvPr/>
        </p:nvSpPr>
        <p:spPr>
          <a:xfrm xmlns:a="http://schemas.openxmlformats.org/drawingml/2006/main">
            <a:off x="904875" y="2314575"/>
            <a:ext cx="2857500" cy="14287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1" name="">
            <a:extLst xmlns:a="http://schemas.openxmlformats.org/drawingml/2006/main">
              <a:ext uri="{FF2B5EF4-FFF2-40B4-BE49-F238E27FC236}">
                <a16:creationId xmlns:a16="http://schemas.microsoft.com/office/drawing/2014/main" id="{662E8B1C-887A-46C6-BEF8-AD1900F63945}"/>
              </a:ext>
            </a:extLst>
          </p:cNvPr>
          <p:cNvSpPr>
            <a:spLocks xmlns:a="http://schemas.openxmlformats.org/drawingml/2006/main" noGrp="1"/>
          </p:cNvSpPr>
          <p:nvPr/>
        </p:nvSpPr>
        <p:spPr>
          <a:xfrm xmlns:a="http://schemas.openxmlformats.org/drawingml/2006/main">
            <a:off x="1095375" y="277177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Producer v1</a:t>
            </a:r>
          </a:p>
        </p:txBody>
      </p:sp>
      <p:sp>
        <p:nvSpPr>
          <p:cNvPr id="12" name="">
            <a:extLst xmlns:a="http://schemas.openxmlformats.org/drawingml/2006/main">
              <a:ext uri="{FF2B5EF4-FFF2-40B4-BE49-F238E27FC236}">
                <a16:creationId xmlns:a16="http://schemas.microsoft.com/office/drawing/2014/main" id="{1BB38988-402D-4CC7-BFC4-03E5850E5AC4}"/>
              </a:ext>
            </a:extLst>
          </p:cNvPr>
          <p:cNvSpPr>
            <a:spLocks xmlns:a="http://schemas.openxmlformats.org/drawingml/2006/main" noGrp="1"/>
          </p:cNvSpPr>
          <p:nvPr/>
        </p:nvSpPr>
        <p:spPr>
          <a:xfrm xmlns:a="http://schemas.openxmlformats.org/drawingml/2006/main">
            <a:off x="3857625" y="2314575"/>
            <a:ext cx="3571875" cy="14287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4CE0CCD3-3F8A-48B4-AD8B-D2D91A488A69}"/>
              </a:ext>
            </a:extLst>
          </p:cNvPr>
          <p:cNvSpPr>
            <a:spLocks xmlns:a="http://schemas.openxmlformats.org/drawingml/2006/main" noGrp="1"/>
          </p:cNvSpPr>
          <p:nvPr/>
        </p:nvSpPr>
        <p:spPr>
          <a:xfrm xmlns:a="http://schemas.openxmlformats.org/drawingml/2006/main">
            <a:off x="4048125" y="2771775"/>
            <a:ext cx="319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deve funzionare</a:t>
            </a:r>
          </a:p>
        </p:txBody>
      </p:sp>
      <p:sp>
        <p:nvSpPr>
          <p:cNvPr id="14" name="">
            <a:extLst xmlns:a="http://schemas.openxmlformats.org/drawingml/2006/main">
              <a:ext uri="{FF2B5EF4-FFF2-40B4-BE49-F238E27FC236}">
                <a16:creationId xmlns:a16="http://schemas.microsoft.com/office/drawing/2014/main" id="{09B796DD-B640-4D5A-B44B-98C6C1470CC0}"/>
              </a:ext>
            </a:extLst>
          </p:cNvPr>
          <p:cNvSpPr>
            <a:spLocks xmlns:a="http://schemas.openxmlformats.org/drawingml/2006/main" noGrp="1"/>
          </p:cNvSpPr>
          <p:nvPr/>
        </p:nvSpPr>
        <p:spPr>
          <a:xfrm xmlns:a="http://schemas.openxmlformats.org/drawingml/2006/main">
            <a:off x="7524750" y="2314575"/>
            <a:ext cx="3571875" cy="142875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4D59D63D-C4C7-4667-AAE4-83473F0CF711}"/>
              </a:ext>
            </a:extLst>
          </p:cNvPr>
          <p:cNvSpPr>
            <a:spLocks xmlns:a="http://schemas.openxmlformats.org/drawingml/2006/main" noGrp="1"/>
          </p:cNvSpPr>
          <p:nvPr/>
        </p:nvSpPr>
        <p:spPr>
          <a:xfrm xmlns:a="http://schemas.openxmlformats.org/drawingml/2006/main">
            <a:off x="7715250" y="2771775"/>
            <a:ext cx="319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deve accettare assenza</a:t>
            </a:r>
          </a:p>
        </p:txBody>
      </p:sp>
      <p:sp>
        <p:nvSpPr>
          <p:cNvPr id="16" name="">
            <a:extLst xmlns:a="http://schemas.openxmlformats.org/drawingml/2006/main">
              <a:ext uri="{FF2B5EF4-FFF2-40B4-BE49-F238E27FC236}">
                <a16:creationId xmlns:a16="http://schemas.microsoft.com/office/drawing/2014/main" id="{F31333BB-5E01-47ED-A4A3-A79EB389AAAA}"/>
              </a:ext>
            </a:extLst>
          </p:cNvPr>
          <p:cNvSpPr>
            <a:spLocks xmlns:a="http://schemas.openxmlformats.org/drawingml/2006/main" noGrp="1"/>
          </p:cNvSpPr>
          <p:nvPr/>
        </p:nvSpPr>
        <p:spPr>
          <a:xfrm xmlns:a="http://schemas.openxmlformats.org/drawingml/2006/main">
            <a:off x="904875" y="3743325"/>
            <a:ext cx="28575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D5D2159E-D29F-4C52-8CAD-28AC3308AE1D}"/>
              </a:ext>
            </a:extLst>
          </p:cNvPr>
          <p:cNvSpPr>
            <a:spLocks xmlns:a="http://schemas.openxmlformats.org/drawingml/2006/main" noGrp="1"/>
          </p:cNvSpPr>
          <p:nvPr/>
        </p:nvSpPr>
        <p:spPr>
          <a:xfrm xmlns:a="http://schemas.openxmlformats.org/drawingml/2006/main">
            <a:off x="1095375" y="420052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1F33"/>
                </a:solidFill>
              </a:defRPr>
            </a:pPr>
            <a:r>
              <a:rPr sz="1500" b="1">
                <a:solidFill>
                  <a:srgbClr val="0B1F33"/>
                </a:solidFill>
              </a:rPr>
              <a:t>Producer v2</a:t>
            </a:r>
          </a:p>
        </p:txBody>
      </p:sp>
      <p:sp>
        <p:nvSpPr>
          <p:cNvPr id="18" name="">
            <a:extLst xmlns:a="http://schemas.openxmlformats.org/drawingml/2006/main">
              <a:ext uri="{FF2B5EF4-FFF2-40B4-BE49-F238E27FC236}">
                <a16:creationId xmlns:a16="http://schemas.microsoft.com/office/drawing/2014/main" id="{15F5DF30-0F4D-4694-99A5-33A288186AC0}"/>
              </a:ext>
            </a:extLst>
          </p:cNvPr>
          <p:cNvSpPr>
            <a:spLocks xmlns:a="http://schemas.openxmlformats.org/drawingml/2006/main" noGrp="1"/>
          </p:cNvSpPr>
          <p:nvPr/>
        </p:nvSpPr>
        <p:spPr>
          <a:xfrm xmlns:a="http://schemas.openxmlformats.org/drawingml/2006/main">
            <a:off x="3857625" y="3743325"/>
            <a:ext cx="3571875"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19" name="">
            <a:extLst xmlns:a="http://schemas.openxmlformats.org/drawingml/2006/main">
              <a:ext uri="{FF2B5EF4-FFF2-40B4-BE49-F238E27FC236}">
                <a16:creationId xmlns:a16="http://schemas.microsoft.com/office/drawing/2014/main" id="{5CBF1EA3-98A2-4D30-B4F5-6C93DA0E6A77}"/>
              </a:ext>
            </a:extLst>
          </p:cNvPr>
          <p:cNvSpPr>
            <a:spLocks xmlns:a="http://schemas.openxmlformats.org/drawingml/2006/main" noGrp="1"/>
          </p:cNvSpPr>
          <p:nvPr/>
        </p:nvSpPr>
        <p:spPr>
          <a:xfrm xmlns:a="http://schemas.openxmlformats.org/drawingml/2006/main">
            <a:off x="4048125" y="4200525"/>
            <a:ext cx="319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consumer ignora campi nuovi</a:t>
            </a:r>
          </a:p>
        </p:txBody>
      </p:sp>
      <p:sp>
        <p:nvSpPr>
          <p:cNvPr id="20" name="">
            <a:extLst xmlns:a="http://schemas.openxmlformats.org/drawingml/2006/main">
              <a:ext uri="{FF2B5EF4-FFF2-40B4-BE49-F238E27FC236}">
                <a16:creationId xmlns:a16="http://schemas.microsoft.com/office/drawing/2014/main" id="{839A12BB-6E38-4422-967E-04656F34E393}"/>
              </a:ext>
            </a:extLst>
          </p:cNvPr>
          <p:cNvSpPr>
            <a:spLocks xmlns:a="http://schemas.openxmlformats.org/drawingml/2006/main" noGrp="1"/>
          </p:cNvSpPr>
          <p:nvPr/>
        </p:nvSpPr>
        <p:spPr>
          <a:xfrm xmlns:a="http://schemas.openxmlformats.org/drawingml/2006/main">
            <a:off x="7524750" y="3743325"/>
            <a:ext cx="3571875"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957CE2D0-0DAE-4A65-A83D-2D643FE98A39}"/>
              </a:ext>
            </a:extLst>
          </p:cNvPr>
          <p:cNvSpPr>
            <a:spLocks xmlns:a="http://schemas.openxmlformats.org/drawingml/2006/main" noGrp="1"/>
          </p:cNvSpPr>
          <p:nvPr/>
        </p:nvSpPr>
        <p:spPr>
          <a:xfrm xmlns:a="http://schemas.openxmlformats.org/drawingml/2006/main">
            <a:off x="7715250" y="4200525"/>
            <a:ext cx="319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defRPr>
            </a:pPr>
            <a:r>
              <a:rPr sz="1500" b="0">
                <a:solidFill>
                  <a:srgbClr val="111827"/>
                </a:solidFill>
              </a:rPr>
              <a:t>usa campi nuovi</a:t>
            </a:r>
          </a:p>
        </p:txBody>
      </p:sp>
      <p:sp>
        <p:nvSpPr>
          <p:cNvPr id="22" name="">
            <a:extLst xmlns:a="http://schemas.openxmlformats.org/drawingml/2006/main">
              <a:ext uri="{FF2B5EF4-FFF2-40B4-BE49-F238E27FC236}">
                <a16:creationId xmlns:a16="http://schemas.microsoft.com/office/drawing/2014/main" id="{FF4A681E-26DB-4213-A4F6-137EC843C52A}"/>
              </a:ext>
            </a:extLst>
          </p:cNvPr>
          <p:cNvSpPr>
            <a:spLocks xmlns:a="http://schemas.openxmlformats.org/drawingml/2006/main" noGrp="1"/>
          </p:cNvSpPr>
          <p:nvPr/>
        </p:nvSpPr>
        <p:spPr>
          <a:xfrm xmlns:a="http://schemas.openxmlformats.org/drawingml/2006/main">
            <a:off x="3476625" y="5476875"/>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F5A5A"/>
                </a:solidFill>
              </a:defRPr>
            </a:pPr>
            <a:r>
              <a:rPr sz="1725" b="1">
                <a:solidFill>
                  <a:srgbClr val="EF5A5A"/>
                </a:solidFill>
              </a:rPr>
              <a:t>Testa contratti prima del deploy indipendente.</a:t>
            </a:r>
          </a:p>
        </p:txBody>
      </p:sp>
    </p:spTree>
    <p:extLst>
      <p:ext uri="{BB962C8B-B14F-4D97-AF65-F5344CB8AC3E}">
        <p14:creationId xmlns:p14="http://schemas.microsoft.com/office/powerpoint/2010/main" val="2071898705"/>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F8A1124-2F4F-449C-8588-219550869167}"/>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RETRY • BACKOFF • DLQ</a:t>
            </a:r>
          </a:p>
        </p:txBody>
      </p:sp>
      <p:sp>
        <p:nvSpPr>
          <p:cNvPr id="2" name="">
            <a:extLst xmlns:a="http://schemas.openxmlformats.org/drawingml/2006/main">
              <a:ext uri="{FF2B5EF4-FFF2-40B4-BE49-F238E27FC236}">
                <a16:creationId xmlns:a16="http://schemas.microsoft.com/office/drawing/2014/main" id="{C3F6583F-2FA1-488F-94A9-26B0C64EFE2F}"/>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Retry senza limiti trasforma un errore in tempesta</a:t>
            </a:r>
          </a:p>
        </p:txBody>
      </p:sp>
      <p:sp>
        <p:nvSpPr>
          <p:cNvPr id="3" name="">
            <a:extLst xmlns:a="http://schemas.openxmlformats.org/drawingml/2006/main">
              <a:ext uri="{FF2B5EF4-FFF2-40B4-BE49-F238E27FC236}">
                <a16:creationId xmlns:a16="http://schemas.microsoft.com/office/drawing/2014/main" id="{B91E4C1B-31B4-4475-A404-A77C95CD247B}"/>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32</a:t>
            </a:r>
          </a:p>
        </p:txBody>
      </p:sp>
      <p:sp>
        <p:nvSpPr>
          <p:cNvPr id="4" name="">
            <a:extLst xmlns:a="http://schemas.openxmlformats.org/drawingml/2006/main">
              <a:ext uri="{FF2B5EF4-FFF2-40B4-BE49-F238E27FC236}">
                <a16:creationId xmlns:a16="http://schemas.microsoft.com/office/drawing/2014/main" id="{22891DC2-72DB-4D34-8FAE-666532901C67}"/>
              </a:ext>
            </a:extLst>
          </p:cNvPr>
          <p:cNvSpPr>
            <a:spLocks xmlns:a="http://schemas.openxmlformats.org/drawingml/2006/main" noGrp="1"/>
          </p:cNvSpPr>
          <p:nvPr/>
        </p:nvSpPr>
        <p:spPr>
          <a:xfrm xmlns:a="http://schemas.openxmlformats.org/drawingml/2006/main">
            <a:off x="819150" y="16668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EF5A5A"/>
                </a:solidFill>
              </a:defRPr>
            </a:pPr>
            <a:r>
              <a:rPr sz="1800" b="1">
                <a:solidFill>
                  <a:srgbClr val="EF5A5A"/>
                </a:solidFill>
              </a:rPr>
              <a:t>01</a:t>
            </a:r>
          </a:p>
        </p:txBody>
      </p:sp>
      <p:sp>
        <p:nvSpPr>
          <p:cNvPr id="5" name="">
            <a:extLst xmlns:a="http://schemas.openxmlformats.org/drawingml/2006/main">
              <a:ext uri="{FF2B5EF4-FFF2-40B4-BE49-F238E27FC236}">
                <a16:creationId xmlns:a16="http://schemas.microsoft.com/office/drawing/2014/main" id="{E6C4EDD3-F0F0-4F41-9000-8B078A897110}"/>
              </a:ext>
            </a:extLst>
          </p:cNvPr>
          <p:cNvSpPr>
            <a:spLocks xmlns:a="http://schemas.openxmlformats.org/drawingml/2006/main" noGrp="1"/>
          </p:cNvSpPr>
          <p:nvPr/>
        </p:nvSpPr>
        <p:spPr>
          <a:xfrm xmlns:a="http://schemas.openxmlformats.org/drawingml/2006/main">
            <a:off x="1714500" y="16668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FAIL</a:t>
            </a:r>
          </a:p>
        </p:txBody>
      </p:sp>
      <p:sp>
        <p:nvSpPr>
          <p:cNvPr id="6" name="">
            <a:extLst xmlns:a="http://schemas.openxmlformats.org/drawingml/2006/main">
              <a:ext uri="{FF2B5EF4-FFF2-40B4-BE49-F238E27FC236}">
                <a16:creationId xmlns:a16="http://schemas.microsoft.com/office/drawing/2014/main" id="{D0B55DB3-D580-42B7-9BE7-C8A3123BDB43}"/>
              </a:ext>
            </a:extLst>
          </p:cNvPr>
          <p:cNvSpPr>
            <a:spLocks xmlns:a="http://schemas.openxmlformats.org/drawingml/2006/main" noGrp="1"/>
          </p:cNvSpPr>
          <p:nvPr/>
        </p:nvSpPr>
        <p:spPr>
          <a:xfrm xmlns:a="http://schemas.openxmlformats.org/drawingml/2006/main">
            <a:off x="4762500" y="16668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consumer non applica l’evento</a:t>
            </a:r>
          </a:p>
        </p:txBody>
      </p:sp>
      <p:sp>
        <p:nvSpPr>
          <p:cNvPr id="7" name="">
            <a:extLst xmlns:a="http://schemas.openxmlformats.org/drawingml/2006/main">
              <a:ext uri="{FF2B5EF4-FFF2-40B4-BE49-F238E27FC236}">
                <a16:creationId xmlns:a16="http://schemas.microsoft.com/office/drawing/2014/main" id="{137920B4-1F79-4B93-98EA-096C039FE191}"/>
              </a:ext>
            </a:extLst>
          </p:cNvPr>
          <p:cNvSpPr>
            <a:spLocks xmlns:a="http://schemas.openxmlformats.org/drawingml/2006/main" noGrp="1"/>
          </p:cNvSpPr>
          <p:nvPr/>
        </p:nvSpPr>
        <p:spPr>
          <a:xfrm xmlns:a="http://schemas.openxmlformats.org/drawingml/2006/main">
            <a:off x="819150" y="24288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8A4C"/>
                </a:solidFill>
              </a:defRPr>
            </a:pPr>
            <a:r>
              <a:rPr sz="1800" b="1">
                <a:solidFill>
                  <a:srgbClr val="FF8A4C"/>
                </a:solidFill>
              </a:rPr>
              <a:t>02</a:t>
            </a:r>
          </a:p>
        </p:txBody>
      </p:sp>
      <p:sp>
        <p:nvSpPr>
          <p:cNvPr id="8" name="">
            <a:extLst xmlns:a="http://schemas.openxmlformats.org/drawingml/2006/main">
              <a:ext uri="{FF2B5EF4-FFF2-40B4-BE49-F238E27FC236}">
                <a16:creationId xmlns:a16="http://schemas.microsoft.com/office/drawing/2014/main" id="{6620C900-C653-4AFD-ACB0-9E8D8CD8B906}"/>
              </a:ext>
            </a:extLst>
          </p:cNvPr>
          <p:cNvSpPr>
            <a:spLocks xmlns:a="http://schemas.openxmlformats.org/drawingml/2006/main" noGrp="1"/>
          </p:cNvSpPr>
          <p:nvPr/>
        </p:nvSpPr>
        <p:spPr>
          <a:xfrm xmlns:a="http://schemas.openxmlformats.org/drawingml/2006/main">
            <a:off x="1714500" y="24288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RETRY</a:t>
            </a:r>
          </a:p>
        </p:txBody>
      </p:sp>
      <p:sp>
        <p:nvSpPr>
          <p:cNvPr id="9" name="">
            <a:extLst xmlns:a="http://schemas.openxmlformats.org/drawingml/2006/main">
              <a:ext uri="{FF2B5EF4-FFF2-40B4-BE49-F238E27FC236}">
                <a16:creationId xmlns:a16="http://schemas.microsoft.com/office/drawing/2014/main" id="{389B3891-6E51-41A2-8832-49DE13F3A2B9}"/>
              </a:ext>
            </a:extLst>
          </p:cNvPr>
          <p:cNvSpPr>
            <a:spLocks xmlns:a="http://schemas.openxmlformats.org/drawingml/2006/main" noGrp="1"/>
          </p:cNvSpPr>
          <p:nvPr/>
        </p:nvSpPr>
        <p:spPr>
          <a:xfrm xmlns:a="http://schemas.openxmlformats.org/drawingml/2006/main">
            <a:off x="4762500" y="24288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numero limitato + exponential backoff</a:t>
            </a:r>
          </a:p>
        </p:txBody>
      </p:sp>
      <p:sp>
        <p:nvSpPr>
          <p:cNvPr id="10" name="">
            <a:extLst xmlns:a="http://schemas.openxmlformats.org/drawingml/2006/main">
              <a:ext uri="{FF2B5EF4-FFF2-40B4-BE49-F238E27FC236}">
                <a16:creationId xmlns:a16="http://schemas.microsoft.com/office/drawing/2014/main" id="{2AADD800-01B1-43A7-805F-C8DDE4C37341}"/>
              </a:ext>
            </a:extLst>
          </p:cNvPr>
          <p:cNvSpPr>
            <a:spLocks xmlns:a="http://schemas.openxmlformats.org/drawingml/2006/main" noGrp="1"/>
          </p:cNvSpPr>
          <p:nvPr/>
        </p:nvSpPr>
        <p:spPr>
          <a:xfrm xmlns:a="http://schemas.openxmlformats.org/drawingml/2006/main">
            <a:off x="819150" y="31908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7C6EE6"/>
                </a:solidFill>
              </a:defRPr>
            </a:pPr>
            <a:r>
              <a:rPr sz="1800" b="1">
                <a:solidFill>
                  <a:srgbClr val="7C6EE6"/>
                </a:solidFill>
              </a:rPr>
              <a:t>03</a:t>
            </a:r>
          </a:p>
        </p:txBody>
      </p:sp>
      <p:sp>
        <p:nvSpPr>
          <p:cNvPr id="11" name="">
            <a:extLst xmlns:a="http://schemas.openxmlformats.org/drawingml/2006/main">
              <a:ext uri="{FF2B5EF4-FFF2-40B4-BE49-F238E27FC236}">
                <a16:creationId xmlns:a16="http://schemas.microsoft.com/office/drawing/2014/main" id="{2253B678-BBDB-4386-93DD-417E0821258C}"/>
              </a:ext>
            </a:extLst>
          </p:cNvPr>
          <p:cNvSpPr>
            <a:spLocks xmlns:a="http://schemas.openxmlformats.org/drawingml/2006/main" noGrp="1"/>
          </p:cNvSpPr>
          <p:nvPr/>
        </p:nvSpPr>
        <p:spPr>
          <a:xfrm xmlns:a="http://schemas.openxmlformats.org/drawingml/2006/main">
            <a:off x="1714500" y="31908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DLQ</a:t>
            </a:r>
          </a:p>
        </p:txBody>
      </p:sp>
      <p:sp>
        <p:nvSpPr>
          <p:cNvPr id="12" name="">
            <a:extLst xmlns:a="http://schemas.openxmlformats.org/drawingml/2006/main">
              <a:ext uri="{FF2B5EF4-FFF2-40B4-BE49-F238E27FC236}">
                <a16:creationId xmlns:a16="http://schemas.microsoft.com/office/drawing/2014/main" id="{1E04F470-2B18-44E2-AAD6-08159F692ACF}"/>
              </a:ext>
            </a:extLst>
          </p:cNvPr>
          <p:cNvSpPr>
            <a:spLocks xmlns:a="http://schemas.openxmlformats.org/drawingml/2006/main" noGrp="1"/>
          </p:cNvSpPr>
          <p:nvPr/>
        </p:nvSpPr>
        <p:spPr>
          <a:xfrm xmlns:a="http://schemas.openxmlformats.org/drawingml/2006/main">
            <a:off x="4762500" y="31908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isola il poison event</a:t>
            </a:r>
          </a:p>
        </p:txBody>
      </p:sp>
      <p:sp>
        <p:nvSpPr>
          <p:cNvPr id="13" name="">
            <a:extLst xmlns:a="http://schemas.openxmlformats.org/drawingml/2006/main">
              <a:ext uri="{FF2B5EF4-FFF2-40B4-BE49-F238E27FC236}">
                <a16:creationId xmlns:a16="http://schemas.microsoft.com/office/drawing/2014/main" id="{B3A77ECA-AE2D-4A9C-BAF6-A79740A6307F}"/>
              </a:ext>
            </a:extLst>
          </p:cNvPr>
          <p:cNvSpPr>
            <a:spLocks xmlns:a="http://schemas.openxmlformats.org/drawingml/2006/main" noGrp="1"/>
          </p:cNvSpPr>
          <p:nvPr/>
        </p:nvSpPr>
        <p:spPr>
          <a:xfrm xmlns:a="http://schemas.openxmlformats.org/drawingml/2006/main">
            <a:off x="819150" y="39528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B8D9"/>
                </a:solidFill>
              </a:defRPr>
            </a:pPr>
            <a:r>
              <a:rPr sz="1800" b="1">
                <a:solidFill>
                  <a:srgbClr val="00B8D9"/>
                </a:solidFill>
              </a:rPr>
              <a:t>04</a:t>
            </a:r>
          </a:p>
        </p:txBody>
      </p:sp>
      <p:sp>
        <p:nvSpPr>
          <p:cNvPr id="14" name="">
            <a:extLst xmlns:a="http://schemas.openxmlformats.org/drawingml/2006/main">
              <a:ext uri="{FF2B5EF4-FFF2-40B4-BE49-F238E27FC236}">
                <a16:creationId xmlns:a16="http://schemas.microsoft.com/office/drawing/2014/main" id="{BC5A387F-745B-43D6-B66C-3C94FAB3D1C4}"/>
              </a:ext>
            </a:extLst>
          </p:cNvPr>
          <p:cNvSpPr>
            <a:spLocks xmlns:a="http://schemas.openxmlformats.org/drawingml/2006/main" noGrp="1"/>
          </p:cNvSpPr>
          <p:nvPr/>
        </p:nvSpPr>
        <p:spPr>
          <a:xfrm xmlns:a="http://schemas.openxmlformats.org/drawingml/2006/main">
            <a:off x="1714500" y="39528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ALERT</a:t>
            </a:r>
          </a:p>
        </p:txBody>
      </p:sp>
      <p:sp>
        <p:nvSpPr>
          <p:cNvPr id="15" name="">
            <a:extLst xmlns:a="http://schemas.openxmlformats.org/drawingml/2006/main">
              <a:ext uri="{FF2B5EF4-FFF2-40B4-BE49-F238E27FC236}">
                <a16:creationId xmlns:a16="http://schemas.microsoft.com/office/drawing/2014/main" id="{20187E50-1CF3-40C9-AB03-B4CD5B22BDE5}"/>
              </a:ext>
            </a:extLst>
          </p:cNvPr>
          <p:cNvSpPr>
            <a:spLocks xmlns:a="http://schemas.openxmlformats.org/drawingml/2006/main" noGrp="1"/>
          </p:cNvSpPr>
          <p:nvPr/>
        </p:nvSpPr>
        <p:spPr>
          <a:xfrm xmlns:a="http://schemas.openxmlformats.org/drawingml/2006/main">
            <a:off x="4762500" y="39528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rende visibile il backlog</a:t>
            </a:r>
          </a:p>
        </p:txBody>
      </p:sp>
      <p:sp>
        <p:nvSpPr>
          <p:cNvPr id="16" name="">
            <a:extLst xmlns:a="http://schemas.openxmlformats.org/drawingml/2006/main">
              <a:ext uri="{FF2B5EF4-FFF2-40B4-BE49-F238E27FC236}">
                <a16:creationId xmlns:a16="http://schemas.microsoft.com/office/drawing/2014/main" id="{207F8D01-A7B9-4FEC-B95D-5F0989941D59}"/>
              </a:ext>
            </a:extLst>
          </p:cNvPr>
          <p:cNvSpPr>
            <a:spLocks xmlns:a="http://schemas.openxmlformats.org/drawingml/2006/main" noGrp="1"/>
          </p:cNvSpPr>
          <p:nvPr/>
        </p:nvSpPr>
        <p:spPr>
          <a:xfrm xmlns:a="http://schemas.openxmlformats.org/drawingml/2006/main">
            <a:off x="819150" y="471487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B7E34B"/>
                </a:solidFill>
              </a:defRPr>
            </a:pPr>
            <a:r>
              <a:rPr sz="1800" b="1">
                <a:solidFill>
                  <a:srgbClr val="B7E34B"/>
                </a:solidFill>
              </a:rPr>
              <a:t>05</a:t>
            </a:r>
          </a:p>
        </p:txBody>
      </p:sp>
      <p:sp>
        <p:nvSpPr>
          <p:cNvPr id="17" name="">
            <a:extLst xmlns:a="http://schemas.openxmlformats.org/drawingml/2006/main">
              <a:ext uri="{FF2B5EF4-FFF2-40B4-BE49-F238E27FC236}">
                <a16:creationId xmlns:a16="http://schemas.microsoft.com/office/drawing/2014/main" id="{83D9382C-B517-4EE1-9C75-6ECFC58A38A8}"/>
              </a:ext>
            </a:extLst>
          </p:cNvPr>
          <p:cNvSpPr>
            <a:spLocks xmlns:a="http://schemas.openxmlformats.org/drawingml/2006/main" noGrp="1"/>
          </p:cNvSpPr>
          <p:nvPr/>
        </p:nvSpPr>
        <p:spPr>
          <a:xfrm xmlns:a="http://schemas.openxmlformats.org/drawingml/2006/main">
            <a:off x="1714500" y="47148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REPLAY</a:t>
            </a:r>
          </a:p>
        </p:txBody>
      </p:sp>
      <p:sp>
        <p:nvSpPr>
          <p:cNvPr id="18" name="">
            <a:extLst xmlns:a="http://schemas.openxmlformats.org/drawingml/2006/main">
              <a:ext uri="{FF2B5EF4-FFF2-40B4-BE49-F238E27FC236}">
                <a16:creationId xmlns:a16="http://schemas.microsoft.com/office/drawing/2014/main" id="{A1EA4F1B-BFD5-46E7-A543-0A39B98CDF0A}"/>
              </a:ext>
            </a:extLst>
          </p:cNvPr>
          <p:cNvSpPr>
            <a:spLocks xmlns:a="http://schemas.openxmlformats.org/drawingml/2006/main" noGrp="1"/>
          </p:cNvSpPr>
          <p:nvPr/>
        </p:nvSpPr>
        <p:spPr>
          <a:xfrm xmlns:a="http://schemas.openxmlformats.org/drawingml/2006/main">
            <a:off x="4762500" y="47148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corregge e riprocessa in modo controllato</a:t>
            </a:r>
          </a:p>
        </p:txBody>
      </p:sp>
    </p:spTree>
    <p:extLst>
      <p:ext uri="{BB962C8B-B14F-4D97-AF65-F5344CB8AC3E}">
        <p14:creationId xmlns:p14="http://schemas.microsoft.com/office/powerpoint/2010/main" val="1552837895"/>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25968D7-17DB-4ACF-B71D-41F1120937E3}"/>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CONTROLLO PERIODICO</a:t>
            </a:r>
          </a:p>
        </p:txBody>
      </p:sp>
      <p:sp>
        <p:nvSpPr>
          <p:cNvPr id="2" name="">
            <a:extLst xmlns:a="http://schemas.openxmlformats.org/drawingml/2006/main">
              <a:ext uri="{FF2B5EF4-FFF2-40B4-BE49-F238E27FC236}">
                <a16:creationId xmlns:a16="http://schemas.microsoft.com/office/drawing/2014/main" id="{596231A5-22A6-42BE-9E56-C8397D8F04C5}"/>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Reconciliation trova ciò che gli eventi non hanno riparato</a:t>
            </a:r>
          </a:p>
        </p:txBody>
      </p:sp>
      <p:sp>
        <p:nvSpPr>
          <p:cNvPr id="3" name="">
            <a:extLst xmlns:a="http://schemas.openxmlformats.org/drawingml/2006/main">
              <a:ext uri="{FF2B5EF4-FFF2-40B4-BE49-F238E27FC236}">
                <a16:creationId xmlns:a16="http://schemas.microsoft.com/office/drawing/2014/main" id="{0FE5FCAC-87CC-4D3C-9B15-91B45F15A3C9}"/>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33</a:t>
            </a:r>
          </a:p>
        </p:txBody>
      </p:sp>
      <p:sp>
        <p:nvSpPr>
          <p:cNvPr id="4" name="">
            <a:extLst xmlns:a="http://schemas.openxmlformats.org/drawingml/2006/main">
              <a:ext uri="{FF2B5EF4-FFF2-40B4-BE49-F238E27FC236}">
                <a16:creationId xmlns:a16="http://schemas.microsoft.com/office/drawing/2014/main" id="{1B6BAE18-2564-4B5C-9F78-D216C89A246A}"/>
              </a:ext>
            </a:extLst>
          </p:cNvPr>
          <p:cNvSpPr>
            <a:spLocks xmlns:a="http://schemas.openxmlformats.org/drawingml/2006/main" noGrp="1"/>
          </p:cNvSpPr>
          <p:nvPr/>
        </p:nvSpPr>
        <p:spPr>
          <a:xfrm xmlns:a="http://schemas.openxmlformats.org/drawingml/2006/main">
            <a:off x="685800" y="1762125"/>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5F22E7C9-66D6-4343-AA12-EA5574462CC5}"/>
              </a:ext>
            </a:extLst>
          </p:cNvPr>
          <p:cNvSpPr>
            <a:spLocks xmlns:a="http://schemas.openxmlformats.org/drawingml/2006/main" noGrp="1"/>
          </p:cNvSpPr>
          <p:nvPr/>
        </p:nvSpPr>
        <p:spPr>
          <a:xfrm xmlns:a="http://schemas.openxmlformats.org/drawingml/2006/main">
            <a:off x="685800" y="1762125"/>
            <a:ext cx="5095875" cy="85725"/>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2B121140-39F4-4F8E-97AF-F6549CE44D20}"/>
              </a:ext>
            </a:extLst>
          </p:cNvPr>
          <p:cNvSpPr>
            <a:spLocks xmlns:a="http://schemas.openxmlformats.org/drawingml/2006/main" noGrp="1"/>
          </p:cNvSpPr>
          <p:nvPr/>
        </p:nvSpPr>
        <p:spPr>
          <a:xfrm xmlns:a="http://schemas.openxmlformats.org/drawingml/2006/main">
            <a:off x="895350" y="1971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COUNT</a:t>
            </a:r>
          </a:p>
        </p:txBody>
      </p:sp>
      <p:sp>
        <p:nvSpPr>
          <p:cNvPr id="7" name="">
            <a:extLst xmlns:a="http://schemas.openxmlformats.org/drawingml/2006/main">
              <a:ext uri="{FF2B5EF4-FFF2-40B4-BE49-F238E27FC236}">
                <a16:creationId xmlns:a16="http://schemas.microsoft.com/office/drawing/2014/main" id="{58CFD99D-DAC0-40BF-B63A-F3DD6D36B30E}"/>
              </a:ext>
            </a:extLst>
          </p:cNvPr>
          <p:cNvSpPr>
            <a:spLocks xmlns:a="http://schemas.openxmlformats.org/drawingml/2006/main" noGrp="1"/>
          </p:cNvSpPr>
          <p:nvPr/>
        </p:nvSpPr>
        <p:spPr>
          <a:xfrm xmlns:a="http://schemas.openxmlformats.org/drawingml/2006/main">
            <a:off x="895350" y="2486025"/>
            <a:ext cx="46767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record source vs projection</a:t>
            </a:r>
          </a:p>
        </p:txBody>
      </p:sp>
      <p:sp>
        <p:nvSpPr>
          <p:cNvPr id="8" name="">
            <a:extLst xmlns:a="http://schemas.openxmlformats.org/drawingml/2006/main">
              <a:ext uri="{FF2B5EF4-FFF2-40B4-BE49-F238E27FC236}">
                <a16:creationId xmlns:a16="http://schemas.microsoft.com/office/drawing/2014/main" id="{CF348499-29F5-48FF-B16D-D0A1E6F79B64}"/>
              </a:ext>
            </a:extLst>
          </p:cNvPr>
          <p:cNvSpPr>
            <a:spLocks xmlns:a="http://schemas.openxmlformats.org/drawingml/2006/main" noGrp="1"/>
          </p:cNvSpPr>
          <p:nvPr/>
        </p:nvSpPr>
        <p:spPr>
          <a:xfrm xmlns:a="http://schemas.openxmlformats.org/drawingml/2006/main">
            <a:off x="6115050" y="1762125"/>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C2C11992-4EFC-4156-9FEF-C45229BC70F0}"/>
              </a:ext>
            </a:extLst>
          </p:cNvPr>
          <p:cNvSpPr>
            <a:spLocks xmlns:a="http://schemas.openxmlformats.org/drawingml/2006/main" noGrp="1"/>
          </p:cNvSpPr>
          <p:nvPr/>
        </p:nvSpPr>
        <p:spPr>
          <a:xfrm xmlns:a="http://schemas.openxmlformats.org/drawingml/2006/main">
            <a:off x="6115050" y="1762125"/>
            <a:ext cx="5095875" cy="85725"/>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0" name="">
            <a:extLst xmlns:a="http://schemas.openxmlformats.org/drawingml/2006/main">
              <a:ext uri="{FF2B5EF4-FFF2-40B4-BE49-F238E27FC236}">
                <a16:creationId xmlns:a16="http://schemas.microsoft.com/office/drawing/2014/main" id="{53CEBAD7-F669-4FD4-89E8-8084A015010D}"/>
              </a:ext>
            </a:extLst>
          </p:cNvPr>
          <p:cNvSpPr>
            <a:spLocks xmlns:a="http://schemas.openxmlformats.org/drawingml/2006/main" noGrp="1"/>
          </p:cNvSpPr>
          <p:nvPr/>
        </p:nvSpPr>
        <p:spPr>
          <a:xfrm xmlns:a="http://schemas.openxmlformats.org/drawingml/2006/main">
            <a:off x="6324600" y="1971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CHECKSUM</a:t>
            </a:r>
          </a:p>
        </p:txBody>
      </p:sp>
      <p:sp>
        <p:nvSpPr>
          <p:cNvPr id="11" name="">
            <a:extLst xmlns:a="http://schemas.openxmlformats.org/drawingml/2006/main">
              <a:ext uri="{FF2B5EF4-FFF2-40B4-BE49-F238E27FC236}">
                <a16:creationId xmlns:a16="http://schemas.microsoft.com/office/drawing/2014/main" id="{CD275335-156B-4FD1-986F-CBE750FA481B}"/>
              </a:ext>
            </a:extLst>
          </p:cNvPr>
          <p:cNvSpPr>
            <a:spLocks xmlns:a="http://schemas.openxmlformats.org/drawingml/2006/main" noGrp="1"/>
          </p:cNvSpPr>
          <p:nvPr/>
        </p:nvSpPr>
        <p:spPr>
          <a:xfrm xmlns:a="http://schemas.openxmlformats.org/drawingml/2006/main">
            <a:off x="6324600" y="2486025"/>
            <a:ext cx="46767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bucket o intervallo</a:t>
            </a:r>
          </a:p>
        </p:txBody>
      </p:sp>
      <p:sp>
        <p:nvSpPr>
          <p:cNvPr id="12" name="">
            <a:extLst xmlns:a="http://schemas.openxmlformats.org/drawingml/2006/main">
              <a:ext uri="{FF2B5EF4-FFF2-40B4-BE49-F238E27FC236}">
                <a16:creationId xmlns:a16="http://schemas.microsoft.com/office/drawing/2014/main" id="{513D7FA9-BC78-461F-9C6E-43DC08966682}"/>
              </a:ext>
            </a:extLst>
          </p:cNvPr>
          <p:cNvSpPr>
            <a:spLocks xmlns:a="http://schemas.openxmlformats.org/drawingml/2006/main" noGrp="1"/>
          </p:cNvSpPr>
          <p:nvPr/>
        </p:nvSpPr>
        <p:spPr>
          <a:xfrm xmlns:a="http://schemas.openxmlformats.org/drawingml/2006/main">
            <a:off x="685800" y="3429000"/>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E47E4971-B4D2-4D49-85D7-0553AA649585}"/>
              </a:ext>
            </a:extLst>
          </p:cNvPr>
          <p:cNvSpPr>
            <a:spLocks xmlns:a="http://schemas.openxmlformats.org/drawingml/2006/main" noGrp="1"/>
          </p:cNvSpPr>
          <p:nvPr/>
        </p:nvSpPr>
        <p:spPr>
          <a:xfrm xmlns:a="http://schemas.openxmlformats.org/drawingml/2006/main">
            <a:off x="685800" y="3429000"/>
            <a:ext cx="5095875" cy="85725"/>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4" name="">
            <a:extLst xmlns:a="http://schemas.openxmlformats.org/drawingml/2006/main">
              <a:ext uri="{FF2B5EF4-FFF2-40B4-BE49-F238E27FC236}">
                <a16:creationId xmlns:a16="http://schemas.microsoft.com/office/drawing/2014/main" id="{3A4542E6-CE3A-481B-9744-53B1054158CA}"/>
              </a:ext>
            </a:extLst>
          </p:cNvPr>
          <p:cNvSpPr>
            <a:spLocks xmlns:a="http://schemas.openxmlformats.org/drawingml/2006/main" noGrp="1"/>
          </p:cNvSpPr>
          <p:nvPr/>
        </p:nvSpPr>
        <p:spPr>
          <a:xfrm xmlns:a="http://schemas.openxmlformats.org/drawingml/2006/main">
            <a:off x="895350" y="3638550"/>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SAMPLE</a:t>
            </a:r>
          </a:p>
        </p:txBody>
      </p:sp>
      <p:sp>
        <p:nvSpPr>
          <p:cNvPr id="15" name="">
            <a:extLst xmlns:a="http://schemas.openxmlformats.org/drawingml/2006/main">
              <a:ext uri="{FF2B5EF4-FFF2-40B4-BE49-F238E27FC236}">
                <a16:creationId xmlns:a16="http://schemas.microsoft.com/office/drawing/2014/main" id="{0D4C4C8E-1E81-4D76-9EBA-EE7C93E69EE9}"/>
              </a:ext>
            </a:extLst>
          </p:cNvPr>
          <p:cNvSpPr>
            <a:spLocks xmlns:a="http://schemas.openxmlformats.org/drawingml/2006/main" noGrp="1"/>
          </p:cNvSpPr>
          <p:nvPr/>
        </p:nvSpPr>
        <p:spPr>
          <a:xfrm xmlns:a="http://schemas.openxmlformats.org/drawingml/2006/main">
            <a:off x="895350" y="4152900"/>
            <a:ext cx="46767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entità ad alto rischio</a:t>
            </a:r>
          </a:p>
        </p:txBody>
      </p:sp>
      <p:sp>
        <p:nvSpPr>
          <p:cNvPr id="16" name="">
            <a:extLst xmlns:a="http://schemas.openxmlformats.org/drawingml/2006/main">
              <a:ext uri="{FF2B5EF4-FFF2-40B4-BE49-F238E27FC236}">
                <a16:creationId xmlns:a16="http://schemas.microsoft.com/office/drawing/2014/main" id="{416603DA-55EA-42F6-9660-5BE5633542FC}"/>
              </a:ext>
            </a:extLst>
          </p:cNvPr>
          <p:cNvSpPr>
            <a:spLocks xmlns:a="http://schemas.openxmlformats.org/drawingml/2006/main" noGrp="1"/>
          </p:cNvSpPr>
          <p:nvPr/>
        </p:nvSpPr>
        <p:spPr>
          <a:xfrm xmlns:a="http://schemas.openxmlformats.org/drawingml/2006/main">
            <a:off x="6115050" y="3429000"/>
            <a:ext cx="50958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48D797BE-145B-449D-8C84-748B732E6CA8}"/>
              </a:ext>
            </a:extLst>
          </p:cNvPr>
          <p:cNvSpPr>
            <a:spLocks xmlns:a="http://schemas.openxmlformats.org/drawingml/2006/main" noGrp="1"/>
          </p:cNvSpPr>
          <p:nvPr/>
        </p:nvSpPr>
        <p:spPr>
          <a:xfrm xmlns:a="http://schemas.openxmlformats.org/drawingml/2006/main">
            <a:off x="6115050" y="3429000"/>
            <a:ext cx="5095875" cy="85725"/>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8" name="">
            <a:extLst xmlns:a="http://schemas.openxmlformats.org/drawingml/2006/main">
              <a:ext uri="{FF2B5EF4-FFF2-40B4-BE49-F238E27FC236}">
                <a16:creationId xmlns:a16="http://schemas.microsoft.com/office/drawing/2014/main" id="{78E9BA44-A793-4C0A-A869-60DA1CEC43CE}"/>
              </a:ext>
            </a:extLst>
          </p:cNvPr>
          <p:cNvSpPr>
            <a:spLocks xmlns:a="http://schemas.openxmlformats.org/drawingml/2006/main" noGrp="1"/>
          </p:cNvSpPr>
          <p:nvPr/>
        </p:nvSpPr>
        <p:spPr>
          <a:xfrm xmlns:a="http://schemas.openxmlformats.org/drawingml/2006/main">
            <a:off x="6324600" y="3638550"/>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REPAIR</a:t>
            </a:r>
          </a:p>
        </p:txBody>
      </p:sp>
      <p:sp>
        <p:nvSpPr>
          <p:cNvPr id="19" name="">
            <a:extLst xmlns:a="http://schemas.openxmlformats.org/drawingml/2006/main">
              <a:ext uri="{FF2B5EF4-FFF2-40B4-BE49-F238E27FC236}">
                <a16:creationId xmlns:a16="http://schemas.microsoft.com/office/drawing/2014/main" id="{9B6652EA-EBC7-42AA-A4D0-0D3C48C109D7}"/>
              </a:ext>
            </a:extLst>
          </p:cNvPr>
          <p:cNvSpPr>
            <a:spLocks xmlns:a="http://schemas.openxmlformats.org/drawingml/2006/main" noGrp="1"/>
          </p:cNvSpPr>
          <p:nvPr/>
        </p:nvSpPr>
        <p:spPr>
          <a:xfrm xmlns:a="http://schemas.openxmlformats.org/drawingml/2006/main">
            <a:off x="6324600" y="4152900"/>
            <a:ext cx="46767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replay o backfill</a:t>
            </a:r>
          </a:p>
        </p:txBody>
      </p:sp>
      <p:sp>
        <p:nvSpPr>
          <p:cNvPr id="20" name="">
            <a:extLst xmlns:a="http://schemas.openxmlformats.org/drawingml/2006/main">
              <a:ext uri="{FF2B5EF4-FFF2-40B4-BE49-F238E27FC236}">
                <a16:creationId xmlns:a16="http://schemas.microsoft.com/office/drawing/2014/main" id="{2726E7FA-2F5B-42DB-A5A3-5367590D8089}"/>
              </a:ext>
            </a:extLst>
          </p:cNvPr>
          <p:cNvSpPr>
            <a:spLocks xmlns:a="http://schemas.openxmlformats.org/drawingml/2006/main" noGrp="1"/>
          </p:cNvSpPr>
          <p:nvPr/>
        </p:nvSpPr>
        <p:spPr>
          <a:xfrm xmlns:a="http://schemas.openxmlformats.org/drawingml/2006/main">
            <a:off x="2667000" y="538162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La pipeline affidabile sa rilevare e correggere la divergenza.</a:t>
            </a:r>
          </a:p>
        </p:txBody>
      </p:sp>
    </p:spTree>
    <p:extLst>
      <p:ext uri="{BB962C8B-B14F-4D97-AF65-F5344CB8AC3E}">
        <p14:creationId xmlns:p14="http://schemas.microsoft.com/office/powerpoint/2010/main" val="1623210637"/>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8B6C06F-FBCB-45AF-9EB7-3501DF747486}"/>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BUSINESS PROCESS</a:t>
            </a:r>
          </a:p>
        </p:txBody>
      </p:sp>
      <p:sp>
        <p:nvSpPr>
          <p:cNvPr id="2" name="">
            <a:extLst xmlns:a="http://schemas.openxmlformats.org/drawingml/2006/main">
              <a:ext uri="{FF2B5EF4-FFF2-40B4-BE49-F238E27FC236}">
                <a16:creationId xmlns:a16="http://schemas.microsoft.com/office/drawing/2014/main" id="{2CC11BEF-2107-4253-B01A-AC2E0E42039B}"/>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Una transazione distribuita diventa una saga di passi locali</a:t>
            </a:r>
          </a:p>
        </p:txBody>
      </p:sp>
      <p:sp>
        <p:nvSpPr>
          <p:cNvPr id="3" name="">
            <a:extLst xmlns:a="http://schemas.openxmlformats.org/drawingml/2006/main">
              <a:ext uri="{FF2B5EF4-FFF2-40B4-BE49-F238E27FC236}">
                <a16:creationId xmlns:a16="http://schemas.microsoft.com/office/drawing/2014/main" id="{E4B0528C-6517-4A9F-96BF-80C938A31EA3}"/>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34</a:t>
            </a:r>
          </a:p>
        </p:txBody>
      </p:sp>
      <p:sp>
        <p:nvSpPr>
          <p:cNvPr id="4" name="">
            <a:extLst xmlns:a="http://schemas.openxmlformats.org/drawingml/2006/main">
              <a:ext uri="{FF2B5EF4-FFF2-40B4-BE49-F238E27FC236}">
                <a16:creationId xmlns:a16="http://schemas.microsoft.com/office/drawing/2014/main" id="{6777BBB4-705B-44A6-9E50-7B7F84A6B8FB}"/>
              </a:ext>
            </a:extLst>
          </p:cNvPr>
          <p:cNvSpPr>
            <a:spLocks xmlns:a="http://schemas.openxmlformats.org/drawingml/2006/main" noGrp="1"/>
          </p:cNvSpPr>
          <p:nvPr/>
        </p:nvSpPr>
        <p:spPr>
          <a:xfrm xmlns:a="http://schemas.openxmlformats.org/drawingml/2006/main">
            <a:off x="666750" y="2095500"/>
            <a:ext cx="23336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00B8D9"/>
            </a:solidFill>
            <a:prstDash val="solid"/>
          </a:ln>
        </p:spPr>
      </p:sp>
      <p:sp>
        <p:nvSpPr>
          <p:cNvPr id="5" name="">
            <a:extLst xmlns:a="http://schemas.openxmlformats.org/drawingml/2006/main">
              <a:ext uri="{FF2B5EF4-FFF2-40B4-BE49-F238E27FC236}">
                <a16:creationId xmlns:a16="http://schemas.microsoft.com/office/drawing/2014/main" id="{D862A6CC-9813-4989-9BD4-56E3AFC544EC}"/>
              </a:ext>
            </a:extLst>
          </p:cNvPr>
          <p:cNvSpPr>
            <a:spLocks xmlns:a="http://schemas.openxmlformats.org/drawingml/2006/main" noGrp="1"/>
          </p:cNvSpPr>
          <p:nvPr/>
        </p:nvSpPr>
        <p:spPr>
          <a:xfrm xmlns:a="http://schemas.openxmlformats.org/drawingml/2006/main">
            <a:off x="857250" y="2381250"/>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0B8D9"/>
                </a:solidFill>
              </a:defRPr>
            </a:pPr>
            <a:r>
              <a:rPr sz="1725" b="1">
                <a:solidFill>
                  <a:srgbClr val="00B8D9"/>
                </a:solidFill>
              </a:rPr>
              <a:t>1</a:t>
            </a:r>
          </a:p>
        </p:txBody>
      </p:sp>
      <p:sp>
        <p:nvSpPr>
          <p:cNvPr id="6" name="">
            <a:extLst xmlns:a="http://schemas.openxmlformats.org/drawingml/2006/main">
              <a:ext uri="{FF2B5EF4-FFF2-40B4-BE49-F238E27FC236}">
                <a16:creationId xmlns:a16="http://schemas.microsoft.com/office/drawing/2014/main" id="{A7E6C591-CD6A-4F74-A7C1-90801BAACE48}"/>
              </a:ext>
            </a:extLst>
          </p:cNvPr>
          <p:cNvSpPr>
            <a:spLocks xmlns:a="http://schemas.openxmlformats.org/drawingml/2006/main" noGrp="1"/>
          </p:cNvSpPr>
          <p:nvPr/>
        </p:nvSpPr>
        <p:spPr>
          <a:xfrm xmlns:a="http://schemas.openxmlformats.org/drawingml/2006/main">
            <a:off x="1381125" y="2381250"/>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CREA ORDINE</a:t>
            </a:r>
          </a:p>
        </p:txBody>
      </p:sp>
      <p:sp>
        <p:nvSpPr>
          <p:cNvPr id="7" name="">
            <a:extLst xmlns:a="http://schemas.openxmlformats.org/drawingml/2006/main">
              <a:ext uri="{FF2B5EF4-FFF2-40B4-BE49-F238E27FC236}">
                <a16:creationId xmlns:a16="http://schemas.microsoft.com/office/drawing/2014/main" id="{9548C5DE-CD16-49F4-8A09-23291BA706FA}"/>
              </a:ext>
            </a:extLst>
          </p:cNvPr>
          <p:cNvSpPr>
            <a:spLocks xmlns:a="http://schemas.openxmlformats.org/drawingml/2006/main" noGrp="1"/>
          </p:cNvSpPr>
          <p:nvPr/>
        </p:nvSpPr>
        <p:spPr>
          <a:xfrm xmlns:a="http://schemas.openxmlformats.org/drawingml/2006/main">
            <a:off x="3000375" y="2552700"/>
            <a:ext cx="428625" cy="38100"/>
          </a:xfrm>
          <a:prstGeom xmlns:a="http://schemas.openxmlformats.org/drawingml/2006/main" prst="rect">
            <a:avLst/>
          </a:prstGeom>
          <a:solidFill xmlns:a="http://schemas.openxmlformats.org/drawingml/2006/main">
            <a:srgbClr val="52606D"/>
          </a:solidFill>
          <a:ln xmlns:a="http://schemas.openxmlformats.org/drawingml/2006/main" w="9525">
            <a:solidFill>
              <a:srgbClr val="52606D"/>
            </a:solidFill>
            <a:prstDash val="solid"/>
          </a:ln>
        </p:spPr>
      </p:sp>
      <p:sp>
        <p:nvSpPr>
          <p:cNvPr id="8" name="">
            <a:extLst xmlns:a="http://schemas.openxmlformats.org/drawingml/2006/main">
              <a:ext uri="{FF2B5EF4-FFF2-40B4-BE49-F238E27FC236}">
                <a16:creationId xmlns:a16="http://schemas.microsoft.com/office/drawing/2014/main" id="{554B9650-A096-44AB-BF63-0770BC875181}"/>
              </a:ext>
            </a:extLst>
          </p:cNvPr>
          <p:cNvSpPr>
            <a:spLocks xmlns:a="http://schemas.openxmlformats.org/drawingml/2006/main" noGrp="1"/>
          </p:cNvSpPr>
          <p:nvPr/>
        </p:nvSpPr>
        <p:spPr>
          <a:xfrm xmlns:a="http://schemas.openxmlformats.org/drawingml/2006/main">
            <a:off x="3276600" y="23812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52606D"/>
                </a:solidFill>
              </a:defRPr>
            </a:pPr>
            <a:r>
              <a:rPr sz="2625" b="1">
                <a:solidFill>
                  <a:srgbClr val="52606D"/>
                </a:solidFill>
              </a:rPr>
              <a:t>›</a:t>
            </a:r>
          </a:p>
        </p:txBody>
      </p:sp>
      <p:sp>
        <p:nvSpPr>
          <p:cNvPr id="9" name="">
            <a:extLst xmlns:a="http://schemas.openxmlformats.org/drawingml/2006/main">
              <a:ext uri="{FF2B5EF4-FFF2-40B4-BE49-F238E27FC236}">
                <a16:creationId xmlns:a16="http://schemas.microsoft.com/office/drawing/2014/main" id="{2262FE80-0043-49D8-AC6A-72AB1B00230C}"/>
              </a:ext>
            </a:extLst>
          </p:cNvPr>
          <p:cNvSpPr>
            <a:spLocks xmlns:a="http://schemas.openxmlformats.org/drawingml/2006/main" noGrp="1"/>
          </p:cNvSpPr>
          <p:nvPr/>
        </p:nvSpPr>
        <p:spPr>
          <a:xfrm xmlns:a="http://schemas.openxmlformats.org/drawingml/2006/main">
            <a:off x="3476625" y="2095500"/>
            <a:ext cx="23336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FF8A4C"/>
            </a:solidFill>
            <a:prstDash val="solid"/>
          </a:ln>
        </p:spPr>
      </p:sp>
      <p:sp>
        <p:nvSpPr>
          <p:cNvPr id="10" name="">
            <a:extLst xmlns:a="http://schemas.openxmlformats.org/drawingml/2006/main">
              <a:ext uri="{FF2B5EF4-FFF2-40B4-BE49-F238E27FC236}">
                <a16:creationId xmlns:a16="http://schemas.microsoft.com/office/drawing/2014/main" id="{496419D1-3C6A-44D8-B8D3-CE5202CAC525}"/>
              </a:ext>
            </a:extLst>
          </p:cNvPr>
          <p:cNvSpPr>
            <a:spLocks xmlns:a="http://schemas.openxmlformats.org/drawingml/2006/main" noGrp="1"/>
          </p:cNvSpPr>
          <p:nvPr/>
        </p:nvSpPr>
        <p:spPr>
          <a:xfrm xmlns:a="http://schemas.openxmlformats.org/drawingml/2006/main">
            <a:off x="3667125" y="2381250"/>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8A4C"/>
                </a:solidFill>
              </a:defRPr>
            </a:pPr>
            <a:r>
              <a:rPr sz="1725" b="1">
                <a:solidFill>
                  <a:srgbClr val="FF8A4C"/>
                </a:solidFill>
              </a:rPr>
              <a:t>2</a:t>
            </a:r>
          </a:p>
        </p:txBody>
      </p:sp>
      <p:sp>
        <p:nvSpPr>
          <p:cNvPr id="11" name="">
            <a:extLst xmlns:a="http://schemas.openxmlformats.org/drawingml/2006/main">
              <a:ext uri="{FF2B5EF4-FFF2-40B4-BE49-F238E27FC236}">
                <a16:creationId xmlns:a16="http://schemas.microsoft.com/office/drawing/2014/main" id="{8D825DBD-6852-48AE-8756-63E33C3C201C}"/>
              </a:ext>
            </a:extLst>
          </p:cNvPr>
          <p:cNvSpPr>
            <a:spLocks xmlns:a="http://schemas.openxmlformats.org/drawingml/2006/main" noGrp="1"/>
          </p:cNvSpPr>
          <p:nvPr/>
        </p:nvSpPr>
        <p:spPr>
          <a:xfrm xmlns:a="http://schemas.openxmlformats.org/drawingml/2006/main">
            <a:off x="4191000" y="2381250"/>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RISERVA PAGAMENTO</a:t>
            </a:r>
          </a:p>
        </p:txBody>
      </p:sp>
      <p:sp>
        <p:nvSpPr>
          <p:cNvPr id="12" name="">
            <a:extLst xmlns:a="http://schemas.openxmlformats.org/drawingml/2006/main">
              <a:ext uri="{FF2B5EF4-FFF2-40B4-BE49-F238E27FC236}">
                <a16:creationId xmlns:a16="http://schemas.microsoft.com/office/drawing/2014/main" id="{F957ECFF-F574-40C9-9BEA-2246B2A8A798}"/>
              </a:ext>
            </a:extLst>
          </p:cNvPr>
          <p:cNvSpPr>
            <a:spLocks xmlns:a="http://schemas.openxmlformats.org/drawingml/2006/main" noGrp="1"/>
          </p:cNvSpPr>
          <p:nvPr/>
        </p:nvSpPr>
        <p:spPr>
          <a:xfrm xmlns:a="http://schemas.openxmlformats.org/drawingml/2006/main">
            <a:off x="5810250" y="2552700"/>
            <a:ext cx="428625" cy="38100"/>
          </a:xfrm>
          <a:prstGeom xmlns:a="http://schemas.openxmlformats.org/drawingml/2006/main" prst="rect">
            <a:avLst/>
          </a:prstGeom>
          <a:solidFill xmlns:a="http://schemas.openxmlformats.org/drawingml/2006/main">
            <a:srgbClr val="52606D"/>
          </a:solidFill>
          <a:ln xmlns:a="http://schemas.openxmlformats.org/drawingml/2006/main" w="9525">
            <a:solidFill>
              <a:srgbClr val="52606D"/>
            </a:solidFill>
            <a:prstDash val="solid"/>
          </a:ln>
        </p:spPr>
      </p:sp>
      <p:sp>
        <p:nvSpPr>
          <p:cNvPr id="13" name="">
            <a:extLst xmlns:a="http://schemas.openxmlformats.org/drawingml/2006/main">
              <a:ext uri="{FF2B5EF4-FFF2-40B4-BE49-F238E27FC236}">
                <a16:creationId xmlns:a16="http://schemas.microsoft.com/office/drawing/2014/main" id="{446C527D-3A3B-437B-B137-063801474AAF}"/>
              </a:ext>
            </a:extLst>
          </p:cNvPr>
          <p:cNvSpPr>
            <a:spLocks xmlns:a="http://schemas.openxmlformats.org/drawingml/2006/main" noGrp="1"/>
          </p:cNvSpPr>
          <p:nvPr/>
        </p:nvSpPr>
        <p:spPr>
          <a:xfrm xmlns:a="http://schemas.openxmlformats.org/drawingml/2006/main">
            <a:off x="6086475" y="23812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52606D"/>
                </a:solidFill>
              </a:defRPr>
            </a:pPr>
            <a:r>
              <a:rPr sz="2625" b="1">
                <a:solidFill>
                  <a:srgbClr val="52606D"/>
                </a:solidFill>
              </a:rPr>
              <a:t>›</a:t>
            </a:r>
          </a:p>
        </p:txBody>
      </p:sp>
      <p:sp>
        <p:nvSpPr>
          <p:cNvPr id="14" name="">
            <a:extLst xmlns:a="http://schemas.openxmlformats.org/drawingml/2006/main">
              <a:ext uri="{FF2B5EF4-FFF2-40B4-BE49-F238E27FC236}">
                <a16:creationId xmlns:a16="http://schemas.microsoft.com/office/drawing/2014/main" id="{BCE1978D-0B77-4B3B-A37F-AB83DA99930E}"/>
              </a:ext>
            </a:extLst>
          </p:cNvPr>
          <p:cNvSpPr>
            <a:spLocks xmlns:a="http://schemas.openxmlformats.org/drawingml/2006/main" noGrp="1"/>
          </p:cNvSpPr>
          <p:nvPr/>
        </p:nvSpPr>
        <p:spPr>
          <a:xfrm xmlns:a="http://schemas.openxmlformats.org/drawingml/2006/main">
            <a:off x="6286500" y="2095500"/>
            <a:ext cx="23336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7C6EE6"/>
            </a:solidFill>
            <a:prstDash val="solid"/>
          </a:ln>
        </p:spPr>
      </p:sp>
      <p:sp>
        <p:nvSpPr>
          <p:cNvPr id="15" name="">
            <a:extLst xmlns:a="http://schemas.openxmlformats.org/drawingml/2006/main">
              <a:ext uri="{FF2B5EF4-FFF2-40B4-BE49-F238E27FC236}">
                <a16:creationId xmlns:a16="http://schemas.microsoft.com/office/drawing/2014/main" id="{D338535C-08E1-4009-9804-85AFF4DF4C00}"/>
              </a:ext>
            </a:extLst>
          </p:cNvPr>
          <p:cNvSpPr>
            <a:spLocks xmlns:a="http://schemas.openxmlformats.org/drawingml/2006/main" noGrp="1"/>
          </p:cNvSpPr>
          <p:nvPr/>
        </p:nvSpPr>
        <p:spPr>
          <a:xfrm xmlns:a="http://schemas.openxmlformats.org/drawingml/2006/main">
            <a:off x="6477000" y="2381250"/>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7C6EE6"/>
                </a:solidFill>
              </a:defRPr>
            </a:pPr>
            <a:r>
              <a:rPr sz="1725" b="1">
                <a:solidFill>
                  <a:srgbClr val="7C6EE6"/>
                </a:solidFill>
              </a:rPr>
              <a:t>3</a:t>
            </a:r>
          </a:p>
        </p:txBody>
      </p:sp>
      <p:sp>
        <p:nvSpPr>
          <p:cNvPr id="16" name="">
            <a:extLst xmlns:a="http://schemas.openxmlformats.org/drawingml/2006/main">
              <a:ext uri="{FF2B5EF4-FFF2-40B4-BE49-F238E27FC236}">
                <a16:creationId xmlns:a16="http://schemas.microsoft.com/office/drawing/2014/main" id="{3366E2FC-96A8-4E28-8BC7-C5EFD8B94C39}"/>
              </a:ext>
            </a:extLst>
          </p:cNvPr>
          <p:cNvSpPr>
            <a:spLocks xmlns:a="http://schemas.openxmlformats.org/drawingml/2006/main" noGrp="1"/>
          </p:cNvSpPr>
          <p:nvPr/>
        </p:nvSpPr>
        <p:spPr>
          <a:xfrm xmlns:a="http://schemas.openxmlformats.org/drawingml/2006/main">
            <a:off x="7000875" y="2381250"/>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ATTIVA PIANO</a:t>
            </a:r>
          </a:p>
        </p:txBody>
      </p:sp>
      <p:sp>
        <p:nvSpPr>
          <p:cNvPr id="17" name="">
            <a:extLst xmlns:a="http://schemas.openxmlformats.org/drawingml/2006/main">
              <a:ext uri="{FF2B5EF4-FFF2-40B4-BE49-F238E27FC236}">
                <a16:creationId xmlns:a16="http://schemas.microsoft.com/office/drawing/2014/main" id="{C69FD19D-A68D-4813-A124-A091EF226722}"/>
              </a:ext>
            </a:extLst>
          </p:cNvPr>
          <p:cNvSpPr>
            <a:spLocks xmlns:a="http://schemas.openxmlformats.org/drawingml/2006/main" noGrp="1"/>
          </p:cNvSpPr>
          <p:nvPr/>
        </p:nvSpPr>
        <p:spPr>
          <a:xfrm xmlns:a="http://schemas.openxmlformats.org/drawingml/2006/main">
            <a:off x="8620125" y="2552700"/>
            <a:ext cx="428625" cy="38100"/>
          </a:xfrm>
          <a:prstGeom xmlns:a="http://schemas.openxmlformats.org/drawingml/2006/main" prst="rect">
            <a:avLst/>
          </a:prstGeom>
          <a:solidFill xmlns:a="http://schemas.openxmlformats.org/drawingml/2006/main">
            <a:srgbClr val="52606D"/>
          </a:solidFill>
          <a:ln xmlns:a="http://schemas.openxmlformats.org/drawingml/2006/main" w="9525">
            <a:solidFill>
              <a:srgbClr val="52606D"/>
            </a:solidFill>
            <a:prstDash val="solid"/>
          </a:ln>
        </p:spPr>
      </p:sp>
      <p:sp>
        <p:nvSpPr>
          <p:cNvPr id="18" name="">
            <a:extLst xmlns:a="http://schemas.openxmlformats.org/drawingml/2006/main">
              <a:ext uri="{FF2B5EF4-FFF2-40B4-BE49-F238E27FC236}">
                <a16:creationId xmlns:a16="http://schemas.microsoft.com/office/drawing/2014/main" id="{99BA6C84-C37E-4342-A8D2-1FB49067E860}"/>
              </a:ext>
            </a:extLst>
          </p:cNvPr>
          <p:cNvSpPr>
            <a:spLocks xmlns:a="http://schemas.openxmlformats.org/drawingml/2006/main" noGrp="1"/>
          </p:cNvSpPr>
          <p:nvPr/>
        </p:nvSpPr>
        <p:spPr>
          <a:xfrm xmlns:a="http://schemas.openxmlformats.org/drawingml/2006/main">
            <a:off x="8896350" y="23812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52606D"/>
                </a:solidFill>
              </a:defRPr>
            </a:pPr>
            <a:r>
              <a:rPr sz="2625" b="1">
                <a:solidFill>
                  <a:srgbClr val="52606D"/>
                </a:solidFill>
              </a:rPr>
              <a:t>›</a:t>
            </a:r>
          </a:p>
        </p:txBody>
      </p:sp>
      <p:sp>
        <p:nvSpPr>
          <p:cNvPr id="19" name="">
            <a:extLst xmlns:a="http://schemas.openxmlformats.org/drawingml/2006/main">
              <a:ext uri="{FF2B5EF4-FFF2-40B4-BE49-F238E27FC236}">
                <a16:creationId xmlns:a16="http://schemas.microsoft.com/office/drawing/2014/main" id="{23487721-2C33-4493-A650-AD100A78571D}"/>
              </a:ext>
            </a:extLst>
          </p:cNvPr>
          <p:cNvSpPr>
            <a:spLocks xmlns:a="http://schemas.openxmlformats.org/drawingml/2006/main" noGrp="1"/>
          </p:cNvSpPr>
          <p:nvPr/>
        </p:nvSpPr>
        <p:spPr>
          <a:xfrm xmlns:a="http://schemas.openxmlformats.org/drawingml/2006/main">
            <a:off x="9096375" y="2095500"/>
            <a:ext cx="23336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B7E34B"/>
            </a:solidFill>
            <a:prstDash val="solid"/>
          </a:ln>
        </p:spPr>
      </p:sp>
      <p:sp>
        <p:nvSpPr>
          <p:cNvPr id="20" name="">
            <a:extLst xmlns:a="http://schemas.openxmlformats.org/drawingml/2006/main">
              <a:ext uri="{FF2B5EF4-FFF2-40B4-BE49-F238E27FC236}">
                <a16:creationId xmlns:a16="http://schemas.microsoft.com/office/drawing/2014/main" id="{9A97604F-DB2A-412B-8CE5-7058EA462E1A}"/>
              </a:ext>
            </a:extLst>
          </p:cNvPr>
          <p:cNvSpPr>
            <a:spLocks xmlns:a="http://schemas.openxmlformats.org/drawingml/2006/main" noGrp="1"/>
          </p:cNvSpPr>
          <p:nvPr/>
        </p:nvSpPr>
        <p:spPr>
          <a:xfrm xmlns:a="http://schemas.openxmlformats.org/drawingml/2006/main">
            <a:off x="9286875" y="2381250"/>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7E34B"/>
                </a:solidFill>
              </a:defRPr>
            </a:pPr>
            <a:r>
              <a:rPr sz="1725" b="1">
                <a:solidFill>
                  <a:srgbClr val="B7E34B"/>
                </a:solidFill>
              </a:rPr>
              <a:t>4</a:t>
            </a:r>
          </a:p>
        </p:txBody>
      </p:sp>
      <p:sp>
        <p:nvSpPr>
          <p:cNvPr id="21" name="">
            <a:extLst xmlns:a="http://schemas.openxmlformats.org/drawingml/2006/main">
              <a:ext uri="{FF2B5EF4-FFF2-40B4-BE49-F238E27FC236}">
                <a16:creationId xmlns:a16="http://schemas.microsoft.com/office/drawing/2014/main" id="{F9B31F82-5FDA-4FC1-A82A-77CBA7B62280}"/>
              </a:ext>
            </a:extLst>
          </p:cNvPr>
          <p:cNvSpPr>
            <a:spLocks xmlns:a="http://schemas.openxmlformats.org/drawingml/2006/main" noGrp="1"/>
          </p:cNvSpPr>
          <p:nvPr/>
        </p:nvSpPr>
        <p:spPr>
          <a:xfrm xmlns:a="http://schemas.openxmlformats.org/drawingml/2006/main">
            <a:off x="9810750" y="2381250"/>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CONFERMA</a:t>
            </a:r>
          </a:p>
        </p:txBody>
      </p:sp>
      <p:sp>
        <p:nvSpPr>
          <p:cNvPr id="22" name="">
            <a:extLst xmlns:a="http://schemas.openxmlformats.org/drawingml/2006/main">
              <a:ext uri="{FF2B5EF4-FFF2-40B4-BE49-F238E27FC236}">
                <a16:creationId xmlns:a16="http://schemas.microsoft.com/office/drawing/2014/main" id="{8A2BE9AB-ACA4-4E38-9681-6907D8444826}"/>
              </a:ext>
            </a:extLst>
          </p:cNvPr>
          <p:cNvSpPr>
            <a:spLocks xmlns:a="http://schemas.openxmlformats.org/drawingml/2006/main" noGrp="1"/>
          </p:cNvSpPr>
          <p:nvPr/>
        </p:nvSpPr>
        <p:spPr>
          <a:xfrm xmlns:a="http://schemas.openxmlformats.org/drawingml/2006/main">
            <a:off x="1619250" y="3857625"/>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EF5A5A"/>
                </a:solidFill>
              </a:defRPr>
            </a:pPr>
            <a:r>
              <a:rPr sz="1950" b="1">
                <a:solidFill>
                  <a:srgbClr val="EF5A5A"/>
                </a:solidFill>
              </a:rPr>
              <a:t>Se il passo 3 fallisce: libera o rimborsa con un’azione compensativa.</a:t>
            </a:r>
          </a:p>
        </p:txBody>
      </p:sp>
      <p:sp>
        <p:nvSpPr>
          <p:cNvPr id="23" name="">
            <a:extLst xmlns:a="http://schemas.openxmlformats.org/drawingml/2006/main">
              <a:ext uri="{FF2B5EF4-FFF2-40B4-BE49-F238E27FC236}">
                <a16:creationId xmlns:a16="http://schemas.microsoft.com/office/drawing/2014/main" id="{F36FFBD4-43C4-4907-937E-E3289E433F24}"/>
              </a:ext>
            </a:extLst>
          </p:cNvPr>
          <p:cNvSpPr>
            <a:spLocks xmlns:a="http://schemas.openxmlformats.org/drawingml/2006/main" noGrp="1"/>
          </p:cNvSpPr>
          <p:nvPr/>
        </p:nvSpPr>
        <p:spPr>
          <a:xfrm xmlns:a="http://schemas.openxmlformats.org/drawingml/2006/main">
            <a:off x="2095500" y="4810125"/>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Compensare non significa annullare il tempo: è una nuova operazione.</a:t>
            </a:r>
          </a:p>
        </p:txBody>
      </p:sp>
    </p:spTree>
    <p:extLst>
      <p:ext uri="{BB962C8B-B14F-4D97-AF65-F5344CB8AC3E}">
        <p14:creationId xmlns:p14="http://schemas.microsoft.com/office/powerpoint/2010/main" val="491205441"/>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270FA52-84C9-4113-87F8-1A9D379868A2}"/>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SECURITY BY OWNERSHIP</a:t>
            </a:r>
          </a:p>
        </p:txBody>
      </p:sp>
      <p:sp>
        <p:nvSpPr>
          <p:cNvPr id="2" name="">
            <a:extLst xmlns:a="http://schemas.openxmlformats.org/drawingml/2006/main">
              <a:ext uri="{FF2B5EF4-FFF2-40B4-BE49-F238E27FC236}">
                <a16:creationId xmlns:a16="http://schemas.microsoft.com/office/drawing/2014/main" id="{9619C1B1-B8B3-4086-84E9-964CEDA7373D}"/>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Più datastore significano più superfici da proteggere</a:t>
            </a:r>
          </a:p>
        </p:txBody>
      </p:sp>
      <p:sp>
        <p:nvSpPr>
          <p:cNvPr id="3" name="">
            <a:extLst xmlns:a="http://schemas.openxmlformats.org/drawingml/2006/main">
              <a:ext uri="{FF2B5EF4-FFF2-40B4-BE49-F238E27FC236}">
                <a16:creationId xmlns:a16="http://schemas.microsoft.com/office/drawing/2014/main" id="{F4857ECA-25B3-4D7E-942B-4A5F17AE893D}"/>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35</a:t>
            </a:r>
          </a:p>
        </p:txBody>
      </p:sp>
      <p:sp>
        <p:nvSpPr>
          <p:cNvPr id="4" name="">
            <a:extLst xmlns:a="http://schemas.openxmlformats.org/drawingml/2006/main">
              <a:ext uri="{FF2B5EF4-FFF2-40B4-BE49-F238E27FC236}">
                <a16:creationId xmlns:a16="http://schemas.microsoft.com/office/drawing/2014/main" id="{7E333DFF-FACA-4917-8E23-44A21EF80C57}"/>
              </a:ext>
            </a:extLst>
          </p:cNvPr>
          <p:cNvSpPr>
            <a:spLocks xmlns:a="http://schemas.openxmlformats.org/drawingml/2006/main" noGrp="1"/>
          </p:cNvSpPr>
          <p:nvPr/>
        </p:nvSpPr>
        <p:spPr>
          <a:xfrm xmlns:a="http://schemas.openxmlformats.org/drawingml/2006/main">
            <a:off x="685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0C17FD6A-B460-4FD4-8DA6-A24315E4E611}"/>
              </a:ext>
            </a:extLst>
          </p:cNvPr>
          <p:cNvSpPr>
            <a:spLocks xmlns:a="http://schemas.openxmlformats.org/drawingml/2006/main" noGrp="1"/>
          </p:cNvSpPr>
          <p:nvPr/>
        </p:nvSpPr>
        <p:spPr>
          <a:xfrm xmlns:a="http://schemas.openxmlformats.org/drawingml/2006/main">
            <a:off x="685800" y="16668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058008-97EB-4E7E-83E3-AD5878EA3341}"/>
              </a:ext>
            </a:extLst>
          </p:cNvPr>
          <p:cNvSpPr>
            <a:spLocks xmlns:a="http://schemas.openxmlformats.org/drawingml/2006/main" noGrp="1"/>
          </p:cNvSpPr>
          <p:nvPr/>
        </p:nvSpPr>
        <p:spPr>
          <a:xfrm xmlns:a="http://schemas.openxmlformats.org/drawingml/2006/main">
            <a:off x="895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IDENTITY</a:t>
            </a:r>
          </a:p>
        </p:txBody>
      </p:sp>
      <p:sp>
        <p:nvSpPr>
          <p:cNvPr id="7" name="">
            <a:extLst xmlns:a="http://schemas.openxmlformats.org/drawingml/2006/main">
              <a:ext uri="{FF2B5EF4-FFF2-40B4-BE49-F238E27FC236}">
                <a16:creationId xmlns:a16="http://schemas.microsoft.com/office/drawing/2014/main" id="{A209AEF7-71F3-4A47-AC89-EA673E011E27}"/>
              </a:ext>
            </a:extLst>
          </p:cNvPr>
          <p:cNvSpPr>
            <a:spLocks xmlns:a="http://schemas.openxmlformats.org/drawingml/2006/main" noGrp="1"/>
          </p:cNvSpPr>
          <p:nvPr/>
        </p:nvSpPr>
        <p:spPr>
          <a:xfrm xmlns:a="http://schemas.openxmlformats.org/drawingml/2006/main">
            <a:off x="895350" y="23907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service account dedicato</a:t>
            </a:r>
          </a:p>
        </p:txBody>
      </p:sp>
      <p:sp>
        <p:nvSpPr>
          <p:cNvPr id="8" name="">
            <a:extLst xmlns:a="http://schemas.openxmlformats.org/drawingml/2006/main">
              <a:ext uri="{FF2B5EF4-FFF2-40B4-BE49-F238E27FC236}">
                <a16:creationId xmlns:a16="http://schemas.microsoft.com/office/drawing/2014/main" id="{B29AAC86-5B9F-43B2-86AF-8A62520876B7}"/>
              </a:ext>
            </a:extLst>
          </p:cNvPr>
          <p:cNvSpPr>
            <a:spLocks xmlns:a="http://schemas.openxmlformats.org/drawingml/2006/main" noGrp="1"/>
          </p:cNvSpPr>
          <p:nvPr/>
        </p:nvSpPr>
        <p:spPr>
          <a:xfrm xmlns:a="http://schemas.openxmlformats.org/drawingml/2006/main">
            <a:off x="43053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72C1EA7C-D913-42C3-8CD6-F99489E6F3A5}"/>
              </a:ext>
            </a:extLst>
          </p:cNvPr>
          <p:cNvSpPr>
            <a:spLocks xmlns:a="http://schemas.openxmlformats.org/drawingml/2006/main" noGrp="1"/>
          </p:cNvSpPr>
          <p:nvPr/>
        </p:nvSpPr>
        <p:spPr>
          <a:xfrm xmlns:a="http://schemas.openxmlformats.org/drawingml/2006/main">
            <a:off x="4305300" y="16668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371E85-A2B2-4DE3-A57C-73949B51B1BA}"/>
              </a:ext>
            </a:extLst>
          </p:cNvPr>
          <p:cNvSpPr>
            <a:spLocks xmlns:a="http://schemas.openxmlformats.org/drawingml/2006/main" noGrp="1"/>
          </p:cNvSpPr>
          <p:nvPr/>
        </p:nvSpPr>
        <p:spPr>
          <a:xfrm xmlns:a="http://schemas.openxmlformats.org/drawingml/2006/main">
            <a:off x="45148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LEAST PRIVILEGE</a:t>
            </a:r>
          </a:p>
        </p:txBody>
      </p:sp>
      <p:sp>
        <p:nvSpPr>
          <p:cNvPr id="11" name="">
            <a:extLst xmlns:a="http://schemas.openxmlformats.org/drawingml/2006/main">
              <a:ext uri="{FF2B5EF4-FFF2-40B4-BE49-F238E27FC236}">
                <a16:creationId xmlns:a16="http://schemas.microsoft.com/office/drawing/2014/main" id="{39A2167F-CF85-49C3-9AA3-0415F3183C2B}"/>
              </a:ext>
            </a:extLst>
          </p:cNvPr>
          <p:cNvSpPr>
            <a:spLocks xmlns:a="http://schemas.openxmlformats.org/drawingml/2006/main" noGrp="1"/>
          </p:cNvSpPr>
          <p:nvPr/>
        </p:nvSpPr>
        <p:spPr>
          <a:xfrm xmlns:a="http://schemas.openxmlformats.org/drawingml/2006/main">
            <a:off x="4514850" y="23907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solo API e dati necessari</a:t>
            </a:r>
          </a:p>
        </p:txBody>
      </p:sp>
      <p:sp>
        <p:nvSpPr>
          <p:cNvPr id="12" name="">
            <a:extLst xmlns:a="http://schemas.openxmlformats.org/drawingml/2006/main">
              <a:ext uri="{FF2B5EF4-FFF2-40B4-BE49-F238E27FC236}">
                <a16:creationId xmlns:a16="http://schemas.microsoft.com/office/drawing/2014/main" id="{1F0D5DA6-CE9B-46D0-BFEE-B83B19170419}"/>
              </a:ext>
            </a:extLst>
          </p:cNvPr>
          <p:cNvSpPr>
            <a:spLocks xmlns:a="http://schemas.openxmlformats.org/drawingml/2006/main" noGrp="1"/>
          </p:cNvSpPr>
          <p:nvPr/>
        </p:nvSpPr>
        <p:spPr>
          <a:xfrm xmlns:a="http://schemas.openxmlformats.org/drawingml/2006/main">
            <a:off x="7924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58DA85CD-ECEF-4619-8E52-5F27CD700133}"/>
              </a:ext>
            </a:extLst>
          </p:cNvPr>
          <p:cNvSpPr>
            <a:spLocks xmlns:a="http://schemas.openxmlformats.org/drawingml/2006/main" noGrp="1"/>
          </p:cNvSpPr>
          <p:nvPr/>
        </p:nvSpPr>
        <p:spPr>
          <a:xfrm xmlns:a="http://schemas.openxmlformats.org/drawingml/2006/main">
            <a:off x="7924800" y="16668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61B48E-5DDB-499B-A9E1-A259C3DE03DB}"/>
              </a:ext>
            </a:extLst>
          </p:cNvPr>
          <p:cNvSpPr>
            <a:spLocks xmlns:a="http://schemas.openxmlformats.org/drawingml/2006/main" noGrp="1"/>
          </p:cNvSpPr>
          <p:nvPr/>
        </p:nvSpPr>
        <p:spPr>
          <a:xfrm xmlns:a="http://schemas.openxmlformats.org/drawingml/2006/main">
            <a:off x="8134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NETWORK</a:t>
            </a:r>
          </a:p>
        </p:txBody>
      </p:sp>
      <p:sp>
        <p:nvSpPr>
          <p:cNvPr id="15" name="">
            <a:extLst xmlns:a="http://schemas.openxmlformats.org/drawingml/2006/main">
              <a:ext uri="{FF2B5EF4-FFF2-40B4-BE49-F238E27FC236}">
                <a16:creationId xmlns:a16="http://schemas.microsoft.com/office/drawing/2014/main" id="{E57EA23B-6220-4BBE-BD0A-7D69807B68BB}"/>
              </a:ext>
            </a:extLst>
          </p:cNvPr>
          <p:cNvSpPr>
            <a:spLocks xmlns:a="http://schemas.openxmlformats.org/drawingml/2006/main" noGrp="1"/>
          </p:cNvSpPr>
          <p:nvPr/>
        </p:nvSpPr>
        <p:spPr>
          <a:xfrm xmlns:a="http://schemas.openxmlformats.org/drawingml/2006/main">
            <a:off x="8134350" y="23907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segmentazione + TLS</a:t>
            </a:r>
          </a:p>
        </p:txBody>
      </p:sp>
      <p:sp>
        <p:nvSpPr>
          <p:cNvPr id="16" name="">
            <a:extLst xmlns:a="http://schemas.openxmlformats.org/drawingml/2006/main">
              <a:ext uri="{FF2B5EF4-FFF2-40B4-BE49-F238E27FC236}">
                <a16:creationId xmlns:a16="http://schemas.microsoft.com/office/drawing/2014/main" id="{83565096-229E-4118-8CAE-FD04385158FF}"/>
              </a:ext>
            </a:extLst>
          </p:cNvPr>
          <p:cNvSpPr>
            <a:spLocks xmlns:a="http://schemas.openxmlformats.org/drawingml/2006/main" noGrp="1"/>
          </p:cNvSpPr>
          <p:nvPr/>
        </p:nvSpPr>
        <p:spPr>
          <a:xfrm xmlns:a="http://schemas.openxmlformats.org/drawingml/2006/main">
            <a:off x="685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A3CDCCD3-AC0A-4CDA-9757-2713E15CBC5A}"/>
              </a:ext>
            </a:extLst>
          </p:cNvPr>
          <p:cNvSpPr>
            <a:spLocks xmlns:a="http://schemas.openxmlformats.org/drawingml/2006/main" noGrp="1"/>
          </p:cNvSpPr>
          <p:nvPr/>
        </p:nvSpPr>
        <p:spPr>
          <a:xfrm xmlns:a="http://schemas.openxmlformats.org/drawingml/2006/main">
            <a:off x="685800" y="33813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320800-057B-40DC-8FAA-7D130F99EE85}"/>
              </a:ext>
            </a:extLst>
          </p:cNvPr>
          <p:cNvSpPr>
            <a:spLocks xmlns:a="http://schemas.openxmlformats.org/drawingml/2006/main" noGrp="1"/>
          </p:cNvSpPr>
          <p:nvPr/>
        </p:nvSpPr>
        <p:spPr>
          <a:xfrm xmlns:a="http://schemas.openxmlformats.org/drawingml/2006/main">
            <a:off x="895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SECRETS</a:t>
            </a:r>
          </a:p>
        </p:txBody>
      </p:sp>
      <p:sp>
        <p:nvSpPr>
          <p:cNvPr id="19" name="">
            <a:extLst xmlns:a="http://schemas.openxmlformats.org/drawingml/2006/main">
              <a:ext uri="{FF2B5EF4-FFF2-40B4-BE49-F238E27FC236}">
                <a16:creationId xmlns:a16="http://schemas.microsoft.com/office/drawing/2014/main" id="{6583CF64-F499-4B75-8144-BFD97D540B76}"/>
              </a:ext>
            </a:extLst>
          </p:cNvPr>
          <p:cNvSpPr>
            <a:spLocks xmlns:a="http://schemas.openxmlformats.org/drawingml/2006/main" noGrp="1"/>
          </p:cNvSpPr>
          <p:nvPr/>
        </p:nvSpPr>
        <p:spPr>
          <a:xfrm xmlns:a="http://schemas.openxmlformats.org/drawingml/2006/main">
            <a:off x="895350" y="41052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rotazione e vault</a:t>
            </a:r>
          </a:p>
        </p:txBody>
      </p:sp>
      <p:sp>
        <p:nvSpPr>
          <p:cNvPr id="20" name="">
            <a:extLst xmlns:a="http://schemas.openxmlformats.org/drawingml/2006/main">
              <a:ext uri="{FF2B5EF4-FFF2-40B4-BE49-F238E27FC236}">
                <a16:creationId xmlns:a16="http://schemas.microsoft.com/office/drawing/2014/main" id="{48C23F00-12A4-42DE-A3E3-3CACA109F7F4}"/>
              </a:ext>
            </a:extLst>
          </p:cNvPr>
          <p:cNvSpPr>
            <a:spLocks xmlns:a="http://schemas.openxmlformats.org/drawingml/2006/main" noGrp="1"/>
          </p:cNvSpPr>
          <p:nvPr/>
        </p:nvSpPr>
        <p:spPr>
          <a:xfrm xmlns:a="http://schemas.openxmlformats.org/drawingml/2006/main">
            <a:off x="43053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03232742-9751-4AA6-B26D-DF0109475E26}"/>
              </a:ext>
            </a:extLst>
          </p:cNvPr>
          <p:cNvSpPr>
            <a:spLocks xmlns:a="http://schemas.openxmlformats.org/drawingml/2006/main" noGrp="1"/>
          </p:cNvSpPr>
          <p:nvPr/>
        </p:nvSpPr>
        <p:spPr>
          <a:xfrm xmlns:a="http://schemas.openxmlformats.org/drawingml/2006/main">
            <a:off x="4305300" y="33813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1F534A2-7564-4C8E-8509-4F99E3C2EF45}"/>
              </a:ext>
            </a:extLst>
          </p:cNvPr>
          <p:cNvSpPr>
            <a:spLocks xmlns:a="http://schemas.openxmlformats.org/drawingml/2006/main" noGrp="1"/>
          </p:cNvSpPr>
          <p:nvPr/>
        </p:nvSpPr>
        <p:spPr>
          <a:xfrm xmlns:a="http://schemas.openxmlformats.org/drawingml/2006/main">
            <a:off x="45148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AUDIT</a:t>
            </a:r>
          </a:p>
        </p:txBody>
      </p:sp>
      <p:sp>
        <p:nvSpPr>
          <p:cNvPr id="23" name="">
            <a:extLst xmlns:a="http://schemas.openxmlformats.org/drawingml/2006/main">
              <a:ext uri="{FF2B5EF4-FFF2-40B4-BE49-F238E27FC236}">
                <a16:creationId xmlns:a16="http://schemas.microsoft.com/office/drawing/2014/main" id="{FC9FEF88-36FC-467D-872A-066EC5EF245D}"/>
              </a:ext>
            </a:extLst>
          </p:cNvPr>
          <p:cNvSpPr>
            <a:spLocks xmlns:a="http://schemas.openxmlformats.org/drawingml/2006/main" noGrp="1"/>
          </p:cNvSpPr>
          <p:nvPr/>
        </p:nvSpPr>
        <p:spPr>
          <a:xfrm xmlns:a="http://schemas.openxmlformats.org/drawingml/2006/main">
            <a:off x="4514850" y="41052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chi ha letto o scritto</a:t>
            </a:r>
          </a:p>
        </p:txBody>
      </p:sp>
      <p:sp>
        <p:nvSpPr>
          <p:cNvPr id="24" name="">
            <a:extLst xmlns:a="http://schemas.openxmlformats.org/drawingml/2006/main">
              <a:ext uri="{FF2B5EF4-FFF2-40B4-BE49-F238E27FC236}">
                <a16:creationId xmlns:a16="http://schemas.microsoft.com/office/drawing/2014/main" id="{72C9F6A7-80B0-4779-A225-C9D6B6A94EC9}"/>
              </a:ext>
            </a:extLst>
          </p:cNvPr>
          <p:cNvSpPr>
            <a:spLocks xmlns:a="http://schemas.openxmlformats.org/drawingml/2006/main" noGrp="1"/>
          </p:cNvSpPr>
          <p:nvPr/>
        </p:nvSpPr>
        <p:spPr>
          <a:xfrm xmlns:a="http://schemas.openxmlformats.org/drawingml/2006/main">
            <a:off x="7924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6526DB26-1165-4548-87BA-54EBE2924854}"/>
              </a:ext>
            </a:extLst>
          </p:cNvPr>
          <p:cNvSpPr>
            <a:spLocks xmlns:a="http://schemas.openxmlformats.org/drawingml/2006/main" noGrp="1"/>
          </p:cNvSpPr>
          <p:nvPr/>
        </p:nvSpPr>
        <p:spPr>
          <a:xfrm xmlns:a="http://schemas.openxmlformats.org/drawingml/2006/main">
            <a:off x="7924800" y="33813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AC3CC0F-7FCA-4307-AB64-489556E78584}"/>
              </a:ext>
            </a:extLst>
          </p:cNvPr>
          <p:cNvSpPr>
            <a:spLocks xmlns:a="http://schemas.openxmlformats.org/drawingml/2006/main" noGrp="1"/>
          </p:cNvSpPr>
          <p:nvPr/>
        </p:nvSpPr>
        <p:spPr>
          <a:xfrm xmlns:a="http://schemas.openxmlformats.org/drawingml/2006/main">
            <a:off x="8134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CLASSIFICATION</a:t>
            </a:r>
          </a:p>
        </p:txBody>
      </p:sp>
      <p:sp>
        <p:nvSpPr>
          <p:cNvPr id="27" name="">
            <a:extLst xmlns:a="http://schemas.openxmlformats.org/drawingml/2006/main">
              <a:ext uri="{FF2B5EF4-FFF2-40B4-BE49-F238E27FC236}">
                <a16:creationId xmlns:a16="http://schemas.microsoft.com/office/drawing/2014/main" id="{CCF69C83-D306-46B1-9A81-295760F5C66E}"/>
              </a:ext>
            </a:extLst>
          </p:cNvPr>
          <p:cNvSpPr>
            <a:spLocks xmlns:a="http://schemas.openxmlformats.org/drawingml/2006/main" noGrp="1"/>
          </p:cNvSpPr>
          <p:nvPr/>
        </p:nvSpPr>
        <p:spPr>
          <a:xfrm xmlns:a="http://schemas.openxmlformats.org/drawingml/2006/main">
            <a:off x="8134350" y="41052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PII non copiata senza motivo</a:t>
            </a:r>
          </a:p>
        </p:txBody>
      </p:sp>
      <p:sp>
        <p:nvSpPr>
          <p:cNvPr id="28" name="">
            <a:extLst xmlns:a="http://schemas.openxmlformats.org/drawingml/2006/main">
              <a:ext uri="{FF2B5EF4-FFF2-40B4-BE49-F238E27FC236}">
                <a16:creationId xmlns:a16="http://schemas.microsoft.com/office/drawing/2014/main" id="{A4472E91-5EF0-485B-9F2A-480BE664387A}"/>
              </a:ext>
            </a:extLst>
          </p:cNvPr>
          <p:cNvSpPr>
            <a:spLocks xmlns:a="http://schemas.openxmlformats.org/drawingml/2006/main" noGrp="1"/>
          </p:cNvSpPr>
          <p:nvPr/>
        </p:nvSpPr>
        <p:spPr>
          <a:xfrm xmlns:a="http://schemas.openxmlformats.org/drawingml/2006/main">
            <a:off x="2190750" y="54292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Una projection eredita anche gli obblighi del dato che copia.</a:t>
            </a:r>
          </a:p>
        </p:txBody>
      </p:sp>
    </p:spTree>
    <p:extLst>
      <p:ext uri="{BB962C8B-B14F-4D97-AF65-F5344CB8AC3E}">
        <p14:creationId xmlns:p14="http://schemas.microsoft.com/office/powerpoint/2010/main" val="988104590"/>
      </p:ext>
    </p:extLst>
  </p:cSld>
</p:sld>
</file>

<file path=ppt/slides/slide3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03CF385-B784-49A0-9B50-1D2BBD44F7A5}"/>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PRIVACY + LIFECYCLE</a:t>
            </a:r>
          </a:p>
        </p:txBody>
      </p:sp>
      <p:sp>
        <p:nvSpPr>
          <p:cNvPr id="2" name="">
            <a:extLst xmlns:a="http://schemas.openxmlformats.org/drawingml/2006/main">
              <a:ext uri="{FF2B5EF4-FFF2-40B4-BE49-F238E27FC236}">
                <a16:creationId xmlns:a16="http://schemas.microsoft.com/office/drawing/2014/main" id="{7382A80B-4F03-46AC-8272-19AA8B23AC49}"/>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La cancellazione deve attraversare tutte le copie</a:t>
            </a:r>
          </a:p>
        </p:txBody>
      </p:sp>
      <p:sp>
        <p:nvSpPr>
          <p:cNvPr id="3" name="">
            <a:extLst xmlns:a="http://schemas.openxmlformats.org/drawingml/2006/main">
              <a:ext uri="{FF2B5EF4-FFF2-40B4-BE49-F238E27FC236}">
                <a16:creationId xmlns:a16="http://schemas.microsoft.com/office/drawing/2014/main" id="{C504C967-AA31-4145-9C0E-E63047271776}"/>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36</a:t>
            </a:r>
          </a:p>
        </p:txBody>
      </p:sp>
      <p:sp>
        <p:nvSpPr>
          <p:cNvPr id="4" name="">
            <a:extLst xmlns:a="http://schemas.openxmlformats.org/drawingml/2006/main">
              <a:ext uri="{FF2B5EF4-FFF2-40B4-BE49-F238E27FC236}">
                <a16:creationId xmlns:a16="http://schemas.microsoft.com/office/drawing/2014/main" id="{237D5FF1-5E1D-43B2-9189-FE1C90EE6692}"/>
              </a:ext>
            </a:extLst>
          </p:cNvPr>
          <p:cNvSpPr>
            <a:spLocks xmlns:a="http://schemas.openxmlformats.org/drawingml/2006/main" noGrp="1"/>
          </p:cNvSpPr>
          <p:nvPr/>
        </p:nvSpPr>
        <p:spPr>
          <a:xfrm xmlns:a="http://schemas.openxmlformats.org/drawingml/2006/main">
            <a:off x="762000" y="1762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EF5A5A"/>
                </a:solidFill>
              </a:defRPr>
            </a:pPr>
            <a:r>
              <a:rPr sz="1875" b="1">
                <a:solidFill>
                  <a:srgbClr val="EF5A5A"/>
                </a:solidFill>
              </a:rPr>
              <a:t>DELETE USER u1</a:t>
            </a:r>
          </a:p>
        </p:txBody>
      </p:sp>
      <p:sp>
        <p:nvSpPr>
          <p:cNvPr id="5" name="">
            <a:extLst xmlns:a="http://schemas.openxmlformats.org/drawingml/2006/main">
              <a:ext uri="{FF2B5EF4-FFF2-40B4-BE49-F238E27FC236}">
                <a16:creationId xmlns:a16="http://schemas.microsoft.com/office/drawing/2014/main" id="{7E07B251-DEAF-4806-9492-43EEC5B78924}"/>
              </a:ext>
            </a:extLst>
          </p:cNvPr>
          <p:cNvSpPr>
            <a:spLocks xmlns:a="http://schemas.openxmlformats.org/drawingml/2006/main" noGrp="1"/>
          </p:cNvSpPr>
          <p:nvPr/>
        </p:nvSpPr>
        <p:spPr>
          <a:xfrm xmlns:a="http://schemas.openxmlformats.org/drawingml/2006/main">
            <a:off x="3619500" y="1981200"/>
            <a:ext cx="1333500" cy="38100"/>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6" name="">
            <a:extLst xmlns:a="http://schemas.openxmlformats.org/drawingml/2006/main">
              <a:ext uri="{FF2B5EF4-FFF2-40B4-BE49-F238E27FC236}">
                <a16:creationId xmlns:a16="http://schemas.microsoft.com/office/drawing/2014/main" id="{E995B505-4A57-4CA6-846D-B3016C2CCE16}"/>
              </a:ext>
            </a:extLst>
          </p:cNvPr>
          <p:cNvSpPr>
            <a:spLocks xmlns:a="http://schemas.openxmlformats.org/drawingml/2006/main" noGrp="1"/>
          </p:cNvSpPr>
          <p:nvPr/>
        </p:nvSpPr>
        <p:spPr>
          <a:xfrm xmlns:a="http://schemas.openxmlformats.org/drawingml/2006/main">
            <a:off x="4800600" y="18097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1">
                <a:solidFill>
                  <a:srgbClr val="FF8A4C"/>
                </a:solidFill>
              </a:defRPr>
            </a:pPr>
            <a:r>
              <a:rPr sz="2625" b="1">
                <a:solidFill>
                  <a:srgbClr val="FF8A4C"/>
                </a:solidFill>
              </a:rPr>
              <a:t>›</a:t>
            </a:r>
          </a:p>
        </p:txBody>
      </p:sp>
      <p:sp>
        <p:nvSpPr>
          <p:cNvPr id="7" name="">
            <a:extLst xmlns:a="http://schemas.openxmlformats.org/drawingml/2006/main">
              <a:ext uri="{FF2B5EF4-FFF2-40B4-BE49-F238E27FC236}">
                <a16:creationId xmlns:a16="http://schemas.microsoft.com/office/drawing/2014/main" id="{8074C532-493C-42A1-9A88-D4BE05D109A4}"/>
              </a:ext>
            </a:extLst>
          </p:cNvPr>
          <p:cNvSpPr>
            <a:spLocks xmlns:a="http://schemas.openxmlformats.org/drawingml/2006/main" noGrp="1"/>
          </p:cNvSpPr>
          <p:nvPr/>
        </p:nvSpPr>
        <p:spPr>
          <a:xfrm xmlns:a="http://schemas.openxmlformats.org/drawingml/2006/main">
            <a:off x="3619500" y="16383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8A4C"/>
                </a:solidFill>
              </a:defRPr>
            </a:pPr>
            <a:r>
              <a:rPr sz="1050" b="1">
                <a:solidFill>
                  <a:srgbClr val="FF8A4C"/>
                </a:solidFill>
              </a:rPr>
              <a:t>event</a:t>
            </a:r>
          </a:p>
        </p:txBody>
      </p:sp>
      <p:sp>
        <p:nvSpPr>
          <p:cNvPr id="8" name="">
            <a:extLst xmlns:a="http://schemas.openxmlformats.org/drawingml/2006/main">
              <a:ext uri="{FF2B5EF4-FFF2-40B4-BE49-F238E27FC236}">
                <a16:creationId xmlns:a16="http://schemas.microsoft.com/office/drawing/2014/main" id="{F6BB0CB5-81F5-4436-9023-C220EA8F24CB}"/>
              </a:ext>
            </a:extLst>
          </p:cNvPr>
          <p:cNvSpPr>
            <a:spLocks xmlns:a="http://schemas.openxmlformats.org/drawingml/2006/main" noGrp="1"/>
          </p:cNvSpPr>
          <p:nvPr/>
        </p:nvSpPr>
        <p:spPr>
          <a:xfrm xmlns:a="http://schemas.openxmlformats.org/drawingml/2006/main">
            <a:off x="666750" y="3143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00B8D9"/>
            </a:solidFill>
            <a:prstDash val="solid"/>
          </a:ln>
        </p:spPr>
      </p:sp>
      <p:sp>
        <p:nvSpPr>
          <p:cNvPr id="9" name="">
            <a:extLst xmlns:a="http://schemas.openxmlformats.org/drawingml/2006/main">
              <a:ext uri="{FF2B5EF4-FFF2-40B4-BE49-F238E27FC236}">
                <a16:creationId xmlns:a16="http://schemas.microsoft.com/office/drawing/2014/main" id="{022DC539-26E9-4D53-8983-66D1D5C477A8}"/>
              </a:ext>
            </a:extLst>
          </p:cNvPr>
          <p:cNvSpPr>
            <a:spLocks xmlns:a="http://schemas.openxmlformats.org/drawingml/2006/main" noGrp="1"/>
          </p:cNvSpPr>
          <p:nvPr/>
        </p:nvSpPr>
        <p:spPr>
          <a:xfrm xmlns:a="http://schemas.openxmlformats.org/drawingml/2006/main">
            <a:off x="838200" y="33528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SOURCE</a:t>
            </a:r>
          </a:p>
        </p:txBody>
      </p:sp>
      <p:sp>
        <p:nvSpPr>
          <p:cNvPr id="10" name="">
            <a:extLst xmlns:a="http://schemas.openxmlformats.org/drawingml/2006/main">
              <a:ext uri="{FF2B5EF4-FFF2-40B4-BE49-F238E27FC236}">
                <a16:creationId xmlns:a16="http://schemas.microsoft.com/office/drawing/2014/main" id="{14406020-6BA6-475F-89AA-0B4FEA7FFD2E}"/>
              </a:ext>
            </a:extLst>
          </p:cNvPr>
          <p:cNvSpPr>
            <a:spLocks xmlns:a="http://schemas.openxmlformats.org/drawingml/2006/main" noGrp="1"/>
          </p:cNvSpPr>
          <p:nvPr/>
        </p:nvSpPr>
        <p:spPr>
          <a:xfrm xmlns:a="http://schemas.openxmlformats.org/drawingml/2006/main">
            <a:off x="838200" y="3733800"/>
            <a:ext cx="1609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06D"/>
                </a:solidFill>
              </a:defRPr>
            </a:pPr>
            <a:r>
              <a:rPr sz="1200" b="0">
                <a:solidFill>
                  <a:srgbClr val="52606D"/>
                </a:solidFill>
              </a:rPr>
              <a:t>account</a:t>
            </a:r>
          </a:p>
        </p:txBody>
      </p:sp>
      <p:sp>
        <p:nvSpPr>
          <p:cNvPr id="11" name="">
            <a:extLst xmlns:a="http://schemas.openxmlformats.org/drawingml/2006/main">
              <a:ext uri="{FF2B5EF4-FFF2-40B4-BE49-F238E27FC236}">
                <a16:creationId xmlns:a16="http://schemas.microsoft.com/office/drawing/2014/main" id="{A71279B0-235E-4DFB-8865-55F0D3157EEB}"/>
              </a:ext>
            </a:extLst>
          </p:cNvPr>
          <p:cNvSpPr>
            <a:spLocks xmlns:a="http://schemas.openxmlformats.org/drawingml/2006/main" noGrp="1"/>
          </p:cNvSpPr>
          <p:nvPr/>
        </p:nvSpPr>
        <p:spPr>
          <a:xfrm xmlns:a="http://schemas.openxmlformats.org/drawingml/2006/main">
            <a:off x="2952750" y="3143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FF8A4C"/>
            </a:solidFill>
            <a:prstDash val="solid"/>
          </a:ln>
        </p:spPr>
      </p:sp>
      <p:sp>
        <p:nvSpPr>
          <p:cNvPr id="12" name="">
            <a:extLst xmlns:a="http://schemas.openxmlformats.org/drawingml/2006/main">
              <a:ext uri="{FF2B5EF4-FFF2-40B4-BE49-F238E27FC236}">
                <a16:creationId xmlns:a16="http://schemas.microsoft.com/office/drawing/2014/main" id="{512511CD-7E1F-489E-A461-960B28458029}"/>
              </a:ext>
            </a:extLst>
          </p:cNvPr>
          <p:cNvSpPr>
            <a:spLocks xmlns:a="http://schemas.openxmlformats.org/drawingml/2006/main" noGrp="1"/>
          </p:cNvSpPr>
          <p:nvPr/>
        </p:nvSpPr>
        <p:spPr>
          <a:xfrm xmlns:a="http://schemas.openxmlformats.org/drawingml/2006/main">
            <a:off x="3124200" y="33528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CACHE</a:t>
            </a:r>
          </a:p>
        </p:txBody>
      </p:sp>
      <p:sp>
        <p:nvSpPr>
          <p:cNvPr id="13" name="">
            <a:extLst xmlns:a="http://schemas.openxmlformats.org/drawingml/2006/main">
              <a:ext uri="{FF2B5EF4-FFF2-40B4-BE49-F238E27FC236}">
                <a16:creationId xmlns:a16="http://schemas.microsoft.com/office/drawing/2014/main" id="{F4ACC16B-6D81-4811-972A-625B8F7A35C6}"/>
              </a:ext>
            </a:extLst>
          </p:cNvPr>
          <p:cNvSpPr>
            <a:spLocks xmlns:a="http://schemas.openxmlformats.org/drawingml/2006/main" noGrp="1"/>
          </p:cNvSpPr>
          <p:nvPr/>
        </p:nvSpPr>
        <p:spPr>
          <a:xfrm xmlns:a="http://schemas.openxmlformats.org/drawingml/2006/main">
            <a:off x="3124200" y="3733800"/>
            <a:ext cx="1609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06D"/>
                </a:solidFill>
              </a:defRPr>
            </a:pPr>
            <a:r>
              <a:rPr sz="1200" b="0">
                <a:solidFill>
                  <a:srgbClr val="52606D"/>
                </a:solidFill>
              </a:rPr>
              <a:t>sessioni</a:t>
            </a:r>
          </a:p>
        </p:txBody>
      </p:sp>
      <p:sp>
        <p:nvSpPr>
          <p:cNvPr id="14" name="">
            <a:extLst xmlns:a="http://schemas.openxmlformats.org/drawingml/2006/main">
              <a:ext uri="{FF2B5EF4-FFF2-40B4-BE49-F238E27FC236}">
                <a16:creationId xmlns:a16="http://schemas.microsoft.com/office/drawing/2014/main" id="{B22E523C-926F-4CF0-A787-8EBD0B202E27}"/>
              </a:ext>
            </a:extLst>
          </p:cNvPr>
          <p:cNvSpPr>
            <a:spLocks xmlns:a="http://schemas.openxmlformats.org/drawingml/2006/main" noGrp="1"/>
          </p:cNvSpPr>
          <p:nvPr/>
        </p:nvSpPr>
        <p:spPr>
          <a:xfrm xmlns:a="http://schemas.openxmlformats.org/drawingml/2006/main">
            <a:off x="5238750" y="3143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EF5A5A"/>
            </a:solidFill>
            <a:prstDash val="solid"/>
          </a:ln>
        </p:spPr>
      </p:sp>
      <p:sp>
        <p:nvSpPr>
          <p:cNvPr id="15" name="">
            <a:extLst xmlns:a="http://schemas.openxmlformats.org/drawingml/2006/main">
              <a:ext uri="{FF2B5EF4-FFF2-40B4-BE49-F238E27FC236}">
                <a16:creationId xmlns:a16="http://schemas.microsoft.com/office/drawing/2014/main" id="{67FF3FDC-1085-4350-A43F-1EF285A89446}"/>
              </a:ext>
            </a:extLst>
          </p:cNvPr>
          <p:cNvSpPr>
            <a:spLocks xmlns:a="http://schemas.openxmlformats.org/drawingml/2006/main" noGrp="1"/>
          </p:cNvSpPr>
          <p:nvPr/>
        </p:nvSpPr>
        <p:spPr>
          <a:xfrm xmlns:a="http://schemas.openxmlformats.org/drawingml/2006/main">
            <a:off x="5410200" y="33528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SEARCH</a:t>
            </a:r>
          </a:p>
        </p:txBody>
      </p:sp>
      <p:sp>
        <p:nvSpPr>
          <p:cNvPr id="16" name="">
            <a:extLst xmlns:a="http://schemas.openxmlformats.org/drawingml/2006/main">
              <a:ext uri="{FF2B5EF4-FFF2-40B4-BE49-F238E27FC236}">
                <a16:creationId xmlns:a16="http://schemas.microsoft.com/office/drawing/2014/main" id="{1EDA3175-0608-4AD5-BDAB-49A4588A4A9A}"/>
              </a:ext>
            </a:extLst>
          </p:cNvPr>
          <p:cNvSpPr>
            <a:spLocks xmlns:a="http://schemas.openxmlformats.org/drawingml/2006/main" noGrp="1"/>
          </p:cNvSpPr>
          <p:nvPr/>
        </p:nvSpPr>
        <p:spPr>
          <a:xfrm xmlns:a="http://schemas.openxmlformats.org/drawingml/2006/main">
            <a:off x="5410200" y="3733800"/>
            <a:ext cx="1609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06D"/>
                </a:solidFill>
              </a:defRPr>
            </a:pPr>
            <a:r>
              <a:rPr sz="1200" b="0">
                <a:solidFill>
                  <a:srgbClr val="52606D"/>
                </a:solidFill>
              </a:rPr>
              <a:t>documenti</a:t>
            </a:r>
          </a:p>
        </p:txBody>
      </p:sp>
      <p:sp>
        <p:nvSpPr>
          <p:cNvPr id="17" name="">
            <a:extLst xmlns:a="http://schemas.openxmlformats.org/drawingml/2006/main">
              <a:ext uri="{FF2B5EF4-FFF2-40B4-BE49-F238E27FC236}">
                <a16:creationId xmlns:a16="http://schemas.microsoft.com/office/drawing/2014/main" id="{13F83442-B9F8-4816-A90C-BF83E28A0412}"/>
              </a:ext>
            </a:extLst>
          </p:cNvPr>
          <p:cNvSpPr>
            <a:spLocks xmlns:a="http://schemas.openxmlformats.org/drawingml/2006/main" noGrp="1"/>
          </p:cNvSpPr>
          <p:nvPr/>
        </p:nvSpPr>
        <p:spPr>
          <a:xfrm xmlns:a="http://schemas.openxmlformats.org/drawingml/2006/main">
            <a:off x="7524750" y="3143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7C6EE6"/>
            </a:solidFill>
            <a:prstDash val="solid"/>
          </a:ln>
        </p:spPr>
      </p:sp>
      <p:sp>
        <p:nvSpPr>
          <p:cNvPr id="18" name="">
            <a:extLst xmlns:a="http://schemas.openxmlformats.org/drawingml/2006/main">
              <a:ext uri="{FF2B5EF4-FFF2-40B4-BE49-F238E27FC236}">
                <a16:creationId xmlns:a16="http://schemas.microsoft.com/office/drawing/2014/main" id="{01F58396-A83B-4553-BD77-56A1DE1B8DAD}"/>
              </a:ext>
            </a:extLst>
          </p:cNvPr>
          <p:cNvSpPr>
            <a:spLocks xmlns:a="http://schemas.openxmlformats.org/drawingml/2006/main" noGrp="1"/>
          </p:cNvSpPr>
          <p:nvPr/>
        </p:nvSpPr>
        <p:spPr>
          <a:xfrm xmlns:a="http://schemas.openxmlformats.org/drawingml/2006/main">
            <a:off x="7696200" y="33528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GRAPH</a:t>
            </a:r>
          </a:p>
        </p:txBody>
      </p:sp>
      <p:sp>
        <p:nvSpPr>
          <p:cNvPr id="19" name="">
            <a:extLst xmlns:a="http://schemas.openxmlformats.org/drawingml/2006/main">
              <a:ext uri="{FF2B5EF4-FFF2-40B4-BE49-F238E27FC236}">
                <a16:creationId xmlns:a16="http://schemas.microsoft.com/office/drawing/2014/main" id="{052A1FC1-F828-4A68-813C-7548A96361BE}"/>
              </a:ext>
            </a:extLst>
          </p:cNvPr>
          <p:cNvSpPr>
            <a:spLocks xmlns:a="http://schemas.openxmlformats.org/drawingml/2006/main" noGrp="1"/>
          </p:cNvSpPr>
          <p:nvPr/>
        </p:nvSpPr>
        <p:spPr>
          <a:xfrm xmlns:a="http://schemas.openxmlformats.org/drawingml/2006/main">
            <a:off x="7696200" y="3733800"/>
            <a:ext cx="1609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06D"/>
                </a:solidFill>
              </a:defRPr>
            </a:pPr>
            <a:r>
              <a:rPr sz="1200" b="0">
                <a:solidFill>
                  <a:srgbClr val="52606D"/>
                </a:solidFill>
              </a:rPr>
              <a:t>relazioni</a:t>
            </a:r>
          </a:p>
        </p:txBody>
      </p:sp>
      <p:sp>
        <p:nvSpPr>
          <p:cNvPr id="20" name="">
            <a:extLst xmlns:a="http://schemas.openxmlformats.org/drawingml/2006/main">
              <a:ext uri="{FF2B5EF4-FFF2-40B4-BE49-F238E27FC236}">
                <a16:creationId xmlns:a16="http://schemas.microsoft.com/office/drawing/2014/main" id="{88BF7F20-8A0E-4F7D-AACF-640AC66B2555}"/>
              </a:ext>
            </a:extLst>
          </p:cNvPr>
          <p:cNvSpPr>
            <a:spLocks xmlns:a="http://schemas.openxmlformats.org/drawingml/2006/main" noGrp="1"/>
          </p:cNvSpPr>
          <p:nvPr/>
        </p:nvSpPr>
        <p:spPr>
          <a:xfrm xmlns:a="http://schemas.openxmlformats.org/drawingml/2006/main">
            <a:off x="9810750" y="314325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27A36A"/>
            </a:solidFill>
            <a:prstDash val="solid"/>
          </a:ln>
        </p:spPr>
      </p:sp>
      <p:sp>
        <p:nvSpPr>
          <p:cNvPr id="21" name="">
            <a:extLst xmlns:a="http://schemas.openxmlformats.org/drawingml/2006/main">
              <a:ext uri="{FF2B5EF4-FFF2-40B4-BE49-F238E27FC236}">
                <a16:creationId xmlns:a16="http://schemas.microsoft.com/office/drawing/2014/main" id="{5088E44E-08D9-4027-BEBA-AFA3E4C957B0}"/>
              </a:ext>
            </a:extLst>
          </p:cNvPr>
          <p:cNvSpPr>
            <a:spLocks xmlns:a="http://schemas.openxmlformats.org/drawingml/2006/main" noGrp="1"/>
          </p:cNvSpPr>
          <p:nvPr/>
        </p:nvSpPr>
        <p:spPr>
          <a:xfrm xmlns:a="http://schemas.openxmlformats.org/drawingml/2006/main">
            <a:off x="9982200" y="33528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ARCHIVE</a:t>
            </a:r>
          </a:p>
        </p:txBody>
      </p:sp>
      <p:sp>
        <p:nvSpPr>
          <p:cNvPr id="22" name="">
            <a:extLst xmlns:a="http://schemas.openxmlformats.org/drawingml/2006/main">
              <a:ext uri="{FF2B5EF4-FFF2-40B4-BE49-F238E27FC236}">
                <a16:creationId xmlns:a16="http://schemas.microsoft.com/office/drawing/2014/main" id="{73D2C800-764B-4A7F-9BB8-8A4D8A303AFB}"/>
              </a:ext>
            </a:extLst>
          </p:cNvPr>
          <p:cNvSpPr>
            <a:spLocks xmlns:a="http://schemas.openxmlformats.org/drawingml/2006/main" noGrp="1"/>
          </p:cNvSpPr>
          <p:nvPr/>
        </p:nvSpPr>
        <p:spPr>
          <a:xfrm xmlns:a="http://schemas.openxmlformats.org/drawingml/2006/main">
            <a:off x="9982200" y="3733800"/>
            <a:ext cx="1609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06D"/>
                </a:solidFill>
              </a:defRPr>
            </a:pPr>
            <a:r>
              <a:rPr sz="1200" b="0">
                <a:solidFill>
                  <a:srgbClr val="52606D"/>
                </a:solidFill>
              </a:rPr>
              <a:t>policy</a:t>
            </a:r>
          </a:p>
        </p:txBody>
      </p:sp>
      <p:sp>
        <p:nvSpPr>
          <p:cNvPr id="23" name="">
            <a:extLst xmlns:a="http://schemas.openxmlformats.org/drawingml/2006/main">
              <a:ext uri="{FF2B5EF4-FFF2-40B4-BE49-F238E27FC236}">
                <a16:creationId xmlns:a16="http://schemas.microsoft.com/office/drawing/2014/main" id="{389A1861-A22F-400D-A82C-5986AFB05AE4}"/>
              </a:ext>
            </a:extLst>
          </p:cNvPr>
          <p:cNvSpPr>
            <a:spLocks xmlns:a="http://schemas.openxmlformats.org/drawingml/2006/main" noGrp="1"/>
          </p:cNvSpPr>
          <p:nvPr/>
        </p:nvSpPr>
        <p:spPr>
          <a:xfrm xmlns:a="http://schemas.openxmlformats.org/drawingml/2006/main">
            <a:off x="2524125" y="5095875"/>
            <a:ext cx="714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Inventario delle copie • tombstone • audit • verifica finale</a:t>
            </a:r>
          </a:p>
        </p:txBody>
      </p:sp>
    </p:spTree>
    <p:extLst>
      <p:ext uri="{BB962C8B-B14F-4D97-AF65-F5344CB8AC3E}">
        <p14:creationId xmlns:p14="http://schemas.microsoft.com/office/powerpoint/2010/main" val="65249608"/>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2D8502B-C301-41A1-B17B-A11586DAB999}"/>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SLO TECNICI</a:t>
            </a:r>
          </a:p>
        </p:txBody>
      </p:sp>
      <p:sp>
        <p:nvSpPr>
          <p:cNvPr id="2" name="">
            <a:extLst xmlns:a="http://schemas.openxmlformats.org/drawingml/2006/main">
              <a:ext uri="{FF2B5EF4-FFF2-40B4-BE49-F238E27FC236}">
                <a16:creationId xmlns:a16="http://schemas.microsoft.com/office/drawing/2014/main" id="{47405774-030A-4647-8C50-7B48B5B6D958}"/>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Osservare la pipeline significa misurare il tempo e la perdita</a:t>
            </a:r>
          </a:p>
        </p:txBody>
      </p:sp>
      <p:sp>
        <p:nvSpPr>
          <p:cNvPr id="3" name="">
            <a:extLst xmlns:a="http://schemas.openxmlformats.org/drawingml/2006/main">
              <a:ext uri="{FF2B5EF4-FFF2-40B4-BE49-F238E27FC236}">
                <a16:creationId xmlns:a16="http://schemas.microsoft.com/office/drawing/2014/main" id="{2F83CDBA-1DCF-4CFB-ACAC-E20704392787}"/>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37</a:t>
            </a:r>
          </a:p>
        </p:txBody>
      </p:sp>
      <p:sp>
        <p:nvSpPr>
          <p:cNvPr id="4" name="">
            <a:extLst xmlns:a="http://schemas.openxmlformats.org/drawingml/2006/main">
              <a:ext uri="{FF2B5EF4-FFF2-40B4-BE49-F238E27FC236}">
                <a16:creationId xmlns:a16="http://schemas.microsoft.com/office/drawing/2014/main" id="{DD2EB2D9-519A-4207-ABA1-B6E9AEF3CAC6}"/>
              </a:ext>
            </a:extLst>
          </p:cNvPr>
          <p:cNvSpPr>
            <a:spLocks xmlns:a="http://schemas.openxmlformats.org/drawingml/2006/main" noGrp="1"/>
          </p:cNvSpPr>
          <p:nvPr/>
        </p:nvSpPr>
        <p:spPr>
          <a:xfrm xmlns:a="http://schemas.openxmlformats.org/drawingml/2006/main">
            <a:off x="685800" y="15716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ABAB3538-1C98-4668-A377-B5E54514DF6F}"/>
              </a:ext>
            </a:extLst>
          </p:cNvPr>
          <p:cNvSpPr>
            <a:spLocks xmlns:a="http://schemas.openxmlformats.org/drawingml/2006/main" noGrp="1"/>
          </p:cNvSpPr>
          <p:nvPr/>
        </p:nvSpPr>
        <p:spPr>
          <a:xfrm xmlns:a="http://schemas.openxmlformats.org/drawingml/2006/main">
            <a:off x="685800" y="1571625"/>
            <a:ext cx="5095875" cy="85725"/>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6" name="">
            <a:extLst xmlns:a="http://schemas.openxmlformats.org/drawingml/2006/main">
              <a:ext uri="{FF2B5EF4-FFF2-40B4-BE49-F238E27FC236}">
                <a16:creationId xmlns:a16="http://schemas.microsoft.com/office/drawing/2014/main" id="{1C7A99FE-725A-44E5-8B24-1C653AEE3379}"/>
              </a:ext>
            </a:extLst>
          </p:cNvPr>
          <p:cNvSpPr>
            <a:spLocks xmlns:a="http://schemas.openxmlformats.org/drawingml/2006/main" noGrp="1"/>
          </p:cNvSpPr>
          <p:nvPr/>
        </p:nvSpPr>
        <p:spPr>
          <a:xfrm xmlns:a="http://schemas.openxmlformats.org/drawingml/2006/main">
            <a:off x="895350" y="17811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OUTBOX AGE</a:t>
            </a:r>
          </a:p>
        </p:txBody>
      </p:sp>
      <p:sp>
        <p:nvSpPr>
          <p:cNvPr id="7" name="">
            <a:extLst xmlns:a="http://schemas.openxmlformats.org/drawingml/2006/main">
              <a:ext uri="{FF2B5EF4-FFF2-40B4-BE49-F238E27FC236}">
                <a16:creationId xmlns:a16="http://schemas.microsoft.com/office/drawing/2014/main" id="{D426F553-81D0-4E4B-B894-1DB5AD4DD897}"/>
              </a:ext>
            </a:extLst>
          </p:cNvPr>
          <p:cNvSpPr>
            <a:spLocks xmlns:a="http://schemas.openxmlformats.org/drawingml/2006/main" noGrp="1"/>
          </p:cNvSpPr>
          <p:nvPr/>
        </p:nvSpPr>
        <p:spPr>
          <a:xfrm xmlns:a="http://schemas.openxmlformats.org/drawingml/2006/main">
            <a:off x="895350" y="2295525"/>
            <a:ext cx="4676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evento più vecchio non pubblicato</a:t>
            </a:r>
          </a:p>
        </p:txBody>
      </p:sp>
      <p:sp>
        <p:nvSpPr>
          <p:cNvPr id="8" name="">
            <a:extLst xmlns:a="http://schemas.openxmlformats.org/drawingml/2006/main">
              <a:ext uri="{FF2B5EF4-FFF2-40B4-BE49-F238E27FC236}">
                <a16:creationId xmlns:a16="http://schemas.microsoft.com/office/drawing/2014/main" id="{A8C6E958-4B57-4973-B0F5-E388C1255B68}"/>
              </a:ext>
            </a:extLst>
          </p:cNvPr>
          <p:cNvSpPr>
            <a:spLocks xmlns:a="http://schemas.openxmlformats.org/drawingml/2006/main" noGrp="1"/>
          </p:cNvSpPr>
          <p:nvPr/>
        </p:nvSpPr>
        <p:spPr>
          <a:xfrm xmlns:a="http://schemas.openxmlformats.org/drawingml/2006/main">
            <a:off x="6115050" y="15716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A7D779CF-55EC-457E-80F6-908CABFB4116}"/>
              </a:ext>
            </a:extLst>
          </p:cNvPr>
          <p:cNvSpPr>
            <a:spLocks xmlns:a="http://schemas.openxmlformats.org/drawingml/2006/main" noGrp="1"/>
          </p:cNvSpPr>
          <p:nvPr/>
        </p:nvSpPr>
        <p:spPr>
          <a:xfrm xmlns:a="http://schemas.openxmlformats.org/drawingml/2006/main">
            <a:off x="6115050" y="1571625"/>
            <a:ext cx="5095875" cy="85725"/>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10" name="">
            <a:extLst xmlns:a="http://schemas.openxmlformats.org/drawingml/2006/main">
              <a:ext uri="{FF2B5EF4-FFF2-40B4-BE49-F238E27FC236}">
                <a16:creationId xmlns:a16="http://schemas.microsoft.com/office/drawing/2014/main" id="{3652F737-0DA1-44EE-8FE5-597951346E6B}"/>
              </a:ext>
            </a:extLst>
          </p:cNvPr>
          <p:cNvSpPr>
            <a:spLocks xmlns:a="http://schemas.openxmlformats.org/drawingml/2006/main" noGrp="1"/>
          </p:cNvSpPr>
          <p:nvPr/>
        </p:nvSpPr>
        <p:spPr>
          <a:xfrm xmlns:a="http://schemas.openxmlformats.org/drawingml/2006/main">
            <a:off x="6324600" y="17811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CONSUMER LAG</a:t>
            </a:r>
          </a:p>
        </p:txBody>
      </p:sp>
      <p:sp>
        <p:nvSpPr>
          <p:cNvPr id="11" name="">
            <a:extLst xmlns:a="http://schemas.openxmlformats.org/drawingml/2006/main">
              <a:ext uri="{FF2B5EF4-FFF2-40B4-BE49-F238E27FC236}">
                <a16:creationId xmlns:a16="http://schemas.microsoft.com/office/drawing/2014/main" id="{102D1579-FDDF-4796-B5B5-B8FD87F603D8}"/>
              </a:ext>
            </a:extLst>
          </p:cNvPr>
          <p:cNvSpPr>
            <a:spLocks xmlns:a="http://schemas.openxmlformats.org/drawingml/2006/main" noGrp="1"/>
          </p:cNvSpPr>
          <p:nvPr/>
        </p:nvSpPr>
        <p:spPr>
          <a:xfrm xmlns:a="http://schemas.openxmlformats.org/drawingml/2006/main">
            <a:off x="6324600" y="2295525"/>
            <a:ext cx="4676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distanza dalla testa del log</a:t>
            </a:r>
          </a:p>
        </p:txBody>
      </p:sp>
      <p:sp>
        <p:nvSpPr>
          <p:cNvPr id="12" name="">
            <a:extLst xmlns:a="http://schemas.openxmlformats.org/drawingml/2006/main">
              <a:ext uri="{FF2B5EF4-FFF2-40B4-BE49-F238E27FC236}">
                <a16:creationId xmlns:a16="http://schemas.microsoft.com/office/drawing/2014/main" id="{B32A9144-979A-4D68-925E-C0C66257973F}"/>
              </a:ext>
            </a:extLst>
          </p:cNvPr>
          <p:cNvSpPr>
            <a:spLocks xmlns:a="http://schemas.openxmlformats.org/drawingml/2006/main" noGrp="1"/>
          </p:cNvSpPr>
          <p:nvPr/>
        </p:nvSpPr>
        <p:spPr>
          <a:xfrm xmlns:a="http://schemas.openxmlformats.org/drawingml/2006/main">
            <a:off x="685800" y="29051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D0ECACB1-B227-4281-8E59-362563E63864}"/>
              </a:ext>
            </a:extLst>
          </p:cNvPr>
          <p:cNvSpPr>
            <a:spLocks xmlns:a="http://schemas.openxmlformats.org/drawingml/2006/main" noGrp="1"/>
          </p:cNvSpPr>
          <p:nvPr/>
        </p:nvSpPr>
        <p:spPr>
          <a:xfrm xmlns:a="http://schemas.openxmlformats.org/drawingml/2006/main">
            <a:off x="685800" y="2905125"/>
            <a:ext cx="5095875" cy="85725"/>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14" name="">
            <a:extLst xmlns:a="http://schemas.openxmlformats.org/drawingml/2006/main">
              <a:ext uri="{FF2B5EF4-FFF2-40B4-BE49-F238E27FC236}">
                <a16:creationId xmlns:a16="http://schemas.microsoft.com/office/drawing/2014/main" id="{9F6ABCBF-F4CA-4E05-80E5-793B68F5D67B}"/>
              </a:ext>
            </a:extLst>
          </p:cNvPr>
          <p:cNvSpPr>
            <a:spLocks xmlns:a="http://schemas.openxmlformats.org/drawingml/2006/main" noGrp="1"/>
          </p:cNvSpPr>
          <p:nvPr/>
        </p:nvSpPr>
        <p:spPr>
          <a:xfrm xmlns:a="http://schemas.openxmlformats.org/drawingml/2006/main">
            <a:off x="895350" y="3114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FAIL RATE</a:t>
            </a:r>
          </a:p>
        </p:txBody>
      </p:sp>
      <p:sp>
        <p:nvSpPr>
          <p:cNvPr id="15" name="">
            <a:extLst xmlns:a="http://schemas.openxmlformats.org/drawingml/2006/main">
              <a:ext uri="{FF2B5EF4-FFF2-40B4-BE49-F238E27FC236}">
                <a16:creationId xmlns:a16="http://schemas.microsoft.com/office/drawing/2014/main" id="{1226102E-1435-48A3-83CD-C980BE97C696}"/>
              </a:ext>
            </a:extLst>
          </p:cNvPr>
          <p:cNvSpPr>
            <a:spLocks xmlns:a="http://schemas.openxmlformats.org/drawingml/2006/main" noGrp="1"/>
          </p:cNvSpPr>
          <p:nvPr/>
        </p:nvSpPr>
        <p:spPr>
          <a:xfrm xmlns:a="http://schemas.openxmlformats.org/drawingml/2006/main">
            <a:off x="895350" y="3629025"/>
            <a:ext cx="4676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eventi non applicati</a:t>
            </a:r>
          </a:p>
        </p:txBody>
      </p:sp>
      <p:sp>
        <p:nvSpPr>
          <p:cNvPr id="16" name="">
            <a:extLst xmlns:a="http://schemas.openxmlformats.org/drawingml/2006/main">
              <a:ext uri="{FF2B5EF4-FFF2-40B4-BE49-F238E27FC236}">
                <a16:creationId xmlns:a16="http://schemas.microsoft.com/office/drawing/2014/main" id="{892CAD8B-2FD3-4B32-801E-1BD4462BD1FF}"/>
              </a:ext>
            </a:extLst>
          </p:cNvPr>
          <p:cNvSpPr>
            <a:spLocks xmlns:a="http://schemas.openxmlformats.org/drawingml/2006/main" noGrp="1"/>
          </p:cNvSpPr>
          <p:nvPr/>
        </p:nvSpPr>
        <p:spPr>
          <a:xfrm xmlns:a="http://schemas.openxmlformats.org/drawingml/2006/main">
            <a:off x="6115050" y="29051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21A5FC97-375E-4A27-9447-378359011877}"/>
              </a:ext>
            </a:extLst>
          </p:cNvPr>
          <p:cNvSpPr>
            <a:spLocks xmlns:a="http://schemas.openxmlformats.org/drawingml/2006/main" noGrp="1"/>
          </p:cNvSpPr>
          <p:nvPr/>
        </p:nvSpPr>
        <p:spPr>
          <a:xfrm xmlns:a="http://schemas.openxmlformats.org/drawingml/2006/main">
            <a:off x="6115050" y="2905125"/>
            <a:ext cx="5095875" cy="85725"/>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8" name="">
            <a:extLst xmlns:a="http://schemas.openxmlformats.org/drawingml/2006/main">
              <a:ext uri="{FF2B5EF4-FFF2-40B4-BE49-F238E27FC236}">
                <a16:creationId xmlns:a16="http://schemas.microsoft.com/office/drawing/2014/main" id="{1F509F90-2ACF-4632-B8AB-8F8E7A0B9B87}"/>
              </a:ext>
            </a:extLst>
          </p:cNvPr>
          <p:cNvSpPr>
            <a:spLocks xmlns:a="http://schemas.openxmlformats.org/drawingml/2006/main" noGrp="1"/>
          </p:cNvSpPr>
          <p:nvPr/>
        </p:nvSpPr>
        <p:spPr>
          <a:xfrm xmlns:a="http://schemas.openxmlformats.org/drawingml/2006/main">
            <a:off x="6324600" y="31146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DUPLICATES</a:t>
            </a:r>
          </a:p>
        </p:txBody>
      </p:sp>
      <p:sp>
        <p:nvSpPr>
          <p:cNvPr id="19" name="">
            <a:extLst xmlns:a="http://schemas.openxmlformats.org/drawingml/2006/main">
              <a:ext uri="{FF2B5EF4-FFF2-40B4-BE49-F238E27FC236}">
                <a16:creationId xmlns:a16="http://schemas.microsoft.com/office/drawing/2014/main" id="{92EA6863-51BB-469F-A404-55F1EA3AFED4}"/>
              </a:ext>
            </a:extLst>
          </p:cNvPr>
          <p:cNvSpPr>
            <a:spLocks xmlns:a="http://schemas.openxmlformats.org/drawingml/2006/main" noGrp="1"/>
          </p:cNvSpPr>
          <p:nvPr/>
        </p:nvSpPr>
        <p:spPr>
          <a:xfrm xmlns:a="http://schemas.openxmlformats.org/drawingml/2006/main">
            <a:off x="6324600" y="3629025"/>
            <a:ext cx="4676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ridelivery deduplicate</a:t>
            </a:r>
          </a:p>
        </p:txBody>
      </p:sp>
      <p:sp>
        <p:nvSpPr>
          <p:cNvPr id="20" name="">
            <a:extLst xmlns:a="http://schemas.openxmlformats.org/drawingml/2006/main">
              <a:ext uri="{FF2B5EF4-FFF2-40B4-BE49-F238E27FC236}">
                <a16:creationId xmlns:a16="http://schemas.microsoft.com/office/drawing/2014/main" id="{737EF386-5101-4D69-AF94-CEE84A4319E5}"/>
              </a:ext>
            </a:extLst>
          </p:cNvPr>
          <p:cNvSpPr>
            <a:spLocks xmlns:a="http://schemas.openxmlformats.org/drawingml/2006/main" noGrp="1"/>
          </p:cNvSpPr>
          <p:nvPr/>
        </p:nvSpPr>
        <p:spPr>
          <a:xfrm xmlns:a="http://schemas.openxmlformats.org/drawingml/2006/main">
            <a:off x="685800" y="42386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E884A9E9-4FD4-446D-A41A-EE881E09E652}"/>
              </a:ext>
            </a:extLst>
          </p:cNvPr>
          <p:cNvSpPr>
            <a:spLocks xmlns:a="http://schemas.openxmlformats.org/drawingml/2006/main" noGrp="1"/>
          </p:cNvSpPr>
          <p:nvPr/>
        </p:nvSpPr>
        <p:spPr>
          <a:xfrm xmlns:a="http://schemas.openxmlformats.org/drawingml/2006/main">
            <a:off x="685800" y="4238625"/>
            <a:ext cx="5095875" cy="85725"/>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22" name="">
            <a:extLst xmlns:a="http://schemas.openxmlformats.org/drawingml/2006/main">
              <a:ext uri="{FF2B5EF4-FFF2-40B4-BE49-F238E27FC236}">
                <a16:creationId xmlns:a16="http://schemas.microsoft.com/office/drawing/2014/main" id="{919134FE-C740-4C36-98E2-CB5EF79F535F}"/>
              </a:ext>
            </a:extLst>
          </p:cNvPr>
          <p:cNvSpPr>
            <a:spLocks xmlns:a="http://schemas.openxmlformats.org/drawingml/2006/main" noGrp="1"/>
          </p:cNvSpPr>
          <p:nvPr/>
        </p:nvSpPr>
        <p:spPr>
          <a:xfrm xmlns:a="http://schemas.openxmlformats.org/drawingml/2006/main">
            <a:off x="895350" y="44481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DLQ DEPTH</a:t>
            </a:r>
          </a:p>
        </p:txBody>
      </p:sp>
      <p:sp>
        <p:nvSpPr>
          <p:cNvPr id="23" name="">
            <a:extLst xmlns:a="http://schemas.openxmlformats.org/drawingml/2006/main">
              <a:ext uri="{FF2B5EF4-FFF2-40B4-BE49-F238E27FC236}">
                <a16:creationId xmlns:a16="http://schemas.microsoft.com/office/drawing/2014/main" id="{4298A1FC-668E-4568-BED6-5B40470578E8}"/>
              </a:ext>
            </a:extLst>
          </p:cNvPr>
          <p:cNvSpPr>
            <a:spLocks xmlns:a="http://schemas.openxmlformats.org/drawingml/2006/main" noGrp="1"/>
          </p:cNvSpPr>
          <p:nvPr/>
        </p:nvSpPr>
        <p:spPr>
          <a:xfrm xmlns:a="http://schemas.openxmlformats.org/drawingml/2006/main">
            <a:off x="895350" y="4962525"/>
            <a:ext cx="4676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poison event in attesa</a:t>
            </a:r>
          </a:p>
        </p:txBody>
      </p:sp>
      <p:sp>
        <p:nvSpPr>
          <p:cNvPr id="24" name="">
            <a:extLst xmlns:a="http://schemas.openxmlformats.org/drawingml/2006/main">
              <a:ext uri="{FF2B5EF4-FFF2-40B4-BE49-F238E27FC236}">
                <a16:creationId xmlns:a16="http://schemas.microsoft.com/office/drawing/2014/main" id="{7B897881-7685-4125-92C5-EE7496607526}"/>
              </a:ext>
            </a:extLst>
          </p:cNvPr>
          <p:cNvSpPr>
            <a:spLocks xmlns:a="http://schemas.openxmlformats.org/drawingml/2006/main" noGrp="1"/>
          </p:cNvSpPr>
          <p:nvPr/>
        </p:nvSpPr>
        <p:spPr>
          <a:xfrm xmlns:a="http://schemas.openxmlformats.org/drawingml/2006/main">
            <a:off x="6115050" y="42386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9661C72A-B9A9-4DB4-BADE-773E8EC43482}"/>
              </a:ext>
            </a:extLst>
          </p:cNvPr>
          <p:cNvSpPr>
            <a:spLocks xmlns:a="http://schemas.openxmlformats.org/drawingml/2006/main" noGrp="1"/>
          </p:cNvSpPr>
          <p:nvPr/>
        </p:nvSpPr>
        <p:spPr>
          <a:xfrm xmlns:a="http://schemas.openxmlformats.org/drawingml/2006/main">
            <a:off x="6115050" y="4238625"/>
            <a:ext cx="5095875" cy="85725"/>
          </a:xfrm>
          <a:prstGeom xmlns:a="http://schemas.openxmlformats.org/drawingml/2006/main" prst="rect">
            <a:avLst/>
          </a:prstGeom>
          <a:solidFill xmlns:a="http://schemas.openxmlformats.org/drawingml/2006/main">
            <a:srgbClr val="27A36A"/>
          </a:solidFill>
          <a:ln xmlns:a="http://schemas.openxmlformats.org/drawingml/2006/main" w="9525">
            <a:solidFill>
              <a:srgbClr val="27A36A"/>
            </a:solidFill>
            <a:prstDash val="solid"/>
          </a:ln>
        </p:spPr>
      </p:sp>
      <p:sp>
        <p:nvSpPr>
          <p:cNvPr id="26" name="">
            <a:extLst xmlns:a="http://schemas.openxmlformats.org/drawingml/2006/main">
              <a:ext uri="{FF2B5EF4-FFF2-40B4-BE49-F238E27FC236}">
                <a16:creationId xmlns:a16="http://schemas.microsoft.com/office/drawing/2014/main" id="{30DC281D-B8D2-468C-B527-DEC95BC8994A}"/>
              </a:ext>
            </a:extLst>
          </p:cNvPr>
          <p:cNvSpPr>
            <a:spLocks xmlns:a="http://schemas.openxmlformats.org/drawingml/2006/main" noGrp="1"/>
          </p:cNvSpPr>
          <p:nvPr/>
        </p:nvSpPr>
        <p:spPr>
          <a:xfrm xmlns:a="http://schemas.openxmlformats.org/drawingml/2006/main">
            <a:off x="6324600" y="4448175"/>
            <a:ext cx="4676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REBUILD TIME</a:t>
            </a:r>
          </a:p>
        </p:txBody>
      </p:sp>
      <p:sp>
        <p:nvSpPr>
          <p:cNvPr id="27" name="">
            <a:extLst xmlns:a="http://schemas.openxmlformats.org/drawingml/2006/main">
              <a:ext uri="{FF2B5EF4-FFF2-40B4-BE49-F238E27FC236}">
                <a16:creationId xmlns:a16="http://schemas.microsoft.com/office/drawing/2014/main" id="{89535804-70E0-4EF3-AAF5-0BDBE6C75ED6}"/>
              </a:ext>
            </a:extLst>
          </p:cNvPr>
          <p:cNvSpPr>
            <a:spLocks xmlns:a="http://schemas.openxmlformats.org/drawingml/2006/main" noGrp="1"/>
          </p:cNvSpPr>
          <p:nvPr/>
        </p:nvSpPr>
        <p:spPr>
          <a:xfrm xmlns:a="http://schemas.openxmlformats.org/drawingml/2006/main">
            <a:off x="6324600" y="4962525"/>
            <a:ext cx="4676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tempo per rifare una vista</a:t>
            </a:r>
          </a:p>
        </p:txBody>
      </p:sp>
      <p:sp>
        <p:nvSpPr>
          <p:cNvPr id="28" name="">
            <a:extLst xmlns:a="http://schemas.openxmlformats.org/drawingml/2006/main">
              <a:ext uri="{FF2B5EF4-FFF2-40B4-BE49-F238E27FC236}">
                <a16:creationId xmlns:a16="http://schemas.microsoft.com/office/drawing/2014/main" id="{67D7A0ED-A6C6-443C-8917-5E08B458C805}"/>
              </a:ext>
            </a:extLst>
          </p:cNvPr>
          <p:cNvSpPr>
            <a:spLocks xmlns:a="http://schemas.openxmlformats.org/drawingml/2006/main" noGrp="1"/>
          </p:cNvSpPr>
          <p:nvPr/>
        </p:nvSpPr>
        <p:spPr>
          <a:xfrm xmlns:a="http://schemas.openxmlformats.org/drawingml/2006/main">
            <a:off x="2857500" y="557212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Un diagramma senza metriche non descrive l’affidabilità.</a:t>
            </a:r>
          </a:p>
        </p:txBody>
      </p:sp>
    </p:spTree>
    <p:extLst>
      <p:ext uri="{BB962C8B-B14F-4D97-AF65-F5344CB8AC3E}">
        <p14:creationId xmlns:p14="http://schemas.microsoft.com/office/powerpoint/2010/main" val="1508510145"/>
      </p:ext>
    </p:extLst>
  </p:cSld>
</p:sld>
</file>

<file path=ppt/slides/slide3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27F27E4-C6AF-4E2E-A91D-67A3B74B3C92}"/>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COSTO TOTALE</a:t>
            </a:r>
          </a:p>
        </p:txBody>
      </p:sp>
      <p:sp>
        <p:nvSpPr>
          <p:cNvPr id="2" name="">
            <a:extLst xmlns:a="http://schemas.openxmlformats.org/drawingml/2006/main">
              <a:ext uri="{FF2B5EF4-FFF2-40B4-BE49-F238E27FC236}">
                <a16:creationId xmlns:a16="http://schemas.microsoft.com/office/drawing/2014/main" id="{AC65F75A-6F54-4F06-9C2D-AECEB9F033BA}"/>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La complessità operativa cresce più velocemente dei loghi</a:t>
            </a:r>
          </a:p>
        </p:txBody>
      </p:sp>
      <p:sp>
        <p:nvSpPr>
          <p:cNvPr id="3" name="">
            <a:extLst xmlns:a="http://schemas.openxmlformats.org/drawingml/2006/main">
              <a:ext uri="{FF2B5EF4-FFF2-40B4-BE49-F238E27FC236}">
                <a16:creationId xmlns:a16="http://schemas.microsoft.com/office/drawing/2014/main" id="{70B2926A-FB89-4B71-B6EA-2089999D70A5}"/>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38</a:t>
            </a:r>
          </a:p>
        </p:txBody>
      </p:sp>
      <p:sp>
        <p:nvSpPr>
          <p:cNvPr id="4" name="">
            <a:extLst xmlns:a="http://schemas.openxmlformats.org/drawingml/2006/main">
              <a:ext uri="{FF2B5EF4-FFF2-40B4-BE49-F238E27FC236}">
                <a16:creationId xmlns:a16="http://schemas.microsoft.com/office/drawing/2014/main" id="{92AEEEF8-95B6-40D1-A52E-1E87F2BD6CB4}"/>
              </a:ext>
            </a:extLst>
          </p:cNvPr>
          <p:cNvSpPr>
            <a:spLocks xmlns:a="http://schemas.openxmlformats.org/drawingml/2006/main" noGrp="1"/>
          </p:cNvSpPr>
          <p:nvPr/>
        </p:nvSpPr>
        <p:spPr>
          <a:xfrm xmlns:a="http://schemas.openxmlformats.org/drawingml/2006/main">
            <a:off x="685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41B738EF-AE95-4853-8C2E-B3A9DAD1A22F}"/>
              </a:ext>
            </a:extLst>
          </p:cNvPr>
          <p:cNvSpPr>
            <a:spLocks xmlns:a="http://schemas.openxmlformats.org/drawingml/2006/main" noGrp="1"/>
          </p:cNvSpPr>
          <p:nvPr/>
        </p:nvSpPr>
        <p:spPr>
          <a:xfrm xmlns:a="http://schemas.openxmlformats.org/drawingml/2006/main">
            <a:off x="685800" y="16668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240207B-5A73-43D0-AFBA-2085C4CC692D}"/>
              </a:ext>
            </a:extLst>
          </p:cNvPr>
          <p:cNvSpPr>
            <a:spLocks xmlns:a="http://schemas.openxmlformats.org/drawingml/2006/main" noGrp="1"/>
          </p:cNvSpPr>
          <p:nvPr/>
        </p:nvSpPr>
        <p:spPr>
          <a:xfrm xmlns:a="http://schemas.openxmlformats.org/drawingml/2006/main">
            <a:off x="895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MOTORI</a:t>
            </a:r>
          </a:p>
        </p:txBody>
      </p:sp>
      <p:sp>
        <p:nvSpPr>
          <p:cNvPr id="7" name="">
            <a:extLst xmlns:a="http://schemas.openxmlformats.org/drawingml/2006/main">
              <a:ext uri="{FF2B5EF4-FFF2-40B4-BE49-F238E27FC236}">
                <a16:creationId xmlns:a16="http://schemas.microsoft.com/office/drawing/2014/main" id="{2E530793-9188-4F84-AED1-D2393AB9F425}"/>
              </a:ext>
            </a:extLst>
          </p:cNvPr>
          <p:cNvSpPr>
            <a:spLocks xmlns:a="http://schemas.openxmlformats.org/drawingml/2006/main" noGrp="1"/>
          </p:cNvSpPr>
          <p:nvPr/>
        </p:nvSpPr>
        <p:spPr>
          <a:xfrm xmlns:a="http://schemas.openxmlformats.org/drawingml/2006/main">
            <a:off x="895350" y="23907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patch • upgrade • backup</a:t>
            </a:r>
          </a:p>
        </p:txBody>
      </p:sp>
      <p:sp>
        <p:nvSpPr>
          <p:cNvPr id="8" name="">
            <a:extLst xmlns:a="http://schemas.openxmlformats.org/drawingml/2006/main">
              <a:ext uri="{FF2B5EF4-FFF2-40B4-BE49-F238E27FC236}">
                <a16:creationId xmlns:a16="http://schemas.microsoft.com/office/drawing/2014/main" id="{9729B1E4-D91E-47DF-B461-C739FF99E344}"/>
              </a:ext>
            </a:extLst>
          </p:cNvPr>
          <p:cNvSpPr>
            <a:spLocks xmlns:a="http://schemas.openxmlformats.org/drawingml/2006/main" noGrp="1"/>
          </p:cNvSpPr>
          <p:nvPr/>
        </p:nvSpPr>
        <p:spPr>
          <a:xfrm xmlns:a="http://schemas.openxmlformats.org/drawingml/2006/main">
            <a:off x="43053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4891DE6C-B64A-492B-8721-51D5C9FEED22}"/>
              </a:ext>
            </a:extLst>
          </p:cNvPr>
          <p:cNvSpPr>
            <a:spLocks xmlns:a="http://schemas.openxmlformats.org/drawingml/2006/main" noGrp="1"/>
          </p:cNvSpPr>
          <p:nvPr/>
        </p:nvSpPr>
        <p:spPr>
          <a:xfrm xmlns:a="http://schemas.openxmlformats.org/drawingml/2006/main">
            <a:off x="4305300" y="16668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4D69ABA-6E24-4198-8451-CC61B8A161EC}"/>
              </a:ext>
            </a:extLst>
          </p:cNvPr>
          <p:cNvSpPr>
            <a:spLocks xmlns:a="http://schemas.openxmlformats.org/drawingml/2006/main" noGrp="1"/>
          </p:cNvSpPr>
          <p:nvPr/>
        </p:nvSpPr>
        <p:spPr>
          <a:xfrm xmlns:a="http://schemas.openxmlformats.org/drawingml/2006/main">
            <a:off x="45148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SKILL</a:t>
            </a:r>
          </a:p>
        </p:txBody>
      </p:sp>
      <p:sp>
        <p:nvSpPr>
          <p:cNvPr id="11" name="">
            <a:extLst xmlns:a="http://schemas.openxmlformats.org/drawingml/2006/main">
              <a:ext uri="{FF2B5EF4-FFF2-40B4-BE49-F238E27FC236}">
                <a16:creationId xmlns:a16="http://schemas.microsoft.com/office/drawing/2014/main" id="{944BB113-7DCD-42CD-B22E-C2A300B314F8}"/>
              </a:ext>
            </a:extLst>
          </p:cNvPr>
          <p:cNvSpPr>
            <a:spLocks xmlns:a="http://schemas.openxmlformats.org/drawingml/2006/main" noGrp="1"/>
          </p:cNvSpPr>
          <p:nvPr/>
        </p:nvSpPr>
        <p:spPr>
          <a:xfrm xmlns:a="http://schemas.openxmlformats.org/drawingml/2006/main">
            <a:off x="4514850" y="23907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formazione • reperibilità</a:t>
            </a:r>
          </a:p>
        </p:txBody>
      </p:sp>
      <p:sp>
        <p:nvSpPr>
          <p:cNvPr id="12" name="">
            <a:extLst xmlns:a="http://schemas.openxmlformats.org/drawingml/2006/main">
              <a:ext uri="{FF2B5EF4-FFF2-40B4-BE49-F238E27FC236}">
                <a16:creationId xmlns:a16="http://schemas.microsoft.com/office/drawing/2014/main" id="{CCB1953E-A91B-4587-BD5F-AD2EA7E95E16}"/>
              </a:ext>
            </a:extLst>
          </p:cNvPr>
          <p:cNvSpPr>
            <a:spLocks xmlns:a="http://schemas.openxmlformats.org/drawingml/2006/main" noGrp="1"/>
          </p:cNvSpPr>
          <p:nvPr/>
        </p:nvSpPr>
        <p:spPr>
          <a:xfrm xmlns:a="http://schemas.openxmlformats.org/drawingml/2006/main">
            <a:off x="7924800" y="16668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B624957F-B694-4E9B-B085-A90BEA53C8EE}"/>
              </a:ext>
            </a:extLst>
          </p:cNvPr>
          <p:cNvSpPr>
            <a:spLocks xmlns:a="http://schemas.openxmlformats.org/drawingml/2006/main" noGrp="1"/>
          </p:cNvSpPr>
          <p:nvPr/>
        </p:nvSpPr>
        <p:spPr>
          <a:xfrm xmlns:a="http://schemas.openxmlformats.org/drawingml/2006/main">
            <a:off x="7924800" y="16668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C59D49-49FF-4156-B12F-85CA81BFF660}"/>
              </a:ext>
            </a:extLst>
          </p:cNvPr>
          <p:cNvSpPr>
            <a:spLocks xmlns:a="http://schemas.openxmlformats.org/drawingml/2006/main" noGrp="1"/>
          </p:cNvSpPr>
          <p:nvPr/>
        </p:nvSpPr>
        <p:spPr>
          <a:xfrm xmlns:a="http://schemas.openxmlformats.org/drawingml/2006/main">
            <a:off x="8134350" y="18764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PIPELINE</a:t>
            </a:r>
          </a:p>
        </p:txBody>
      </p:sp>
      <p:sp>
        <p:nvSpPr>
          <p:cNvPr id="15" name="">
            <a:extLst xmlns:a="http://schemas.openxmlformats.org/drawingml/2006/main">
              <a:ext uri="{FF2B5EF4-FFF2-40B4-BE49-F238E27FC236}">
                <a16:creationId xmlns:a16="http://schemas.microsoft.com/office/drawing/2014/main" id="{F53A4F6B-60CE-4690-A256-C5083F5805BF}"/>
              </a:ext>
            </a:extLst>
          </p:cNvPr>
          <p:cNvSpPr>
            <a:spLocks xmlns:a="http://schemas.openxmlformats.org/drawingml/2006/main" noGrp="1"/>
          </p:cNvSpPr>
          <p:nvPr/>
        </p:nvSpPr>
        <p:spPr>
          <a:xfrm xmlns:a="http://schemas.openxmlformats.org/drawingml/2006/main">
            <a:off x="8134350" y="23907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broker • connector • schema</a:t>
            </a:r>
          </a:p>
        </p:txBody>
      </p:sp>
      <p:sp>
        <p:nvSpPr>
          <p:cNvPr id="16" name="">
            <a:extLst xmlns:a="http://schemas.openxmlformats.org/drawingml/2006/main">
              <a:ext uri="{FF2B5EF4-FFF2-40B4-BE49-F238E27FC236}">
                <a16:creationId xmlns:a16="http://schemas.microsoft.com/office/drawing/2014/main" id="{E3D327C0-8CF8-42BA-952E-13AF6B3D22C1}"/>
              </a:ext>
            </a:extLst>
          </p:cNvPr>
          <p:cNvSpPr>
            <a:spLocks xmlns:a="http://schemas.openxmlformats.org/drawingml/2006/main" noGrp="1"/>
          </p:cNvSpPr>
          <p:nvPr/>
        </p:nvSpPr>
        <p:spPr>
          <a:xfrm xmlns:a="http://schemas.openxmlformats.org/drawingml/2006/main">
            <a:off x="685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C196B328-4739-4E0D-BDFB-108867F81505}"/>
              </a:ext>
            </a:extLst>
          </p:cNvPr>
          <p:cNvSpPr>
            <a:spLocks xmlns:a="http://schemas.openxmlformats.org/drawingml/2006/main" noGrp="1"/>
          </p:cNvSpPr>
          <p:nvPr/>
        </p:nvSpPr>
        <p:spPr>
          <a:xfrm xmlns:a="http://schemas.openxmlformats.org/drawingml/2006/main">
            <a:off x="685800" y="33813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EBC0EA6-5686-4817-897C-15C0CAA66DEC}"/>
              </a:ext>
            </a:extLst>
          </p:cNvPr>
          <p:cNvSpPr>
            <a:spLocks xmlns:a="http://schemas.openxmlformats.org/drawingml/2006/main" noGrp="1"/>
          </p:cNvSpPr>
          <p:nvPr/>
        </p:nvSpPr>
        <p:spPr>
          <a:xfrm xmlns:a="http://schemas.openxmlformats.org/drawingml/2006/main">
            <a:off x="895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INCIDENT</a:t>
            </a:r>
          </a:p>
        </p:txBody>
      </p:sp>
      <p:sp>
        <p:nvSpPr>
          <p:cNvPr id="19" name="">
            <a:extLst xmlns:a="http://schemas.openxmlformats.org/drawingml/2006/main">
              <a:ext uri="{FF2B5EF4-FFF2-40B4-BE49-F238E27FC236}">
                <a16:creationId xmlns:a16="http://schemas.microsoft.com/office/drawing/2014/main" id="{6BFDCBA4-7224-4BEF-A0D0-640D9B4CBB9B}"/>
              </a:ext>
            </a:extLst>
          </p:cNvPr>
          <p:cNvSpPr>
            <a:spLocks xmlns:a="http://schemas.openxmlformats.org/drawingml/2006/main" noGrp="1"/>
          </p:cNvSpPr>
          <p:nvPr/>
        </p:nvSpPr>
        <p:spPr>
          <a:xfrm xmlns:a="http://schemas.openxmlformats.org/drawingml/2006/main">
            <a:off x="895350" y="41052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più failure mode</a:t>
            </a:r>
          </a:p>
        </p:txBody>
      </p:sp>
      <p:sp>
        <p:nvSpPr>
          <p:cNvPr id="20" name="">
            <a:extLst xmlns:a="http://schemas.openxmlformats.org/drawingml/2006/main">
              <a:ext uri="{FF2B5EF4-FFF2-40B4-BE49-F238E27FC236}">
                <a16:creationId xmlns:a16="http://schemas.microsoft.com/office/drawing/2014/main" id="{CD697EBD-97F8-48F5-8831-5E33A80EA368}"/>
              </a:ext>
            </a:extLst>
          </p:cNvPr>
          <p:cNvSpPr>
            <a:spLocks xmlns:a="http://schemas.openxmlformats.org/drawingml/2006/main" noGrp="1"/>
          </p:cNvSpPr>
          <p:nvPr/>
        </p:nvSpPr>
        <p:spPr>
          <a:xfrm xmlns:a="http://schemas.openxmlformats.org/drawingml/2006/main">
            <a:off x="43053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9D7E99C4-C796-4483-9558-012788909C16}"/>
              </a:ext>
            </a:extLst>
          </p:cNvPr>
          <p:cNvSpPr>
            <a:spLocks xmlns:a="http://schemas.openxmlformats.org/drawingml/2006/main" noGrp="1"/>
          </p:cNvSpPr>
          <p:nvPr/>
        </p:nvSpPr>
        <p:spPr>
          <a:xfrm xmlns:a="http://schemas.openxmlformats.org/drawingml/2006/main">
            <a:off x="4305300" y="33813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5006EA8-88ED-491A-89F8-9FBD9428F54B}"/>
              </a:ext>
            </a:extLst>
          </p:cNvPr>
          <p:cNvSpPr>
            <a:spLocks xmlns:a="http://schemas.openxmlformats.org/drawingml/2006/main" noGrp="1"/>
          </p:cNvSpPr>
          <p:nvPr/>
        </p:nvSpPr>
        <p:spPr>
          <a:xfrm xmlns:a="http://schemas.openxmlformats.org/drawingml/2006/main">
            <a:off x="45148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COSTO</a:t>
            </a:r>
          </a:p>
        </p:txBody>
      </p:sp>
      <p:sp>
        <p:nvSpPr>
          <p:cNvPr id="23" name="">
            <a:extLst xmlns:a="http://schemas.openxmlformats.org/drawingml/2006/main">
              <a:ext uri="{FF2B5EF4-FFF2-40B4-BE49-F238E27FC236}">
                <a16:creationId xmlns:a16="http://schemas.microsoft.com/office/drawing/2014/main" id="{36E1D099-0561-4EFA-B8A6-96E415E96E1A}"/>
              </a:ext>
            </a:extLst>
          </p:cNvPr>
          <p:cNvSpPr>
            <a:spLocks xmlns:a="http://schemas.openxmlformats.org/drawingml/2006/main" noGrp="1"/>
          </p:cNvSpPr>
          <p:nvPr/>
        </p:nvSpPr>
        <p:spPr>
          <a:xfrm xmlns:a="http://schemas.openxmlformats.org/drawingml/2006/main">
            <a:off x="4514850" y="41052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licenze • cloud • traffico</a:t>
            </a:r>
          </a:p>
        </p:txBody>
      </p:sp>
      <p:sp>
        <p:nvSpPr>
          <p:cNvPr id="24" name="">
            <a:extLst xmlns:a="http://schemas.openxmlformats.org/drawingml/2006/main">
              <a:ext uri="{FF2B5EF4-FFF2-40B4-BE49-F238E27FC236}">
                <a16:creationId xmlns:a16="http://schemas.microsoft.com/office/drawing/2014/main" id="{912B5DF7-020B-4E06-8DFF-979DF2BEC6E4}"/>
              </a:ext>
            </a:extLst>
          </p:cNvPr>
          <p:cNvSpPr>
            <a:spLocks xmlns:a="http://schemas.openxmlformats.org/drawingml/2006/main" noGrp="1"/>
          </p:cNvSpPr>
          <p:nvPr/>
        </p:nvSpPr>
        <p:spPr>
          <a:xfrm xmlns:a="http://schemas.openxmlformats.org/drawingml/2006/main">
            <a:off x="7924800" y="3381375"/>
            <a:ext cx="3238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7D2C16E7-8BBE-46A0-B74C-7F068CB0D69C}"/>
              </a:ext>
            </a:extLst>
          </p:cNvPr>
          <p:cNvSpPr>
            <a:spLocks xmlns:a="http://schemas.openxmlformats.org/drawingml/2006/main" noGrp="1"/>
          </p:cNvSpPr>
          <p:nvPr/>
        </p:nvSpPr>
        <p:spPr>
          <a:xfrm xmlns:a="http://schemas.openxmlformats.org/drawingml/2006/main">
            <a:off x="7924800" y="3381375"/>
            <a:ext cx="3238500" cy="857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5D50F83-12A0-4141-9EBD-237A80BE5418}"/>
              </a:ext>
            </a:extLst>
          </p:cNvPr>
          <p:cNvSpPr>
            <a:spLocks xmlns:a="http://schemas.openxmlformats.org/drawingml/2006/main" noGrp="1"/>
          </p:cNvSpPr>
          <p:nvPr/>
        </p:nvSpPr>
        <p:spPr>
          <a:xfrm xmlns:a="http://schemas.openxmlformats.org/drawingml/2006/main">
            <a:off x="8134350" y="35909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GOVERNANCE</a:t>
            </a:r>
          </a:p>
        </p:txBody>
      </p:sp>
      <p:sp>
        <p:nvSpPr>
          <p:cNvPr id="27" name="">
            <a:extLst xmlns:a="http://schemas.openxmlformats.org/drawingml/2006/main">
              <a:ext uri="{FF2B5EF4-FFF2-40B4-BE49-F238E27FC236}">
                <a16:creationId xmlns:a16="http://schemas.microsoft.com/office/drawing/2014/main" id="{7E3EB47D-42C4-4325-A967-689AE0EF4B25}"/>
              </a:ext>
            </a:extLst>
          </p:cNvPr>
          <p:cNvSpPr>
            <a:spLocks xmlns:a="http://schemas.openxmlformats.org/drawingml/2006/main" noGrp="1"/>
          </p:cNvSpPr>
          <p:nvPr/>
        </p:nvSpPr>
        <p:spPr>
          <a:xfrm xmlns:a="http://schemas.openxmlformats.org/drawingml/2006/main">
            <a:off x="8134350" y="4105275"/>
            <a:ext cx="2819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catalogo • retention • audit</a:t>
            </a:r>
          </a:p>
        </p:txBody>
      </p:sp>
      <p:sp>
        <p:nvSpPr>
          <p:cNvPr id="28" name="">
            <a:extLst xmlns:a="http://schemas.openxmlformats.org/drawingml/2006/main">
              <a:ext uri="{FF2B5EF4-FFF2-40B4-BE49-F238E27FC236}">
                <a16:creationId xmlns:a16="http://schemas.microsoft.com/office/drawing/2014/main" id="{CBE1C52A-1A93-48A1-BFEE-BDBF9ABB95F1}"/>
              </a:ext>
            </a:extLst>
          </p:cNvPr>
          <p:cNvSpPr>
            <a:spLocks xmlns:a="http://schemas.openxmlformats.org/drawingml/2006/main" noGrp="1"/>
          </p:cNvSpPr>
          <p:nvPr/>
        </p:nvSpPr>
        <p:spPr>
          <a:xfrm xmlns:a="http://schemas.openxmlformats.org/drawingml/2006/main">
            <a:off x="2381250" y="54292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Ogni nuovo datastore deve pagare il proprio affitto architetturale.</a:t>
            </a:r>
          </a:p>
        </p:txBody>
      </p:sp>
    </p:spTree>
    <p:extLst>
      <p:ext uri="{BB962C8B-B14F-4D97-AF65-F5344CB8AC3E}">
        <p14:creationId xmlns:p14="http://schemas.microsoft.com/office/powerpoint/2010/main" val="407082884"/>
      </p:ext>
    </p:extLst>
  </p:cSld>
</p:sld>
</file>

<file path=ppt/slides/slide3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AC6F4DD-B244-497E-94D1-898A3A4F7009}"/>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DECISIONE TRACCIABILE</a:t>
            </a:r>
          </a:p>
        </p:txBody>
      </p:sp>
      <p:sp>
        <p:nvSpPr>
          <p:cNvPr id="2" name="">
            <a:extLst xmlns:a="http://schemas.openxmlformats.org/drawingml/2006/main">
              <a:ext uri="{FF2B5EF4-FFF2-40B4-BE49-F238E27FC236}">
                <a16:creationId xmlns:a16="http://schemas.microsoft.com/office/drawing/2014/main" id="{B4CE2368-DB20-45C9-89E9-ADE8AEB845C6}"/>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Scorecard: una tecnologia entra solo con una responsabilità</a:t>
            </a:r>
          </a:p>
        </p:txBody>
      </p:sp>
      <p:sp>
        <p:nvSpPr>
          <p:cNvPr id="3" name="">
            <a:extLst xmlns:a="http://schemas.openxmlformats.org/drawingml/2006/main">
              <a:ext uri="{FF2B5EF4-FFF2-40B4-BE49-F238E27FC236}">
                <a16:creationId xmlns:a16="http://schemas.microsoft.com/office/drawing/2014/main" id="{1184E261-E1B8-439B-81E7-1C3D8351E07D}"/>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39</a:t>
            </a:r>
          </a:p>
        </p:txBody>
      </p:sp>
      <p:sp>
        <p:nvSpPr>
          <p:cNvPr id="4" name="">
            <a:extLst xmlns:a="http://schemas.openxmlformats.org/drawingml/2006/main">
              <a:ext uri="{FF2B5EF4-FFF2-40B4-BE49-F238E27FC236}">
                <a16:creationId xmlns:a16="http://schemas.microsoft.com/office/drawing/2014/main" id="{B580655B-6A7F-45CB-A0DE-C2F1354305CE}"/>
              </a:ext>
            </a:extLst>
          </p:cNvPr>
          <p:cNvSpPr>
            <a:spLocks xmlns:a="http://schemas.openxmlformats.org/drawingml/2006/main" noGrp="1"/>
          </p:cNvSpPr>
          <p:nvPr/>
        </p:nvSpPr>
        <p:spPr>
          <a:xfrm xmlns:a="http://schemas.openxmlformats.org/drawingml/2006/main">
            <a:off x="762000" y="1666875"/>
            <a:ext cx="2286000" cy="45720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5" name="">
            <a:extLst xmlns:a="http://schemas.openxmlformats.org/drawingml/2006/main">
              <a:ext uri="{FF2B5EF4-FFF2-40B4-BE49-F238E27FC236}">
                <a16:creationId xmlns:a16="http://schemas.microsoft.com/office/drawing/2014/main" id="{E08E6C78-9D99-4FAC-B2E7-C77540016200}"/>
              </a:ext>
            </a:extLst>
          </p:cNvPr>
          <p:cNvSpPr>
            <a:spLocks xmlns:a="http://schemas.openxmlformats.org/drawingml/2006/main" noGrp="1"/>
          </p:cNvSpPr>
          <p:nvPr/>
        </p:nvSpPr>
        <p:spPr>
          <a:xfrm xmlns:a="http://schemas.openxmlformats.org/drawingml/2006/main">
            <a:off x="838200" y="17811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Criterio</a:t>
            </a:r>
          </a:p>
        </p:txBody>
      </p:sp>
      <p:sp>
        <p:nvSpPr>
          <p:cNvPr id="6" name="">
            <a:extLst xmlns:a="http://schemas.openxmlformats.org/drawingml/2006/main">
              <a:ext uri="{FF2B5EF4-FFF2-40B4-BE49-F238E27FC236}">
                <a16:creationId xmlns:a16="http://schemas.microsoft.com/office/drawing/2014/main" id="{AE4C9590-A2FB-4AC3-AE3B-41A6F9D31BAD}"/>
              </a:ext>
            </a:extLst>
          </p:cNvPr>
          <p:cNvSpPr>
            <a:spLocks xmlns:a="http://schemas.openxmlformats.org/drawingml/2006/main" noGrp="1"/>
          </p:cNvSpPr>
          <p:nvPr/>
        </p:nvSpPr>
        <p:spPr>
          <a:xfrm xmlns:a="http://schemas.openxmlformats.org/drawingml/2006/main">
            <a:off x="3143250" y="1666875"/>
            <a:ext cx="5715000" cy="45720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7" name="">
            <a:extLst xmlns:a="http://schemas.openxmlformats.org/drawingml/2006/main">
              <a:ext uri="{FF2B5EF4-FFF2-40B4-BE49-F238E27FC236}">
                <a16:creationId xmlns:a16="http://schemas.microsoft.com/office/drawing/2014/main" id="{B2AC141F-23C8-4327-8F71-181C86274342}"/>
              </a:ext>
            </a:extLst>
          </p:cNvPr>
          <p:cNvSpPr>
            <a:spLocks xmlns:a="http://schemas.openxmlformats.org/drawingml/2006/main" noGrp="1"/>
          </p:cNvSpPr>
          <p:nvPr/>
        </p:nvSpPr>
        <p:spPr>
          <a:xfrm xmlns:a="http://schemas.openxmlformats.org/drawingml/2006/main">
            <a:off x="3219450" y="1781175"/>
            <a:ext cx="556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Domanda</a:t>
            </a:r>
          </a:p>
        </p:txBody>
      </p:sp>
      <p:sp>
        <p:nvSpPr>
          <p:cNvPr id="8" name="">
            <a:extLst xmlns:a="http://schemas.openxmlformats.org/drawingml/2006/main">
              <a:ext uri="{FF2B5EF4-FFF2-40B4-BE49-F238E27FC236}">
                <a16:creationId xmlns:a16="http://schemas.microsoft.com/office/drawing/2014/main" id="{ED3B9412-5340-4CA8-B266-48010C742BA5}"/>
              </a:ext>
            </a:extLst>
          </p:cNvPr>
          <p:cNvSpPr>
            <a:spLocks xmlns:a="http://schemas.openxmlformats.org/drawingml/2006/main" noGrp="1"/>
          </p:cNvSpPr>
          <p:nvPr/>
        </p:nvSpPr>
        <p:spPr>
          <a:xfrm xmlns:a="http://schemas.openxmlformats.org/drawingml/2006/main">
            <a:off x="9001125" y="1666875"/>
            <a:ext cx="2381250" cy="457200"/>
          </a:xfrm>
          <a:prstGeom xmlns:a="http://schemas.openxmlformats.org/drawingml/2006/main" prst="rect">
            <a:avLst/>
          </a:prstGeom>
          <a:solidFill xmlns:a="http://schemas.openxmlformats.org/drawingml/2006/main">
            <a:srgbClr val="0B1F33"/>
          </a:solidFill>
          <a:ln xmlns:a="http://schemas.openxmlformats.org/drawingml/2006/main" w="9525">
            <a:solidFill>
              <a:srgbClr val="0B1F33"/>
            </a:solidFill>
            <a:prstDash val="solid"/>
          </a:ln>
        </p:spPr>
      </p:sp>
      <p:sp>
        <p:nvSpPr>
          <p:cNvPr id="9" name="">
            <a:extLst xmlns:a="http://schemas.openxmlformats.org/drawingml/2006/main">
              <a:ext uri="{FF2B5EF4-FFF2-40B4-BE49-F238E27FC236}">
                <a16:creationId xmlns:a16="http://schemas.microsoft.com/office/drawing/2014/main" id="{54DD5149-2918-4387-B8A6-1E1D9FAACDC4}"/>
              </a:ext>
            </a:extLst>
          </p:cNvPr>
          <p:cNvSpPr>
            <a:spLocks xmlns:a="http://schemas.openxmlformats.org/drawingml/2006/main" noGrp="1"/>
          </p:cNvSpPr>
          <p:nvPr/>
        </p:nvSpPr>
        <p:spPr>
          <a:xfrm xmlns:a="http://schemas.openxmlformats.org/drawingml/2006/main">
            <a:off x="9077325" y="1781175"/>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Punteggio 0–3</a:t>
            </a:r>
          </a:p>
        </p:txBody>
      </p:sp>
      <p:sp>
        <p:nvSpPr>
          <p:cNvPr id="10" name="">
            <a:extLst xmlns:a="http://schemas.openxmlformats.org/drawingml/2006/main">
              <a:ext uri="{FF2B5EF4-FFF2-40B4-BE49-F238E27FC236}">
                <a16:creationId xmlns:a16="http://schemas.microsoft.com/office/drawing/2014/main" id="{940A32BD-A712-4189-9574-C639F97D200A}"/>
              </a:ext>
            </a:extLst>
          </p:cNvPr>
          <p:cNvSpPr>
            <a:spLocks xmlns:a="http://schemas.openxmlformats.org/drawingml/2006/main" noGrp="1"/>
          </p:cNvSpPr>
          <p:nvPr/>
        </p:nvSpPr>
        <p:spPr>
          <a:xfrm xmlns:a="http://schemas.openxmlformats.org/drawingml/2006/main">
            <a:off x="762000" y="2124075"/>
            <a:ext cx="2286000" cy="64770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1" name="">
            <a:extLst xmlns:a="http://schemas.openxmlformats.org/drawingml/2006/main">
              <a:ext uri="{FF2B5EF4-FFF2-40B4-BE49-F238E27FC236}">
                <a16:creationId xmlns:a16="http://schemas.microsoft.com/office/drawing/2014/main" id="{4467C448-204D-4224-8487-0BD919D98206}"/>
              </a:ext>
            </a:extLst>
          </p:cNvPr>
          <p:cNvSpPr>
            <a:spLocks xmlns:a="http://schemas.openxmlformats.org/drawingml/2006/main" noGrp="1"/>
          </p:cNvSpPr>
          <p:nvPr/>
        </p:nvSpPr>
        <p:spPr>
          <a:xfrm xmlns:a="http://schemas.openxmlformats.org/drawingml/2006/main">
            <a:off x="857250" y="23145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FIT</a:t>
            </a:r>
          </a:p>
        </p:txBody>
      </p:sp>
      <p:sp>
        <p:nvSpPr>
          <p:cNvPr id="12" name="">
            <a:extLst xmlns:a="http://schemas.openxmlformats.org/drawingml/2006/main">
              <a:ext uri="{FF2B5EF4-FFF2-40B4-BE49-F238E27FC236}">
                <a16:creationId xmlns:a16="http://schemas.microsoft.com/office/drawing/2014/main" id="{A96DAFE4-04B5-420A-A9BD-C23C903D07CC}"/>
              </a:ext>
            </a:extLst>
          </p:cNvPr>
          <p:cNvSpPr>
            <a:spLocks xmlns:a="http://schemas.openxmlformats.org/drawingml/2006/main" noGrp="1"/>
          </p:cNvSpPr>
          <p:nvPr/>
        </p:nvSpPr>
        <p:spPr>
          <a:xfrm xmlns:a="http://schemas.openxmlformats.org/drawingml/2006/main">
            <a:off x="3143250" y="2124075"/>
            <a:ext cx="5715000" cy="64770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11F89046-88FD-4557-BA92-E48391BD4ACB}"/>
              </a:ext>
            </a:extLst>
          </p:cNvPr>
          <p:cNvSpPr>
            <a:spLocks xmlns:a="http://schemas.openxmlformats.org/drawingml/2006/main" noGrp="1"/>
          </p:cNvSpPr>
          <p:nvPr/>
        </p:nvSpPr>
        <p:spPr>
          <a:xfrm xmlns:a="http://schemas.openxmlformats.org/drawingml/2006/main">
            <a:off x="3238500" y="23145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11827"/>
                </a:solidFill>
              </a:defRPr>
            </a:pPr>
            <a:r>
              <a:rPr sz="1350" b="0">
                <a:solidFill>
                  <a:srgbClr val="111827"/>
                </a:solidFill>
              </a:rPr>
              <a:t>Serve la query dominante?</a:t>
            </a:r>
          </a:p>
        </p:txBody>
      </p:sp>
      <p:sp>
        <p:nvSpPr>
          <p:cNvPr id="14" name="">
            <a:extLst xmlns:a="http://schemas.openxmlformats.org/drawingml/2006/main">
              <a:ext uri="{FF2B5EF4-FFF2-40B4-BE49-F238E27FC236}">
                <a16:creationId xmlns:a16="http://schemas.microsoft.com/office/drawing/2014/main" id="{07D69640-0B16-4FBC-9074-298917099F93}"/>
              </a:ext>
            </a:extLst>
          </p:cNvPr>
          <p:cNvSpPr>
            <a:spLocks xmlns:a="http://schemas.openxmlformats.org/drawingml/2006/main" noGrp="1"/>
          </p:cNvSpPr>
          <p:nvPr/>
        </p:nvSpPr>
        <p:spPr>
          <a:xfrm xmlns:a="http://schemas.openxmlformats.org/drawingml/2006/main">
            <a:off x="762000" y="2771775"/>
            <a:ext cx="2286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15" name="">
            <a:extLst xmlns:a="http://schemas.openxmlformats.org/drawingml/2006/main">
              <a:ext uri="{FF2B5EF4-FFF2-40B4-BE49-F238E27FC236}">
                <a16:creationId xmlns:a16="http://schemas.microsoft.com/office/drawing/2014/main" id="{BB5036F4-EDEC-420D-A3F7-F9457E712692}"/>
              </a:ext>
            </a:extLst>
          </p:cNvPr>
          <p:cNvSpPr>
            <a:spLocks xmlns:a="http://schemas.openxmlformats.org/drawingml/2006/main" noGrp="1"/>
          </p:cNvSpPr>
          <p:nvPr/>
        </p:nvSpPr>
        <p:spPr>
          <a:xfrm xmlns:a="http://schemas.openxmlformats.org/drawingml/2006/main">
            <a:off x="857250" y="29622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GARANZIE</a:t>
            </a:r>
          </a:p>
        </p:txBody>
      </p:sp>
      <p:sp>
        <p:nvSpPr>
          <p:cNvPr id="16" name="">
            <a:extLst xmlns:a="http://schemas.openxmlformats.org/drawingml/2006/main">
              <a:ext uri="{FF2B5EF4-FFF2-40B4-BE49-F238E27FC236}">
                <a16:creationId xmlns:a16="http://schemas.microsoft.com/office/drawing/2014/main" id="{6797A05D-9701-45E0-8D72-641DEC4CA6A2}"/>
              </a:ext>
            </a:extLst>
          </p:cNvPr>
          <p:cNvSpPr>
            <a:spLocks xmlns:a="http://schemas.openxmlformats.org/drawingml/2006/main" noGrp="1"/>
          </p:cNvSpPr>
          <p:nvPr/>
        </p:nvSpPr>
        <p:spPr>
          <a:xfrm xmlns:a="http://schemas.openxmlformats.org/drawingml/2006/main">
            <a:off x="3143250" y="2771775"/>
            <a:ext cx="5715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51F1D370-E5EB-49B7-99EF-105818AF4815}"/>
              </a:ext>
            </a:extLst>
          </p:cNvPr>
          <p:cNvSpPr>
            <a:spLocks xmlns:a="http://schemas.openxmlformats.org/drawingml/2006/main" noGrp="1"/>
          </p:cNvSpPr>
          <p:nvPr/>
        </p:nvSpPr>
        <p:spPr>
          <a:xfrm xmlns:a="http://schemas.openxmlformats.org/drawingml/2006/main">
            <a:off x="3238500" y="29622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11827"/>
                </a:solidFill>
              </a:defRPr>
            </a:pPr>
            <a:r>
              <a:rPr sz="1350" b="0">
                <a:solidFill>
                  <a:srgbClr val="111827"/>
                </a:solidFill>
              </a:rPr>
              <a:t>Rispetta consistenza e failure mode?</a:t>
            </a:r>
          </a:p>
        </p:txBody>
      </p:sp>
      <p:sp>
        <p:nvSpPr>
          <p:cNvPr id="18" name="">
            <a:extLst xmlns:a="http://schemas.openxmlformats.org/drawingml/2006/main">
              <a:ext uri="{FF2B5EF4-FFF2-40B4-BE49-F238E27FC236}">
                <a16:creationId xmlns:a16="http://schemas.microsoft.com/office/drawing/2014/main" id="{0E535201-69D2-4610-918A-C1725225F4BD}"/>
              </a:ext>
            </a:extLst>
          </p:cNvPr>
          <p:cNvSpPr>
            <a:spLocks xmlns:a="http://schemas.openxmlformats.org/drawingml/2006/main" noGrp="1"/>
          </p:cNvSpPr>
          <p:nvPr/>
        </p:nvSpPr>
        <p:spPr>
          <a:xfrm xmlns:a="http://schemas.openxmlformats.org/drawingml/2006/main">
            <a:off x="762000" y="3419475"/>
            <a:ext cx="2286000" cy="64770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19" name="">
            <a:extLst xmlns:a="http://schemas.openxmlformats.org/drawingml/2006/main">
              <a:ext uri="{FF2B5EF4-FFF2-40B4-BE49-F238E27FC236}">
                <a16:creationId xmlns:a16="http://schemas.microsoft.com/office/drawing/2014/main" id="{B821D641-4992-4EE0-B28E-1AE92B71F4D1}"/>
              </a:ext>
            </a:extLst>
          </p:cNvPr>
          <p:cNvSpPr>
            <a:spLocks xmlns:a="http://schemas.openxmlformats.org/drawingml/2006/main" noGrp="1"/>
          </p:cNvSpPr>
          <p:nvPr/>
        </p:nvSpPr>
        <p:spPr>
          <a:xfrm xmlns:a="http://schemas.openxmlformats.org/drawingml/2006/main">
            <a:off x="857250" y="36099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RECOVERY</a:t>
            </a:r>
          </a:p>
        </p:txBody>
      </p:sp>
      <p:sp>
        <p:nvSpPr>
          <p:cNvPr id="20" name="">
            <a:extLst xmlns:a="http://schemas.openxmlformats.org/drawingml/2006/main">
              <a:ext uri="{FF2B5EF4-FFF2-40B4-BE49-F238E27FC236}">
                <a16:creationId xmlns:a16="http://schemas.microsoft.com/office/drawing/2014/main" id="{EEFB908B-5C1F-43EF-B90C-327719E906ED}"/>
              </a:ext>
            </a:extLst>
          </p:cNvPr>
          <p:cNvSpPr>
            <a:spLocks xmlns:a="http://schemas.openxmlformats.org/drawingml/2006/main" noGrp="1"/>
          </p:cNvSpPr>
          <p:nvPr/>
        </p:nvSpPr>
        <p:spPr>
          <a:xfrm xmlns:a="http://schemas.openxmlformats.org/drawingml/2006/main">
            <a:off x="3143250" y="3419475"/>
            <a:ext cx="5715000" cy="64770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F19243AF-0526-4D33-872A-5BE44A509954}"/>
              </a:ext>
            </a:extLst>
          </p:cNvPr>
          <p:cNvSpPr>
            <a:spLocks xmlns:a="http://schemas.openxmlformats.org/drawingml/2006/main" noGrp="1"/>
          </p:cNvSpPr>
          <p:nvPr/>
        </p:nvSpPr>
        <p:spPr>
          <a:xfrm xmlns:a="http://schemas.openxmlformats.org/drawingml/2006/main">
            <a:off x="3238500" y="36099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11827"/>
                </a:solidFill>
              </a:defRPr>
            </a:pPr>
            <a:r>
              <a:rPr sz="1350" b="0">
                <a:solidFill>
                  <a:srgbClr val="111827"/>
                </a:solidFill>
              </a:rPr>
              <a:t>È ricostruibile e verificabile?</a:t>
            </a:r>
          </a:p>
        </p:txBody>
      </p:sp>
      <p:sp>
        <p:nvSpPr>
          <p:cNvPr id="22" name="">
            <a:extLst xmlns:a="http://schemas.openxmlformats.org/drawingml/2006/main">
              <a:ext uri="{FF2B5EF4-FFF2-40B4-BE49-F238E27FC236}">
                <a16:creationId xmlns:a16="http://schemas.microsoft.com/office/drawing/2014/main" id="{F27544EE-218A-44CD-9EDE-CCDFB79D341F}"/>
              </a:ext>
            </a:extLst>
          </p:cNvPr>
          <p:cNvSpPr>
            <a:spLocks xmlns:a="http://schemas.openxmlformats.org/drawingml/2006/main" noGrp="1"/>
          </p:cNvSpPr>
          <p:nvPr/>
        </p:nvSpPr>
        <p:spPr>
          <a:xfrm xmlns:a="http://schemas.openxmlformats.org/drawingml/2006/main">
            <a:off x="762000" y="4067175"/>
            <a:ext cx="2286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23" name="">
            <a:extLst xmlns:a="http://schemas.openxmlformats.org/drawingml/2006/main">
              <a:ext uri="{FF2B5EF4-FFF2-40B4-BE49-F238E27FC236}">
                <a16:creationId xmlns:a16="http://schemas.microsoft.com/office/drawing/2014/main" id="{1E4E07A9-839E-48FC-BB9F-63294F0D22ED}"/>
              </a:ext>
            </a:extLst>
          </p:cNvPr>
          <p:cNvSpPr>
            <a:spLocks xmlns:a="http://schemas.openxmlformats.org/drawingml/2006/main" noGrp="1"/>
          </p:cNvSpPr>
          <p:nvPr/>
        </p:nvSpPr>
        <p:spPr>
          <a:xfrm xmlns:a="http://schemas.openxmlformats.org/drawingml/2006/main">
            <a:off x="857250" y="42576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OPERATIONS</a:t>
            </a:r>
          </a:p>
        </p:txBody>
      </p:sp>
      <p:sp>
        <p:nvSpPr>
          <p:cNvPr id="24" name="">
            <a:extLst xmlns:a="http://schemas.openxmlformats.org/drawingml/2006/main">
              <a:ext uri="{FF2B5EF4-FFF2-40B4-BE49-F238E27FC236}">
                <a16:creationId xmlns:a16="http://schemas.microsoft.com/office/drawing/2014/main" id="{37600A26-9CD7-4149-8E83-736E1549C701}"/>
              </a:ext>
            </a:extLst>
          </p:cNvPr>
          <p:cNvSpPr>
            <a:spLocks xmlns:a="http://schemas.openxmlformats.org/drawingml/2006/main" noGrp="1"/>
          </p:cNvSpPr>
          <p:nvPr/>
        </p:nvSpPr>
        <p:spPr>
          <a:xfrm xmlns:a="http://schemas.openxmlformats.org/drawingml/2006/main">
            <a:off x="3143250" y="4067175"/>
            <a:ext cx="5715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3B4B9D56-5D76-4926-9878-EDD214509A7F}"/>
              </a:ext>
            </a:extLst>
          </p:cNvPr>
          <p:cNvSpPr>
            <a:spLocks xmlns:a="http://schemas.openxmlformats.org/drawingml/2006/main" noGrp="1"/>
          </p:cNvSpPr>
          <p:nvPr/>
        </p:nvSpPr>
        <p:spPr>
          <a:xfrm xmlns:a="http://schemas.openxmlformats.org/drawingml/2006/main">
            <a:off x="3238500" y="42576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11827"/>
                </a:solidFill>
              </a:defRPr>
            </a:pPr>
            <a:r>
              <a:rPr sz="1350" b="0">
                <a:solidFill>
                  <a:srgbClr val="111827"/>
                </a:solidFill>
              </a:rPr>
              <a:t>Il team sa gestirla 24/7?</a:t>
            </a:r>
          </a:p>
        </p:txBody>
      </p:sp>
      <p:sp>
        <p:nvSpPr>
          <p:cNvPr id="26" name="">
            <a:extLst xmlns:a="http://schemas.openxmlformats.org/drawingml/2006/main">
              <a:ext uri="{FF2B5EF4-FFF2-40B4-BE49-F238E27FC236}">
                <a16:creationId xmlns:a16="http://schemas.microsoft.com/office/drawing/2014/main" id="{16B35A12-DDD5-4485-9B75-3BD6F9DF423B}"/>
              </a:ext>
            </a:extLst>
          </p:cNvPr>
          <p:cNvSpPr>
            <a:spLocks xmlns:a="http://schemas.openxmlformats.org/drawingml/2006/main" noGrp="1"/>
          </p:cNvSpPr>
          <p:nvPr/>
        </p:nvSpPr>
        <p:spPr>
          <a:xfrm xmlns:a="http://schemas.openxmlformats.org/drawingml/2006/main">
            <a:off x="762000" y="4714875"/>
            <a:ext cx="2286000" cy="64770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27" name="">
            <a:extLst xmlns:a="http://schemas.openxmlformats.org/drawingml/2006/main">
              <a:ext uri="{FF2B5EF4-FFF2-40B4-BE49-F238E27FC236}">
                <a16:creationId xmlns:a16="http://schemas.microsoft.com/office/drawing/2014/main" id="{89D15C1E-9715-4A42-BB92-754AA15864C0}"/>
              </a:ext>
            </a:extLst>
          </p:cNvPr>
          <p:cNvSpPr>
            <a:spLocks xmlns:a="http://schemas.openxmlformats.org/drawingml/2006/main" noGrp="1"/>
          </p:cNvSpPr>
          <p:nvPr/>
        </p:nvSpPr>
        <p:spPr>
          <a:xfrm xmlns:a="http://schemas.openxmlformats.org/drawingml/2006/main">
            <a:off x="857250" y="49053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1F33"/>
                </a:solidFill>
              </a:defRPr>
            </a:pPr>
            <a:r>
              <a:rPr sz="1350" b="1">
                <a:solidFill>
                  <a:srgbClr val="0B1F33"/>
                </a:solidFill>
              </a:rPr>
              <a:t>COSTO</a:t>
            </a:r>
          </a:p>
        </p:txBody>
      </p:sp>
      <p:sp>
        <p:nvSpPr>
          <p:cNvPr id="28" name="">
            <a:extLst xmlns:a="http://schemas.openxmlformats.org/drawingml/2006/main">
              <a:ext uri="{FF2B5EF4-FFF2-40B4-BE49-F238E27FC236}">
                <a16:creationId xmlns:a16="http://schemas.microsoft.com/office/drawing/2014/main" id="{0CD6797B-E1DD-4166-BEF6-4CD372868313}"/>
              </a:ext>
            </a:extLst>
          </p:cNvPr>
          <p:cNvSpPr>
            <a:spLocks xmlns:a="http://schemas.openxmlformats.org/drawingml/2006/main" noGrp="1"/>
          </p:cNvSpPr>
          <p:nvPr/>
        </p:nvSpPr>
        <p:spPr>
          <a:xfrm xmlns:a="http://schemas.openxmlformats.org/drawingml/2006/main">
            <a:off x="3143250" y="4714875"/>
            <a:ext cx="5715000" cy="647700"/>
          </a:xfrm>
          <a:prstGeom xmlns:a="http://schemas.openxmlformats.org/drawingml/2006/main" prst="rect">
            <a:avLst/>
          </a:prstGeom>
          <a:solidFill xmlns:a="http://schemas.openxmlformats.org/drawingml/2006/main">
            <a:srgbClr val="E8F7FA"/>
          </a:solidFill>
          <a:ln xmlns:a="http://schemas.openxmlformats.org/drawingml/2006/main" w="9525">
            <a:solidFill>
              <a:srgbClr val="D8DDE3"/>
            </a:solidFill>
            <a:prstDash val="solid"/>
          </a:ln>
        </p:spPr>
      </p:sp>
      <p:sp>
        <p:nvSpPr>
          <p:cNvPr id="29" name="">
            <a:extLst xmlns:a="http://schemas.openxmlformats.org/drawingml/2006/main">
              <a:ext uri="{FF2B5EF4-FFF2-40B4-BE49-F238E27FC236}">
                <a16:creationId xmlns:a16="http://schemas.microsoft.com/office/drawing/2014/main" id="{4D6FAC39-5A23-4E72-83B2-53E6734E10AE}"/>
              </a:ext>
            </a:extLst>
          </p:cNvPr>
          <p:cNvSpPr>
            <a:spLocks xmlns:a="http://schemas.openxmlformats.org/drawingml/2006/main" noGrp="1"/>
          </p:cNvSpPr>
          <p:nvPr/>
        </p:nvSpPr>
        <p:spPr>
          <a:xfrm xmlns:a="http://schemas.openxmlformats.org/drawingml/2006/main">
            <a:off x="3238500" y="49053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11827"/>
                </a:solidFill>
              </a:defRPr>
            </a:pPr>
            <a:r>
              <a:rPr sz="1350" b="0">
                <a:solidFill>
                  <a:srgbClr val="111827"/>
                </a:solidFill>
              </a:rPr>
              <a:t>Beneficio &gt; TCO?</a:t>
            </a:r>
          </a:p>
        </p:txBody>
      </p:sp>
      <p:sp>
        <p:nvSpPr>
          <p:cNvPr id="30" name="">
            <a:extLst xmlns:a="http://schemas.openxmlformats.org/drawingml/2006/main">
              <a:ext uri="{FF2B5EF4-FFF2-40B4-BE49-F238E27FC236}">
                <a16:creationId xmlns:a16="http://schemas.microsoft.com/office/drawing/2014/main" id="{8022E24D-FA6E-4096-844B-66815E94C036}"/>
              </a:ext>
            </a:extLst>
          </p:cNvPr>
          <p:cNvSpPr>
            <a:spLocks xmlns:a="http://schemas.openxmlformats.org/drawingml/2006/main" noGrp="1"/>
          </p:cNvSpPr>
          <p:nvPr/>
        </p:nvSpPr>
        <p:spPr>
          <a:xfrm xmlns:a="http://schemas.openxmlformats.org/drawingml/2006/main">
            <a:off x="2857500" y="56197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EF5A5A"/>
                </a:solidFill>
              </a:defRPr>
            </a:pPr>
            <a:r>
              <a:rPr sz="1575" b="1">
                <a:solidFill>
                  <a:srgbClr val="EF5A5A"/>
                </a:solidFill>
              </a:rPr>
              <a:t>Soglia suggerita: nessun 0 critico e motivazione scritta.</a:t>
            </a:r>
          </a:p>
        </p:txBody>
      </p:sp>
    </p:spTree>
    <p:extLst>
      <p:ext uri="{BB962C8B-B14F-4D97-AF65-F5344CB8AC3E}">
        <p14:creationId xmlns:p14="http://schemas.microsoft.com/office/powerpoint/2010/main" val="1339738140"/>
      </p:ext>
    </p:extLst>
  </p:cSld>
</p:sld>
</file>

<file path=ppt/slides/slide4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552D2F-A8DC-4794-8D3D-67DDF0786A5F}"/>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DATAFLIX • PROBLEMA REALE</a:t>
            </a:r>
          </a:p>
        </p:txBody>
      </p:sp>
      <p:sp>
        <p:nvSpPr>
          <p:cNvPr id="2" name="">
            <a:extLst xmlns:a="http://schemas.openxmlformats.org/drawingml/2006/main">
              <a:ext uri="{FF2B5EF4-FFF2-40B4-BE49-F238E27FC236}">
                <a16:creationId xmlns:a16="http://schemas.microsoft.com/office/drawing/2014/main" id="{EAF0C086-03FD-4F8E-925D-8C01CAD2B795}"/>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Quando NON usare polyglot persistence</a:t>
            </a:r>
          </a:p>
        </p:txBody>
      </p:sp>
      <p:sp>
        <p:nvSpPr>
          <p:cNvPr id="3" name="">
            <a:extLst xmlns:a="http://schemas.openxmlformats.org/drawingml/2006/main">
              <a:ext uri="{FF2B5EF4-FFF2-40B4-BE49-F238E27FC236}">
                <a16:creationId xmlns:a16="http://schemas.microsoft.com/office/drawing/2014/main" id="{24969F35-ACE9-4046-BF25-7B9C464AAFB1}"/>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40</a:t>
            </a:r>
          </a:p>
        </p:txBody>
      </p:sp>
      <p:sp>
        <p:nvSpPr>
          <p:cNvPr id="4" name="">
            <a:extLst xmlns:a="http://schemas.openxmlformats.org/drawingml/2006/main">
              <a:ext uri="{FF2B5EF4-FFF2-40B4-BE49-F238E27FC236}">
                <a16:creationId xmlns:a16="http://schemas.microsoft.com/office/drawing/2014/main" id="{2E846100-ACBA-4B0F-A884-FDAA8B61C3D5}"/>
              </a:ext>
            </a:extLst>
          </p:cNvPr>
          <p:cNvSpPr>
            <a:spLocks xmlns:a="http://schemas.openxmlformats.org/drawingml/2006/main" noGrp="1"/>
          </p:cNvSpPr>
          <p:nvPr/>
        </p:nvSpPr>
        <p:spPr>
          <a:xfrm xmlns:a="http://schemas.openxmlformats.org/drawingml/2006/main">
            <a:off x="742950" y="1752600"/>
            <a:ext cx="85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0" b="1">
                <a:solidFill>
                  <a:srgbClr val="EF5A5A"/>
                </a:solidFill>
              </a:defRPr>
            </a:pPr>
            <a:r>
              <a:rPr sz="8250" b="1">
                <a:solidFill>
                  <a:srgbClr val="EF5A5A"/>
                </a:solidFill>
              </a:rPr>
              <a:t>“</a:t>
            </a:r>
          </a:p>
        </p:txBody>
      </p:sp>
      <p:sp>
        <p:nvSpPr>
          <p:cNvPr id="5" name="">
            <a:extLst xmlns:a="http://schemas.openxmlformats.org/drawingml/2006/main">
              <a:ext uri="{FF2B5EF4-FFF2-40B4-BE49-F238E27FC236}">
                <a16:creationId xmlns:a16="http://schemas.microsoft.com/office/drawing/2014/main" id="{7D033508-B222-4113-8400-3EEA409D8DD8}"/>
              </a:ext>
            </a:extLst>
          </p:cNvPr>
          <p:cNvSpPr>
            <a:spLocks xmlns:a="http://schemas.openxmlformats.org/drawingml/2006/main" noGrp="1"/>
          </p:cNvSpPr>
          <p:nvPr/>
        </p:nvSpPr>
        <p:spPr>
          <a:xfrm xmlns:a="http://schemas.openxmlformats.org/drawingml/2006/main">
            <a:off x="1676400" y="1943100"/>
            <a:ext cx="8953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FFFFF"/>
                </a:solidFill>
              </a:defRPr>
            </a:pPr>
            <a:r>
              <a:rPr sz="2775" b="1">
                <a:solidFill>
                  <a:srgbClr val="FFFFFF"/>
                </a:solidFill>
              </a:rPr>
              <a:t>Se un database serve bene le query, il team è piccolo e il dominio è semplice, aggiungere motori crea più rischio che valore.</a:t>
            </a:r>
          </a:p>
        </p:txBody>
      </p:sp>
      <p:sp>
        <p:nvSpPr>
          <p:cNvPr id="6" name="">
            <a:extLst xmlns:a="http://schemas.openxmlformats.org/drawingml/2006/main">
              <a:ext uri="{FF2B5EF4-FFF2-40B4-BE49-F238E27FC236}">
                <a16:creationId xmlns:a16="http://schemas.microsoft.com/office/drawing/2014/main" id="{2B36709E-11A6-401D-A66A-52EF9E999D17}"/>
              </a:ext>
            </a:extLst>
          </p:cNvPr>
          <p:cNvSpPr>
            <a:spLocks xmlns:a="http://schemas.openxmlformats.org/drawingml/2006/main" noGrp="1"/>
          </p:cNvSpPr>
          <p:nvPr/>
        </p:nvSpPr>
        <p:spPr>
          <a:xfrm xmlns:a="http://schemas.openxmlformats.org/drawingml/2006/main">
            <a:off x="1676400" y="4762500"/>
            <a:ext cx="3048000" cy="76200"/>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7" name="">
            <a:extLst xmlns:a="http://schemas.openxmlformats.org/drawingml/2006/main">
              <a:ext uri="{FF2B5EF4-FFF2-40B4-BE49-F238E27FC236}">
                <a16:creationId xmlns:a16="http://schemas.microsoft.com/office/drawing/2014/main" id="{EBED8A3B-B8ED-40BF-AD72-EAE7ED53CA9B}"/>
              </a:ext>
            </a:extLst>
          </p:cNvPr>
          <p:cNvSpPr>
            <a:spLocks xmlns:a="http://schemas.openxmlformats.org/drawingml/2006/main" noGrp="1"/>
          </p:cNvSpPr>
          <p:nvPr/>
        </p:nvSpPr>
        <p:spPr>
          <a:xfrm xmlns:a="http://schemas.openxmlformats.org/drawingml/2006/main">
            <a:off x="1676400" y="50958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9FB0BF"/>
                </a:solidFill>
              </a:defRPr>
            </a:pPr>
            <a:r>
              <a:rPr sz="1200" b="1">
                <a:solidFill>
                  <a:srgbClr val="9FB0BF"/>
                </a:solidFill>
              </a:rPr>
              <a:t>SIMPLE FIRST • EVIDENCE BEFORE EXPANSION</a:t>
            </a:r>
          </a:p>
        </p:txBody>
      </p:sp>
    </p:spTree>
    <p:extLst>
      <p:ext uri="{BB962C8B-B14F-4D97-AF65-F5344CB8AC3E}">
        <p14:creationId xmlns:p14="http://schemas.microsoft.com/office/powerpoint/2010/main" val="1477081118"/>
      </p:ext>
    </p:extLst>
  </p:cSld>
</p:sld>
</file>

<file path=ppt/slides/slide4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82A46A-8BF0-44DB-BDBA-1E63F902DB03}"/>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LAB • 100 MINUTI</a:t>
            </a:r>
          </a:p>
        </p:txBody>
      </p:sp>
      <p:sp>
        <p:nvSpPr>
          <p:cNvPr id="2" name="">
            <a:extLst xmlns:a="http://schemas.openxmlformats.org/drawingml/2006/main">
              <a:ext uri="{FF2B5EF4-FFF2-40B4-BE49-F238E27FC236}">
                <a16:creationId xmlns:a16="http://schemas.microsoft.com/office/drawing/2014/main" id="{9E8A68A2-8807-43EC-8E34-720D68B9D391}"/>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Architecture Workshop: progettare responsabilità e flussi</a:t>
            </a:r>
          </a:p>
        </p:txBody>
      </p:sp>
      <p:sp>
        <p:nvSpPr>
          <p:cNvPr id="3" name="">
            <a:extLst xmlns:a="http://schemas.openxmlformats.org/drawingml/2006/main">
              <a:ext uri="{FF2B5EF4-FFF2-40B4-BE49-F238E27FC236}">
                <a16:creationId xmlns:a16="http://schemas.microsoft.com/office/drawing/2014/main" id="{7853FFB3-370E-432D-89B3-AC4192FF9F2E}"/>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41</a:t>
            </a:r>
          </a:p>
        </p:txBody>
      </p:sp>
      <p:sp>
        <p:nvSpPr>
          <p:cNvPr id="4" name="">
            <a:extLst xmlns:a="http://schemas.openxmlformats.org/drawingml/2006/main">
              <a:ext uri="{FF2B5EF4-FFF2-40B4-BE49-F238E27FC236}">
                <a16:creationId xmlns:a16="http://schemas.microsoft.com/office/drawing/2014/main" id="{647FD1CB-7BAA-4FB8-BB44-E95FE2E62EDE}"/>
              </a:ext>
            </a:extLst>
          </p:cNvPr>
          <p:cNvSpPr>
            <a:spLocks xmlns:a="http://schemas.openxmlformats.org/drawingml/2006/main" noGrp="1"/>
          </p:cNvSpPr>
          <p:nvPr/>
        </p:nvSpPr>
        <p:spPr>
          <a:xfrm xmlns:a="http://schemas.openxmlformats.org/drawingml/2006/main">
            <a:off x="1095375" y="1666875"/>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FFFFFF"/>
                </a:solidFill>
              </a:defRPr>
            </a:pPr>
            <a:r>
              <a:rPr sz="2025" b="1">
                <a:solidFill>
                  <a:srgbClr val="FFFFFF"/>
                </a:solidFill>
              </a:rPr>
              <a:t>Non disegnate scatole finché non avete scritto:</a:t>
            </a:r>
          </a:p>
        </p:txBody>
      </p:sp>
      <p:sp>
        <p:nvSpPr>
          <p:cNvPr id="5" name="">
            <a:extLst xmlns:a="http://schemas.openxmlformats.org/drawingml/2006/main">
              <a:ext uri="{FF2B5EF4-FFF2-40B4-BE49-F238E27FC236}">
                <a16:creationId xmlns:a16="http://schemas.microsoft.com/office/drawing/2014/main" id="{75CEFE0A-D10D-4FC5-941D-A4276EAD9464}"/>
              </a:ext>
            </a:extLst>
          </p:cNvPr>
          <p:cNvSpPr>
            <a:spLocks xmlns:a="http://schemas.openxmlformats.org/drawingml/2006/main" noGrp="1"/>
          </p:cNvSpPr>
          <p:nvPr/>
        </p:nvSpPr>
        <p:spPr>
          <a:xfrm xmlns:a="http://schemas.openxmlformats.org/drawingml/2006/main">
            <a:off x="952500" y="2524125"/>
            <a:ext cx="3143250" cy="876300"/>
          </a:xfrm>
          <a:prstGeom xmlns:a="http://schemas.openxmlformats.org/drawingml/2006/main" prst="roundRect">
            <a:avLst>
              <a:gd name="adj" fmla="val 8696"/>
            </a:avLst>
          </a:prstGeom>
          <a:solidFill xmlns:a="http://schemas.openxmlformats.org/drawingml/2006/main">
            <a:srgbClr val="E8F7FA"/>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3618BCFB-B7CD-49D0-AECF-E396F0B769EC}"/>
              </a:ext>
            </a:extLst>
          </p:cNvPr>
          <p:cNvSpPr>
            <a:spLocks xmlns:a="http://schemas.openxmlformats.org/drawingml/2006/main" noGrp="1"/>
          </p:cNvSpPr>
          <p:nvPr/>
        </p:nvSpPr>
        <p:spPr>
          <a:xfrm xmlns:a="http://schemas.openxmlformats.org/drawingml/2006/main">
            <a:off x="1143000" y="27908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3 query dominanti</a:t>
            </a:r>
          </a:p>
        </p:txBody>
      </p:sp>
      <p:sp>
        <p:nvSpPr>
          <p:cNvPr id="7" name="">
            <a:extLst xmlns:a="http://schemas.openxmlformats.org/drawingml/2006/main">
              <a:ext uri="{FF2B5EF4-FFF2-40B4-BE49-F238E27FC236}">
                <a16:creationId xmlns:a16="http://schemas.microsoft.com/office/drawing/2014/main" id="{D59D165A-D49F-4F91-818D-A17F3D3BC0E3}"/>
              </a:ext>
            </a:extLst>
          </p:cNvPr>
          <p:cNvSpPr>
            <a:spLocks xmlns:a="http://schemas.openxmlformats.org/drawingml/2006/main" noGrp="1"/>
          </p:cNvSpPr>
          <p:nvPr/>
        </p:nvSpPr>
        <p:spPr>
          <a:xfrm xmlns:a="http://schemas.openxmlformats.org/drawingml/2006/main">
            <a:off x="4476750" y="2524125"/>
            <a:ext cx="3143250" cy="876300"/>
          </a:xfrm>
          <a:prstGeom xmlns:a="http://schemas.openxmlformats.org/drawingml/2006/main" prst="roundRect">
            <a:avLst>
              <a:gd name="adj" fmla="val 8696"/>
            </a:avLst>
          </a:prstGeom>
          <a:solidFill xmlns:a="http://schemas.openxmlformats.org/drawingml/2006/main">
            <a:srgbClr val="E8F7FA"/>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D544C7D7-37B1-4B6E-92BB-278A520ADFBF}"/>
              </a:ext>
            </a:extLst>
          </p:cNvPr>
          <p:cNvSpPr>
            <a:spLocks xmlns:a="http://schemas.openxmlformats.org/drawingml/2006/main" noGrp="1"/>
          </p:cNvSpPr>
          <p:nvPr/>
        </p:nvSpPr>
        <p:spPr>
          <a:xfrm xmlns:a="http://schemas.openxmlformats.org/drawingml/2006/main">
            <a:off x="4667250" y="27908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2 comandi critici</a:t>
            </a:r>
          </a:p>
        </p:txBody>
      </p:sp>
      <p:sp>
        <p:nvSpPr>
          <p:cNvPr id="9" name="">
            <a:extLst xmlns:a="http://schemas.openxmlformats.org/drawingml/2006/main">
              <a:ext uri="{FF2B5EF4-FFF2-40B4-BE49-F238E27FC236}">
                <a16:creationId xmlns:a16="http://schemas.microsoft.com/office/drawing/2014/main" id="{26EECD5B-DC83-4C16-A83F-5C402C7EA199}"/>
              </a:ext>
            </a:extLst>
          </p:cNvPr>
          <p:cNvSpPr>
            <a:spLocks xmlns:a="http://schemas.openxmlformats.org/drawingml/2006/main" noGrp="1"/>
          </p:cNvSpPr>
          <p:nvPr/>
        </p:nvSpPr>
        <p:spPr>
          <a:xfrm xmlns:a="http://schemas.openxmlformats.org/drawingml/2006/main">
            <a:off x="8001000" y="2524125"/>
            <a:ext cx="3143250" cy="876300"/>
          </a:xfrm>
          <a:prstGeom xmlns:a="http://schemas.openxmlformats.org/drawingml/2006/main" prst="roundRect">
            <a:avLst>
              <a:gd name="adj" fmla="val 8696"/>
            </a:avLst>
          </a:prstGeom>
          <a:solidFill xmlns:a="http://schemas.openxmlformats.org/drawingml/2006/main">
            <a:srgbClr val="E8F7FA"/>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BF2A562F-8F5C-473D-8062-8CEC4505C578}"/>
              </a:ext>
            </a:extLst>
          </p:cNvPr>
          <p:cNvSpPr>
            <a:spLocks xmlns:a="http://schemas.openxmlformats.org/drawingml/2006/main" noGrp="1"/>
          </p:cNvSpPr>
          <p:nvPr/>
        </p:nvSpPr>
        <p:spPr>
          <a:xfrm xmlns:a="http://schemas.openxmlformats.org/drawingml/2006/main">
            <a:off x="8191500" y="27908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source of truth</a:t>
            </a:r>
          </a:p>
        </p:txBody>
      </p:sp>
      <p:sp>
        <p:nvSpPr>
          <p:cNvPr id="11" name="">
            <a:extLst xmlns:a="http://schemas.openxmlformats.org/drawingml/2006/main">
              <a:ext uri="{FF2B5EF4-FFF2-40B4-BE49-F238E27FC236}">
                <a16:creationId xmlns:a16="http://schemas.microsoft.com/office/drawing/2014/main" id="{76625410-8A7B-44DA-8B69-9202BE208628}"/>
              </a:ext>
            </a:extLst>
          </p:cNvPr>
          <p:cNvSpPr>
            <a:spLocks xmlns:a="http://schemas.openxmlformats.org/drawingml/2006/main" noGrp="1"/>
          </p:cNvSpPr>
          <p:nvPr/>
        </p:nvSpPr>
        <p:spPr>
          <a:xfrm xmlns:a="http://schemas.openxmlformats.org/drawingml/2006/main">
            <a:off x="952500" y="3810000"/>
            <a:ext cx="3143250" cy="876300"/>
          </a:xfrm>
          <a:prstGeom xmlns:a="http://schemas.openxmlformats.org/drawingml/2006/main" prst="roundRect">
            <a:avLst>
              <a:gd name="adj" fmla="val 8696"/>
            </a:avLst>
          </a:prstGeom>
          <a:solidFill xmlns:a="http://schemas.openxmlformats.org/drawingml/2006/main">
            <a:srgbClr val="FFF0E8"/>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2E972176-52B2-4974-87B7-9B149F7A71EA}"/>
              </a:ext>
            </a:extLst>
          </p:cNvPr>
          <p:cNvSpPr>
            <a:spLocks xmlns:a="http://schemas.openxmlformats.org/drawingml/2006/main" noGrp="1"/>
          </p:cNvSpPr>
          <p:nvPr/>
        </p:nvSpPr>
        <p:spPr>
          <a:xfrm xmlns:a="http://schemas.openxmlformats.org/drawingml/2006/main">
            <a:off x="1143000" y="40767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freshness budget</a:t>
            </a:r>
          </a:p>
        </p:txBody>
      </p:sp>
      <p:sp>
        <p:nvSpPr>
          <p:cNvPr id="13" name="">
            <a:extLst xmlns:a="http://schemas.openxmlformats.org/drawingml/2006/main">
              <a:ext uri="{FF2B5EF4-FFF2-40B4-BE49-F238E27FC236}">
                <a16:creationId xmlns:a16="http://schemas.microsoft.com/office/drawing/2014/main" id="{DA23BFA8-130E-47BC-8365-3FFDBE4EFA2E}"/>
              </a:ext>
            </a:extLst>
          </p:cNvPr>
          <p:cNvSpPr>
            <a:spLocks xmlns:a="http://schemas.openxmlformats.org/drawingml/2006/main" noGrp="1"/>
          </p:cNvSpPr>
          <p:nvPr/>
        </p:nvSpPr>
        <p:spPr>
          <a:xfrm xmlns:a="http://schemas.openxmlformats.org/drawingml/2006/main">
            <a:off x="4476750" y="3810000"/>
            <a:ext cx="3143250" cy="876300"/>
          </a:xfrm>
          <a:prstGeom xmlns:a="http://schemas.openxmlformats.org/drawingml/2006/main" prst="roundRect">
            <a:avLst>
              <a:gd name="adj" fmla="val 8696"/>
            </a:avLst>
          </a:prstGeom>
          <a:solidFill xmlns:a="http://schemas.openxmlformats.org/drawingml/2006/main">
            <a:srgbClr val="FFF0E8"/>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D1676AC4-3F76-4D5A-AF71-FF6B8097B9F5}"/>
              </a:ext>
            </a:extLst>
          </p:cNvPr>
          <p:cNvSpPr>
            <a:spLocks xmlns:a="http://schemas.openxmlformats.org/drawingml/2006/main" noGrp="1"/>
          </p:cNvSpPr>
          <p:nvPr/>
        </p:nvSpPr>
        <p:spPr>
          <a:xfrm xmlns:a="http://schemas.openxmlformats.org/drawingml/2006/main">
            <a:off x="4667250" y="40767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failure mode</a:t>
            </a:r>
          </a:p>
        </p:txBody>
      </p:sp>
      <p:sp>
        <p:nvSpPr>
          <p:cNvPr id="15" name="">
            <a:extLst xmlns:a="http://schemas.openxmlformats.org/drawingml/2006/main">
              <a:ext uri="{FF2B5EF4-FFF2-40B4-BE49-F238E27FC236}">
                <a16:creationId xmlns:a16="http://schemas.microsoft.com/office/drawing/2014/main" id="{13910CD3-CB28-4072-8852-826C95933C00}"/>
              </a:ext>
            </a:extLst>
          </p:cNvPr>
          <p:cNvSpPr>
            <a:spLocks xmlns:a="http://schemas.openxmlformats.org/drawingml/2006/main" noGrp="1"/>
          </p:cNvSpPr>
          <p:nvPr/>
        </p:nvSpPr>
        <p:spPr>
          <a:xfrm xmlns:a="http://schemas.openxmlformats.org/drawingml/2006/main">
            <a:off x="8001000" y="3810000"/>
            <a:ext cx="3143250" cy="876300"/>
          </a:xfrm>
          <a:prstGeom xmlns:a="http://schemas.openxmlformats.org/drawingml/2006/main" prst="roundRect">
            <a:avLst>
              <a:gd name="adj" fmla="val 8696"/>
            </a:avLst>
          </a:prstGeom>
          <a:solidFill xmlns:a="http://schemas.openxmlformats.org/drawingml/2006/main">
            <a:srgbClr val="FFF0E8"/>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44A2D9B6-B398-4C07-B17C-C60879C03FED}"/>
              </a:ext>
            </a:extLst>
          </p:cNvPr>
          <p:cNvSpPr>
            <a:spLocks xmlns:a="http://schemas.openxmlformats.org/drawingml/2006/main" noGrp="1"/>
          </p:cNvSpPr>
          <p:nvPr/>
        </p:nvSpPr>
        <p:spPr>
          <a:xfrm xmlns:a="http://schemas.openxmlformats.org/drawingml/2006/main">
            <a:off x="8191500" y="40767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recovery path</a:t>
            </a:r>
          </a:p>
        </p:txBody>
      </p:sp>
      <p:sp>
        <p:nvSpPr>
          <p:cNvPr id="17" name="">
            <a:extLst xmlns:a="http://schemas.openxmlformats.org/drawingml/2006/main">
              <a:ext uri="{FF2B5EF4-FFF2-40B4-BE49-F238E27FC236}">
                <a16:creationId xmlns:a16="http://schemas.microsoft.com/office/drawing/2014/main" id="{449BDB5B-5CA5-43A6-B99C-ECFC9F28ECCE}"/>
              </a:ext>
            </a:extLst>
          </p:cNvPr>
          <p:cNvSpPr>
            <a:spLocks xmlns:a="http://schemas.openxmlformats.org/drawingml/2006/main" noGrp="1"/>
          </p:cNvSpPr>
          <p:nvPr/>
        </p:nvSpPr>
        <p:spPr>
          <a:xfrm xmlns:a="http://schemas.openxmlformats.org/drawingml/2006/main">
            <a:off x="1809750" y="54292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Ogni freccia deve avere protocollo, proprietario e comportamento in errore.</a:t>
            </a:r>
          </a:p>
        </p:txBody>
      </p:sp>
    </p:spTree>
    <p:extLst>
      <p:ext uri="{BB962C8B-B14F-4D97-AF65-F5344CB8AC3E}">
        <p14:creationId xmlns:p14="http://schemas.microsoft.com/office/powerpoint/2010/main" val="849465674"/>
      </p:ext>
    </p:extLst>
  </p:cSld>
</p:sld>
</file>

<file path=ppt/slides/slide4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F503043-2D7F-4F6A-8915-3B9B93DC4AB1}"/>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SCEGLI UN DOMINIO</a:t>
            </a:r>
          </a:p>
        </p:txBody>
      </p:sp>
      <p:sp>
        <p:nvSpPr>
          <p:cNvPr id="2" name="">
            <a:extLst xmlns:a="http://schemas.openxmlformats.org/drawingml/2006/main">
              <a:ext uri="{FF2B5EF4-FFF2-40B4-BE49-F238E27FC236}">
                <a16:creationId xmlns:a16="http://schemas.microsoft.com/office/drawing/2014/main" id="{82CB0FE8-64EA-40A1-9E62-2803BA6301E0}"/>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Sette scenari, gli stessi criteri</a:t>
            </a:r>
          </a:p>
        </p:txBody>
      </p:sp>
      <p:sp>
        <p:nvSpPr>
          <p:cNvPr id="3" name="">
            <a:extLst xmlns:a="http://schemas.openxmlformats.org/drawingml/2006/main">
              <a:ext uri="{FF2B5EF4-FFF2-40B4-BE49-F238E27FC236}">
                <a16:creationId xmlns:a16="http://schemas.microsoft.com/office/drawing/2014/main" id="{42309A68-FA76-4D65-A4B6-E8D306AE5B12}"/>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42</a:t>
            </a:r>
          </a:p>
        </p:txBody>
      </p:sp>
      <p:sp>
        <p:nvSpPr>
          <p:cNvPr id="4" name="">
            <a:extLst xmlns:a="http://schemas.openxmlformats.org/drawingml/2006/main">
              <a:ext uri="{FF2B5EF4-FFF2-40B4-BE49-F238E27FC236}">
                <a16:creationId xmlns:a16="http://schemas.microsoft.com/office/drawing/2014/main" id="{96286CD5-33C0-4A09-9BD2-81F826A82D99}"/>
              </a:ext>
            </a:extLst>
          </p:cNvPr>
          <p:cNvSpPr>
            <a:spLocks xmlns:a="http://schemas.openxmlformats.org/drawingml/2006/main" noGrp="1"/>
          </p:cNvSpPr>
          <p:nvPr/>
        </p:nvSpPr>
        <p:spPr>
          <a:xfrm xmlns:a="http://schemas.openxmlformats.org/drawingml/2006/main">
            <a:off x="685800" y="176212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9351509E-F791-4F59-B51E-0A49719349F3}"/>
              </a:ext>
            </a:extLst>
          </p:cNvPr>
          <p:cNvSpPr>
            <a:spLocks xmlns:a="http://schemas.openxmlformats.org/drawingml/2006/main" noGrp="1"/>
          </p:cNvSpPr>
          <p:nvPr/>
        </p:nvSpPr>
        <p:spPr>
          <a:xfrm xmlns:a="http://schemas.openxmlformats.org/drawingml/2006/main">
            <a:off x="685800" y="1762125"/>
            <a:ext cx="2381250" cy="85725"/>
          </a:xfrm>
          <a:prstGeom xmlns:a="http://schemas.openxmlformats.org/drawingml/2006/main" prst="rect">
            <a:avLst/>
          </a:prstGeom>
          <a:solidFill xmlns:a="http://schemas.openxmlformats.org/drawingml/2006/main">
            <a:srgbClr val="00B8D9"/>
          </a:solidFill>
          <a:ln xmlns:a="http://schemas.openxmlformats.org/drawingml/2006/main" w="9525">
            <a:solidFill>
              <a:srgbClr val="00B8D9"/>
            </a:solidFill>
            <a:prstDash val="solid"/>
          </a:ln>
        </p:spPr>
      </p:sp>
      <p:sp>
        <p:nvSpPr>
          <p:cNvPr id="6" name="">
            <a:extLst xmlns:a="http://schemas.openxmlformats.org/drawingml/2006/main">
              <a:ext uri="{FF2B5EF4-FFF2-40B4-BE49-F238E27FC236}">
                <a16:creationId xmlns:a16="http://schemas.microsoft.com/office/drawing/2014/main" id="{0F870E07-F321-4A5F-9185-E85642EAFBF2}"/>
              </a:ext>
            </a:extLst>
          </p:cNvPr>
          <p:cNvSpPr>
            <a:spLocks xmlns:a="http://schemas.openxmlformats.org/drawingml/2006/main" noGrp="1"/>
          </p:cNvSpPr>
          <p:nvPr/>
        </p:nvSpPr>
        <p:spPr>
          <a:xfrm xmlns:a="http://schemas.openxmlformats.org/drawingml/2006/main">
            <a:off x="895350" y="197167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SPOTIFY</a:t>
            </a:r>
          </a:p>
        </p:txBody>
      </p:sp>
      <p:sp>
        <p:nvSpPr>
          <p:cNvPr id="7" name="">
            <a:extLst xmlns:a="http://schemas.openxmlformats.org/drawingml/2006/main">
              <a:ext uri="{FF2B5EF4-FFF2-40B4-BE49-F238E27FC236}">
                <a16:creationId xmlns:a16="http://schemas.microsoft.com/office/drawing/2014/main" id="{01762E4F-72B7-4359-AAE8-6C37F988C5AD}"/>
              </a:ext>
            </a:extLst>
          </p:cNvPr>
          <p:cNvSpPr>
            <a:spLocks xmlns:a="http://schemas.openxmlformats.org/drawingml/2006/main" noGrp="1"/>
          </p:cNvSpPr>
          <p:nvPr/>
        </p:nvSpPr>
        <p:spPr>
          <a:xfrm xmlns:a="http://schemas.openxmlformats.org/drawingml/2006/main">
            <a:off x="895350" y="248602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catalogo + ascolti</a:t>
            </a:r>
          </a:p>
        </p:txBody>
      </p:sp>
      <p:sp>
        <p:nvSpPr>
          <p:cNvPr id="8" name="">
            <a:extLst xmlns:a="http://schemas.openxmlformats.org/drawingml/2006/main">
              <a:ext uri="{FF2B5EF4-FFF2-40B4-BE49-F238E27FC236}">
                <a16:creationId xmlns:a16="http://schemas.microsoft.com/office/drawing/2014/main" id="{E3A8DC78-85DD-431A-9DAE-D06ACD232F2A}"/>
              </a:ext>
            </a:extLst>
          </p:cNvPr>
          <p:cNvSpPr>
            <a:spLocks xmlns:a="http://schemas.openxmlformats.org/drawingml/2006/main" noGrp="1"/>
          </p:cNvSpPr>
          <p:nvPr/>
        </p:nvSpPr>
        <p:spPr>
          <a:xfrm xmlns:a="http://schemas.openxmlformats.org/drawingml/2006/main">
            <a:off x="3400425" y="176212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14CF9FDE-3EB8-4EBE-8AEC-003D2E87FA88}"/>
              </a:ext>
            </a:extLst>
          </p:cNvPr>
          <p:cNvSpPr>
            <a:spLocks xmlns:a="http://schemas.openxmlformats.org/drawingml/2006/main" noGrp="1"/>
          </p:cNvSpPr>
          <p:nvPr/>
        </p:nvSpPr>
        <p:spPr>
          <a:xfrm xmlns:a="http://schemas.openxmlformats.org/drawingml/2006/main">
            <a:off x="3400425" y="1762125"/>
            <a:ext cx="2381250" cy="85725"/>
          </a:xfrm>
          <a:prstGeom xmlns:a="http://schemas.openxmlformats.org/drawingml/2006/main" prst="rect">
            <a:avLst/>
          </a:prstGeom>
          <a:solidFill xmlns:a="http://schemas.openxmlformats.org/drawingml/2006/main">
            <a:srgbClr val="FF8A4C"/>
          </a:solidFill>
          <a:ln xmlns:a="http://schemas.openxmlformats.org/drawingml/2006/main" w="9525">
            <a:solidFill>
              <a:srgbClr val="FF8A4C"/>
            </a:solidFill>
            <a:prstDash val="solid"/>
          </a:ln>
        </p:spPr>
      </p:sp>
      <p:sp>
        <p:nvSpPr>
          <p:cNvPr id="10" name="">
            <a:extLst xmlns:a="http://schemas.openxmlformats.org/drawingml/2006/main">
              <a:ext uri="{FF2B5EF4-FFF2-40B4-BE49-F238E27FC236}">
                <a16:creationId xmlns:a16="http://schemas.microsoft.com/office/drawing/2014/main" id="{8EBF90C1-2AC9-4338-88B5-4C0ADCC5B0AF}"/>
              </a:ext>
            </a:extLst>
          </p:cNvPr>
          <p:cNvSpPr>
            <a:spLocks xmlns:a="http://schemas.openxmlformats.org/drawingml/2006/main" noGrp="1"/>
          </p:cNvSpPr>
          <p:nvPr/>
        </p:nvSpPr>
        <p:spPr>
          <a:xfrm xmlns:a="http://schemas.openxmlformats.org/drawingml/2006/main">
            <a:off x="3609975" y="197167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UBER</a:t>
            </a:r>
          </a:p>
        </p:txBody>
      </p:sp>
      <p:sp>
        <p:nvSpPr>
          <p:cNvPr id="11" name="">
            <a:extLst xmlns:a="http://schemas.openxmlformats.org/drawingml/2006/main">
              <a:ext uri="{FF2B5EF4-FFF2-40B4-BE49-F238E27FC236}">
                <a16:creationId xmlns:a16="http://schemas.microsoft.com/office/drawing/2014/main" id="{D1D12505-7446-4019-A3EE-7FADCA2F18D5}"/>
              </a:ext>
            </a:extLst>
          </p:cNvPr>
          <p:cNvSpPr>
            <a:spLocks xmlns:a="http://schemas.openxmlformats.org/drawingml/2006/main" noGrp="1"/>
          </p:cNvSpPr>
          <p:nvPr/>
        </p:nvSpPr>
        <p:spPr>
          <a:xfrm xmlns:a="http://schemas.openxmlformats.org/drawingml/2006/main">
            <a:off x="3609975" y="248602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corse + posizione</a:t>
            </a:r>
          </a:p>
        </p:txBody>
      </p:sp>
      <p:sp>
        <p:nvSpPr>
          <p:cNvPr id="12" name="">
            <a:extLst xmlns:a="http://schemas.openxmlformats.org/drawingml/2006/main">
              <a:ext uri="{FF2B5EF4-FFF2-40B4-BE49-F238E27FC236}">
                <a16:creationId xmlns:a16="http://schemas.microsoft.com/office/drawing/2014/main" id="{5C0A6EE6-2C14-4DFF-BF3B-4045E4F708E7}"/>
              </a:ext>
            </a:extLst>
          </p:cNvPr>
          <p:cNvSpPr>
            <a:spLocks xmlns:a="http://schemas.openxmlformats.org/drawingml/2006/main" noGrp="1"/>
          </p:cNvSpPr>
          <p:nvPr/>
        </p:nvSpPr>
        <p:spPr>
          <a:xfrm xmlns:a="http://schemas.openxmlformats.org/drawingml/2006/main">
            <a:off x="6115050" y="176212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9B09BB32-A9C6-4F9C-9D68-8D542B54D69E}"/>
              </a:ext>
            </a:extLst>
          </p:cNvPr>
          <p:cNvSpPr>
            <a:spLocks xmlns:a="http://schemas.openxmlformats.org/drawingml/2006/main" noGrp="1"/>
          </p:cNvSpPr>
          <p:nvPr/>
        </p:nvSpPr>
        <p:spPr>
          <a:xfrm xmlns:a="http://schemas.openxmlformats.org/drawingml/2006/main">
            <a:off x="6115050" y="1762125"/>
            <a:ext cx="2381250" cy="85725"/>
          </a:xfrm>
          <a:prstGeom xmlns:a="http://schemas.openxmlformats.org/drawingml/2006/main" prst="rect">
            <a:avLst/>
          </a:prstGeom>
          <a:solidFill xmlns:a="http://schemas.openxmlformats.org/drawingml/2006/main">
            <a:srgbClr val="7C6EE6"/>
          </a:solidFill>
          <a:ln xmlns:a="http://schemas.openxmlformats.org/drawingml/2006/main" w="9525">
            <a:solidFill>
              <a:srgbClr val="7C6EE6"/>
            </a:solidFill>
            <a:prstDash val="solid"/>
          </a:ln>
        </p:spPr>
      </p:sp>
      <p:sp>
        <p:nvSpPr>
          <p:cNvPr id="14" name="">
            <a:extLst xmlns:a="http://schemas.openxmlformats.org/drawingml/2006/main">
              <a:ext uri="{FF2B5EF4-FFF2-40B4-BE49-F238E27FC236}">
                <a16:creationId xmlns:a16="http://schemas.microsoft.com/office/drawing/2014/main" id="{E6A00CA2-E85B-4D93-A298-CD99769F5362}"/>
              </a:ext>
            </a:extLst>
          </p:cNvPr>
          <p:cNvSpPr>
            <a:spLocks xmlns:a="http://schemas.openxmlformats.org/drawingml/2006/main" noGrp="1"/>
          </p:cNvSpPr>
          <p:nvPr/>
        </p:nvSpPr>
        <p:spPr>
          <a:xfrm xmlns:a="http://schemas.openxmlformats.org/drawingml/2006/main">
            <a:off x="6324600" y="197167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AMAZON</a:t>
            </a:r>
          </a:p>
        </p:txBody>
      </p:sp>
      <p:sp>
        <p:nvSpPr>
          <p:cNvPr id="15" name="">
            <a:extLst xmlns:a="http://schemas.openxmlformats.org/drawingml/2006/main">
              <a:ext uri="{FF2B5EF4-FFF2-40B4-BE49-F238E27FC236}">
                <a16:creationId xmlns:a16="http://schemas.microsoft.com/office/drawing/2014/main" id="{675F15E9-DEA9-42C9-97B7-DE9E4B6AF918}"/>
              </a:ext>
            </a:extLst>
          </p:cNvPr>
          <p:cNvSpPr>
            <a:spLocks xmlns:a="http://schemas.openxmlformats.org/drawingml/2006/main" noGrp="1"/>
          </p:cNvSpPr>
          <p:nvPr/>
        </p:nvSpPr>
        <p:spPr>
          <a:xfrm xmlns:a="http://schemas.openxmlformats.org/drawingml/2006/main">
            <a:off x="6324600" y="248602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ordini + ricerca</a:t>
            </a:r>
          </a:p>
        </p:txBody>
      </p:sp>
      <p:sp>
        <p:nvSpPr>
          <p:cNvPr id="16" name="">
            <a:extLst xmlns:a="http://schemas.openxmlformats.org/drawingml/2006/main">
              <a:ext uri="{FF2B5EF4-FFF2-40B4-BE49-F238E27FC236}">
                <a16:creationId xmlns:a16="http://schemas.microsoft.com/office/drawing/2014/main" id="{15F421DC-6DC3-4C36-A871-DD6DC0B8C0E2}"/>
              </a:ext>
            </a:extLst>
          </p:cNvPr>
          <p:cNvSpPr>
            <a:spLocks xmlns:a="http://schemas.openxmlformats.org/drawingml/2006/main" noGrp="1"/>
          </p:cNvSpPr>
          <p:nvPr/>
        </p:nvSpPr>
        <p:spPr>
          <a:xfrm xmlns:a="http://schemas.openxmlformats.org/drawingml/2006/main">
            <a:off x="8829675" y="176212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D18F05AF-BC6F-4FD3-815C-E7A46B23F55F}"/>
              </a:ext>
            </a:extLst>
          </p:cNvPr>
          <p:cNvSpPr>
            <a:spLocks xmlns:a="http://schemas.openxmlformats.org/drawingml/2006/main" noGrp="1"/>
          </p:cNvSpPr>
          <p:nvPr/>
        </p:nvSpPr>
        <p:spPr>
          <a:xfrm xmlns:a="http://schemas.openxmlformats.org/drawingml/2006/main">
            <a:off x="8829675" y="1762125"/>
            <a:ext cx="2381250" cy="85725"/>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18" name="">
            <a:extLst xmlns:a="http://schemas.openxmlformats.org/drawingml/2006/main">
              <a:ext uri="{FF2B5EF4-FFF2-40B4-BE49-F238E27FC236}">
                <a16:creationId xmlns:a16="http://schemas.microsoft.com/office/drawing/2014/main" id="{764E3C99-9568-4016-A236-75A8849205A1}"/>
              </a:ext>
            </a:extLst>
          </p:cNvPr>
          <p:cNvSpPr>
            <a:spLocks xmlns:a="http://schemas.openxmlformats.org/drawingml/2006/main" noGrp="1"/>
          </p:cNvSpPr>
          <p:nvPr/>
        </p:nvSpPr>
        <p:spPr>
          <a:xfrm xmlns:a="http://schemas.openxmlformats.org/drawingml/2006/main">
            <a:off x="9039225" y="197167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INSTAGRAM</a:t>
            </a:r>
          </a:p>
        </p:txBody>
      </p:sp>
      <p:sp>
        <p:nvSpPr>
          <p:cNvPr id="19" name="">
            <a:extLst xmlns:a="http://schemas.openxmlformats.org/drawingml/2006/main">
              <a:ext uri="{FF2B5EF4-FFF2-40B4-BE49-F238E27FC236}">
                <a16:creationId xmlns:a16="http://schemas.microsoft.com/office/drawing/2014/main" id="{5CC75989-51A7-4396-BD3C-2343A90F8298}"/>
              </a:ext>
            </a:extLst>
          </p:cNvPr>
          <p:cNvSpPr>
            <a:spLocks xmlns:a="http://schemas.openxmlformats.org/drawingml/2006/main" noGrp="1"/>
          </p:cNvSpPr>
          <p:nvPr/>
        </p:nvSpPr>
        <p:spPr>
          <a:xfrm xmlns:a="http://schemas.openxmlformats.org/drawingml/2006/main">
            <a:off x="9039225" y="248602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feed + social</a:t>
            </a:r>
          </a:p>
        </p:txBody>
      </p:sp>
      <p:sp>
        <p:nvSpPr>
          <p:cNvPr id="20" name="">
            <a:extLst xmlns:a="http://schemas.openxmlformats.org/drawingml/2006/main">
              <a:ext uri="{FF2B5EF4-FFF2-40B4-BE49-F238E27FC236}">
                <a16:creationId xmlns:a16="http://schemas.microsoft.com/office/drawing/2014/main" id="{0D926222-9C48-4E7F-B3AE-B59649E0BF20}"/>
              </a:ext>
            </a:extLst>
          </p:cNvPr>
          <p:cNvSpPr>
            <a:spLocks xmlns:a="http://schemas.openxmlformats.org/drawingml/2006/main" noGrp="1"/>
          </p:cNvSpPr>
          <p:nvPr/>
        </p:nvSpPr>
        <p:spPr>
          <a:xfrm xmlns:a="http://schemas.openxmlformats.org/drawingml/2006/main">
            <a:off x="685800" y="338137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17A3E939-35F0-46BC-AEA4-5A2C72EF317A}"/>
              </a:ext>
            </a:extLst>
          </p:cNvPr>
          <p:cNvSpPr>
            <a:spLocks xmlns:a="http://schemas.openxmlformats.org/drawingml/2006/main" noGrp="1"/>
          </p:cNvSpPr>
          <p:nvPr/>
        </p:nvSpPr>
        <p:spPr>
          <a:xfrm xmlns:a="http://schemas.openxmlformats.org/drawingml/2006/main">
            <a:off x="685800" y="3381375"/>
            <a:ext cx="2381250" cy="85725"/>
          </a:xfrm>
          <a:prstGeom xmlns:a="http://schemas.openxmlformats.org/drawingml/2006/main" prst="rect">
            <a:avLst/>
          </a:prstGeom>
          <a:solidFill xmlns:a="http://schemas.openxmlformats.org/drawingml/2006/main">
            <a:srgbClr val="EF5A5A"/>
          </a:solidFill>
          <a:ln xmlns:a="http://schemas.openxmlformats.org/drawingml/2006/main" w="9525">
            <a:solidFill>
              <a:srgbClr val="EF5A5A"/>
            </a:solidFill>
            <a:prstDash val="solid"/>
          </a:ln>
        </p:spPr>
      </p:sp>
      <p:sp>
        <p:nvSpPr>
          <p:cNvPr id="22" name="">
            <a:extLst xmlns:a="http://schemas.openxmlformats.org/drawingml/2006/main">
              <a:ext uri="{FF2B5EF4-FFF2-40B4-BE49-F238E27FC236}">
                <a16:creationId xmlns:a16="http://schemas.microsoft.com/office/drawing/2014/main" id="{285A7729-9A81-4BEC-BBCB-06967A6CA776}"/>
              </a:ext>
            </a:extLst>
          </p:cNvPr>
          <p:cNvSpPr>
            <a:spLocks xmlns:a="http://schemas.openxmlformats.org/drawingml/2006/main" noGrp="1"/>
          </p:cNvSpPr>
          <p:nvPr/>
        </p:nvSpPr>
        <p:spPr>
          <a:xfrm xmlns:a="http://schemas.openxmlformats.org/drawingml/2006/main">
            <a:off x="895350" y="35909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ONLINE GAME</a:t>
            </a:r>
          </a:p>
        </p:txBody>
      </p:sp>
      <p:sp>
        <p:nvSpPr>
          <p:cNvPr id="23" name="">
            <a:extLst xmlns:a="http://schemas.openxmlformats.org/drawingml/2006/main">
              <a:ext uri="{FF2B5EF4-FFF2-40B4-BE49-F238E27FC236}">
                <a16:creationId xmlns:a16="http://schemas.microsoft.com/office/drawing/2014/main" id="{D59BAB84-38C8-4E73-9A5B-336CA3D2E218}"/>
              </a:ext>
            </a:extLst>
          </p:cNvPr>
          <p:cNvSpPr>
            <a:spLocks xmlns:a="http://schemas.openxmlformats.org/drawingml/2006/main" noGrp="1"/>
          </p:cNvSpPr>
          <p:nvPr/>
        </p:nvSpPr>
        <p:spPr>
          <a:xfrm xmlns:a="http://schemas.openxmlformats.org/drawingml/2006/main">
            <a:off x="895350" y="410527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sessioni + ranking</a:t>
            </a:r>
          </a:p>
        </p:txBody>
      </p:sp>
      <p:sp>
        <p:nvSpPr>
          <p:cNvPr id="24" name="">
            <a:extLst xmlns:a="http://schemas.openxmlformats.org/drawingml/2006/main">
              <a:ext uri="{FF2B5EF4-FFF2-40B4-BE49-F238E27FC236}">
                <a16:creationId xmlns:a16="http://schemas.microsoft.com/office/drawing/2014/main" id="{D6ADB00D-9BBF-47C8-90D8-7248E400CA41}"/>
              </a:ext>
            </a:extLst>
          </p:cNvPr>
          <p:cNvSpPr>
            <a:spLocks xmlns:a="http://schemas.openxmlformats.org/drawingml/2006/main" noGrp="1"/>
          </p:cNvSpPr>
          <p:nvPr/>
        </p:nvSpPr>
        <p:spPr>
          <a:xfrm xmlns:a="http://schemas.openxmlformats.org/drawingml/2006/main">
            <a:off x="3400425" y="338137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6905DEC8-96F4-499E-9C2F-5CFE64CFA4BD}"/>
              </a:ext>
            </a:extLst>
          </p:cNvPr>
          <p:cNvSpPr>
            <a:spLocks xmlns:a="http://schemas.openxmlformats.org/drawingml/2006/main" noGrp="1"/>
          </p:cNvSpPr>
          <p:nvPr/>
        </p:nvSpPr>
        <p:spPr>
          <a:xfrm xmlns:a="http://schemas.openxmlformats.org/drawingml/2006/main">
            <a:off x="3400425" y="3381375"/>
            <a:ext cx="2381250" cy="85725"/>
          </a:xfrm>
          <a:prstGeom xmlns:a="http://schemas.openxmlformats.org/drawingml/2006/main" prst="rect">
            <a:avLst/>
          </a:prstGeom>
          <a:solidFill xmlns:a="http://schemas.openxmlformats.org/drawingml/2006/main">
            <a:srgbClr val="27A36A"/>
          </a:solidFill>
          <a:ln xmlns:a="http://schemas.openxmlformats.org/drawingml/2006/main" w="9525">
            <a:solidFill>
              <a:srgbClr val="27A36A"/>
            </a:solidFill>
            <a:prstDash val="solid"/>
          </a:ln>
        </p:spPr>
      </p:sp>
      <p:sp>
        <p:nvSpPr>
          <p:cNvPr id="26" name="">
            <a:extLst xmlns:a="http://schemas.openxmlformats.org/drawingml/2006/main">
              <a:ext uri="{FF2B5EF4-FFF2-40B4-BE49-F238E27FC236}">
                <a16:creationId xmlns:a16="http://schemas.microsoft.com/office/drawing/2014/main" id="{1BC69BC3-D1CF-4CB6-82C6-2DECEEC8667F}"/>
              </a:ext>
            </a:extLst>
          </p:cNvPr>
          <p:cNvSpPr>
            <a:spLocks xmlns:a="http://schemas.openxmlformats.org/drawingml/2006/main" noGrp="1"/>
          </p:cNvSpPr>
          <p:nvPr/>
        </p:nvSpPr>
        <p:spPr>
          <a:xfrm xmlns:a="http://schemas.openxmlformats.org/drawingml/2006/main">
            <a:off x="3609975" y="35909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BANCA</a:t>
            </a:r>
          </a:p>
        </p:txBody>
      </p:sp>
      <p:sp>
        <p:nvSpPr>
          <p:cNvPr id="27" name="">
            <a:extLst xmlns:a="http://schemas.openxmlformats.org/drawingml/2006/main">
              <a:ext uri="{FF2B5EF4-FFF2-40B4-BE49-F238E27FC236}">
                <a16:creationId xmlns:a16="http://schemas.microsoft.com/office/drawing/2014/main" id="{857B7EDC-1CE6-4632-BA87-CA16C55D84DB}"/>
              </a:ext>
            </a:extLst>
          </p:cNvPr>
          <p:cNvSpPr>
            <a:spLocks xmlns:a="http://schemas.openxmlformats.org/drawingml/2006/main" noGrp="1"/>
          </p:cNvSpPr>
          <p:nvPr/>
        </p:nvSpPr>
        <p:spPr>
          <a:xfrm xmlns:a="http://schemas.openxmlformats.org/drawingml/2006/main">
            <a:off x="3609975" y="410527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conto + antifrode</a:t>
            </a:r>
          </a:p>
        </p:txBody>
      </p:sp>
      <p:sp>
        <p:nvSpPr>
          <p:cNvPr id="28" name="">
            <a:extLst xmlns:a="http://schemas.openxmlformats.org/drawingml/2006/main">
              <a:ext uri="{FF2B5EF4-FFF2-40B4-BE49-F238E27FC236}">
                <a16:creationId xmlns:a16="http://schemas.microsoft.com/office/drawing/2014/main" id="{234AF504-7064-45C4-801E-C39CB79E26E3}"/>
              </a:ext>
            </a:extLst>
          </p:cNvPr>
          <p:cNvSpPr>
            <a:spLocks xmlns:a="http://schemas.openxmlformats.org/drawingml/2006/main" noGrp="1"/>
          </p:cNvSpPr>
          <p:nvPr/>
        </p:nvSpPr>
        <p:spPr>
          <a:xfrm xmlns:a="http://schemas.openxmlformats.org/drawingml/2006/main">
            <a:off x="6115050" y="3381375"/>
            <a:ext cx="238125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8DDE3"/>
            </a:solidFill>
            <a:prstDash val="solid"/>
          </a:ln>
        </p:spPr>
      </p:sp>
      <p:sp>
        <p:nvSpPr>
          <p:cNvPr id="29" name="">
            <a:extLst xmlns:a="http://schemas.openxmlformats.org/drawingml/2006/main">
              <a:ext uri="{FF2B5EF4-FFF2-40B4-BE49-F238E27FC236}">
                <a16:creationId xmlns:a16="http://schemas.microsoft.com/office/drawing/2014/main" id="{E3A20266-1183-46FB-82A0-C0761053139A}"/>
              </a:ext>
            </a:extLst>
          </p:cNvPr>
          <p:cNvSpPr>
            <a:spLocks xmlns:a="http://schemas.openxmlformats.org/drawingml/2006/main" noGrp="1"/>
          </p:cNvSpPr>
          <p:nvPr/>
        </p:nvSpPr>
        <p:spPr>
          <a:xfrm xmlns:a="http://schemas.openxmlformats.org/drawingml/2006/main">
            <a:off x="6115050" y="3381375"/>
            <a:ext cx="2381250" cy="85725"/>
          </a:xfrm>
          <a:prstGeom xmlns:a="http://schemas.openxmlformats.org/drawingml/2006/main" prst="rect">
            <a:avLst/>
          </a:prstGeom>
          <a:solidFill xmlns:a="http://schemas.openxmlformats.org/drawingml/2006/main">
            <a:srgbClr val="F4C84A"/>
          </a:solidFill>
          <a:ln xmlns:a="http://schemas.openxmlformats.org/drawingml/2006/main" w="9525">
            <a:solidFill>
              <a:srgbClr val="F4C84A"/>
            </a:solidFill>
            <a:prstDash val="solid"/>
          </a:ln>
        </p:spPr>
      </p:sp>
      <p:sp>
        <p:nvSpPr>
          <p:cNvPr id="30" name="">
            <a:extLst xmlns:a="http://schemas.openxmlformats.org/drawingml/2006/main">
              <a:ext uri="{FF2B5EF4-FFF2-40B4-BE49-F238E27FC236}">
                <a16:creationId xmlns:a16="http://schemas.microsoft.com/office/drawing/2014/main" id="{65200979-14F0-4AC0-BD2C-993AA1BB1C5D}"/>
              </a:ext>
            </a:extLst>
          </p:cNvPr>
          <p:cNvSpPr>
            <a:spLocks xmlns:a="http://schemas.openxmlformats.org/drawingml/2006/main" noGrp="1"/>
          </p:cNvSpPr>
          <p:nvPr/>
        </p:nvSpPr>
        <p:spPr>
          <a:xfrm xmlns:a="http://schemas.openxmlformats.org/drawingml/2006/main">
            <a:off x="6324600" y="35909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SMART CITY</a:t>
            </a:r>
          </a:p>
        </p:txBody>
      </p:sp>
      <p:sp>
        <p:nvSpPr>
          <p:cNvPr id="31" name="">
            <a:extLst xmlns:a="http://schemas.openxmlformats.org/drawingml/2006/main">
              <a:ext uri="{FF2B5EF4-FFF2-40B4-BE49-F238E27FC236}">
                <a16:creationId xmlns:a16="http://schemas.microsoft.com/office/drawing/2014/main" id="{29761319-1155-4721-B80C-5868017E06E5}"/>
              </a:ext>
            </a:extLst>
          </p:cNvPr>
          <p:cNvSpPr>
            <a:spLocks xmlns:a="http://schemas.openxmlformats.org/drawingml/2006/main" noGrp="1"/>
          </p:cNvSpPr>
          <p:nvPr/>
        </p:nvSpPr>
        <p:spPr>
          <a:xfrm xmlns:a="http://schemas.openxmlformats.org/drawingml/2006/main">
            <a:off x="6324600" y="4105275"/>
            <a:ext cx="1962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11827"/>
                </a:solidFill>
              </a:defRPr>
            </a:pPr>
            <a:r>
              <a:rPr sz="1425" b="0">
                <a:solidFill>
                  <a:srgbClr val="111827"/>
                </a:solidFill>
              </a:rPr>
              <a:t>sensori + incidenti</a:t>
            </a:r>
          </a:p>
        </p:txBody>
      </p:sp>
      <p:sp>
        <p:nvSpPr>
          <p:cNvPr id="32" name="">
            <a:extLst xmlns:a="http://schemas.openxmlformats.org/drawingml/2006/main">
              <a:ext uri="{FF2B5EF4-FFF2-40B4-BE49-F238E27FC236}">
                <a16:creationId xmlns:a16="http://schemas.microsoft.com/office/drawing/2014/main" id="{35CCB117-AF65-4E17-8B9F-70706413D193}"/>
              </a:ext>
            </a:extLst>
          </p:cNvPr>
          <p:cNvSpPr>
            <a:spLocks xmlns:a="http://schemas.openxmlformats.org/drawingml/2006/main" noGrp="1"/>
          </p:cNvSpPr>
          <p:nvPr/>
        </p:nvSpPr>
        <p:spPr>
          <a:xfrm xmlns:a="http://schemas.openxmlformats.org/drawingml/2006/main">
            <a:off x="2571750" y="538162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1F33"/>
                </a:solidFill>
              </a:defRPr>
            </a:pPr>
            <a:r>
              <a:rPr sz="1650" b="1">
                <a:solidFill>
                  <a:srgbClr val="0B1F33"/>
                </a:solidFill>
              </a:rPr>
              <a:t>Il docente può assegnare scenari o lasciare una scelta motivata.</a:t>
            </a:r>
          </a:p>
        </p:txBody>
      </p:sp>
    </p:spTree>
    <p:extLst>
      <p:ext uri="{BB962C8B-B14F-4D97-AF65-F5344CB8AC3E}">
        <p14:creationId xmlns:p14="http://schemas.microsoft.com/office/powerpoint/2010/main" val="464618465"/>
      </p:ext>
    </p:extLst>
  </p:cSld>
</p:sld>
</file>

<file path=ppt/slides/slide4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8947D9-304A-480B-81E0-7B0A3BF59043}"/>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CONSEGNA</a:t>
            </a:r>
          </a:p>
        </p:txBody>
      </p:sp>
      <p:sp>
        <p:nvSpPr>
          <p:cNvPr id="2" name="">
            <a:extLst xmlns:a="http://schemas.openxmlformats.org/drawingml/2006/main">
              <a:ext uri="{FF2B5EF4-FFF2-40B4-BE49-F238E27FC236}">
                <a16:creationId xmlns:a16="http://schemas.microsoft.com/office/drawing/2014/main" id="{75FA42D0-BA33-4F74-A433-478860BFA747}"/>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Deliverable: un’architettura che sa spiegare i guasti</a:t>
            </a:r>
          </a:p>
        </p:txBody>
      </p:sp>
      <p:sp>
        <p:nvSpPr>
          <p:cNvPr id="3" name="">
            <a:extLst xmlns:a="http://schemas.openxmlformats.org/drawingml/2006/main">
              <a:ext uri="{FF2B5EF4-FFF2-40B4-BE49-F238E27FC236}">
                <a16:creationId xmlns:a16="http://schemas.microsoft.com/office/drawing/2014/main" id="{163800E2-4425-4427-BF6D-508CCA124E2D}"/>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43</a:t>
            </a:r>
          </a:p>
        </p:txBody>
      </p:sp>
      <p:sp>
        <p:nvSpPr>
          <p:cNvPr id="4" name="">
            <a:extLst xmlns:a="http://schemas.openxmlformats.org/drawingml/2006/main">
              <a:ext uri="{FF2B5EF4-FFF2-40B4-BE49-F238E27FC236}">
                <a16:creationId xmlns:a16="http://schemas.microsoft.com/office/drawing/2014/main" id="{7E1D1FD2-4A9D-4D8A-8EB6-58BBC119CEF5}"/>
              </a:ext>
            </a:extLst>
          </p:cNvPr>
          <p:cNvSpPr>
            <a:spLocks xmlns:a="http://schemas.openxmlformats.org/drawingml/2006/main" noGrp="1"/>
          </p:cNvSpPr>
          <p:nvPr/>
        </p:nvSpPr>
        <p:spPr>
          <a:xfrm xmlns:a="http://schemas.openxmlformats.org/drawingml/2006/main">
            <a:off x="685800" y="1571625"/>
            <a:ext cx="5095875" cy="1047750"/>
          </a:xfrm>
          <a:prstGeom xmlns:a="http://schemas.openxmlformats.org/drawingml/2006/main" prst="roundRect">
            <a:avLst>
              <a:gd name="adj" fmla="val 7273"/>
            </a:avLst>
          </a:prstGeom>
          <a:solidFill xmlns:a="http://schemas.openxmlformats.org/drawingml/2006/main">
            <a:srgbClr val="E8F7FA"/>
          </a:solidFill>
          <a:ln xmlns:a="http://schemas.openxmlformats.org/drawingml/2006/main" w="9525">
            <a:solidFill>
              <a:srgbClr val="D8DDE3"/>
            </a:solidFill>
            <a:prstDash val="solid"/>
          </a:ln>
        </p:spPr>
      </p:sp>
      <p:sp>
        <p:nvSpPr>
          <p:cNvPr id="5" name="">
            <a:extLst xmlns:a="http://schemas.openxmlformats.org/drawingml/2006/main">
              <a:ext uri="{FF2B5EF4-FFF2-40B4-BE49-F238E27FC236}">
                <a16:creationId xmlns:a16="http://schemas.microsoft.com/office/drawing/2014/main" id="{C224DD96-5E36-462B-85F3-F9EAA33B1ECF}"/>
              </a:ext>
            </a:extLst>
          </p:cNvPr>
          <p:cNvSpPr>
            <a:spLocks xmlns:a="http://schemas.openxmlformats.org/drawingml/2006/main" noGrp="1"/>
          </p:cNvSpPr>
          <p:nvPr/>
        </p:nvSpPr>
        <p:spPr>
          <a:xfrm xmlns:a="http://schemas.openxmlformats.org/drawingml/2006/main">
            <a:off x="904875" y="1838325"/>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0B8D9"/>
                </a:solidFill>
              </a:defRPr>
            </a:pPr>
            <a:r>
              <a:rPr sz="1725" b="1">
                <a:solidFill>
                  <a:srgbClr val="00B8D9"/>
                </a:solidFill>
              </a:rPr>
              <a:t>1</a:t>
            </a:r>
          </a:p>
        </p:txBody>
      </p:sp>
      <p:sp>
        <p:nvSpPr>
          <p:cNvPr id="6" name="">
            <a:extLst xmlns:a="http://schemas.openxmlformats.org/drawingml/2006/main">
              <a:ext uri="{FF2B5EF4-FFF2-40B4-BE49-F238E27FC236}">
                <a16:creationId xmlns:a16="http://schemas.microsoft.com/office/drawing/2014/main" id="{C79D1FD6-7298-42AA-B91D-4388A7FBAF75}"/>
              </a:ext>
            </a:extLst>
          </p:cNvPr>
          <p:cNvSpPr>
            <a:spLocks xmlns:a="http://schemas.openxmlformats.org/drawingml/2006/main" noGrp="1"/>
          </p:cNvSpPr>
          <p:nvPr/>
        </p:nvSpPr>
        <p:spPr>
          <a:xfrm xmlns:a="http://schemas.openxmlformats.org/drawingml/2006/main">
            <a:off x="1619250" y="1743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CONTEXT MAP</a:t>
            </a:r>
          </a:p>
        </p:txBody>
      </p:sp>
      <p:sp>
        <p:nvSpPr>
          <p:cNvPr id="7" name="">
            <a:extLst xmlns:a="http://schemas.openxmlformats.org/drawingml/2006/main">
              <a:ext uri="{FF2B5EF4-FFF2-40B4-BE49-F238E27FC236}">
                <a16:creationId xmlns:a16="http://schemas.microsoft.com/office/drawing/2014/main" id="{3BCAB6BD-01CE-4A83-9EFA-873BC69E362B}"/>
              </a:ext>
            </a:extLst>
          </p:cNvPr>
          <p:cNvSpPr>
            <a:spLocks xmlns:a="http://schemas.openxmlformats.org/drawingml/2006/main" noGrp="1"/>
          </p:cNvSpPr>
          <p:nvPr/>
        </p:nvSpPr>
        <p:spPr>
          <a:xfrm xmlns:a="http://schemas.openxmlformats.org/drawingml/2006/main">
            <a:off x="1619250" y="21145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827"/>
                </a:solidFill>
              </a:defRPr>
            </a:pPr>
            <a:r>
              <a:rPr sz="1350" b="0">
                <a:solidFill>
                  <a:srgbClr val="111827"/>
                </a:solidFill>
              </a:rPr>
              <a:t>chi possiede che cosa</a:t>
            </a:r>
          </a:p>
        </p:txBody>
      </p:sp>
      <p:sp>
        <p:nvSpPr>
          <p:cNvPr id="8" name="">
            <a:extLst xmlns:a="http://schemas.openxmlformats.org/drawingml/2006/main">
              <a:ext uri="{FF2B5EF4-FFF2-40B4-BE49-F238E27FC236}">
                <a16:creationId xmlns:a16="http://schemas.microsoft.com/office/drawing/2014/main" id="{F363A1AB-EB27-475F-B3B6-71FE98BCC318}"/>
              </a:ext>
            </a:extLst>
          </p:cNvPr>
          <p:cNvSpPr>
            <a:spLocks xmlns:a="http://schemas.openxmlformats.org/drawingml/2006/main" noGrp="1"/>
          </p:cNvSpPr>
          <p:nvPr/>
        </p:nvSpPr>
        <p:spPr>
          <a:xfrm xmlns:a="http://schemas.openxmlformats.org/drawingml/2006/main">
            <a:off x="6115050" y="15716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9" name="">
            <a:extLst xmlns:a="http://schemas.openxmlformats.org/drawingml/2006/main">
              <a:ext uri="{FF2B5EF4-FFF2-40B4-BE49-F238E27FC236}">
                <a16:creationId xmlns:a16="http://schemas.microsoft.com/office/drawing/2014/main" id="{2EDCFC46-0F2E-4AD8-80B7-BD78F6F9D9E2}"/>
              </a:ext>
            </a:extLst>
          </p:cNvPr>
          <p:cNvSpPr>
            <a:spLocks xmlns:a="http://schemas.openxmlformats.org/drawingml/2006/main" noGrp="1"/>
          </p:cNvSpPr>
          <p:nvPr/>
        </p:nvSpPr>
        <p:spPr>
          <a:xfrm xmlns:a="http://schemas.openxmlformats.org/drawingml/2006/main">
            <a:off x="6334125" y="1838325"/>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8A4C"/>
                </a:solidFill>
              </a:defRPr>
            </a:pPr>
            <a:r>
              <a:rPr sz="1725" b="1">
                <a:solidFill>
                  <a:srgbClr val="FF8A4C"/>
                </a:solidFill>
              </a:rPr>
              <a:t>2</a:t>
            </a:r>
          </a:p>
        </p:txBody>
      </p:sp>
      <p:sp>
        <p:nvSpPr>
          <p:cNvPr id="10" name="">
            <a:extLst xmlns:a="http://schemas.openxmlformats.org/drawingml/2006/main">
              <a:ext uri="{FF2B5EF4-FFF2-40B4-BE49-F238E27FC236}">
                <a16:creationId xmlns:a16="http://schemas.microsoft.com/office/drawing/2014/main" id="{5BF5FE93-E41D-4C9A-A486-9FBC48645E5B}"/>
              </a:ext>
            </a:extLst>
          </p:cNvPr>
          <p:cNvSpPr>
            <a:spLocks xmlns:a="http://schemas.openxmlformats.org/drawingml/2006/main" noGrp="1"/>
          </p:cNvSpPr>
          <p:nvPr/>
        </p:nvSpPr>
        <p:spPr>
          <a:xfrm xmlns:a="http://schemas.openxmlformats.org/drawingml/2006/main">
            <a:off x="7048500" y="1743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DATA MATRIX</a:t>
            </a:r>
          </a:p>
        </p:txBody>
      </p:sp>
      <p:sp>
        <p:nvSpPr>
          <p:cNvPr id="11" name="">
            <a:extLst xmlns:a="http://schemas.openxmlformats.org/drawingml/2006/main">
              <a:ext uri="{FF2B5EF4-FFF2-40B4-BE49-F238E27FC236}">
                <a16:creationId xmlns:a16="http://schemas.microsoft.com/office/drawing/2014/main" id="{2FFD2A24-58EC-4D9C-8A75-B0E3CB3813ED}"/>
              </a:ext>
            </a:extLst>
          </p:cNvPr>
          <p:cNvSpPr>
            <a:spLocks xmlns:a="http://schemas.openxmlformats.org/drawingml/2006/main" noGrp="1"/>
          </p:cNvSpPr>
          <p:nvPr/>
        </p:nvSpPr>
        <p:spPr>
          <a:xfrm xmlns:a="http://schemas.openxmlformats.org/drawingml/2006/main">
            <a:off x="7048500" y="21145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827"/>
                </a:solidFill>
              </a:defRPr>
            </a:pPr>
            <a:r>
              <a:rPr sz="1350" b="0">
                <a:solidFill>
                  <a:srgbClr val="111827"/>
                </a:solidFill>
              </a:rPr>
              <a:t>source + projections</a:t>
            </a:r>
          </a:p>
        </p:txBody>
      </p:sp>
      <p:sp>
        <p:nvSpPr>
          <p:cNvPr id="12" name="">
            <a:extLst xmlns:a="http://schemas.openxmlformats.org/drawingml/2006/main">
              <a:ext uri="{FF2B5EF4-FFF2-40B4-BE49-F238E27FC236}">
                <a16:creationId xmlns:a16="http://schemas.microsoft.com/office/drawing/2014/main" id="{A6DEE4E4-D9D5-4903-9F4C-0AACE3269D9A}"/>
              </a:ext>
            </a:extLst>
          </p:cNvPr>
          <p:cNvSpPr>
            <a:spLocks xmlns:a="http://schemas.openxmlformats.org/drawingml/2006/main" noGrp="1"/>
          </p:cNvSpPr>
          <p:nvPr/>
        </p:nvSpPr>
        <p:spPr>
          <a:xfrm xmlns:a="http://schemas.openxmlformats.org/drawingml/2006/main">
            <a:off x="685800" y="2905125"/>
            <a:ext cx="5095875" cy="1047750"/>
          </a:xfrm>
          <a:prstGeom xmlns:a="http://schemas.openxmlformats.org/drawingml/2006/main" prst="roundRect">
            <a:avLst>
              <a:gd name="adj" fmla="val 7273"/>
            </a:avLst>
          </a:prstGeom>
          <a:solidFill xmlns:a="http://schemas.openxmlformats.org/drawingml/2006/main">
            <a:srgbClr val="E8F7FA"/>
          </a:solidFill>
          <a:ln xmlns:a="http://schemas.openxmlformats.org/drawingml/2006/main" w="9525">
            <a:solidFill>
              <a:srgbClr val="D8DDE3"/>
            </a:solidFill>
            <a:prstDash val="solid"/>
          </a:ln>
        </p:spPr>
      </p:sp>
      <p:sp>
        <p:nvSpPr>
          <p:cNvPr id="13" name="">
            <a:extLst xmlns:a="http://schemas.openxmlformats.org/drawingml/2006/main">
              <a:ext uri="{FF2B5EF4-FFF2-40B4-BE49-F238E27FC236}">
                <a16:creationId xmlns:a16="http://schemas.microsoft.com/office/drawing/2014/main" id="{A0C38566-D0B8-46B3-9F30-24BBB7DDD114}"/>
              </a:ext>
            </a:extLst>
          </p:cNvPr>
          <p:cNvSpPr>
            <a:spLocks xmlns:a="http://schemas.openxmlformats.org/drawingml/2006/main" noGrp="1"/>
          </p:cNvSpPr>
          <p:nvPr/>
        </p:nvSpPr>
        <p:spPr>
          <a:xfrm xmlns:a="http://schemas.openxmlformats.org/drawingml/2006/main">
            <a:off x="904875" y="3171825"/>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7C6EE6"/>
                </a:solidFill>
              </a:defRPr>
            </a:pPr>
            <a:r>
              <a:rPr sz="1725" b="1">
                <a:solidFill>
                  <a:srgbClr val="7C6EE6"/>
                </a:solidFill>
              </a:rPr>
              <a:t>3</a:t>
            </a:r>
          </a:p>
        </p:txBody>
      </p:sp>
      <p:sp>
        <p:nvSpPr>
          <p:cNvPr id="14" name="">
            <a:extLst xmlns:a="http://schemas.openxmlformats.org/drawingml/2006/main">
              <a:ext uri="{FF2B5EF4-FFF2-40B4-BE49-F238E27FC236}">
                <a16:creationId xmlns:a16="http://schemas.microsoft.com/office/drawing/2014/main" id="{245C1FAE-1636-44F6-9D0A-03962E275BFC}"/>
              </a:ext>
            </a:extLst>
          </p:cNvPr>
          <p:cNvSpPr>
            <a:spLocks xmlns:a="http://schemas.openxmlformats.org/drawingml/2006/main" noGrp="1"/>
          </p:cNvSpPr>
          <p:nvPr/>
        </p:nvSpPr>
        <p:spPr>
          <a:xfrm xmlns:a="http://schemas.openxmlformats.org/drawingml/2006/main">
            <a:off x="1619250" y="30765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WRITE FLOW</a:t>
            </a:r>
          </a:p>
        </p:txBody>
      </p:sp>
      <p:sp>
        <p:nvSpPr>
          <p:cNvPr id="15" name="">
            <a:extLst xmlns:a="http://schemas.openxmlformats.org/drawingml/2006/main">
              <a:ext uri="{FF2B5EF4-FFF2-40B4-BE49-F238E27FC236}">
                <a16:creationId xmlns:a16="http://schemas.microsoft.com/office/drawing/2014/main" id="{B065FEA7-8B88-4067-91DA-23519ACFA6E1}"/>
              </a:ext>
            </a:extLst>
          </p:cNvPr>
          <p:cNvSpPr>
            <a:spLocks xmlns:a="http://schemas.openxmlformats.org/drawingml/2006/main" noGrp="1"/>
          </p:cNvSpPr>
          <p:nvPr/>
        </p:nvSpPr>
        <p:spPr>
          <a:xfrm xmlns:a="http://schemas.openxmlformats.org/drawingml/2006/main">
            <a:off x="1619250" y="34480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827"/>
                </a:solidFill>
              </a:defRPr>
            </a:pPr>
            <a:r>
              <a:rPr sz="1350" b="0">
                <a:solidFill>
                  <a:srgbClr val="111827"/>
                </a:solidFill>
              </a:rPr>
              <a:t>outbox / API / saga</a:t>
            </a:r>
          </a:p>
        </p:txBody>
      </p:sp>
      <p:sp>
        <p:nvSpPr>
          <p:cNvPr id="16" name="">
            <a:extLst xmlns:a="http://schemas.openxmlformats.org/drawingml/2006/main">
              <a:ext uri="{FF2B5EF4-FFF2-40B4-BE49-F238E27FC236}">
                <a16:creationId xmlns:a16="http://schemas.microsoft.com/office/drawing/2014/main" id="{B16760B5-18C2-4458-B78D-40306CF9ED15}"/>
              </a:ext>
            </a:extLst>
          </p:cNvPr>
          <p:cNvSpPr>
            <a:spLocks xmlns:a="http://schemas.openxmlformats.org/drawingml/2006/main" noGrp="1"/>
          </p:cNvSpPr>
          <p:nvPr/>
        </p:nvSpPr>
        <p:spPr>
          <a:xfrm xmlns:a="http://schemas.openxmlformats.org/drawingml/2006/main">
            <a:off x="6115050" y="29051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17" name="">
            <a:extLst xmlns:a="http://schemas.openxmlformats.org/drawingml/2006/main">
              <a:ext uri="{FF2B5EF4-FFF2-40B4-BE49-F238E27FC236}">
                <a16:creationId xmlns:a16="http://schemas.microsoft.com/office/drawing/2014/main" id="{43D8D636-53BF-4D2C-BABD-B1B375251FBB}"/>
              </a:ext>
            </a:extLst>
          </p:cNvPr>
          <p:cNvSpPr>
            <a:spLocks xmlns:a="http://schemas.openxmlformats.org/drawingml/2006/main" noGrp="1"/>
          </p:cNvSpPr>
          <p:nvPr/>
        </p:nvSpPr>
        <p:spPr>
          <a:xfrm xmlns:a="http://schemas.openxmlformats.org/drawingml/2006/main">
            <a:off x="6334125" y="3171825"/>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B7E34B"/>
                </a:solidFill>
              </a:defRPr>
            </a:pPr>
            <a:r>
              <a:rPr sz="1725" b="1">
                <a:solidFill>
                  <a:srgbClr val="B7E34B"/>
                </a:solidFill>
              </a:rPr>
              <a:t>4</a:t>
            </a:r>
          </a:p>
        </p:txBody>
      </p:sp>
      <p:sp>
        <p:nvSpPr>
          <p:cNvPr id="18" name="">
            <a:extLst xmlns:a="http://schemas.openxmlformats.org/drawingml/2006/main">
              <a:ext uri="{FF2B5EF4-FFF2-40B4-BE49-F238E27FC236}">
                <a16:creationId xmlns:a16="http://schemas.microsoft.com/office/drawing/2014/main" id="{B2119B76-7A34-4E75-892B-4873539C08C5}"/>
              </a:ext>
            </a:extLst>
          </p:cNvPr>
          <p:cNvSpPr>
            <a:spLocks xmlns:a="http://schemas.openxmlformats.org/drawingml/2006/main" noGrp="1"/>
          </p:cNvSpPr>
          <p:nvPr/>
        </p:nvSpPr>
        <p:spPr>
          <a:xfrm xmlns:a="http://schemas.openxmlformats.org/drawingml/2006/main">
            <a:off x="7048500" y="30765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READ FLOW</a:t>
            </a:r>
          </a:p>
        </p:txBody>
      </p:sp>
      <p:sp>
        <p:nvSpPr>
          <p:cNvPr id="19" name="">
            <a:extLst xmlns:a="http://schemas.openxmlformats.org/drawingml/2006/main">
              <a:ext uri="{FF2B5EF4-FFF2-40B4-BE49-F238E27FC236}">
                <a16:creationId xmlns:a16="http://schemas.microsoft.com/office/drawing/2014/main" id="{71C82508-21AF-4A25-BBAB-509E0E40682C}"/>
              </a:ext>
            </a:extLst>
          </p:cNvPr>
          <p:cNvSpPr>
            <a:spLocks xmlns:a="http://schemas.openxmlformats.org/drawingml/2006/main" noGrp="1"/>
          </p:cNvSpPr>
          <p:nvPr/>
        </p:nvSpPr>
        <p:spPr>
          <a:xfrm xmlns:a="http://schemas.openxmlformats.org/drawingml/2006/main">
            <a:off x="7048500" y="34480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827"/>
                </a:solidFill>
              </a:defRPr>
            </a:pPr>
            <a:r>
              <a:rPr sz="1350" b="0">
                <a:solidFill>
                  <a:srgbClr val="111827"/>
                </a:solidFill>
              </a:rPr>
              <a:t>composition / CQRS / cache</a:t>
            </a:r>
          </a:p>
        </p:txBody>
      </p:sp>
      <p:sp>
        <p:nvSpPr>
          <p:cNvPr id="20" name="">
            <a:extLst xmlns:a="http://schemas.openxmlformats.org/drawingml/2006/main">
              <a:ext uri="{FF2B5EF4-FFF2-40B4-BE49-F238E27FC236}">
                <a16:creationId xmlns:a16="http://schemas.microsoft.com/office/drawing/2014/main" id="{8A002F54-63C2-4118-83C1-99A39F3ABEC2}"/>
              </a:ext>
            </a:extLst>
          </p:cNvPr>
          <p:cNvSpPr>
            <a:spLocks xmlns:a="http://schemas.openxmlformats.org/drawingml/2006/main" noGrp="1"/>
          </p:cNvSpPr>
          <p:nvPr/>
        </p:nvSpPr>
        <p:spPr>
          <a:xfrm xmlns:a="http://schemas.openxmlformats.org/drawingml/2006/main">
            <a:off x="685800" y="4238625"/>
            <a:ext cx="5095875" cy="1047750"/>
          </a:xfrm>
          <a:prstGeom xmlns:a="http://schemas.openxmlformats.org/drawingml/2006/main" prst="roundRect">
            <a:avLst>
              <a:gd name="adj" fmla="val 7273"/>
            </a:avLst>
          </a:prstGeom>
          <a:solidFill xmlns:a="http://schemas.openxmlformats.org/drawingml/2006/main">
            <a:srgbClr val="E8F7FA"/>
          </a:solidFill>
          <a:ln xmlns:a="http://schemas.openxmlformats.org/drawingml/2006/main" w="9525">
            <a:solidFill>
              <a:srgbClr val="D8DDE3"/>
            </a:solidFill>
            <a:prstDash val="solid"/>
          </a:ln>
        </p:spPr>
      </p:sp>
      <p:sp>
        <p:nvSpPr>
          <p:cNvPr id="21" name="">
            <a:extLst xmlns:a="http://schemas.openxmlformats.org/drawingml/2006/main">
              <a:ext uri="{FF2B5EF4-FFF2-40B4-BE49-F238E27FC236}">
                <a16:creationId xmlns:a16="http://schemas.microsoft.com/office/drawing/2014/main" id="{ACADDD2B-5845-4581-BEE5-02CE6C47F7FE}"/>
              </a:ext>
            </a:extLst>
          </p:cNvPr>
          <p:cNvSpPr>
            <a:spLocks xmlns:a="http://schemas.openxmlformats.org/drawingml/2006/main" noGrp="1"/>
          </p:cNvSpPr>
          <p:nvPr/>
        </p:nvSpPr>
        <p:spPr>
          <a:xfrm xmlns:a="http://schemas.openxmlformats.org/drawingml/2006/main">
            <a:off x="904875" y="4505325"/>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F5A5A"/>
                </a:solidFill>
              </a:defRPr>
            </a:pPr>
            <a:r>
              <a:rPr sz="1725" b="1">
                <a:solidFill>
                  <a:srgbClr val="EF5A5A"/>
                </a:solidFill>
              </a:rPr>
              <a:t>5</a:t>
            </a:r>
          </a:p>
        </p:txBody>
      </p:sp>
      <p:sp>
        <p:nvSpPr>
          <p:cNvPr id="22" name="">
            <a:extLst xmlns:a="http://schemas.openxmlformats.org/drawingml/2006/main">
              <a:ext uri="{FF2B5EF4-FFF2-40B4-BE49-F238E27FC236}">
                <a16:creationId xmlns:a16="http://schemas.microsoft.com/office/drawing/2014/main" id="{F5DDB709-A33E-4FA2-B29E-25C932C44465}"/>
              </a:ext>
            </a:extLst>
          </p:cNvPr>
          <p:cNvSpPr>
            <a:spLocks xmlns:a="http://schemas.openxmlformats.org/drawingml/2006/main" noGrp="1"/>
          </p:cNvSpPr>
          <p:nvPr/>
        </p:nvSpPr>
        <p:spPr>
          <a:xfrm xmlns:a="http://schemas.openxmlformats.org/drawingml/2006/main">
            <a:off x="1619250" y="4410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FAILURE DRILL</a:t>
            </a:r>
          </a:p>
        </p:txBody>
      </p:sp>
      <p:sp>
        <p:nvSpPr>
          <p:cNvPr id="23" name="">
            <a:extLst xmlns:a="http://schemas.openxmlformats.org/drawingml/2006/main">
              <a:ext uri="{FF2B5EF4-FFF2-40B4-BE49-F238E27FC236}">
                <a16:creationId xmlns:a16="http://schemas.microsoft.com/office/drawing/2014/main" id="{7E531FC6-1F85-46E9-91F0-3C51628900A5}"/>
              </a:ext>
            </a:extLst>
          </p:cNvPr>
          <p:cNvSpPr>
            <a:spLocks xmlns:a="http://schemas.openxmlformats.org/drawingml/2006/main" noGrp="1"/>
          </p:cNvSpPr>
          <p:nvPr/>
        </p:nvSpPr>
        <p:spPr>
          <a:xfrm xmlns:a="http://schemas.openxmlformats.org/drawingml/2006/main">
            <a:off x="1619250" y="47815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827"/>
                </a:solidFill>
              </a:defRPr>
            </a:pPr>
            <a:r>
              <a:rPr sz="1350" b="0">
                <a:solidFill>
                  <a:srgbClr val="111827"/>
                </a:solidFill>
              </a:rPr>
              <a:t>lag, duplicate, outage</a:t>
            </a:r>
          </a:p>
        </p:txBody>
      </p:sp>
      <p:sp>
        <p:nvSpPr>
          <p:cNvPr id="24" name="">
            <a:extLst xmlns:a="http://schemas.openxmlformats.org/drawingml/2006/main">
              <a:ext uri="{FF2B5EF4-FFF2-40B4-BE49-F238E27FC236}">
                <a16:creationId xmlns:a16="http://schemas.microsoft.com/office/drawing/2014/main" id="{53927C4F-AFCB-4438-A4EA-955F01B791E0}"/>
              </a:ext>
            </a:extLst>
          </p:cNvPr>
          <p:cNvSpPr>
            <a:spLocks xmlns:a="http://schemas.openxmlformats.org/drawingml/2006/main" noGrp="1"/>
          </p:cNvSpPr>
          <p:nvPr/>
        </p:nvSpPr>
        <p:spPr>
          <a:xfrm xmlns:a="http://schemas.openxmlformats.org/drawingml/2006/main">
            <a:off x="6115050" y="4238625"/>
            <a:ext cx="5095875"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8DDE3"/>
            </a:solidFill>
            <a:prstDash val="solid"/>
          </a:ln>
        </p:spPr>
      </p:sp>
      <p:sp>
        <p:nvSpPr>
          <p:cNvPr id="25" name="">
            <a:extLst xmlns:a="http://schemas.openxmlformats.org/drawingml/2006/main">
              <a:ext uri="{FF2B5EF4-FFF2-40B4-BE49-F238E27FC236}">
                <a16:creationId xmlns:a16="http://schemas.microsoft.com/office/drawing/2014/main" id="{87BA81FE-6029-46AC-B30D-DE082A71CB8F}"/>
              </a:ext>
            </a:extLst>
          </p:cNvPr>
          <p:cNvSpPr>
            <a:spLocks xmlns:a="http://schemas.openxmlformats.org/drawingml/2006/main" noGrp="1"/>
          </p:cNvSpPr>
          <p:nvPr/>
        </p:nvSpPr>
        <p:spPr>
          <a:xfrm xmlns:a="http://schemas.openxmlformats.org/drawingml/2006/main">
            <a:off x="6334125" y="4505325"/>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7A36A"/>
                </a:solidFill>
              </a:defRPr>
            </a:pPr>
            <a:r>
              <a:rPr sz="1725" b="1">
                <a:solidFill>
                  <a:srgbClr val="27A36A"/>
                </a:solidFill>
              </a:rPr>
              <a:t>6</a:t>
            </a:r>
          </a:p>
        </p:txBody>
      </p:sp>
      <p:sp>
        <p:nvSpPr>
          <p:cNvPr id="26" name="">
            <a:extLst xmlns:a="http://schemas.openxmlformats.org/drawingml/2006/main">
              <a:ext uri="{FF2B5EF4-FFF2-40B4-BE49-F238E27FC236}">
                <a16:creationId xmlns:a16="http://schemas.microsoft.com/office/drawing/2014/main" id="{B6460EB7-9799-4E92-A8E8-13B28682F97E}"/>
              </a:ext>
            </a:extLst>
          </p:cNvPr>
          <p:cNvSpPr>
            <a:spLocks xmlns:a="http://schemas.openxmlformats.org/drawingml/2006/main" noGrp="1"/>
          </p:cNvSpPr>
          <p:nvPr/>
        </p:nvSpPr>
        <p:spPr>
          <a:xfrm xmlns:a="http://schemas.openxmlformats.org/drawingml/2006/main">
            <a:off x="7048500" y="4410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SCORECARD</a:t>
            </a:r>
          </a:p>
        </p:txBody>
      </p:sp>
      <p:sp>
        <p:nvSpPr>
          <p:cNvPr id="27" name="">
            <a:extLst xmlns:a="http://schemas.openxmlformats.org/drawingml/2006/main">
              <a:ext uri="{FF2B5EF4-FFF2-40B4-BE49-F238E27FC236}">
                <a16:creationId xmlns:a16="http://schemas.microsoft.com/office/drawing/2014/main" id="{49DD1095-BA75-4D8F-A884-6ED3737501DC}"/>
              </a:ext>
            </a:extLst>
          </p:cNvPr>
          <p:cNvSpPr>
            <a:spLocks xmlns:a="http://schemas.openxmlformats.org/drawingml/2006/main" noGrp="1"/>
          </p:cNvSpPr>
          <p:nvPr/>
        </p:nvSpPr>
        <p:spPr>
          <a:xfrm xmlns:a="http://schemas.openxmlformats.org/drawingml/2006/main">
            <a:off x="7048500" y="47815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827"/>
                </a:solidFill>
              </a:defRPr>
            </a:pPr>
            <a:r>
              <a:rPr sz="1350" b="0">
                <a:solidFill>
                  <a:srgbClr val="111827"/>
                </a:solidFill>
              </a:rPr>
              <a:t>fit, recovery, TCO</a:t>
            </a:r>
          </a:p>
        </p:txBody>
      </p:sp>
      <p:sp>
        <p:nvSpPr>
          <p:cNvPr id="28" name="">
            <a:extLst xmlns:a="http://schemas.openxmlformats.org/drawingml/2006/main">
              <a:ext uri="{FF2B5EF4-FFF2-40B4-BE49-F238E27FC236}">
                <a16:creationId xmlns:a16="http://schemas.microsoft.com/office/drawing/2014/main" id="{1E9BF0B1-6299-4BF0-B5A7-93EE47E1EFA2}"/>
              </a:ext>
            </a:extLst>
          </p:cNvPr>
          <p:cNvSpPr>
            <a:spLocks xmlns:a="http://schemas.openxmlformats.org/drawingml/2006/main" noGrp="1"/>
          </p:cNvSpPr>
          <p:nvPr/>
        </p:nvSpPr>
        <p:spPr>
          <a:xfrm xmlns:a="http://schemas.openxmlformats.org/drawingml/2006/main">
            <a:off x="2476500" y="57150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EF5A5A"/>
                </a:solidFill>
              </a:defRPr>
            </a:pPr>
            <a:r>
              <a:rPr sz="1575" b="1">
                <a:solidFill>
                  <a:srgbClr val="EF5A5A"/>
                </a:solidFill>
              </a:rPr>
              <a:t>10 minuti di review: un altro gruppo tenta di rompere il disegno.</a:t>
            </a:r>
          </a:p>
        </p:txBody>
      </p:sp>
    </p:spTree>
    <p:extLst>
      <p:ext uri="{BB962C8B-B14F-4D97-AF65-F5344CB8AC3E}">
        <p14:creationId xmlns:p14="http://schemas.microsoft.com/office/powerpoint/2010/main" val="1811483268"/>
      </p:ext>
    </p:extLst>
  </p:cSld>
</p:sld>
</file>

<file path=ppt/slides/slide4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B0AAD1-A486-4DAC-8246-B7C8AEE2A09F}"/>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2606D"/>
                </a:solidFill>
              </a:defRPr>
            </a:pPr>
            <a:r>
              <a:rPr sz="975" b="1">
                <a:solidFill>
                  <a:srgbClr val="52606D"/>
                </a:solidFill>
              </a:rPr>
              <a:t>VERIFICA • INDIVIDUALE</a:t>
            </a:r>
          </a:p>
        </p:txBody>
      </p:sp>
      <p:sp>
        <p:nvSpPr>
          <p:cNvPr id="2" name="">
            <a:extLst xmlns:a="http://schemas.openxmlformats.org/drawingml/2006/main">
              <a:ext uri="{FF2B5EF4-FFF2-40B4-BE49-F238E27FC236}">
                <a16:creationId xmlns:a16="http://schemas.microsoft.com/office/drawing/2014/main" id="{D50A84EA-3A91-4CC5-83F6-84C6C79277CC}"/>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111827"/>
                </a:solidFill>
              </a:defRPr>
            </a:pPr>
            <a:r>
              <a:rPr sz="3000" b="1">
                <a:solidFill>
                  <a:srgbClr val="111827"/>
                </a:solidFill>
              </a:rPr>
              <a:t>Quiz finale: ownership, flussi e recovery</a:t>
            </a:r>
          </a:p>
        </p:txBody>
      </p:sp>
      <p:sp>
        <p:nvSpPr>
          <p:cNvPr id="3" name="">
            <a:extLst xmlns:a="http://schemas.openxmlformats.org/drawingml/2006/main">
              <a:ext uri="{FF2B5EF4-FFF2-40B4-BE49-F238E27FC236}">
                <a16:creationId xmlns:a16="http://schemas.microsoft.com/office/drawing/2014/main" id="{39CDEC31-AE63-468C-BB7C-37B6624658B9}"/>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52606D"/>
                </a:solidFill>
              </a:defRPr>
            </a:pPr>
            <a:r>
              <a:rPr sz="975" b="1">
                <a:solidFill>
                  <a:srgbClr val="52606D"/>
                </a:solidFill>
              </a:rPr>
              <a:t>44</a:t>
            </a:r>
          </a:p>
        </p:txBody>
      </p:sp>
      <p:sp>
        <p:nvSpPr>
          <p:cNvPr id="4" name="">
            <a:extLst xmlns:a="http://schemas.openxmlformats.org/drawingml/2006/main">
              <a:ext uri="{FF2B5EF4-FFF2-40B4-BE49-F238E27FC236}">
                <a16:creationId xmlns:a16="http://schemas.microsoft.com/office/drawing/2014/main" id="{1E7A0C87-91D3-45D4-B5CA-C28A8CC42908}"/>
              </a:ext>
            </a:extLst>
          </p:cNvPr>
          <p:cNvSpPr>
            <a:spLocks xmlns:a="http://schemas.openxmlformats.org/drawingml/2006/main" noGrp="1"/>
          </p:cNvSpPr>
          <p:nvPr/>
        </p:nvSpPr>
        <p:spPr>
          <a:xfrm xmlns:a="http://schemas.openxmlformats.org/drawingml/2006/main">
            <a:off x="904875" y="15716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1. Source of truth e projection: che differenza c’è?</a:t>
            </a:r>
          </a:p>
        </p:txBody>
      </p:sp>
      <p:sp>
        <p:nvSpPr>
          <p:cNvPr id="5" name="">
            <a:extLst xmlns:a="http://schemas.openxmlformats.org/drawingml/2006/main">
              <a:ext uri="{FF2B5EF4-FFF2-40B4-BE49-F238E27FC236}">
                <a16:creationId xmlns:a16="http://schemas.microsoft.com/office/drawing/2014/main" id="{63395518-1081-4A52-AA0A-D24924ED9B8C}"/>
              </a:ext>
            </a:extLst>
          </p:cNvPr>
          <p:cNvSpPr>
            <a:spLocks xmlns:a="http://schemas.openxmlformats.org/drawingml/2006/main" noGrp="1"/>
          </p:cNvSpPr>
          <p:nvPr/>
        </p:nvSpPr>
        <p:spPr>
          <a:xfrm xmlns:a="http://schemas.openxmlformats.org/drawingml/2006/main">
            <a:off x="904875" y="223837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2. Perché il dual write può perdere un evento?</a:t>
            </a:r>
          </a:p>
        </p:txBody>
      </p:sp>
      <p:sp>
        <p:nvSpPr>
          <p:cNvPr id="6" name="">
            <a:extLst xmlns:a="http://schemas.openxmlformats.org/drawingml/2006/main">
              <a:ext uri="{FF2B5EF4-FFF2-40B4-BE49-F238E27FC236}">
                <a16:creationId xmlns:a16="http://schemas.microsoft.com/office/drawing/2014/main" id="{874BD599-CB45-416F-B03A-8541B6EBCA00}"/>
              </a:ext>
            </a:extLst>
          </p:cNvPr>
          <p:cNvSpPr>
            <a:spLocks xmlns:a="http://schemas.openxmlformats.org/drawingml/2006/main" noGrp="1"/>
          </p:cNvSpPr>
          <p:nvPr/>
        </p:nvSpPr>
        <p:spPr>
          <a:xfrm xmlns:a="http://schemas.openxmlformats.org/drawingml/2006/main">
            <a:off x="904875" y="29051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3. Che cosa rende affidabile una transactional outbox?</a:t>
            </a:r>
          </a:p>
        </p:txBody>
      </p:sp>
      <p:sp>
        <p:nvSpPr>
          <p:cNvPr id="7" name="">
            <a:extLst xmlns:a="http://schemas.openxmlformats.org/drawingml/2006/main">
              <a:ext uri="{FF2B5EF4-FFF2-40B4-BE49-F238E27FC236}">
                <a16:creationId xmlns:a16="http://schemas.microsoft.com/office/drawing/2014/main" id="{D55089FC-6CAF-4EA2-B983-446B25A2BA50}"/>
              </a:ext>
            </a:extLst>
          </p:cNvPr>
          <p:cNvSpPr>
            <a:spLocks xmlns:a="http://schemas.openxmlformats.org/drawingml/2006/main" noGrp="1"/>
          </p:cNvSpPr>
          <p:nvPr/>
        </p:nvSpPr>
        <p:spPr>
          <a:xfrm xmlns:a="http://schemas.openxmlformats.org/drawingml/2006/main">
            <a:off x="904875" y="357187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4. Perché un consumer deve essere idempotente?</a:t>
            </a:r>
          </a:p>
        </p:txBody>
      </p:sp>
      <p:sp>
        <p:nvSpPr>
          <p:cNvPr id="8" name="">
            <a:extLst xmlns:a="http://schemas.openxmlformats.org/drawingml/2006/main">
              <a:ext uri="{FF2B5EF4-FFF2-40B4-BE49-F238E27FC236}">
                <a16:creationId xmlns:a16="http://schemas.microsoft.com/office/drawing/2014/main" id="{B81FEE84-2F05-4856-830E-3A9A7F2E852A}"/>
              </a:ext>
            </a:extLst>
          </p:cNvPr>
          <p:cNvSpPr>
            <a:spLocks xmlns:a="http://schemas.openxmlformats.org/drawingml/2006/main" noGrp="1"/>
          </p:cNvSpPr>
          <p:nvPr/>
        </p:nvSpPr>
        <p:spPr>
          <a:xfrm xmlns:a="http://schemas.openxmlformats.org/drawingml/2006/main">
            <a:off x="904875" y="42386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5. API composition e CQRS: quando differiscono?</a:t>
            </a:r>
          </a:p>
        </p:txBody>
      </p:sp>
      <p:sp>
        <p:nvSpPr>
          <p:cNvPr id="9" name="">
            <a:extLst xmlns:a="http://schemas.openxmlformats.org/drawingml/2006/main">
              <a:ext uri="{FF2B5EF4-FFF2-40B4-BE49-F238E27FC236}">
                <a16:creationId xmlns:a16="http://schemas.microsoft.com/office/drawing/2014/main" id="{1B1FE554-3BDA-4D3A-9AF3-54EFED06A7B5}"/>
              </a:ext>
            </a:extLst>
          </p:cNvPr>
          <p:cNvSpPr>
            <a:spLocks xmlns:a="http://schemas.openxmlformats.org/drawingml/2006/main" noGrp="1"/>
          </p:cNvSpPr>
          <p:nvPr/>
        </p:nvSpPr>
        <p:spPr>
          <a:xfrm xmlns:a="http://schemas.openxmlformats.org/drawingml/2006/main">
            <a:off x="904875" y="490537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11827"/>
                </a:solidFill>
              </a:defRPr>
            </a:pPr>
            <a:r>
              <a:rPr sz="1650" b="0">
                <a:solidFill>
                  <a:srgbClr val="111827"/>
                </a:solidFill>
              </a:rPr>
              <a:t>6. Quali metriche provano che una projection è fresca?</a:t>
            </a:r>
          </a:p>
        </p:txBody>
      </p:sp>
    </p:spTree>
    <p:extLst>
      <p:ext uri="{BB962C8B-B14F-4D97-AF65-F5344CB8AC3E}">
        <p14:creationId xmlns:p14="http://schemas.microsoft.com/office/powerpoint/2010/main" val="2048029971"/>
      </p:ext>
    </p:extLst>
  </p:cSld>
</p:sld>
</file>

<file path=ppt/slides/slide4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69403D-175B-4B7F-8D2A-192A3C2D25E4}"/>
              </a:ext>
            </a:extLst>
          </p:cNvPr>
          <p:cNvSpPr>
            <a:spLocks xmlns:a="http://schemas.openxmlformats.org/drawingml/2006/main" noGrp="1"/>
          </p:cNvSpPr>
          <p:nvPr/>
        </p:nvSpPr>
        <p:spPr>
          <a:xfrm xmlns:a="http://schemas.openxmlformats.org/drawingml/2006/main">
            <a:off x="685800" y="361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0B8D9"/>
                </a:solidFill>
              </a:defRPr>
            </a:pPr>
            <a:r>
              <a:rPr sz="975" b="1">
                <a:solidFill>
                  <a:srgbClr val="00B8D9"/>
                </a:solidFill>
              </a:rPr>
              <a:t>DATAFLIX • PROBLEMA REALE</a:t>
            </a:r>
          </a:p>
        </p:txBody>
      </p:sp>
      <p:sp>
        <p:nvSpPr>
          <p:cNvPr id="2" name="">
            <a:extLst xmlns:a="http://schemas.openxmlformats.org/drawingml/2006/main">
              <a:ext uri="{FF2B5EF4-FFF2-40B4-BE49-F238E27FC236}">
                <a16:creationId xmlns:a16="http://schemas.microsoft.com/office/drawing/2014/main" id="{835D4BC3-9899-40B4-AA15-9321461E1A48}"/>
              </a:ext>
            </a:extLst>
          </p:cNvPr>
          <p:cNvSpPr>
            <a:spLocks xmlns:a="http://schemas.openxmlformats.org/drawingml/2006/main" noGrp="1"/>
          </p:cNvSpPr>
          <p:nvPr/>
        </p:nvSpPr>
        <p:spPr>
          <a:xfrm xmlns:a="http://schemas.openxmlformats.org/drawingml/2006/main">
            <a:off x="685800" y="7429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La prossima sfida</a:t>
            </a:r>
          </a:p>
        </p:txBody>
      </p:sp>
      <p:sp>
        <p:nvSpPr>
          <p:cNvPr id="3" name="">
            <a:extLst xmlns:a="http://schemas.openxmlformats.org/drawingml/2006/main">
              <a:ext uri="{FF2B5EF4-FFF2-40B4-BE49-F238E27FC236}">
                <a16:creationId xmlns:a16="http://schemas.microsoft.com/office/drawing/2014/main" id="{D7D23C2D-8727-46E0-8939-B511A5A00AEE}"/>
              </a:ext>
            </a:extLst>
          </p:cNvPr>
          <p:cNvSpPr>
            <a:spLocks xmlns:a="http://schemas.openxmlformats.org/drawingml/2006/main" noGrp="1"/>
          </p:cNvSpPr>
          <p:nvPr/>
        </p:nvSpPr>
        <p:spPr>
          <a:xfrm xmlns:a="http://schemas.openxmlformats.org/drawingml/2006/main">
            <a:off x="11049000" y="6229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FB0BF"/>
                </a:solidFill>
              </a:defRPr>
            </a:pPr>
            <a:r>
              <a:rPr sz="975" b="1">
                <a:solidFill>
                  <a:srgbClr val="9FB0BF"/>
                </a:solidFill>
              </a:rPr>
              <a:t>45</a:t>
            </a:r>
          </a:p>
        </p:txBody>
      </p:sp>
      <p:sp>
        <p:nvSpPr>
          <p:cNvPr id="4" name="">
            <a:extLst xmlns:a="http://schemas.openxmlformats.org/drawingml/2006/main">
              <a:ext uri="{FF2B5EF4-FFF2-40B4-BE49-F238E27FC236}">
                <a16:creationId xmlns:a16="http://schemas.microsoft.com/office/drawing/2014/main" id="{108408BC-A7F9-46D2-9FF5-9424D0F3BF8F}"/>
              </a:ext>
            </a:extLst>
          </p:cNvPr>
          <p:cNvSpPr>
            <a:spLocks xmlns:a="http://schemas.openxmlformats.org/drawingml/2006/main" noGrp="1"/>
          </p:cNvSpPr>
          <p:nvPr/>
        </p:nvSpPr>
        <p:spPr>
          <a:xfrm xmlns:a="http://schemas.openxmlformats.org/drawingml/2006/main">
            <a:off x="742950" y="1752600"/>
            <a:ext cx="85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0" b="1">
                <a:solidFill>
                  <a:srgbClr val="B7E34B"/>
                </a:solidFill>
              </a:defRPr>
            </a:pPr>
            <a:r>
              <a:rPr sz="8250" b="1">
                <a:solidFill>
                  <a:srgbClr val="B7E34B"/>
                </a:solidFill>
              </a:rPr>
              <a:t>“</a:t>
            </a:r>
          </a:p>
        </p:txBody>
      </p:sp>
      <p:sp>
        <p:nvSpPr>
          <p:cNvPr id="5" name="">
            <a:extLst xmlns:a="http://schemas.openxmlformats.org/drawingml/2006/main">
              <a:ext uri="{FF2B5EF4-FFF2-40B4-BE49-F238E27FC236}">
                <a16:creationId xmlns:a16="http://schemas.microsoft.com/office/drawing/2014/main" id="{D3DC464E-65D5-4B6E-9476-17AF58F740A0}"/>
              </a:ext>
            </a:extLst>
          </p:cNvPr>
          <p:cNvSpPr>
            <a:spLocks xmlns:a="http://schemas.openxmlformats.org/drawingml/2006/main" noGrp="1"/>
          </p:cNvSpPr>
          <p:nvPr/>
        </p:nvSpPr>
        <p:spPr>
          <a:xfrm xmlns:a="http://schemas.openxmlformats.org/drawingml/2006/main">
            <a:off x="1676400" y="1943100"/>
            <a:ext cx="8953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FFFFF"/>
                </a:solidFill>
              </a:defRPr>
            </a:pPr>
            <a:r>
              <a:rPr sz="2775" b="1">
                <a:solidFill>
                  <a:srgbClr val="FFFFFF"/>
                </a:solidFill>
              </a:rPr>
              <a:t>DATAFLIX ha 50 milioni di utenti e 5 miliardi di eventi al giorno. Ora dobbiamo presentare e difendere l’intera architettura.</a:t>
            </a:r>
          </a:p>
        </p:txBody>
      </p:sp>
      <p:sp>
        <p:nvSpPr>
          <p:cNvPr id="6" name="">
            <a:extLst xmlns:a="http://schemas.openxmlformats.org/drawingml/2006/main">
              <a:ext uri="{FF2B5EF4-FFF2-40B4-BE49-F238E27FC236}">
                <a16:creationId xmlns:a16="http://schemas.microsoft.com/office/drawing/2014/main" id="{600A895D-4D2C-4DAF-8DB3-3A874F9B5C36}"/>
              </a:ext>
            </a:extLst>
          </p:cNvPr>
          <p:cNvSpPr>
            <a:spLocks xmlns:a="http://schemas.openxmlformats.org/drawingml/2006/main" noGrp="1"/>
          </p:cNvSpPr>
          <p:nvPr/>
        </p:nvSpPr>
        <p:spPr>
          <a:xfrm xmlns:a="http://schemas.openxmlformats.org/drawingml/2006/main">
            <a:off x="1676400" y="4762500"/>
            <a:ext cx="3048000" cy="76200"/>
          </a:xfrm>
          <a:prstGeom xmlns:a="http://schemas.openxmlformats.org/drawingml/2006/main" prst="rect">
            <a:avLst/>
          </a:prstGeom>
          <a:solidFill xmlns:a="http://schemas.openxmlformats.org/drawingml/2006/main">
            <a:srgbClr val="B7E34B"/>
          </a:solidFill>
          <a:ln xmlns:a="http://schemas.openxmlformats.org/drawingml/2006/main" w="9525">
            <a:solidFill>
              <a:srgbClr val="B7E34B"/>
            </a:solidFill>
            <a:prstDash val="solid"/>
          </a:ln>
        </p:spPr>
      </p:sp>
      <p:sp>
        <p:nvSpPr>
          <p:cNvPr id="7" name="">
            <a:extLst xmlns:a="http://schemas.openxmlformats.org/drawingml/2006/main">
              <a:ext uri="{FF2B5EF4-FFF2-40B4-BE49-F238E27FC236}">
                <a16:creationId xmlns:a16="http://schemas.microsoft.com/office/drawing/2014/main" id="{58E01EE7-C3C5-422F-BC0F-658DE431331B}"/>
              </a:ext>
            </a:extLst>
          </p:cNvPr>
          <p:cNvSpPr>
            <a:spLocks xmlns:a="http://schemas.openxmlformats.org/drawingml/2006/main" noGrp="1"/>
          </p:cNvSpPr>
          <p:nvPr/>
        </p:nvSpPr>
        <p:spPr>
          <a:xfrm xmlns:a="http://schemas.openxmlformats.org/drawingml/2006/main">
            <a:off x="1676400" y="509587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9FB0BF"/>
                </a:solidFill>
              </a:defRPr>
            </a:pPr>
            <a:r>
              <a:rPr sz="1200" b="1">
                <a:solidFill>
                  <a:srgbClr val="9FB0BF"/>
                </a:solidFill>
              </a:rPr>
              <a:t>PROSSIMA LEZIONE • BIG DATA ARCHITECTURE CHALLENGE</a:t>
            </a:r>
          </a:p>
        </p:txBody>
      </p:sp>
    </p:spTree>
    <p:extLst>
      <p:ext uri="{BB962C8B-B14F-4D97-AF65-F5344CB8AC3E}">
        <p14:creationId xmlns:p14="http://schemas.microsoft.com/office/powerpoint/2010/main" val="1100312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2026-09-03T15:07:30.6470000Z</dcterms:created>
  <dcterms:modified xsi:type="dcterms:W3CDTF">2026-09-03T15:07:30.6470000Z</dcterms:modified>
</coreProperties>
</file>