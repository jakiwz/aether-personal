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3df32cb17c4839" /><Relationship Type="http://schemas.openxmlformats.org/officeDocument/2006/relationships/extended-properties" Target="/docProps/app.xml" Id="Rd1f03313f3dc47bb" /><Relationship Type="http://schemas.openxmlformats.org/officeDocument/2006/relationships/officeDocument" Target="/ppt/presentation.xml" Id="R943eb5395cd54c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3105ca817a4b6e"/>
  </p:sldMasterIdLst>
  <p:notesMasterIdLst>
    <p:notesMasterId xmlns:r="http://schemas.openxmlformats.org/officeDocument/2006/relationships" r:id="R905110e6caf64084"/>
  </p:notesMasterIdLst>
  <p:sldIdLst>
    <p:sldId xmlns:r="http://schemas.openxmlformats.org/officeDocument/2006/relationships" id="256" r:id="Ra6b81a68539d4a8e"/>
    <p:sldId xmlns:r="http://schemas.openxmlformats.org/officeDocument/2006/relationships" id="257" r:id="R465b896e76d24b86"/>
    <p:sldId xmlns:r="http://schemas.openxmlformats.org/officeDocument/2006/relationships" id="258" r:id="R5e9c3b191f664dd3"/>
    <p:sldId xmlns:r="http://schemas.openxmlformats.org/officeDocument/2006/relationships" id="259" r:id="R539a6eb766184e30"/>
    <p:sldId xmlns:r="http://schemas.openxmlformats.org/officeDocument/2006/relationships" id="260" r:id="R501df508c8e64c68"/>
    <p:sldId xmlns:r="http://schemas.openxmlformats.org/officeDocument/2006/relationships" id="261" r:id="R698855afb3a4486e"/>
    <p:sldId xmlns:r="http://schemas.openxmlformats.org/officeDocument/2006/relationships" id="262" r:id="R85954edd64f0475f"/>
    <p:sldId xmlns:r="http://schemas.openxmlformats.org/officeDocument/2006/relationships" id="263" r:id="Raa79312ef81e4f50"/>
    <p:sldId xmlns:r="http://schemas.openxmlformats.org/officeDocument/2006/relationships" id="264" r:id="Rd226beeb1d734c53"/>
    <p:sldId xmlns:r="http://schemas.openxmlformats.org/officeDocument/2006/relationships" id="265" r:id="R43ff1b82177547b1"/>
    <p:sldId xmlns:r="http://schemas.openxmlformats.org/officeDocument/2006/relationships" id="266" r:id="Rae9760fb3e8f4ea0"/>
    <p:sldId xmlns:r="http://schemas.openxmlformats.org/officeDocument/2006/relationships" id="267" r:id="Rd0b74932235748d8"/>
    <p:sldId xmlns:r="http://schemas.openxmlformats.org/officeDocument/2006/relationships" id="268" r:id="Rffa3e05615744c6b"/>
    <p:sldId xmlns:r="http://schemas.openxmlformats.org/officeDocument/2006/relationships" id="269" r:id="Raf11fdeba9ae4740"/>
    <p:sldId xmlns:r="http://schemas.openxmlformats.org/officeDocument/2006/relationships" id="270" r:id="Rcacdd13ed27d4743"/>
    <p:sldId xmlns:r="http://schemas.openxmlformats.org/officeDocument/2006/relationships" id="271" r:id="R6de7b30226d04d57"/>
    <p:sldId xmlns:r="http://schemas.openxmlformats.org/officeDocument/2006/relationships" id="272" r:id="R28e910b23a4d426e"/>
    <p:sldId xmlns:r="http://schemas.openxmlformats.org/officeDocument/2006/relationships" id="273" r:id="R7faaa391c5ca4bd0"/>
    <p:sldId xmlns:r="http://schemas.openxmlformats.org/officeDocument/2006/relationships" id="274" r:id="Re59bb593e0814468"/>
    <p:sldId xmlns:r="http://schemas.openxmlformats.org/officeDocument/2006/relationships" id="275" r:id="Rb8781db2a96d4323"/>
    <p:sldId xmlns:r="http://schemas.openxmlformats.org/officeDocument/2006/relationships" id="276" r:id="Rfe668e06dbb74320"/>
    <p:sldId xmlns:r="http://schemas.openxmlformats.org/officeDocument/2006/relationships" id="277" r:id="R3cec9a500fde4d60"/>
    <p:sldId xmlns:r="http://schemas.openxmlformats.org/officeDocument/2006/relationships" id="278" r:id="R26a5242b242a4473"/>
    <p:sldId xmlns:r="http://schemas.openxmlformats.org/officeDocument/2006/relationships" id="279" r:id="Rd4434296020c424e"/>
    <p:sldId xmlns:r="http://schemas.openxmlformats.org/officeDocument/2006/relationships" id="280" r:id="R04d478711a1745a1"/>
    <p:sldId xmlns:r="http://schemas.openxmlformats.org/officeDocument/2006/relationships" id="281" r:id="R072e6c7a8d884f0c"/>
    <p:sldId xmlns:r="http://schemas.openxmlformats.org/officeDocument/2006/relationships" id="282" r:id="R4d219fb16d82483f"/>
    <p:sldId xmlns:r="http://schemas.openxmlformats.org/officeDocument/2006/relationships" id="283" r:id="R8f0498d5c8e74124"/>
    <p:sldId xmlns:r="http://schemas.openxmlformats.org/officeDocument/2006/relationships" id="284" r:id="R95af16e6ce1a478e"/>
    <p:sldId xmlns:r="http://schemas.openxmlformats.org/officeDocument/2006/relationships" id="285" r:id="Rd9b8721529d44123"/>
    <p:sldId xmlns:r="http://schemas.openxmlformats.org/officeDocument/2006/relationships" id="286" r:id="R37ab80cb95924741"/>
    <p:sldId xmlns:r="http://schemas.openxmlformats.org/officeDocument/2006/relationships" id="287" r:id="R006fbc6ade414beb"/>
    <p:sldId xmlns:r="http://schemas.openxmlformats.org/officeDocument/2006/relationships" id="288" r:id="R509e2fe65bfe422a"/>
    <p:sldId xmlns:r="http://schemas.openxmlformats.org/officeDocument/2006/relationships" id="289" r:id="Re10edd1b892d4c60"/>
    <p:sldId xmlns:r="http://schemas.openxmlformats.org/officeDocument/2006/relationships" id="290" r:id="R78ba4a12d2094949"/>
    <p:sldId xmlns:r="http://schemas.openxmlformats.org/officeDocument/2006/relationships" id="291" r:id="R0707aba1b14744a7"/>
    <p:sldId xmlns:r="http://schemas.openxmlformats.org/officeDocument/2006/relationships" id="292" r:id="R6883c9ead4aa4dae"/>
    <p:sldId xmlns:r="http://schemas.openxmlformats.org/officeDocument/2006/relationships" id="293" r:id="R79b213919ca44b8f"/>
    <p:sldId xmlns:r="http://schemas.openxmlformats.org/officeDocument/2006/relationships" id="294" r:id="R9566ee9cae184d68"/>
    <p:sldId xmlns:r="http://schemas.openxmlformats.org/officeDocument/2006/relationships" id="295" r:id="Rab2f1e0116de43a1"/>
    <p:sldId xmlns:r="http://schemas.openxmlformats.org/officeDocument/2006/relationships" id="296" r:id="R8faa95cadf7b4b90"/>
    <p:sldId xmlns:r="http://schemas.openxmlformats.org/officeDocument/2006/relationships" id="297" r:id="R7cb8177097a84fb3"/>
    <p:sldId xmlns:r="http://schemas.openxmlformats.org/officeDocument/2006/relationships" id="298" r:id="Rb04c141ea87f40eb"/>
    <p:sldId xmlns:r="http://schemas.openxmlformats.org/officeDocument/2006/relationships" id="299" r:id="Ra2b5645e04c0410d"/>
    <p:sldId xmlns:r="http://schemas.openxmlformats.org/officeDocument/2006/relationships" id="300" r:id="R0579173484c847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ee0565777740d7" /><Relationship Type="http://schemas.openxmlformats.org/officeDocument/2006/relationships/slideMaster" Target="/ppt/slideMasters/slideMaster1.xml" Id="Re73105ca817a4b6e" /><Relationship Type="http://schemas.openxmlformats.org/officeDocument/2006/relationships/notesMaster" Target="/ppt/notesMasters/notesMaster1.xml" Id="R905110e6caf64084" /><Relationship Type="http://schemas.openxmlformats.org/officeDocument/2006/relationships/presProps" Target="/ppt/presProps.xml" Id="R106124f9146e4df3" /><Relationship Type="http://schemas.openxmlformats.org/officeDocument/2006/relationships/tableStyles" Target="/ppt/tableStyles.xml" Id="R83cba437a54e49e1" /><Relationship Type="http://schemas.openxmlformats.org/officeDocument/2006/relationships/slide" Target="/ppt/slides/slide1.xml" Id="Ra6b81a68539d4a8e" /><Relationship Type="http://schemas.openxmlformats.org/officeDocument/2006/relationships/slide" Target="/ppt/slides/slide2.xml" Id="R465b896e76d24b86" /><Relationship Type="http://schemas.openxmlformats.org/officeDocument/2006/relationships/slide" Target="/ppt/slides/slide3.xml" Id="R5e9c3b191f664dd3" /><Relationship Type="http://schemas.openxmlformats.org/officeDocument/2006/relationships/slide" Target="/ppt/slides/slide4.xml" Id="R539a6eb766184e30" /><Relationship Type="http://schemas.openxmlformats.org/officeDocument/2006/relationships/slide" Target="/ppt/slides/slide5.xml" Id="R501df508c8e64c68" /><Relationship Type="http://schemas.openxmlformats.org/officeDocument/2006/relationships/slide" Target="/ppt/slides/slide6.xml" Id="R698855afb3a4486e" /><Relationship Type="http://schemas.openxmlformats.org/officeDocument/2006/relationships/slide" Target="/ppt/slides/slide7.xml" Id="R85954edd64f0475f" /><Relationship Type="http://schemas.openxmlformats.org/officeDocument/2006/relationships/slide" Target="/ppt/slides/slide8.xml" Id="Raa79312ef81e4f50" /><Relationship Type="http://schemas.openxmlformats.org/officeDocument/2006/relationships/slide" Target="/ppt/slides/slide9.xml" Id="Rd226beeb1d734c53" /><Relationship Type="http://schemas.openxmlformats.org/officeDocument/2006/relationships/slide" Target="/ppt/slides/slide10.xml" Id="R43ff1b82177547b1" /><Relationship Type="http://schemas.openxmlformats.org/officeDocument/2006/relationships/slide" Target="/ppt/slides/slide11.xml" Id="Rae9760fb3e8f4ea0" /><Relationship Type="http://schemas.openxmlformats.org/officeDocument/2006/relationships/slide" Target="/ppt/slides/slide12.xml" Id="Rd0b74932235748d8" /><Relationship Type="http://schemas.openxmlformats.org/officeDocument/2006/relationships/slide" Target="/ppt/slides/slide13.xml" Id="Rffa3e05615744c6b" /><Relationship Type="http://schemas.openxmlformats.org/officeDocument/2006/relationships/slide" Target="/ppt/slides/slide14.xml" Id="Raf11fdeba9ae4740" /><Relationship Type="http://schemas.openxmlformats.org/officeDocument/2006/relationships/slide" Target="/ppt/slides/slide15.xml" Id="Rcacdd13ed27d4743" /><Relationship Type="http://schemas.openxmlformats.org/officeDocument/2006/relationships/slide" Target="/ppt/slides/slide16.xml" Id="R6de7b30226d04d57" /><Relationship Type="http://schemas.openxmlformats.org/officeDocument/2006/relationships/slide" Target="/ppt/slides/slide17.xml" Id="R28e910b23a4d426e" /><Relationship Type="http://schemas.openxmlformats.org/officeDocument/2006/relationships/slide" Target="/ppt/slides/slide18.xml" Id="R7faaa391c5ca4bd0" /><Relationship Type="http://schemas.openxmlformats.org/officeDocument/2006/relationships/slide" Target="/ppt/slides/slide19.xml" Id="Re59bb593e0814468" /><Relationship Type="http://schemas.openxmlformats.org/officeDocument/2006/relationships/slide" Target="/ppt/slides/slide20.xml" Id="Rb8781db2a96d4323" /><Relationship Type="http://schemas.openxmlformats.org/officeDocument/2006/relationships/slide" Target="/ppt/slides/slide21.xml" Id="Rfe668e06dbb74320" /><Relationship Type="http://schemas.openxmlformats.org/officeDocument/2006/relationships/slide" Target="/ppt/slides/slide22.xml" Id="R3cec9a500fde4d60" /><Relationship Type="http://schemas.openxmlformats.org/officeDocument/2006/relationships/slide" Target="/ppt/slides/slide23.xml" Id="R26a5242b242a4473" /><Relationship Type="http://schemas.openxmlformats.org/officeDocument/2006/relationships/slide" Target="/ppt/slides/slide24.xml" Id="Rd4434296020c424e" /><Relationship Type="http://schemas.openxmlformats.org/officeDocument/2006/relationships/slide" Target="/ppt/slides/slide25.xml" Id="R04d478711a1745a1" /><Relationship Type="http://schemas.openxmlformats.org/officeDocument/2006/relationships/slide" Target="/ppt/slides/slide26.xml" Id="R072e6c7a8d884f0c" /><Relationship Type="http://schemas.openxmlformats.org/officeDocument/2006/relationships/slide" Target="/ppt/slides/slide27.xml" Id="R4d219fb16d82483f" /><Relationship Type="http://schemas.openxmlformats.org/officeDocument/2006/relationships/slide" Target="/ppt/slides/slide28.xml" Id="R8f0498d5c8e74124" /><Relationship Type="http://schemas.openxmlformats.org/officeDocument/2006/relationships/slide" Target="/ppt/slides/slide29.xml" Id="R95af16e6ce1a478e" /><Relationship Type="http://schemas.openxmlformats.org/officeDocument/2006/relationships/slide" Target="/ppt/slides/slide30.xml" Id="Rd9b8721529d44123" /><Relationship Type="http://schemas.openxmlformats.org/officeDocument/2006/relationships/slide" Target="/ppt/slides/slide31.xml" Id="R37ab80cb95924741" /><Relationship Type="http://schemas.openxmlformats.org/officeDocument/2006/relationships/slide" Target="/ppt/slides/slide32.xml" Id="R006fbc6ade414beb" /><Relationship Type="http://schemas.openxmlformats.org/officeDocument/2006/relationships/slide" Target="/ppt/slides/slide33.xml" Id="R509e2fe65bfe422a" /><Relationship Type="http://schemas.openxmlformats.org/officeDocument/2006/relationships/slide" Target="/ppt/slides/slide34.xml" Id="Re10edd1b892d4c60" /><Relationship Type="http://schemas.openxmlformats.org/officeDocument/2006/relationships/slide" Target="/ppt/slides/slide35.xml" Id="R78ba4a12d2094949" /><Relationship Type="http://schemas.openxmlformats.org/officeDocument/2006/relationships/slide" Target="/ppt/slides/slide36.xml" Id="R0707aba1b14744a7" /><Relationship Type="http://schemas.openxmlformats.org/officeDocument/2006/relationships/slide" Target="/ppt/slides/slide37.xml" Id="R6883c9ead4aa4dae" /><Relationship Type="http://schemas.openxmlformats.org/officeDocument/2006/relationships/slide" Target="/ppt/slides/slide38.xml" Id="R79b213919ca44b8f" /><Relationship Type="http://schemas.openxmlformats.org/officeDocument/2006/relationships/slide" Target="/ppt/slides/slide39.xml" Id="R9566ee9cae184d68" /><Relationship Type="http://schemas.openxmlformats.org/officeDocument/2006/relationships/slide" Target="/ppt/slides/slide40.xml" Id="Rab2f1e0116de43a1" /><Relationship Type="http://schemas.openxmlformats.org/officeDocument/2006/relationships/slide" Target="/ppt/slides/slide41.xml" Id="R8faa95cadf7b4b90" /><Relationship Type="http://schemas.openxmlformats.org/officeDocument/2006/relationships/slide" Target="/ppt/slides/slide42.xml" Id="R7cb8177097a84fb3" /><Relationship Type="http://schemas.openxmlformats.org/officeDocument/2006/relationships/slide" Target="/ppt/slides/slide43.xml" Id="Rb04c141ea87f40eb" /><Relationship Type="http://schemas.openxmlformats.org/officeDocument/2006/relationships/slide" Target="/ppt/slides/slide44.xml" Id="Ra2b5645e04c0410d" /><Relationship Type="http://schemas.openxmlformats.org/officeDocument/2006/relationships/slide" Target="/ppt/slides/slide45.xml" Id="R0579173484c847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f977633e6840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eac2206fdb4d3b" /><Relationship Type="http://schemas.openxmlformats.org/officeDocument/2006/relationships/notesMaster" Target="/ppt/notesMasters/notesMaster1.xml" Id="R7db8889bd59c42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6f703dd228413b" /><Relationship Type="http://schemas.openxmlformats.org/officeDocument/2006/relationships/notesMaster" Target="/ppt/notesMasters/notesMaster1.xml" Id="R32584e4a5b4040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72e81dafa142f6" /><Relationship Type="http://schemas.openxmlformats.org/officeDocument/2006/relationships/notesMaster" Target="/ppt/notesMasters/notesMaster1.xml" Id="R08ac5235fb0646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0c17700ee347e5" /><Relationship Type="http://schemas.openxmlformats.org/officeDocument/2006/relationships/notesMaster" Target="/ppt/notesMasters/notesMaster1.xml" Id="Rd321c2fab31248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60d43ac86f472c" /><Relationship Type="http://schemas.openxmlformats.org/officeDocument/2006/relationships/notesMaster" Target="/ppt/notesMasters/notesMaster1.xml" Id="R01f56a9fe76845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4403395a0943b4" /><Relationship Type="http://schemas.openxmlformats.org/officeDocument/2006/relationships/notesMaster" Target="/ppt/notesMasters/notesMaster1.xml" Id="R512ecd6e084f4f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73f6d9669d4c94" /><Relationship Type="http://schemas.openxmlformats.org/officeDocument/2006/relationships/notesMaster" Target="/ppt/notesMasters/notesMaster1.xml" Id="Rc849a608172344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7fbdf891a64f18" /><Relationship Type="http://schemas.openxmlformats.org/officeDocument/2006/relationships/notesMaster" Target="/ppt/notesMasters/notesMaster1.xml" Id="R0f8c070a827b45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ffe5f05a0f4889" /><Relationship Type="http://schemas.openxmlformats.org/officeDocument/2006/relationships/notesMaster" Target="/ppt/notesMasters/notesMaster1.xml" Id="R21a632ca40c248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f6690bfb9847d4" /><Relationship Type="http://schemas.openxmlformats.org/officeDocument/2006/relationships/notesMaster" Target="/ppt/notesMasters/notesMaster1.xml" Id="R7d1cbd5226f84a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12df62c0214519" /><Relationship Type="http://schemas.openxmlformats.org/officeDocument/2006/relationships/notesMaster" Target="/ppt/notesMasters/notesMaster1.xml" Id="Rbd168b7caba548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d2b7245a9b4e7b" /><Relationship Type="http://schemas.openxmlformats.org/officeDocument/2006/relationships/notesMaster" Target="/ppt/notesMasters/notesMaster1.xml" Id="Rad29f2f4ba824f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f1ec6231904697" /><Relationship Type="http://schemas.openxmlformats.org/officeDocument/2006/relationships/notesMaster" Target="/ppt/notesMasters/notesMaster1.xml" Id="Rd1972ca2284e40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e84a0a83084360" /><Relationship Type="http://schemas.openxmlformats.org/officeDocument/2006/relationships/notesMaster" Target="/ppt/notesMasters/notesMaster1.xml" Id="R01e5a9ec485541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f82b45658034973" /><Relationship Type="http://schemas.openxmlformats.org/officeDocument/2006/relationships/notesMaster" Target="/ppt/notesMasters/notesMaster1.xml" Id="R91f89c8f4285488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91952ea552c47b6" /><Relationship Type="http://schemas.openxmlformats.org/officeDocument/2006/relationships/notesMaster" Target="/ppt/notesMasters/notesMaster1.xml" Id="R05b7fd0623f4468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190e210ae434d28" /><Relationship Type="http://schemas.openxmlformats.org/officeDocument/2006/relationships/notesMaster" Target="/ppt/notesMasters/notesMaster1.xml" Id="R9eeb420faec2475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22a7485747e440a" /><Relationship Type="http://schemas.openxmlformats.org/officeDocument/2006/relationships/notesMaster" Target="/ppt/notesMasters/notesMaster1.xml" Id="R7ae99ee9c72b45b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f67b1d07dc0498c" /><Relationship Type="http://schemas.openxmlformats.org/officeDocument/2006/relationships/notesMaster" Target="/ppt/notesMasters/notesMaster1.xml" Id="Rda6b958d39264f4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4eaa9095c3a4e51" /><Relationship Type="http://schemas.openxmlformats.org/officeDocument/2006/relationships/notesMaster" Target="/ppt/notesMasters/notesMaster1.xml" Id="R7c2637850e9147d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d7c1b91eb7843be" /><Relationship Type="http://schemas.openxmlformats.org/officeDocument/2006/relationships/notesMaster" Target="/ppt/notesMasters/notesMaster1.xml" Id="Re19c5a4f9e7a40b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9a43b89a442460c" /><Relationship Type="http://schemas.openxmlformats.org/officeDocument/2006/relationships/notesMaster" Target="/ppt/notesMasters/notesMaster1.xml" Id="R5356d46ebece432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1bc0ee6d7d84986" /><Relationship Type="http://schemas.openxmlformats.org/officeDocument/2006/relationships/notesMaster" Target="/ppt/notesMasters/notesMaster1.xml" Id="R5c491f4153a4483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60a2d907c59436e" /><Relationship Type="http://schemas.openxmlformats.org/officeDocument/2006/relationships/notesMaster" Target="/ppt/notesMasters/notesMaster1.xml" Id="Rd179ef64e2b043c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7744d3646474476" /><Relationship Type="http://schemas.openxmlformats.org/officeDocument/2006/relationships/notesMaster" Target="/ppt/notesMasters/notesMaster1.xml" Id="R8b7cf0a3c9e1427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abcbee61d9b4688" /><Relationship Type="http://schemas.openxmlformats.org/officeDocument/2006/relationships/notesMaster" Target="/ppt/notesMasters/notesMaster1.xml" Id="R301b989ee0db47f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0b28732da7c4edf" /><Relationship Type="http://schemas.openxmlformats.org/officeDocument/2006/relationships/notesMaster" Target="/ppt/notesMasters/notesMaster1.xml" Id="R41162d031de446f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d36d31102d843c1" /><Relationship Type="http://schemas.openxmlformats.org/officeDocument/2006/relationships/notesMaster" Target="/ppt/notesMasters/notesMaster1.xml" Id="Rf00172c72d714ac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02611055b6c492d" /><Relationship Type="http://schemas.openxmlformats.org/officeDocument/2006/relationships/notesMaster" Target="/ppt/notesMasters/notesMaster1.xml" Id="R8e5877a1ab79494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dc01ab8c2f7421d" /><Relationship Type="http://schemas.openxmlformats.org/officeDocument/2006/relationships/notesMaster" Target="/ppt/notesMasters/notesMaster1.xml" Id="R4bb930f785524cc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48e1da1723f4148" /><Relationship Type="http://schemas.openxmlformats.org/officeDocument/2006/relationships/notesMaster" Target="/ppt/notesMasters/notesMaster1.xml" Id="R602a0ef0a07c4cd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2261a876652498d" /><Relationship Type="http://schemas.openxmlformats.org/officeDocument/2006/relationships/notesMaster" Target="/ppt/notesMasters/notesMaster1.xml" Id="Rb98881df308f4c1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71e2bed8c5c41a6" /><Relationship Type="http://schemas.openxmlformats.org/officeDocument/2006/relationships/notesMaster" Target="/ppt/notesMasters/notesMaster1.xml" Id="R0841e6ffec594d6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61b62c18fa443f9" /><Relationship Type="http://schemas.openxmlformats.org/officeDocument/2006/relationships/notesMaster" Target="/ppt/notesMasters/notesMaster1.xml" Id="R9e1da08cdf0d4ce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77aa303e614432c" /><Relationship Type="http://schemas.openxmlformats.org/officeDocument/2006/relationships/notesMaster" Target="/ppt/notesMasters/notesMaster1.xml" Id="R7c745633c53d48d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4e0bd2a55eb428a" /><Relationship Type="http://schemas.openxmlformats.org/officeDocument/2006/relationships/notesMaster" Target="/ppt/notesMasters/notesMaster1.xml" Id="R57157a51a32d480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08e62e8593d4f0a" /><Relationship Type="http://schemas.openxmlformats.org/officeDocument/2006/relationships/notesMaster" Target="/ppt/notesMasters/notesMaster1.xml" Id="Re7b51adc1436418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e11d5ec88de4244" /><Relationship Type="http://schemas.openxmlformats.org/officeDocument/2006/relationships/notesMaster" Target="/ppt/notesMasters/notesMaster1.xml" Id="R4ec2be2f2f0f4c1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0207963b42547a9" /><Relationship Type="http://schemas.openxmlformats.org/officeDocument/2006/relationships/notesMaster" Target="/ppt/notesMasters/notesMaster1.xml" Id="R5eeb1327bfad492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7a3b275530c4c4d" /><Relationship Type="http://schemas.openxmlformats.org/officeDocument/2006/relationships/notesMaster" Target="/ppt/notesMasters/notesMaster1.xml" Id="R2df1bef86ca54a6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c542589e0f04a2a" /><Relationship Type="http://schemas.openxmlformats.org/officeDocument/2006/relationships/notesMaster" Target="/ppt/notesMasters/notesMaster1.xml" Id="Rc58e614e55214ee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ee43920469645fb" /><Relationship Type="http://schemas.openxmlformats.org/officeDocument/2006/relationships/notesMaster" Target="/ppt/notesMasters/notesMaster1.xml" Id="R581835a2392a4dd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8f27e788c534585" /><Relationship Type="http://schemas.openxmlformats.org/officeDocument/2006/relationships/notesMaster" Target="/ppt/notesMasters/notesMaster1.xml" Id="R628645f65b2c482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1529c5f0b394a9b" /><Relationship Type="http://schemas.openxmlformats.org/officeDocument/2006/relationships/notesMaster" Target="/ppt/notesMasters/notesMaster1.xml" Id="R405f2839a8dd470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3f80d1f58fb43df" /><Relationship Type="http://schemas.openxmlformats.org/officeDocument/2006/relationships/notesMaster" Target="/ppt/notesMasters/notesMaster1.xml" Id="R0fb314f38cd749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ricordando il catalogo documentale della lezione precedente. Oggi non abbandoniamo i documenti: cambiamo modello perché cambia la domanda. Passiamo da “che cosa contiene un film?” a “come sono connessi utenti, film, persone e generi?”.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spiegare ancora Neo4j. Chiedi alla classe di descrivere i passaggi logici necessari. Scrivi alla lavagna: Mario → segue → utenti → apprezza → film. Quella catena è già un pattern di grafo.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catalogo MongoDB può restare. Ma se la domanda principale attraversa molte relazioni o profondità variabile, rappresentare le connessioni come dati di primo livello riduce attrito concettuale e query applicative.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Neo4j Getting Started — Graph database concepts: https://neo4j.com/docs/getting-started/graph-database/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che una relationship collega esattamente due nodi, ha un tipo e una direzione e può possedere proprietà. Qui rating e minuti descrivono l’evento di visione, non Mario o il film.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Neo4j Getting Started — Graph database concepts: https://neo4j.com/docs/getting-started/graph-database/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Definisci il modello property graph. I nodi rappresentano entità; le relazioni collegano nodi; entrambi possono avere proprietà. Le label classificano i nodi e i relationship type classificano le relazioni.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Neo4j Getting Started — Graph database concepts: https://neo4j.com/docs/getting-started/graph-database/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label non è una tabella. Serve a classificare e selezionare i nodi e può partecipare a vincoli e indici. Un nodo può avere più label quando rappresenta più ruoli.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Neo4j Getting Started — Graph database concepts: https://neo4j.com/docs/getting-started/graph-database/</a:t>
            </a:r>
          </a:p>
          <a:p xmlns:a="http://schemas.openxmlformats.org/drawingml/2006/main">
            <a:r>
              <a:t>- Neo4j Cypher Manual — Constraints: https://neo4j.com/docs/cypher-manual/current/schema/constraints/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proprietà sono coppie chiave-valore. Mantieni un identificatore applicativo stabile come movieId e proteggilo con un vincolo di unicità; non affidare il contratto del dominio a un identificatore interno.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Neo4j Getting Started — Graph database concepts: https://neo4j.com/docs/getting-started/graph-database/</a:t>
            </a:r>
          </a:p>
          <a:p xmlns:a="http://schemas.openxmlformats.org/drawingml/2006/main">
            <a:r>
              <a:t>- Neo4j Cypher Manual — Constraints: https://neo4j.com/docs/cypher-manual/current/schema/constraints/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direzione fa parte della relazione memorizzata. Non significa però che la query debba sempre rispettarla: Cypher può cercare anche pattern non orientati quando la domanda è simmetrica.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Neo4j Getting Started — Graph database concepts: https://neo4j.com/docs/getting-started/graph-database/</a:t>
            </a:r>
          </a:p>
          <a:p xmlns:a="http://schemas.openxmlformats.org/drawingml/2006/main">
            <a:r>
              <a:t>- Neo4j Cypher Manual — Patterns: https://neo4j.com/docs/cypher-manual/current/patterns/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una metafora semplice: il pattern è lo stampo, i path sono le occorrenze trovate. Questa distinzione sarà utile quando passeremo a lunghezze variabili e shortest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Neo4j Cypher Manual — Patterns: https://neo4j.com/docs/cypher-manual/current/patterns/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cinque categorie essenziali: User, Movie, Person, Genre. Il valore non sta nel numero delle label, ma nelle relazioni utili alle domande: LIKES, WATCHED, FOLLOWS, DIRECTED, ACTED_IN e IN_GENRE.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Leggi ogni tripletta ad alta voce: User FOLLOWS User; Person DIRECTED Movie. Se la frase è ambigua, il modello lo sarà. Usa tipi specifici invece di una relazione generica RELATED_TO.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Neo4j Getting Started — Data modeling: https://neo4j.com/docs/getting-started/data-modeling/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graph database è forte quando il valore della risposta dipende dalla topologia. Chiedi agli studenti quale parte del problema sparirebbe se eliminassimo le relazioni: se sparisce il significato, il grafo è un candidato serio.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Neo4j Getting Started — Graph database concepts: https://neo4j.com/docs/getting-started/graph-database/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Evita il messaggio “tutto è un grafo”. Video e file restano in object storage; sessioni con TTL restano ottime per Redis; catalogo aggregato può restare in MongoDB; analisi massive possono andare su Spark.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processo ufficiale parte dal dominio e dagli use case, identifica entità e relazioni, crea dati di prova, verifica le query e rifattorizza. Mostra che modellare un grafo è iterativo.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Neo4j Getting Started — Data modeling: https://neo4j.com/docs/getting-started/data-modeling/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trasformare automaticamente ogni sostantivo in nodo. Un valore semplice come country può restare proprietà; diventa nodo se deve avere relazioni, regole o identità condivisa.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relazione è adatta quando il fatto collega due entità e deve essere attraversato. WATCHED è più espressivo di una proprietà watchedMovieIds, perché può portare rating, minuti e timestamp.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classificare genere, paese, regista e visione. Accetta Genre come proprietà o nodo solo se l’uso è coerente: nel laboratorio è nodo perché vogliamo attraversare gusti e contenuti per genere.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FOLLOWS è diretta. Quando vogliamo contare vicini in entrata e uscita possiamo usare un pattern non orientato. Evita di creare anche FOLLOWED_BY: introduce duplicazione e rischio di incoerenza.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Neo4j Cypher Manual — Patterns: https://neo4j.com/docs/cypher-manual/current/patterns/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Cypher è dichiarativo: MATCH descrive il pattern, WHERE filtra, RETURN proietta. Il planner sceglie come eseguire la query. Leggi la query come una frase del dominio.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Neo4j Cypher Manual — MATCH: https://neo4j.com/docs/cypher-manual/current/clauses/match/</a:t>
            </a:r>
          </a:p>
          <a:p xmlns:a="http://schemas.openxmlformats.org/drawingml/2006/main">
            <a:r>
              <a:t>- Neo4j Cypher Manual — Patterns: https://neo4j.com/docs/cypher-manual/current/patterns/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Scomponi la sintassi senza trasformarla in grammatica astratta. Le parentesi rappresentano un nodo; u è una variabile; User è una label; la mappa restringe le proprietà.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parentesi quadre descrivono la relazione. Il tipo è preceduto da due punti. La freccia esprime la direzione; la variabile è opzionale ma utile per accedere a proprietà come since o rating.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Neo4j Cypher Manual — Patterns: https://neo4j.com/docs/cypher-manual/current/patterns/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CREATE crea il pattern specificato. È corretto quando vogliamo sicuramente un nuovo elemento. Per import ripetibili useremo MERGE protetto da vincoli di unicità.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Neo4j Cypher Manual — CREATE: https://neo4j.com/docs/cypher-manual/current/clauses/create/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MERGE è match-or-create sull’intero pattern specificato. Usa una chiave stabile nel pattern e proprietà modificabili nei rami ON CREATE e ON MATCH. La documentazione raccomanda vincoli per garantire unicità in concorrenza.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Neo4j Cypher Manual — MERGE: https://neo4j.com/docs/cypher-manual/current/clauses/merge/</a:t>
            </a:r>
          </a:p>
          <a:p xmlns:a="http://schemas.openxmlformats.org/drawingml/2006/main">
            <a:r>
              <a:t>- Neo4j Cypher Manual — Constraints: https://neo4j.com/docs/cypher-manual/current/schema/constraints/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Sottolinea che le condizioni possono anche apparire nelle mappe proprietà del pattern, ma WHERE rende spesso più leggibili confronti e condizioni composte.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Neo4j Cypher Manual — MATCH: https://neo4j.com/docs/cypher-manual/current/clauses/match/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Leggi il risultato come una tabella. count(*) conta le righe del pattern; m.title diventa chiave di raggruppamento implicita. ORDER BY e LIMIT producono la top cinque.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aggiorna proprietà o label. Mostra che la query prima identifica il nodo e poi modifica. Per rimuovere una proprietà si può usare REMOVE oppure assegnare null nei casi previsti.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Neo4j Cypher Manual — SET: https://neo4j.com/docs/cypher-manual/current/clauses/set/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Dimostra l’errore di DELETE su un nodo con relazioni. DETACH DELETE risolve eliminando anche i legami. Insisti sulla verifica del pattern prima di una cancellazione.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Neo4j Cypher Manual — DELETE: https://neo4j.com/docs/cypher-manual/current/clauses/delete/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Qui il vantaggio del property graph è evidente: rating appartiene a WATCHED. count, avg e collect trasformano i match in un risultato aggregato.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contare gli hop, non le entità. Questo pattern parte da Mario e attraversa una relazione LIKES verso i film. Un indice o vincolo su userId consente di trovare rapidamente il punto di partenza.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Percorri il pattern con il dito: Mario segue utenti che apprezzano film. La condizione negativa elimina i film già apprezzati da Mario. count(*) misura quanti percorsi sostengono ciascun suggerimento.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chiamarla ancora raccomandazione sofisticata. È una metrica trasparente: due utenti sono più simili se condividono più film apprezzati. Poi si possono aggiungere pesi, tempo e normalizzazione.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relazione quantificata con {1,3} rappresenta da uno a tre hop ed è conforme alla sintassi corrente. Insegna soprattutto la disciplina: dichiarare un limite superiore, il tipo e la direzione coerenti con l’uso.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Neo4j Cypher Manual — Variable-length paths: https://neo4j.com/docs/cypher-manual/current/patterns/variable-length-paths/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sintassi SHORTEST è quella corrente, estesa rispetto alle funzioni storiche shortestPath e allShortestPaths. Specifica sempre quale rete è attraversabile: qui soltanto FOLLOWS in entrambe le direzioni.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Neo4j Cypher Manual — Shortest paths: https://neo4j.com/docs/cypher-manual/current/patterns/shortest-paths/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degree è una misura locale e semplice. Distinguilo da PageRank, betweenness e altre centralità. Un nodo può avere pochi vicini ma essere un ponte cruciale tra comunità.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Neo4j Graph Data Science Manual — Centrality: https://neo4j.com/docs/graph-data-science/current/algorithms/centrality/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 come la stessa capacità di traversal supporti fraud detection e incident response: account apparentemente separati possono condividere infrastruttura, identità o strumenti di pagamento. Evita di presentare una connessione come prova automatica di frode.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le famiglie, non la sintassi. GDS include centralità, community detection, similarity, path finding, embedding e link prediction. Il laboratorio resta sul prodotto Neo4j base per ridurre installazioni e prerequisiti.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Neo4j Graph Data Science Manual — Algorithms: https://neo4j.com/docs/graph-data-science/current/algorithms/</a:t>
            </a:r>
          </a:p>
          <a:p xmlns:a="http://schemas.openxmlformats.org/drawingml/2006/main">
            <a:r>
              <a:t>- Neo4j Graph Data Science Manual — Centrality: https://neo4j.com/docs/graph-data-science/current/algorithms/centrality/</a:t>
            </a:r>
          </a:p>
          <a:p xmlns:a="http://schemas.openxmlformats.org/drawingml/2006/main">
            <a:r>
              <a:t>- Neo4j Graph Data Science Manual — Path finding: https://neo4j.com/docs/graph-data-science/current/algorithms/pathfinding/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vincolo di unicità protegge l’identità e crea supporto indicizzato. Gli indici search-performance aiutano a trovare il punto iniziale; il traversal poi segue le relazioni. Nel laboratorio Community usiamo vincoli di unicità.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Neo4j Cypher Manual — Constraints: https://neo4j.com/docs/cypher-manual/current/schema/constraints/</a:t>
            </a:r>
          </a:p>
          <a:p xmlns:a="http://schemas.openxmlformats.org/drawingml/2006/main">
            <a:r>
              <a:t>- Neo4j Cypher Manual — Search-performance indexes: https://neo4j.com/docs/cypher-manual/current/indexes/search-performance-indexes/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EXPLAIN prima per vedere il piano senza esecuzione, poi PROFILE in laboratorio su una query sicura. Cerca un accesso indicizzato al punto di partenza e osserva righe e operatori.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calcolare la moltiplicazione. Il problema non è solo quanti nodi esistono, ma quanti path intermedi produce il pattern. Un supernode, come un genere popolare collegato a milioni di film, va attraversato con filtri e direzione appropriati.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Neo4j supporta transazioni ACID. L’autenticazione è abilitata per default. In produzione aggiungi autorizzazione adeguata all’edizione, TLS, rete, monitoraggio e backup testati. Il container d’aula è locale, non un modello di produzione.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Neo4j Operations Manual — Authentication and authorization: https://neo4j.com/docs/operations-manual/current/authentication-authorization/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Precarica l’immagine se la rete è lenta. Il bind a 127.0.0.1 evita esposizione su tutte le interfacce. Accedi con utente neo4j e password DataflixGraph2026X. Sono credenziali sintetiche solo per il laboratorio.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Neo4j Operations Manual — Docker introduction: https://neo4j.com/docs/operations-manual/current/docker/introduction/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coppie consegnano query, risultato essenziale e spiegazione del pattern. La guida docente contiene dataset completo, soluzioni, risultati attesi, errori frequenti e challenge opzionali.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Concedi dodici minuti. Valuta la capacità di leggere un pattern e prevedere le conseguenze, non la sola memoria sintattica. La guida include risposte e griglia.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Chiedi a ogni gruppo di associare a una frase una query del laboratorio. Se non sanno produrre l’esempio, torna alla slide corrispondente.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Chiudi il trittico: Redis ha messo al centro la chiave, MongoDB l’aggregato, Neo4j la connessione. La lezione 8 allargherà la mappa alle altre famiglie e alle scelte architetturali.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c7e790a2594c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18f25b21714d88" /><Relationship Type="http://schemas.openxmlformats.org/officeDocument/2006/relationships/slideLayout" Target="/ppt/slideLayouts/slideLayout1.xml" Id="R65195a38957f42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195a38957f42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a42412dd84a8c" /><Relationship Type="http://schemas.openxmlformats.org/officeDocument/2006/relationships/notesSlide" Target="/ppt/notesSlides/notesSlide1.xml" Id="Rc951c6f077f245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7fd3b37a94e1a" /><Relationship Type="http://schemas.openxmlformats.org/officeDocument/2006/relationships/notesSlide" Target="/ppt/notesSlides/notesSlide2.xml" Id="Ra379debbef5541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cdcc766db4a12" /><Relationship Type="http://schemas.openxmlformats.org/officeDocument/2006/relationships/notesSlide" Target="/ppt/notesSlides/notesSlide3.xml" Id="Rb6986158b57345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3f931f2fd4050" /><Relationship Type="http://schemas.openxmlformats.org/officeDocument/2006/relationships/notesSlide" Target="/ppt/notesSlides/notesSlide4.xml" Id="Rcadcd89bffaf41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9b5815b3c4e4d" /><Relationship Type="http://schemas.openxmlformats.org/officeDocument/2006/relationships/notesSlide" Target="/ppt/notesSlides/notesSlide5.xml" Id="R34e5b792ce7643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73b8334d04142" /><Relationship Type="http://schemas.openxmlformats.org/officeDocument/2006/relationships/notesSlide" Target="/ppt/notesSlides/notesSlide6.xml" Id="R8a19a45052f144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ea0193a784acd" /><Relationship Type="http://schemas.openxmlformats.org/officeDocument/2006/relationships/notesSlide" Target="/ppt/notesSlides/notesSlide7.xml" Id="R23a5b3b5fab54b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7d6c0f5f046c5" /><Relationship Type="http://schemas.openxmlformats.org/officeDocument/2006/relationships/notesSlide" Target="/ppt/notesSlides/notesSlide8.xml" Id="R6cd006cdab464a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0897198354bb3" /><Relationship Type="http://schemas.openxmlformats.org/officeDocument/2006/relationships/notesSlide" Target="/ppt/notesSlides/notesSlide9.xml" Id="R1e6f948f1bc748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74f9078bc4d56" /><Relationship Type="http://schemas.openxmlformats.org/officeDocument/2006/relationships/notesSlide" Target="/ppt/notesSlides/notesSlide10.xml" Id="R78fd1f70da5c47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0c5ec54394530" /><Relationship Type="http://schemas.openxmlformats.org/officeDocument/2006/relationships/notesSlide" Target="/ppt/notesSlides/notesSlide11.xml" Id="R688609e8f9814d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d0224afdf46ef" /><Relationship Type="http://schemas.openxmlformats.org/officeDocument/2006/relationships/notesSlide" Target="/ppt/notesSlides/notesSlide12.xml" Id="R34dc8fb21b90473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b9a1d8f3b4285" /><Relationship Type="http://schemas.openxmlformats.org/officeDocument/2006/relationships/notesSlide" Target="/ppt/notesSlides/notesSlide13.xml" Id="R20de8e08f409410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ccba884004ae7" /><Relationship Type="http://schemas.openxmlformats.org/officeDocument/2006/relationships/notesSlide" Target="/ppt/notesSlides/notesSlide14.xml" Id="Rf55932226e5f4b3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9f46bc71845ee" /><Relationship Type="http://schemas.openxmlformats.org/officeDocument/2006/relationships/notesSlide" Target="/ppt/notesSlides/notesSlide15.xml" Id="R5401759cf77a449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5c8f342944bbc" /><Relationship Type="http://schemas.openxmlformats.org/officeDocument/2006/relationships/notesSlide" Target="/ppt/notesSlides/notesSlide16.xml" Id="Rb85c1242b36344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817f9c0a74e46" /><Relationship Type="http://schemas.openxmlformats.org/officeDocument/2006/relationships/notesSlide" Target="/ppt/notesSlides/notesSlide17.xml" Id="R6552374e32bb4e1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4d9a3cce0401e" /><Relationship Type="http://schemas.openxmlformats.org/officeDocument/2006/relationships/notesSlide" Target="/ppt/notesSlides/notesSlide18.xml" Id="R1d4e068cfa9d483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a3d7ef8784242" /><Relationship Type="http://schemas.openxmlformats.org/officeDocument/2006/relationships/notesSlide" Target="/ppt/notesSlides/notesSlide19.xml" Id="Rb64e11ff250d40e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f522b06b84bc3" /><Relationship Type="http://schemas.openxmlformats.org/officeDocument/2006/relationships/notesSlide" Target="/ppt/notesSlides/notesSlide20.xml" Id="R75507d65fc7340f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d31ecd23847f5" /><Relationship Type="http://schemas.openxmlformats.org/officeDocument/2006/relationships/notesSlide" Target="/ppt/notesSlides/notesSlide21.xml" Id="R8ff9b765ef354db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cc18b0d9e4121" /><Relationship Type="http://schemas.openxmlformats.org/officeDocument/2006/relationships/notesSlide" Target="/ppt/notesSlides/notesSlide22.xml" Id="R632148dbedae4ef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92434dba844a2" /><Relationship Type="http://schemas.openxmlformats.org/officeDocument/2006/relationships/notesSlide" Target="/ppt/notesSlides/notesSlide23.xml" Id="R8ffca79acbc1404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e54ee04744fbd" /><Relationship Type="http://schemas.openxmlformats.org/officeDocument/2006/relationships/notesSlide" Target="/ppt/notesSlides/notesSlide24.xml" Id="Rfc7c2445f0a5413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30bd79d7242a6" /><Relationship Type="http://schemas.openxmlformats.org/officeDocument/2006/relationships/notesSlide" Target="/ppt/notesSlides/notesSlide25.xml" Id="Ra721b3032179466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e0aaf8b354a82" /><Relationship Type="http://schemas.openxmlformats.org/officeDocument/2006/relationships/notesSlide" Target="/ppt/notesSlides/notesSlide26.xml" Id="R417d1b0714a14ed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0956d87534131" /><Relationship Type="http://schemas.openxmlformats.org/officeDocument/2006/relationships/notesSlide" Target="/ppt/notesSlides/notesSlide27.xml" Id="Ra83824f1e0f1496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938aa501c4fd3" /><Relationship Type="http://schemas.openxmlformats.org/officeDocument/2006/relationships/notesSlide" Target="/ppt/notesSlides/notesSlide28.xml" Id="R0fa0961b13d34d2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236a9d9b94d3f" /><Relationship Type="http://schemas.openxmlformats.org/officeDocument/2006/relationships/notesSlide" Target="/ppt/notesSlides/notesSlide29.xml" Id="Radf8c3956b1d4f3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17bab69554bb5" /><Relationship Type="http://schemas.openxmlformats.org/officeDocument/2006/relationships/notesSlide" Target="/ppt/notesSlides/notesSlide30.xml" Id="R2b2dcf490f5e466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cf4f246c14f0d" /><Relationship Type="http://schemas.openxmlformats.org/officeDocument/2006/relationships/notesSlide" Target="/ppt/notesSlides/notesSlide31.xml" Id="R975327782136474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67cb2f6084020" /><Relationship Type="http://schemas.openxmlformats.org/officeDocument/2006/relationships/notesSlide" Target="/ppt/notesSlides/notesSlide32.xml" Id="Rca7d88a27b39466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6f906293946d7" /><Relationship Type="http://schemas.openxmlformats.org/officeDocument/2006/relationships/notesSlide" Target="/ppt/notesSlides/notesSlide33.xml" Id="R139aff83ff45409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43266b1d54c55" /><Relationship Type="http://schemas.openxmlformats.org/officeDocument/2006/relationships/notesSlide" Target="/ppt/notesSlides/notesSlide34.xml" Id="R0442ea7df47b4ed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e00e3c21946a8" /><Relationship Type="http://schemas.openxmlformats.org/officeDocument/2006/relationships/notesSlide" Target="/ppt/notesSlides/notesSlide35.xml" Id="R465b211f9bb54cf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3e62aa1ba4df7" /><Relationship Type="http://schemas.openxmlformats.org/officeDocument/2006/relationships/notesSlide" Target="/ppt/notesSlides/notesSlide36.xml" Id="Rfdd7d1c8ae5040e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43720b3a84cbb" /><Relationship Type="http://schemas.openxmlformats.org/officeDocument/2006/relationships/notesSlide" Target="/ppt/notesSlides/notesSlide37.xml" Id="Rc542facc2fbe49f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53826a0f34098" /><Relationship Type="http://schemas.openxmlformats.org/officeDocument/2006/relationships/notesSlide" Target="/ppt/notesSlides/notesSlide38.xml" Id="R3c25c6ac64c2476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6549b6bb44409" /><Relationship Type="http://schemas.openxmlformats.org/officeDocument/2006/relationships/notesSlide" Target="/ppt/notesSlides/notesSlide39.xml" Id="Rf0189c1c96a1483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90281e7e5473e" /><Relationship Type="http://schemas.openxmlformats.org/officeDocument/2006/relationships/notesSlide" Target="/ppt/notesSlides/notesSlide40.xml" Id="Rea1ed1d3b37f47f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db479c1e047af" /><Relationship Type="http://schemas.openxmlformats.org/officeDocument/2006/relationships/notesSlide" Target="/ppt/notesSlides/notesSlide41.xml" Id="R28df6b17e69b44a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f8586662c4fee" /><Relationship Type="http://schemas.openxmlformats.org/officeDocument/2006/relationships/notesSlide" Target="/ppt/notesSlides/notesSlide42.xml" Id="R19b652af96ba442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c1daf83d44faf" /><Relationship Type="http://schemas.openxmlformats.org/officeDocument/2006/relationships/notesSlide" Target="/ppt/notesSlides/notesSlide43.xml" Id="Rc8f1849a990a437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5341861834db2" /><Relationship Type="http://schemas.openxmlformats.org/officeDocument/2006/relationships/notesSlide" Target="/ppt/notesSlides/notesSlide44.xml" Id="R211be01928954089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8b2813db64683" /><Relationship Type="http://schemas.openxmlformats.org/officeDocument/2006/relationships/notesSlide" Target="/ppt/notesSlides/notesSlide45.xml" Id="R6b79445f09e845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71734-8D0A-4DD2-86EE-00A9A31E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8D9"/>
                </a:solidFill>
              </a:defRPr>
            </a:pPr>
            <a:r>
              <a:rPr sz="1125" b="1">
                <a:solidFill>
                  <a:srgbClr val="00B8D9"/>
                </a:solidFill>
              </a:rPr>
              <a:t>BIG DATA &amp; CLOUD SERVICES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A8FA8-4DF6-49C0-B326-18436908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00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Graph Database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8269A-DBC0-46AB-B044-87A94F8D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809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C8D4DE"/>
                </a:solidFill>
              </a:defRPr>
            </a:pPr>
            <a:r>
              <a:rPr sz="2175" b="0">
                <a:solidFill>
                  <a:srgbClr val="C8D4DE"/>
                </a:solidFill>
              </a:rPr>
              <a:t>Neo4j rende connessioni e percorsi parte del modello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10D6F-8202-4F71-A967-04A4FF58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23950"/>
            <a:ext cx="2286000" cy="2381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901DB-1C50-4819-94F0-851C20D9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24000"/>
            <a:ext cx="1809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050" b="1">
                <a:solidFill>
                  <a:srgbClr val="0B1F33"/>
                </a:solidFill>
              </a:defRPr>
            </a:pPr>
            <a:r>
              <a:rPr sz="7050" b="1">
                <a:solidFill>
                  <a:srgbClr val="0B1F33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65917-D3E6-4A55-9925-497FA179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BF"/>
                </a:solidFill>
              </a:defRPr>
            </a:pPr>
            <a:r>
              <a:rPr sz="1125" b="0">
                <a:solidFill>
                  <a:srgbClr val="9FB0BF"/>
                </a:solidFill>
              </a:rPr>
              <a:t>Lezione 07 • DATAFLIX</a:t>
            </a:r>
          </a:p>
        </p:txBody>
      </p:sp>
    </p:spTree>
    <p:extLst>
      <p:ext uri="{BB962C8B-B14F-4D97-AF65-F5344CB8AC3E}">
        <p14:creationId xmlns:p14="http://schemas.microsoft.com/office/powerpoint/2010/main" val="17269735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8C08A-ACC3-4088-8C36-556377F9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PROBLEMA REALE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1BB95-10A7-4296-A768-B847BFFE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Quali film piacciono agli amici di Mario?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810E2-AA47-4C59-B799-23BCA165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C2196-CBD1-485C-BD9B-055944D6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FF8A4C"/>
                </a:solidFill>
              </a:defRPr>
            </a:pPr>
            <a:r>
              <a:rPr sz="8250" b="1">
                <a:solidFill>
                  <a:srgbClr val="FF8A4C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9C2CC-45C5-40DC-A6F0-4131745F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43100"/>
            <a:ext cx="895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La risposta non vive in un singolo documento: dobbiamo attraversare utenti, relazioni sociali, preferenze e contenuti.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C5221-62D3-4F11-8D71-A4E8BC83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596412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48B9B8-FEE3-4C5F-B669-6B7C2F22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DAL CATALOGO ALLE CONNESSIONI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A5934-99DC-4942-8115-688632DE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documento descrive bene un aggregato, meno bene una rete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BED6A-498D-44EF-83D2-EB30D796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A1243-B868-41B7-80C2-7381A41D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209550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AF296-EDD1-413E-8567-A92D9BB4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860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FILM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1AF44-323A-41F4-9DA2-18F7B32F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Interstellar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E5731-06E7-4614-B485-7DEA147E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52625"/>
            <a:ext cx="209550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C77AF-FD2F-4880-8E79-712BCFEF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240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UTENTE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863119-9939-4CFF-8A6A-8AA47FF3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28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Mario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F8BE9-9AF8-4313-B683-7805F761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62375"/>
            <a:ext cx="209550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27E5B3-34D4-4F48-AE4D-B1107BA7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338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UTENTE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9CECE-B86C-4057-B945-C0470DEB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386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Anna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B000B-5821-425A-BE30-7DC09DDF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714625"/>
            <a:ext cx="209550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D5556-A515-402D-9A00-22543134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860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FILM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CE1A2C-E6E7-4CA1-85BE-43BBC418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90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Parasite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FA44F-026F-4577-B665-11A961F5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66975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687593-D518-4990-A262-B8863E8C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76500"/>
            <a:ext cx="19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90A7B3-28A0-4367-8BCE-9A6394F5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228975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87DD09-84F3-46F8-9DEF-A56BE241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3362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45CB2D-53C7-424D-8B0B-4F6DC4C7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526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LIKES  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6417EA-0846-4A7C-A419-551D3269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76500"/>
            <a:ext cx="19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B1C1B2-705B-4413-A032-D0E440D5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8612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AF4FF1-137C-41C8-BE17-335949FE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051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FOLLOWS  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E2453E-6C4B-43E0-9245-3A29B5D2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276725"/>
            <a:ext cx="2047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41FC86-AA69-4BBE-861C-FF610D9A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238500"/>
            <a:ext cx="19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BC63AC-98E8-463D-A360-EF62FAEF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28975"/>
            <a:ext cx="2047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8320DC-DDC1-41DB-9B2D-3B563898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4BF1BE-1679-4F7D-BF55-DCA8F792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766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6EE6"/>
                </a:solidFill>
              </a:defRPr>
            </a:pPr>
            <a:r>
              <a:rPr sz="1050" b="1">
                <a:solidFill>
                  <a:srgbClr val="7C6EE6"/>
                </a:solidFill>
              </a:rPr>
              <a:t>LIKES  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C75658-374F-4452-A361-E2A06536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381625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La domanda attraversa più oggetti e più relazioni.</a:t>
            </a:r>
          </a:p>
        </p:txBody>
      </p:sp>
    </p:spTree>
    <p:extLst>
      <p:ext uri="{BB962C8B-B14F-4D97-AF65-F5344CB8AC3E}">
        <p14:creationId xmlns:p14="http://schemas.microsoft.com/office/powerpoint/2010/main" val="21146720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277FA-F570-4A4B-BAA6-844DFD5B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NON UNA COLONNA ACCESSORIA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27C43-1FF3-4D53-8DEC-33906A46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Nel grafo la relazione è un dato di primo livello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D0433-8321-4489-A826-304DA96D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C52BD-E962-4E14-8550-66808EA5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62250"/>
            <a:ext cx="2286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3ACB6-3539-4832-B34C-964E43F1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337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MARIO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71B08-DF59-4F0B-AFE9-423E7FC7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38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00391-1151-400F-B62B-365CE06A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62250"/>
            <a:ext cx="2286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1CEEE-7F2B-4C35-8E1F-7092F7C9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INTERSTELLAR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E929A-D503-448E-8A69-E4AFC023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Movie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95BE4-899E-4E62-AF9D-238F8694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24225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CE96F7-9324-4F39-9491-0E784504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575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4F0D2-94D8-4DE1-8CD7-F7661677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765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WATCHED  { rating: 9, minutes: 162 }  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286551-3BD0-4AF6-B013-29678DE5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La relazione ha tipo, direzione e proprietà.</a:t>
            </a:r>
          </a:p>
        </p:txBody>
      </p:sp>
    </p:spTree>
    <p:extLst>
      <p:ext uri="{BB962C8B-B14F-4D97-AF65-F5344CB8AC3E}">
        <p14:creationId xmlns:p14="http://schemas.microsoft.com/office/powerpoint/2010/main" val="22213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6D315C-513B-4E22-88D4-936BEC31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MODELLO DI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DAA86-B0C4-4EC2-BC94-BAB965B7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Property graph: tre elementi, una struttura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88C49-3CF1-446A-9599-19D91C01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F9919-E33A-4168-BEA4-FFB8D0A5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38F13-EC1D-434E-A7F7-391034EF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82DF3-ABC8-4333-9284-FD8F9A24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621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NODO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ADEE8-7F9C-40E2-A7F8-2D619495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B8D9"/>
                </a:solidFill>
              </a:defRPr>
            </a:pPr>
            <a:r>
              <a:rPr sz="1200" b="1">
                <a:solidFill>
                  <a:srgbClr val="00B8D9"/>
                </a:solidFill>
              </a:rPr>
              <a:t>(u:User)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08B20-2749-4A34-B67E-66AB856B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28194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entità del dominio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A6B09-42E4-4F93-A3A1-1D18D4F6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29E04-B3B4-4381-A13A-C4D3C5B0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66C28-7976-488C-AD45-A80B9759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621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RELAZIONE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6D559-9A93-4625-826F-7079FC45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431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8A4C"/>
                </a:solidFill>
              </a:defRPr>
            </a:pPr>
            <a:r>
              <a:rPr sz="1200" b="1">
                <a:solidFill>
                  <a:srgbClr val="FF8A4C"/>
                </a:solidFill>
              </a:rPr>
              <a:t>[:FOLLOWS]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4C000-CE81-4835-8855-E701259E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05125"/>
            <a:ext cx="28194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connessione semantica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94BDAF-B013-462F-AA6A-47F92DCC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52625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F6DDF6-0481-4BAF-BA0D-9955D0AA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5262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B3FB55-34BB-436A-86B6-3426FA67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621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PROPRIETÀ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62B2C-F22C-4CAE-8A02-55A21E18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431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6EE6"/>
                </a:solidFill>
              </a:defRPr>
            </a:pPr>
            <a:r>
              <a:rPr sz="1200" b="1">
                <a:solidFill>
                  <a:srgbClr val="7C6EE6"/>
                </a:solidFill>
              </a:rPr>
              <a:t>{since: 2025}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71650D-2247-434E-B14F-6FC2635B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05125"/>
            <a:ext cx="28194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dati chiave-valore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95ADCC-E0BD-4137-B96A-37F05AE7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8637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Etichette e tipi danno significato alla topologia.</a:t>
            </a:r>
          </a:p>
        </p:txBody>
      </p:sp>
    </p:spTree>
    <p:extLst>
      <p:ext uri="{BB962C8B-B14F-4D97-AF65-F5344CB8AC3E}">
        <p14:creationId xmlns:p14="http://schemas.microsoft.com/office/powerpoint/2010/main" val="5928741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5EA4E-0196-4D64-9350-20C89610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UN NODO PUÒ AVERE PIÙ LABEL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5884D-2288-4FBF-94B6-6B242C54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Le label descrivono il ruolo di un nodo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6EDA0-8BE3-4780-8C43-CF150B55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AB2B5-E47F-4F29-BAFD-AB596694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00250"/>
            <a:ext cx="8667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BBB97-1215-42C0-A5F6-BFBCAC15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00250"/>
            <a:ext cx="95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69B57-EBA6-4B9F-9CCB-B9259592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247900"/>
            <a:ext cx="800100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(p:Person:Actor {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  personId: "p7",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  name: "Anne Hathaway"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})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A3A12-ED6E-4350-9A33-89DE8879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0062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Person = identità generale • Actor = ruolo nel dominio</a:t>
            </a:r>
          </a:p>
        </p:txBody>
      </p:sp>
    </p:spTree>
    <p:extLst>
      <p:ext uri="{BB962C8B-B14F-4D97-AF65-F5344CB8AC3E}">
        <p14:creationId xmlns:p14="http://schemas.microsoft.com/office/powerpoint/2010/main" val="8574630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6839A-73FF-4E87-90A5-9CE7DC65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KEY →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FAD12-A013-4AAC-9189-C61AC983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Le proprietà descrivono il nodo, non le sue connessioni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4F6F6-0C17-4B42-99F3-AC6DEB5B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50D6A-97B0-4441-8009-230E6256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809750"/>
            <a:ext cx="866775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A79DB-E48B-40BC-B4AF-F3C615FB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809750"/>
            <a:ext cx="952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178F1-16D6-4D7E-A2CD-446B4042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057400"/>
            <a:ext cx="8001000" cy="254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(m:Movie {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  movieId: "m1",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  title: "Interstellar",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  year: 2014,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  durationMin: 169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})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33DDC-52B7-49A2-B48B-092E4F0C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340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L’identità applicativa resta esplicita: movieId.</a:t>
            </a:r>
          </a:p>
        </p:txBody>
      </p:sp>
    </p:spTree>
    <p:extLst>
      <p:ext uri="{BB962C8B-B14F-4D97-AF65-F5344CB8AC3E}">
        <p14:creationId xmlns:p14="http://schemas.microsoft.com/office/powerpoint/2010/main" val="19200693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AD2573-09EE-450A-BFE6-12ED5A02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SEMANTICA ESPLICITA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F6A80-580B-45B4-B366-27B3A2DB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Una relazione ha tipo, direzione e proprietà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3B642-95A5-4C48-AE49-EC80C71F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3ED2B-E1FE-44C9-8FCF-B6B04ADE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2190750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1E4A3-8357-4121-B083-EF0B1A88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33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MARIO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CC12C-2391-441A-BC8C-70704ABC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38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183CE-DB77-4220-8EB5-30EBE233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2190750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DE38E-819C-417B-A0C7-D299F987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33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ANNA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8F2A1-C502-47D7-9FC9-CBA9C8D1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38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70050-C24B-4F7E-B02D-89389E54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00413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AB08F-58CC-455A-98E5-689ABC11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09875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FF453-AC40-4164-A92F-3411B45C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289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FOLLOWS  { since: date("2025-09-01") }  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20C0F-D5A7-4224-AD44-E824B2D4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000625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Si legge: Mario segue Anna dal 1° settembre 2025.</a:t>
            </a:r>
          </a:p>
        </p:txBody>
      </p:sp>
    </p:spTree>
    <p:extLst>
      <p:ext uri="{BB962C8B-B14F-4D97-AF65-F5344CB8AC3E}">
        <p14:creationId xmlns:p14="http://schemas.microsoft.com/office/powerpoint/2010/main" val="1192866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5111B6-9930-47F5-BD8B-BACD4437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GRAPH DATABASE &amp; NEO4J • LEZIONE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15076-072E-4D54-B0AC-AE4A185C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Pattern e path non sono sinonimi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F51CE-B883-406E-BFD6-CE4C5E72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49411-F48C-461F-B6AE-06EC1A3D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B8777-9B1B-4413-B93C-240B66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2E168-4B6C-46D7-849D-8511D190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EFC2C-659D-4AB3-A2CD-CB7B7ACF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209F3-3D73-4B06-A5D2-7F9D21CD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PATTERN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22AEE-9490-44E6-BC16-14A15D1F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La struttura cercata dalla query: label, tipi, direzioni e proprietà. È un modello da far corrispondere al grafo.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45E2C-C543-4E73-B97E-EDE8940A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075B0-9E47-46CE-A2AE-03A4DAF0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Una sequenza concreta di nodi e relazioni che soddisfa quel pattern. Una query può trovare zero, uno o molti path.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808A9-0DF4-4D72-82D2-1FF7B8BA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102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C6EE6"/>
                </a:solidFill>
              </a:defRPr>
            </a:pPr>
            <a:r>
              <a:rPr sz="1575" b="1">
                <a:solidFill>
                  <a:srgbClr val="7C6EE6"/>
                </a:solidFill>
              </a:rPr>
              <a:t>Il pattern è la domanda; il path è una risposta.</a:t>
            </a:r>
          </a:p>
        </p:txBody>
      </p:sp>
    </p:spTree>
    <p:extLst>
      <p:ext uri="{BB962C8B-B14F-4D97-AF65-F5344CB8AC3E}">
        <p14:creationId xmlns:p14="http://schemas.microsoft.com/office/powerpoint/2010/main" val="4905566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A1117F-9844-4D97-A06E-04575DDD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NODI PRINCIPALI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71D59-28DB-4488-8847-099CBD03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dominio DATAFLIX diventa una rete interrogabile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F650D-9FF7-4A73-9467-B00E37A9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F7146-85B8-4216-BD74-E726FE6A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80975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B55FD-55F0-485B-BF02-3B5F02D8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33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USER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94118-F9F9-423A-B30F-88C30689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38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Mario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B88FF-DEE6-4F03-BF9D-B6485996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2000250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F7F27-8D04-4FF2-80A3-CC47681B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90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MOVIE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56386-F93C-450D-AA08-1EF939C9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95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Interstellar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0EBFA-A828-4A92-BCED-895155BA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00500"/>
            <a:ext cx="2000250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C0F59-3886-4D03-9C52-222E06D6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7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PERSON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628CD-2A92-425F-957A-B22546B8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76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Nolan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980DB-9F7B-4017-BD8A-5929559D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180975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4E7A9-60BF-4595-8AC2-6E159227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90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GENRE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6EE0FF-3419-45B1-B1A7-910CB998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Sci-Fi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821E10-E8E7-4477-B17E-5EDCE71B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180975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764C19-9E49-4968-B980-1E6D3632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00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USER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244EAD-195F-413D-9E4E-889DDB13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905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Anna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6BB2E-7A5C-4172-9D6D-CF4DB888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28975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F54EA1-4F26-4A3C-B95C-C4F45306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19313"/>
            <a:ext cx="19050" cy="1119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63BEE5-1AEF-4C28-8A0F-668BAC20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09788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576B24-4310-4E6C-AAC2-9C1B7B3E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907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BB7CDD-967C-4740-98AC-711F5995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LIKES  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314FF1-F2B6-4FF0-A2F7-364B2361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19313"/>
            <a:ext cx="19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EBA143-20F8-489E-95EB-2EA538E8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337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73A2DD-BE5F-4571-A6A8-E1628768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52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6EE6"/>
                </a:solidFill>
              </a:defRPr>
            </a:pPr>
            <a:r>
              <a:rPr sz="1050" b="1">
                <a:solidFill>
                  <a:srgbClr val="7C6EE6"/>
                </a:solidFill>
              </a:rPr>
              <a:t>DIRECTED  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FC956B-50D7-401A-BDA4-FD703DCB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09788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5BC2BC-5036-4036-B550-9DEBD21F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857375"/>
            <a:ext cx="1285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4EE6CC-B437-448C-8903-A0FCB1EF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876425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IN_GENRE  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35E645-041F-49DC-BAAD-DFFD2A66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28975"/>
            <a:ext cx="404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402F78-60EA-415C-8F73-C0FC6B54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238500"/>
            <a:ext cx="19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16703E-0616-4614-8019-6B445926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95725"/>
            <a:ext cx="404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15D55D-D778-4059-BF8C-8E55FF65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6237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C17F36-197F-4384-B0B5-C9AE32DC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814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A36A"/>
                </a:solidFill>
              </a:defRPr>
            </a:pPr>
            <a:r>
              <a:rPr sz="1050" b="1">
                <a:solidFill>
                  <a:srgbClr val="27A36A"/>
                </a:solidFill>
              </a:rPr>
              <a:t>FOLLOWS  →</a:t>
            </a:r>
          </a:p>
        </p:txBody>
      </p:sp>
    </p:spTree>
    <p:extLst>
      <p:ext uri="{BB962C8B-B14F-4D97-AF65-F5344CB8AC3E}">
        <p14:creationId xmlns:p14="http://schemas.microsoft.com/office/powerpoint/2010/main" val="19371455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248765-6475-4168-AB3A-52150426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CONNESSIONI DATAFLIX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5472A-E556-423D-8B77-F9173C8F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 verbi del dominio diventano relationship 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C4B03-0744-487C-93DA-4D783857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177DE-97F5-49CF-ABFB-04CFCA49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82986-F9D0-44B3-A6CB-5873A317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2FF83-3FF4-496D-82FE-9A0001DF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716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FOLLOWS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869A9-2E5D-4FCA-B78A-B48A4915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526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8A4C"/>
                </a:solidFill>
              </a:defRPr>
            </a:pPr>
            <a:r>
              <a:rPr sz="1200" b="1">
                <a:solidFill>
                  <a:srgbClr val="FF8A4C"/>
                </a:solidFill>
              </a:rPr>
              <a:t>[:FOLLOWS]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2C49D-DD48-45DD-A641-2CFCAC37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1462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User → 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2A7EB-AC59-4FE6-BAED-253F1E22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62125"/>
            <a:ext cx="3238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4CE90-BEB8-4645-9A79-5A736950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6212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4A096-89A8-42BB-9B9D-D4CFF615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716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LIKES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54779-21B8-4247-AD6C-31138F74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526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B8D9"/>
                </a:solidFill>
              </a:defRPr>
            </a:pPr>
            <a:r>
              <a:rPr sz="1200" b="1">
                <a:solidFill>
                  <a:srgbClr val="00B8D9"/>
                </a:solidFill>
              </a:rPr>
              <a:t>[:LIKES]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AEF1C-BE83-495B-9301-633B5529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1462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User → Movie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0C1A2-76E6-4420-99C3-57D97B57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62125"/>
            <a:ext cx="3238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369C0-3CC7-407D-84C8-93461ACB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6212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4A3F4C-A530-435F-8F45-2CF9213B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716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WATCHED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37454-7A04-42C8-85E2-9B8C84E5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526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E34B"/>
                </a:solidFill>
              </a:defRPr>
            </a:pPr>
            <a:r>
              <a:rPr sz="1200" b="1">
                <a:solidFill>
                  <a:srgbClr val="B7E34B"/>
                </a:solidFill>
              </a:rPr>
              <a:t>[:WATCHED]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F9DFE5-0FEE-4DA5-8BE4-37448A9D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1462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User → Movie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051737-E11F-41BD-8618-B6BB3095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238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41BC41-596D-4996-987F-3FEC8770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E3DD24-42BE-4F86-A931-BBA769A8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ACTED_IN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596D5A-6021-464A-A929-A93C26BE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6EE6"/>
                </a:solidFill>
              </a:defRPr>
            </a:pPr>
            <a:r>
              <a:rPr sz="1200" b="1">
                <a:solidFill>
                  <a:srgbClr val="7C6EE6"/>
                </a:solidFill>
              </a:rPr>
              <a:t>[:ACTED_IN]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5A3848-C6BF-4734-9253-B340F7C8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Person → Movie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01D548-F3B7-4EE9-94CE-76825999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29000"/>
            <a:ext cx="3238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00F177-0E41-4F17-8DD6-EE8B58C8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2900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EC6909-BDCD-497A-950E-F89063ED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385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DIRECTED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7C3CDE-FEDC-44E3-A4F4-075DCA15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195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5A5A"/>
                </a:solidFill>
              </a:defRPr>
            </a:pPr>
            <a:r>
              <a:rPr sz="1200" b="1">
                <a:solidFill>
                  <a:srgbClr val="EF5A5A"/>
                </a:solidFill>
              </a:rPr>
              <a:t>[:DIRECTED]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93D1B8-4E03-469F-BF95-3F7351F4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8150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Person → Movie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5C8468-B763-443A-A86C-1E83CE52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29000"/>
            <a:ext cx="3238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39AC2E-DD75-4283-A1A8-DBA42966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2900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CBD31B-27E8-4621-A293-884D661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IN_GENRE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D10E81-9939-4561-8FAD-628BDD2E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195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A36A"/>
                </a:solidFill>
              </a:defRPr>
            </a:pPr>
            <a:r>
              <a:rPr sz="1200" b="1">
                <a:solidFill>
                  <a:srgbClr val="27A36A"/>
                </a:solidFill>
              </a:rPr>
              <a:t>[:IN_GENRE]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117816-D3FA-4184-8D43-8BD72115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8150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Movie → Genre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95C8DD-0EE7-4A57-B71D-222591A5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292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I nomi devono rendere leggibile una frase.</a:t>
            </a:r>
          </a:p>
        </p:txBody>
      </p:sp>
    </p:spTree>
    <p:extLst>
      <p:ext uri="{BB962C8B-B14F-4D97-AF65-F5344CB8AC3E}">
        <p14:creationId xmlns:p14="http://schemas.microsoft.com/office/powerpoint/2010/main" val="8018010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8D11D3-8610-4048-9418-699AA889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DOMANDE GUIDATE DALLE CONNESSIONI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53348-AF9B-46ED-B24D-D141E132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Quando il grafo è una buona scelta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D333C-0A98-41A3-86A9-558188AB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E075D-81A7-4A8C-B497-FF8B4E20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23D89-D598-436B-819E-89B601F1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621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TRAVERSAL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A9703-903C-46EA-B848-608423BE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6212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seguire relazioni attraverso più passaggi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445D6-6C67-4432-9311-C80EB191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33853-65E1-4166-BBF2-0971FFE7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PROFONDITÀ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BF3D6-1D13-4EBF-80E6-623810D6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esplorare percorsi di lunghezza variabile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2FBB1-CD28-4637-80F1-65E29F3D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E044C-9257-49CD-B43B-5047B3C3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CONTESTO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6DC0E-04CB-4F6E-8EA1-555069B9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8137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usare tipo e proprietà delle relazioni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7913F-4293-4726-B1A1-28A0060D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F03CCA-5B12-4EBE-8778-803793E3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SCOPERTE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BA4E4-5BD5-412D-863C-F5B5632B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910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trovare comunità, centralità e connessioni nascoste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63BE2F-9A32-4928-A036-DD4CC423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381625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Social • recommendation • frodi • knowledge graph • rete IT</a:t>
            </a:r>
          </a:p>
        </p:txBody>
      </p:sp>
    </p:spTree>
    <p:extLst>
      <p:ext uri="{BB962C8B-B14F-4D97-AF65-F5344CB8AC3E}">
        <p14:creationId xmlns:p14="http://schemas.microsoft.com/office/powerpoint/2010/main" val="18949202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9F2FF5-0510-42E2-A7F7-585C0CCD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SCEGLIERE, NON TIFARE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36C8C-AEC4-4957-94E4-32CBB2A0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Quando il grafo non è la prima scelta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BE642-9D02-48FD-9649-3D4B63C5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B52B9-F33F-4ACC-AE65-CDDC868F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C7D7B-9087-4A31-B759-228701E3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FBB80-FFD3-4949-A0F9-51DE09DE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716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SCAN ANALITICI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F167D-F8F6-463F-8B24-FC075731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86025"/>
            <a:ext cx="4676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grandi aggregazioni colonnari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warehouse / Spark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CB69F-9FDE-478E-9C82-FD6E5BE7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62125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09BF6-9415-4C93-AF92-6E66F02A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621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6D3F4-04A2-42B8-8C37-C8C668BA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BLOB E VIDEO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2FD58-3CCA-4607-9679-EE466FE5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86025"/>
            <a:ext cx="4676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contenuti binari pesanti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object storage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C722E-6104-4804-BA6B-A58D8697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6279C1-8796-423C-A5CD-3C6C5723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3BA832-74F2-4A3F-BC33-DA98B229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CHIAVE DIRETTA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D2B10F-F756-489D-84DE-CAF97D61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4676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lettura per ID e TTL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key-value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C153B9-105A-4026-A321-4E89AF67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660E9E-820B-4E9F-825D-A4F8E2D1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11C3E7-A070-4462-8C9B-FC0487D7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AGGREGATO ISOLATO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13D39D-DC80-41BE-8746-095CE5A5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52900"/>
            <a:ext cx="4676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oggetto letto intero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document database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63B28D-0D3E-411B-9ECF-2CAB5C29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8162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DATAFLIX può usare più modelli nello stesso sistema.</a:t>
            </a:r>
          </a:p>
        </p:txBody>
      </p:sp>
    </p:spTree>
    <p:extLst>
      <p:ext uri="{BB962C8B-B14F-4D97-AF65-F5344CB8AC3E}">
        <p14:creationId xmlns:p14="http://schemas.microsoft.com/office/powerpoint/2010/main" val="20252204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D8150-98F7-4D5B-8103-1A26ECD7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QUERY-FIRST MODELING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53208-4C7F-482C-90C2-E981B954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Prima le domande, poi il modello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3B55E-6E38-4747-BA6E-0C67303E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BB928-C7E1-475C-8A27-F5F74961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9545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B8D9"/>
                </a:solidFill>
              </a:defRPr>
            </a:pPr>
            <a:r>
              <a:rPr sz="2025" b="1">
                <a:solidFill>
                  <a:srgbClr val="00B8D9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0FFE5-DF1A-48D3-ACD0-F8CDE163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954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Quali film piacciono agli amici?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62969-3EBD-419B-AE7F-E628D4EF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985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8A4C"/>
                </a:solidFill>
              </a:defRPr>
            </a:pPr>
            <a:r>
              <a:rPr sz="2025" b="1">
                <a:solidFill>
                  <a:srgbClr val="FF8A4C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A989F-961A-491C-9C62-4DD7C2CF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098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Quali utenti hanno gusti simili?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32850-CDE1-4B39-9CC2-167778B6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7E34B"/>
                </a:solidFill>
              </a:defRPr>
            </a:pPr>
            <a:r>
              <a:rPr sz="2025" b="1">
                <a:solidFill>
                  <a:srgbClr val="B7E34B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CC14F9-7AE7-4ED0-8D73-28EC2FE7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42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Qual è il percorso tra due persone?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77068-428C-47CF-9154-3DDE197E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3865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C6EE6"/>
                </a:solidFill>
              </a:defRPr>
            </a:pPr>
            <a:r>
              <a:rPr sz="2025" b="1">
                <a:solidFill>
                  <a:srgbClr val="7C6EE6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2F6D0-07E3-4F5A-9CBB-20CE6D8C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38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Quali nodi connettono due comunità?</a:t>
            </a:r>
          </a:p>
        </p:txBody>
      </p:sp>
    </p:spTree>
    <p:extLst>
      <p:ext uri="{BB962C8B-B14F-4D97-AF65-F5344CB8AC3E}">
        <p14:creationId xmlns:p14="http://schemas.microsoft.com/office/powerpoint/2010/main" val="15642984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18A2A1-223F-4EB7-9004-A164570F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ENTITÀ CON IDENTITÀ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4FBEE-71A6-4995-97C7-C9551AF2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Dai nomi ai nodi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95652-C5C3-4590-AED1-E8993A0F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7E89F-3E8B-4FB0-8DB7-0C580156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95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8C745-5B11-4DC6-8D9A-5EE51D2A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Mario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87E70-52F3-4B6C-B0A7-F508A5C1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B3831-A362-42D4-A590-986A38B5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71750"/>
            <a:ext cx="2095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AAA8F-2AF1-4453-997A-77EDC6A8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Interstellar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836CB-0A05-42B1-87DF-05571E8A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48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Movie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0FF40-83F0-4864-BED4-E0657B86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2095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29863-6052-42D3-B49F-99D781F3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Nolan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DEC2A-0B0A-4B67-B890-3C6B8AC4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48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Person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7D90C-279B-40AF-B329-52338269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71750"/>
            <a:ext cx="2095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6E47B-1845-45B8-ABFF-0C101E4F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Sci-Fi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E5DEF7-E7ED-4936-845A-7DD0B03D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48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Genre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3CB6E-0FD1-415E-AD9A-E0393685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5300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Crea un nodo quando l’oggetto ha identità, proprietà e connessioni proprie.</a:t>
            </a:r>
          </a:p>
        </p:txBody>
      </p:sp>
    </p:spTree>
    <p:extLst>
      <p:ext uri="{BB962C8B-B14F-4D97-AF65-F5344CB8AC3E}">
        <p14:creationId xmlns:p14="http://schemas.microsoft.com/office/powerpoint/2010/main" val="14948741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4D4D41-02D6-40F6-AFC4-F810D15E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AZIONI E LEGAMI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8CBCA-7112-4BDF-A625-D14C464F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Dai verbi alle relazioni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91688-263C-44CE-8D8E-EBAE0176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8587C-920F-4BB8-BAA7-9051D261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2190750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698A4-D0AC-4CC9-BCFB-2B5FE7F2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860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MARIO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3F247-EDE6-4DE6-813E-30B5821E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908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1AA26-AC45-4502-9018-5B2996E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2190750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85302-90ED-46F3-8114-86256EED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860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INTERSTELLAR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DBC71-DEEF-4688-BA67-79AD7CCA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Movie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5C843-497B-414B-9449-1CB72CB3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52788"/>
            <a:ext cx="757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FD048-C575-45BB-86BC-F640BA6F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3C901-FB1E-4350-81FA-8F23684C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908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WATCHED  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1E096E-F955-4D42-B47E-83EC2DA6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338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B8D9"/>
                </a:solidFill>
              </a:defRPr>
            </a:pPr>
            <a:r>
              <a:rPr sz="1575" b="1">
                <a:solidFill>
                  <a:srgbClr val="00B8D9"/>
                </a:solidFill>
              </a:rPr>
              <a:t>Chi?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E8A1C4-2D54-4801-9346-586C0E9D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338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8A4C"/>
                </a:solidFill>
              </a:defRPr>
            </a:pPr>
            <a:r>
              <a:rPr sz="1575" b="1">
                <a:solidFill>
                  <a:srgbClr val="FF8A4C"/>
                </a:solidFill>
              </a:rPr>
              <a:t>Che cosa è accaduto?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04B802-7A61-44CA-A711-70ABD374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338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C6EE6"/>
                </a:solidFill>
              </a:defRPr>
            </a:pPr>
            <a:r>
              <a:rPr sz="1575" b="1">
                <a:solidFill>
                  <a:srgbClr val="7C6EE6"/>
                </a:solidFill>
              </a:rPr>
              <a:t>A quale oggetto?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79BAF-CC25-4C5F-8EBC-81875F59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8637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Il verbo rende interrogabile la connessione.</a:t>
            </a:r>
          </a:p>
        </p:txBody>
      </p:sp>
    </p:spTree>
    <p:extLst>
      <p:ext uri="{BB962C8B-B14F-4D97-AF65-F5344CB8AC3E}">
        <p14:creationId xmlns:p14="http://schemas.microsoft.com/office/powerpoint/2010/main" val="17234965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80AE6-F81A-4C1C-86A9-EC3D4DB1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GRAPH DATABASE &amp; NEO4J • LEZIONE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411EC-EA46-432D-A0E7-8AEF94D2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Proprietà o relazione? Guarda il significato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61CF2-4318-4D99-98B4-BAC7CFA8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2D435-A91F-449B-8A27-D646919E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4F8AA-5B75-419A-AB10-4536E075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B5D0A-9C6B-493A-9A4D-044A55FA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27265-9BB4-43D5-AA6F-A1CB7FB1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2402A-4CA5-4749-A264-0D189506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PROPRIETÀ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6DF2F-3D45-4D27-990F-D51E1F44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Dato che descrive un’entità: Movie.year, User.country, Person.name. Non ha identità o connessioni autonome.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785C0-D7F3-43FF-8645-60EB79E9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RELAZIONE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9506F-3DC1-4908-B57F-D952673B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Fatto tra due entità: WATCHED, FOLLOWS, DIRECTED. Può avere proprie proprietà e partecipare ai percorsi.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545E74-C549-4A79-823C-A151B5A4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10250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C6EE6"/>
                </a:solidFill>
              </a:defRPr>
            </a:pPr>
            <a:r>
              <a:rPr sz="1575" b="1">
                <a:solidFill>
                  <a:srgbClr val="7C6EE6"/>
                </a:solidFill>
              </a:rPr>
              <a:t>Se devi attraversarlo, filtrarlo come legame o descriverlo: relazione.</a:t>
            </a:r>
          </a:p>
        </p:txBody>
      </p:sp>
    </p:spTree>
    <p:extLst>
      <p:ext uri="{BB962C8B-B14F-4D97-AF65-F5344CB8AC3E}">
        <p14:creationId xmlns:p14="http://schemas.microsoft.com/office/powerpoint/2010/main" val="5642958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03F69-AD59-4001-9BE2-D1220C4E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ORIENTATO O NON ORIENTATO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41D9D-5AD7-4199-A05F-E8580150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direzione memorizza una frase; la query può scegliere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A76B5-9EA7-4AB3-8D05-8F29A0DD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951D3-378F-444E-8ABA-72101555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52625"/>
            <a:ext cx="9334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2D030-0B39-45AF-A713-0D9C2438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52625"/>
            <a:ext cx="95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9D996-37D6-4D1F-A4EA-DB88F447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00275"/>
            <a:ext cx="86677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// direzione semantica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(mario)-[:FOLLOWS]-&gt;(anna)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// domanda simmetrica: sono connessi?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(mario)-[:FOLLOWS]-(other)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7BC0D-9828-4844-A155-F1E40B2A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95875"/>
            <a:ext cx="771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Non duplicare la relazione inversa soltanto per poterla leggere.</a:t>
            </a:r>
          </a:p>
        </p:txBody>
      </p:sp>
    </p:spTree>
    <p:extLst>
      <p:ext uri="{BB962C8B-B14F-4D97-AF65-F5344CB8AC3E}">
        <p14:creationId xmlns:p14="http://schemas.microsoft.com/office/powerpoint/2010/main" val="6723458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CF018-61B9-4F58-BB19-8394B6E1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LINGUAGGIO DICHIARATIVO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AEF2F-69BE-41E3-9F15-DA1F8A44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Cypher descrive il pattern che vogliamo trovare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866F6-8E18-42C8-BA64-69308EE3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7FC1D-578E-4CD6-816C-C5C9B885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47875"/>
            <a:ext cx="8858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66E92-D3F0-43FD-B5EE-AC22403F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47875"/>
            <a:ext cx="95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1D8FA-D414-4B55-A072-F2E74BF0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295525"/>
            <a:ext cx="8191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MATCH (u:User)-[:LIKES]-&gt;(m:Movie)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WHERE u.name = "Mario"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RETURN m.title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3E7106-F6CF-4DF2-9C3F-F4F4AC29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9053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Non scriviamo il percorso operativo: dichiariamo la forma della risposta.</a:t>
            </a:r>
          </a:p>
        </p:txBody>
      </p:sp>
    </p:spTree>
    <p:extLst>
      <p:ext uri="{BB962C8B-B14F-4D97-AF65-F5344CB8AC3E}">
        <p14:creationId xmlns:p14="http://schemas.microsoft.com/office/powerpoint/2010/main" val="9239002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FE255-08A0-4C24-8A10-C6FCDE77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PARENTESI • VARIABILE • LABEL • PROPRIETÀ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C540E-311B-4C79-9D07-5092CDCE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Sintassi di un nodo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38EA1-B44B-4284-9EC8-65ADC8F1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6A8AC-DBAB-4CE0-B418-CDF5F5F2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52625"/>
            <a:ext cx="9429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B0CC1-7EDE-405A-9C90-3FC9F112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52625"/>
            <a:ext cx="95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FBCDE-7E1B-4003-A5F8-43D913AC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200275"/>
            <a:ext cx="87630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(u:User { userId: "u1" })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│   │          │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│   │          └─ proprietà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│   └──────────── label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└──────────────── variabile della query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1146E-A6D7-4679-B557-E13E9AC7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911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La variabile u esiste soltanto nella query.</a:t>
            </a:r>
          </a:p>
        </p:txBody>
      </p:sp>
    </p:spTree>
    <p:extLst>
      <p:ext uri="{BB962C8B-B14F-4D97-AF65-F5344CB8AC3E}">
        <p14:creationId xmlns:p14="http://schemas.microsoft.com/office/powerpoint/2010/main" val="122527914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AAA47-0CD1-48A7-9BD5-A7ABC3DD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PARENTESI QUADRE • TIPO • DIREZIONE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49F19-1EEF-41E1-AC69-5325ABCE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Sintassi di una relazione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91E9D-1239-403D-B72C-8C29E3EB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81AA5-1170-4EDB-A601-F482DABB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51487-5C00-4567-98E9-DB57A0EA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5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49377-01C7-4A72-9E0B-42497D68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00275"/>
            <a:ext cx="92392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(u:User)-[r:FOLLOWS]-&gt;(v:User)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        │     │        │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        │     │        └─ direzione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        │     └────────── tipo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        └──────────────── variabile opzionale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125BB-F8C6-4256-AE41-53682A95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9112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La variabile r serve se vogliamo leggere o modificare proprietà del legame.</a:t>
            </a:r>
          </a:p>
        </p:txBody>
      </p:sp>
    </p:spTree>
    <p:extLst>
      <p:ext uri="{BB962C8B-B14F-4D97-AF65-F5344CB8AC3E}">
        <p14:creationId xmlns:p14="http://schemas.microsoft.com/office/powerpoint/2010/main" val="75429853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F17BC-7734-4557-A685-5393A9FB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NODI E RELAZIONI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6B076-7139-4B10-9DF8-F88FF97F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CREATE crea sempre nuovi elementi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9C8E5-4650-4245-8831-087BEBFD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9A3A1-C89E-4325-9856-561E09C0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10191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D1265-085A-40F0-B180-5AD47F53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952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021B7-8D20-4266-966F-5880CF99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200275"/>
            <a:ext cx="9525000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CREATE (u:User {userId: "u1", name: "Mario"})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CREATE (m:Movie {movieId: "m1", title: "Interstellar"})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CREATE (u)-[:LIKES]-&gt;(m)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00B97-9C3F-453F-9F8E-8726765A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4825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Ripetere CREATE può generare duplicati: serve una strategia.</a:t>
            </a:r>
          </a:p>
        </p:txBody>
      </p:sp>
    </p:spTree>
    <p:extLst>
      <p:ext uri="{BB962C8B-B14F-4D97-AF65-F5344CB8AC3E}">
        <p14:creationId xmlns:p14="http://schemas.microsoft.com/office/powerpoint/2010/main" val="11653139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41BA2-994D-4364-9BF8-6C8BD9C0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IDEMPOTENZA + VINCOLI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F6D26-9236-4FCD-9A46-C19D0A42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MERGE cerca il pattern o lo crea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1926D-7975-4C6D-ACD0-458BA769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4129F-81CE-40D6-AE00-78BCB74C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66875"/>
            <a:ext cx="10096500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B646E-61B3-4E2E-BA09-77EFA1ED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66875"/>
            <a:ext cx="9525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687AC-7BEC-417B-86C0-BAF4357B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14525"/>
            <a:ext cx="942975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CREATE CONSTRAINT user_id IF NOT EXISTS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FOR (u:User) REQUIRE u.userId IS UNIQUE;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MERGE (u:User {userId: "u1"})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ON CREATE SET u.name = "Mario", u.createdAt = datetime()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ON MATCH  SET u.lastSeenAt = datetime()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C2605-EABB-425B-8AC5-1E692E2D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197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MERGE non sostituisce un vincolo: le due cose lavorano insieme.</a:t>
            </a:r>
          </a:p>
        </p:txBody>
      </p:sp>
    </p:spTree>
    <p:extLst>
      <p:ext uri="{BB962C8B-B14F-4D97-AF65-F5344CB8AC3E}">
        <p14:creationId xmlns:p14="http://schemas.microsoft.com/office/powerpoint/2010/main" val="14112032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ADCDC-6972-43B5-9969-B248EFD4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MATCH • WHERE • RETURN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64635-CA6F-497C-B199-1503039D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MATCH trova pattern nel grafo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32845-1686-4292-81D1-132C8EFA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B74C1-60C3-4895-BF24-0001F181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47875"/>
            <a:ext cx="9810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293F5-D4C0-4EEC-85BE-7966A6D8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47875"/>
            <a:ext cx="95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47F62-6503-4053-985E-A007EF14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295525"/>
            <a:ext cx="914400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MATCH (u:User)-[:LIKES]-&gt;(m:Movie)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WHERE u.userId = "u1" AND m.year &gt;= 2010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RETURN m.title AS film, m.year AS anno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3E085-D9F7-4434-8AC8-748AD836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095875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MATCH struttura • WHERE condizioni • RETURN risultato</a:t>
            </a:r>
          </a:p>
        </p:txBody>
      </p:sp>
    </p:spTree>
    <p:extLst>
      <p:ext uri="{BB962C8B-B14F-4D97-AF65-F5344CB8AC3E}">
        <p14:creationId xmlns:p14="http://schemas.microsoft.com/office/powerpoint/2010/main" val="214079894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364B7-A29B-4051-B88A-5A256883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RETURN • ORDER BY • LIMIT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1A52B-F25F-4AA9-A55A-5C4C62AC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Proiettare, ordinare e limitare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0A50F-46F9-4599-B9BA-A739C492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06A2D-D553-4ECB-8B37-E7F58994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52625"/>
            <a:ext cx="942975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83AC0-6E33-4CFF-8CB8-AC05F3D8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52625"/>
            <a:ext cx="952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BA585-6932-4416-9BD8-33D7431E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200275"/>
            <a:ext cx="8763000" cy="2162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MATCH (u:User)-[:WATCHED]-&gt;(m:Movie)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RETURN m.title AS film, count(*) AS views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ORDER BY views DESC, film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LIMIT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45C38-3024-45EE-8D5A-248993A4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4350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L’aggregazione segue le espressioni non aggregate del RETURN.</a:t>
            </a:r>
          </a:p>
        </p:txBody>
      </p:sp>
    </p:spTree>
    <p:extLst>
      <p:ext uri="{BB962C8B-B14F-4D97-AF65-F5344CB8AC3E}">
        <p14:creationId xmlns:p14="http://schemas.microsoft.com/office/powerpoint/2010/main" val="4660324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9DF89-1E59-4E5E-BBBD-CFAF5A39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AGGIORNAMENTO MIRATO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14658-24C4-49D9-95F6-E0AD819A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SET evolve proprietà e label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81964-2227-4389-8B94-8A9804F8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E12C1-2164-4C3E-8AAF-DC8FCB04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95500"/>
            <a:ext cx="9048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EC414-2BE1-4BCA-A987-456DAE7B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95500"/>
            <a:ext cx="95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A664A-66EB-469D-9F15-0C7F039F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343150"/>
            <a:ext cx="8382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MATCH (u:User {userId: "u1"})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SET u.country = "IT", u:Premium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RETURN 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46136-5A6F-4545-B3B3-D999E123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053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SET aggiunge o sostituisce proprietà e può aggiungere label.</a:t>
            </a:r>
          </a:p>
        </p:txBody>
      </p:sp>
    </p:spTree>
    <p:extLst>
      <p:ext uri="{BB962C8B-B14F-4D97-AF65-F5344CB8AC3E}">
        <p14:creationId xmlns:p14="http://schemas.microsoft.com/office/powerpoint/2010/main" val="61752721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D050B3-4F86-4255-B729-3895B17A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GRAPH DATABASE &amp; NEO4J • LEZIONE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A58C9-58E0-4188-88B5-EA8D8A46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DELETE e DETACH DELETE hanno conseguenze diverse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D030A-BFDE-4D2C-A988-9CCEE838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BC55A-FF27-4B25-962A-F2B80672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B5574-4DED-4F8B-B04E-03A5E62F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AFFC0-19C4-4153-901E-C386CB2D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9D9E8-06F7-4A47-B4F0-A57846BA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762CB-316C-45E6-9B86-80692546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DELETE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8909D-F3EF-4BC2-90CA-8BA4318A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Elimina nodi o relazioni. Un nodo ancora connesso non può essere eliminato senza rimuovere prima le relazioni.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351CF-F58D-47B9-826B-D85BCAE8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DETACH DELETE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8CC3CC-FCF8-42B1-B31D-B26D6932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Elimina il nodo e tutte le relazioni connesse. È comodo, ma amplia il bersaglio: va preceduto da MATCH e verifica.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60BCB-3356-4FC8-952D-EEB2B954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81025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C6EE6"/>
                </a:solidFill>
              </a:defRPr>
            </a:pPr>
            <a:r>
              <a:rPr sz="1575" b="1">
                <a:solidFill>
                  <a:srgbClr val="7C6EE6"/>
                </a:solidFill>
              </a:rPr>
              <a:t>Prima RETURN, poi DELETE: la disciplina operativa resta.</a:t>
            </a:r>
          </a:p>
        </p:txBody>
      </p:sp>
    </p:spTree>
    <p:extLst>
      <p:ext uri="{BB962C8B-B14F-4D97-AF65-F5344CB8AC3E}">
        <p14:creationId xmlns:p14="http://schemas.microsoft.com/office/powerpoint/2010/main" val="102058322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CEF8A-EA90-47FB-A7DE-BAFAF243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COUNT • COLLECT • AVG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A4944-878D-4275-9D0D-C01ED514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Aggregare sul grafo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F59EE-3847-465A-8A80-FBBA5375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C9AE2-2E1E-498B-8F9F-19BD54C2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14500"/>
            <a:ext cx="10191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FCFD5-8882-4CDA-85CC-50E6C98D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145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E7F8D-A7D3-4208-9564-37E8C059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962150"/>
            <a:ext cx="952500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MATCH (u:User)-[w:WATCHED]-&gt;(m:Movie)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RETURN u.name,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       count(m) AS filmVisti,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       avg(w.rating) AS ratingMedio,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       collect(m.title) AS titoli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ORDER BY filmVisti DESC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74396-D58E-41A3-925B-ACA32BE1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61975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Le proprietà della relazione entrano direttamente nell’analisi.</a:t>
            </a:r>
          </a:p>
        </p:txBody>
      </p:sp>
    </p:spTree>
    <p:extLst>
      <p:ext uri="{BB962C8B-B14F-4D97-AF65-F5344CB8AC3E}">
        <p14:creationId xmlns:p14="http://schemas.microsoft.com/office/powerpoint/2010/main" val="54140606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0AF3E-C6AF-4E67-9D90-E8018FEC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TRAVERSAL DIRETTO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841FB-1944-4845-85B3-778F978C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 hop: i film apprezzati da Mario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91127-4FEE-4F8F-AE4E-17040B3A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D750C-CC63-41E9-8049-4608CABC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971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29E7F-8159-47CA-86F7-603EC137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95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4D583-79E1-461C-8CAD-1996C46D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38400"/>
            <a:ext cx="9048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MATCH (:User {userId: "u1"})-[:LIKES]-&gt;(m:Movie)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RETURN m.title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ORDER BY m.title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946E4-4819-4244-8BA2-74E7D238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User → LIKES → Movie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0B368-375B-4B9F-A262-BF02829D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340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06D"/>
                </a:solidFill>
              </a:defRPr>
            </a:pPr>
            <a:r>
              <a:rPr sz="1650" b="1">
                <a:solidFill>
                  <a:srgbClr val="52606D"/>
                </a:solidFill>
              </a:rPr>
              <a:t>Un hop = una relazione attraversata.</a:t>
            </a:r>
          </a:p>
        </p:txBody>
      </p:sp>
    </p:spTree>
    <p:extLst>
      <p:ext uri="{BB962C8B-B14F-4D97-AF65-F5344CB8AC3E}">
        <p14:creationId xmlns:p14="http://schemas.microsoft.com/office/powerpoint/2010/main" val="159916455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F82FE-789F-4D68-80A6-800CCAFD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SEGNALI SOCIALI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6CDDB-186A-4817-AF0F-9A2881B8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Due hop: raccomandazioni dagli utenti seguiti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952AA-194A-4B0D-9B86-0D9E38CC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93350-E8F0-4B4C-8FB0-585116B9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76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9C490-9362-4153-86E6-9C0E6659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95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403BC-18CB-4544-9899-E111AABA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057400"/>
            <a:ext cx="100965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MATCH (me:User {userId: "u1"})-[:FOLLOWS]-&gt;(:User)-[:LIKES]-&gt;(m:Movie)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WHERE NOT (me)-[:LIKES]-&gt;(m)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RETURN m.title, count(*) AS signals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ORDER BY signals DESC, m.title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5DAE6-143F-4B91-A78B-E5A267B4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191125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Escludiamo ciò che Mario apprezza già e contiamo le conferme.</a:t>
            </a:r>
          </a:p>
        </p:txBody>
      </p:sp>
    </p:spTree>
    <p:extLst>
      <p:ext uri="{BB962C8B-B14F-4D97-AF65-F5344CB8AC3E}">
        <p14:creationId xmlns:p14="http://schemas.microsoft.com/office/powerpoint/2010/main" val="56365305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62668-3466-4B2B-B8C0-30708CB6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UTENTI SIMILI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8845A-1F70-40E5-8FA4-F0236C9B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Gusti comuni: il film diventa ponte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FBC36-2912-43DC-972B-746E2129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517C6-7353-4F1E-B4B6-6D451046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858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CA53E-362C-4E94-B966-B959AC2F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142DF-E845-4D3C-9306-00270A78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57400"/>
            <a:ext cx="10191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MATCH (me:User {userId: "u1"})-[:LIKES]-&gt;(m:Movie)&lt;-[:LIKES]-(other:User)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WHERE other &lt;&gt; me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RETURN other.name, count(m) AS common, collect(m.title) AS titles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ORDER BY common DESC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5D3F6-0287-4BD3-9607-07AAC5CA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143500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La topologia produce una misura semplice di similarità.</a:t>
            </a:r>
          </a:p>
        </p:txBody>
      </p:sp>
    </p:spTree>
    <p:extLst>
      <p:ext uri="{BB962C8B-B14F-4D97-AF65-F5344CB8AC3E}">
        <p14:creationId xmlns:p14="http://schemas.microsoft.com/office/powerpoint/2010/main" val="66243064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7BD5C-3FAA-4744-B599-7D32BB53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QUANTIFIED RELATIONSHIP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AC3A8-2DB2-43C5-A43A-948EBE7A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Profondità variabile: non sappiamo quanti hop servono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CAAB0-25D1-477A-913A-06391F8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97D09-4D22-4F26-9304-EB84864F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10191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7F83A-DA66-4BAA-A096-7790C254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95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80E01-517B-42F5-9AB7-D4A9FC9B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343150"/>
            <a:ext cx="95250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MATCH p = (a:User {userId: "u1"})-[:FOLLOWS]-&gt;{1,3}(b:User)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RETURN b.name, length(p) AS hops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ORDER BY hops, b.name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C8653-BAA9-4B23-86A3-5AEAA04F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Limita profondità e direzione: i percorsi crescono rapidamente.</a:t>
            </a:r>
          </a:p>
        </p:txBody>
      </p:sp>
    </p:spTree>
    <p:extLst>
      <p:ext uri="{BB962C8B-B14F-4D97-AF65-F5344CB8AC3E}">
        <p14:creationId xmlns:p14="http://schemas.microsoft.com/office/powerpoint/2010/main" val="160172254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A8ABD-E439-44BE-930D-5A593807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SINTASSI CYPHER CORRENTE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B3496-B172-4FED-8BA6-01FC5460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Shortest path: il percorso minimo che soddisfa il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6DAB4-40EF-471F-AF4E-A75B2BB3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8ABDF-5F89-4B20-BFC7-DF955A2F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57375"/>
            <a:ext cx="105727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97071-7A68-4CA7-9FA0-4D63C32C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57375"/>
            <a:ext cx="952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80127-2445-4205-BEFA-C0857BB1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105025"/>
            <a:ext cx="99060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MATCH p = SHORTEST 1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  (a:User {userId: "u1"})-[:FOLLOWS]-+(b:User {userId: "u6"})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RETURN [n IN nodes(p) | n.name] AS percorso,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       length(p) AS hops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633A5-BF83-4A75-B172-4A1DA98B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“Shortest” dipende dal pattern: tipo, direzione e filtri cambiano la risposta.</a:t>
            </a:r>
          </a:p>
        </p:txBody>
      </p:sp>
    </p:spTree>
    <p:extLst>
      <p:ext uri="{BB962C8B-B14F-4D97-AF65-F5344CB8AC3E}">
        <p14:creationId xmlns:p14="http://schemas.microsoft.com/office/powerpoint/2010/main" val="56713157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3C7AE-419D-44FD-BBC7-A9F4E71B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IMPORTANZA LOCALE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32F19-0967-4F24-83B4-CD4A4FA4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Degree: quante connessioni immediate ha un nodo?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1F77A-236F-4E65-9527-1D014E8D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1CD1C-2E07-4016-96F3-5F15519A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9F573-3DF9-473B-AEF1-6EAEC9B7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5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81FA7-0C64-46CC-8232-F1D699D9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0275"/>
            <a:ext cx="90487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MATCH (u:User)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OPTIONAL MATCH (u)-[:FOLLOWS]-(neighbor:User)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RETURN u.name, count(DISTINCT neighbor) AS degree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ORDER BY degree DESC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C1BAC-58F3-4FFA-AEA4-C40729AB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19112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Molte connessioni non implicano automaticamente influenza.</a:t>
            </a:r>
          </a:p>
        </p:txBody>
      </p:sp>
    </p:spTree>
    <p:extLst>
      <p:ext uri="{BB962C8B-B14F-4D97-AF65-F5344CB8AC3E}">
        <p14:creationId xmlns:p14="http://schemas.microsoft.com/office/powerpoint/2010/main" val="205345229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D92259-A51F-4576-8C82-5E27BB9A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STESSO GRAFO, ALTRO DOMINIO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FDB05-E00A-42CA-961D-3F664658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Frodi e cybersecurity: cercare strutture sospette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4D9BB-7A47-466F-A027-694CE133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7860E-B18F-4CA8-93DF-91A3226B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80975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B9A01-4B1C-4E0D-8030-34651CCD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ACCOUNT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2A4C5-19AA-41B3-A6DC-016D13F0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CC052-41DB-49D4-BE93-5D5655FB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524000"/>
            <a:ext cx="180975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E2C5A-C25A-4043-A6A1-A73CB94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695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DEVICE 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CF0D1-281C-45D1-AF62-ED69A004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00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Device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B88195-6230-4632-B2DA-02C5A737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05250"/>
            <a:ext cx="180975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696A5-3E4C-4BC3-8A69-504938C1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76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IP 8.8…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386BB-BF27-4FD8-8CA7-9209381D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381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Address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AB0AD4-5096-4BAB-9126-136E0128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67000"/>
            <a:ext cx="180975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77A389-A65F-49DA-908A-BD842800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38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ACCOUNT 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5E4588-B9AD-4E08-862B-94654116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User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F4BE01-E17B-4722-8781-38E45CD0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0"/>
            <a:ext cx="180975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04D269-178E-47A8-B78E-76BFF897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838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PAYMENT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F3918C-30AF-408C-B5CD-4815B980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143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Card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3DE63A-D59E-447C-8FDF-2D8C8C36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3372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B54214-7B75-44E9-B3E1-776BDEC7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000250"/>
            <a:ext cx="19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9D3144-B6B8-4B4C-AEB7-06EFE8DF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9072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E78FAC-AEE7-4445-AE5E-2E44185D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95262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327DF7-B1FA-4075-B5D7-0DBC2C38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9716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USED  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FF21D9-3A58-47E6-9B64-489A4FB8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3372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CCAB8C-CAD3-4478-B04F-A4A0CEE7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143250"/>
            <a:ext cx="19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16AA86-C749-4173-B856-3A8F5155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7197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1E77A7-E806-4215-99EF-25C363A7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57625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F1234E-D870-477A-8D9A-A21B28F1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766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CONNECTED  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88C8F1-A285-4206-AB24-D3A8EECD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90725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28F154-9C64-4DA4-8648-D6453347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00250"/>
            <a:ext cx="19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9DC734-A924-4A6A-833C-5C1BA3B4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33725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82401A-1F02-41EC-B0E7-E007175D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52625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5BF832-4A36-4AEF-9E6B-ACC193EA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716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6EE6"/>
                </a:solidFill>
              </a:defRPr>
            </a:pPr>
            <a:r>
              <a:rPr sz="1050" b="1">
                <a:solidFill>
                  <a:srgbClr val="7C6EE6"/>
                </a:solidFill>
              </a:rPr>
              <a:t>USED_BY  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5C76F2-1CF3-4207-AD5E-20F4370D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71975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5730C4-9F6B-4B3D-838E-04D65392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143250"/>
            <a:ext cx="19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5AF53C-9BA0-4D2B-934B-8B1D394E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33725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5959D7-B862-4710-9F6F-5485881F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68D4FC-5929-4BF9-980D-C0690148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19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F5A5A"/>
                </a:solidFill>
              </a:defRPr>
            </a:pPr>
            <a:r>
              <a:rPr sz="1050" b="1">
                <a:solidFill>
                  <a:srgbClr val="EF5A5A"/>
                </a:solidFill>
              </a:rPr>
              <a:t>CONNECTED  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55D1DF-34C1-4BFA-A43D-11B2B216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33725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A3C8FA-7168-4B29-A911-871CE07D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D6EF5A-1BDE-42E5-AC1B-CDED443C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574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PAID_WITH  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5C4F0A-9D60-4B0C-AA3B-8624E704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81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Account diversi condividono dispositivi, IP e pagamenti.</a:t>
            </a:r>
          </a:p>
        </p:txBody>
      </p:sp>
    </p:spTree>
    <p:extLst>
      <p:ext uri="{BB962C8B-B14F-4D97-AF65-F5344CB8AC3E}">
        <p14:creationId xmlns:p14="http://schemas.microsoft.com/office/powerpoint/2010/main" val="58414155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819820-038A-4930-8A9A-CE91706B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PANORAMICA, NON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6EF6D-2FEF-4D65-AF33-C8BF2762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Graph Data Science: algoritmi sulla struttura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942725-5256-48A7-8E90-6B898AC5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67DD8-048F-42AB-A34E-3818D6E4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71AE5-8CB1-4988-89A1-428656B3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309C2-E76E-4893-BAFF-EB57273D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716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CENTRALITY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20090-2470-435E-B628-17268D0A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526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B8D9"/>
                </a:solidFill>
              </a:defRPr>
            </a:pPr>
            <a:r>
              <a:rPr sz="1200" b="1">
                <a:solidFill>
                  <a:srgbClr val="00B8D9"/>
                </a:solidFill>
              </a:rPr>
              <a:t>PageRank • degree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49F59-7EB8-43FF-A32A-6C3D1142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14625"/>
            <a:ext cx="467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nodi importanti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D2EE5-4AA0-449E-B40B-204F2FE6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62125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2845B-3510-4FF7-99C4-793B03B0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621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A208A-7960-49B6-9E5F-9B9164B1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COMMUNITY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E712D-E9C6-42B8-BAAE-C0DF0DF4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526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8A4C"/>
                </a:solidFill>
              </a:defRPr>
            </a:pPr>
            <a:r>
              <a:rPr sz="1200" b="1">
                <a:solidFill>
                  <a:srgbClr val="FF8A4C"/>
                </a:solidFill>
              </a:rPr>
              <a:t>Louvain • Leiden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E8D73-EFE2-40B8-9572-2DA40E29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14625"/>
            <a:ext cx="467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gruppi densi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47B8E-A7E2-450D-AED9-91C09713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28098-28B9-4BFC-B53C-6835B726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EFBCE4-0C52-46CB-9D9D-220592CA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SIMILARITY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5EF84-5B73-4EB6-BE63-5B255D05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6EE6"/>
                </a:solidFill>
              </a:defRPr>
            </a:pPr>
            <a:r>
              <a:rPr sz="1200" b="1">
                <a:solidFill>
                  <a:srgbClr val="7C6EE6"/>
                </a:solidFill>
              </a:rPr>
              <a:t>node similarity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3A4DD-B2EF-43EF-8AAD-6ED9F8EB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467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nodi affini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494105-6CC3-41EC-8C75-B215E288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C2683F-A5BF-41A3-A510-15BBCF47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68B77C-E3CE-4A76-84DF-4AF2E189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PATH FINDING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BE0FE3-D477-42BE-81B6-B2583F02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9550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E34B"/>
                </a:solidFill>
              </a:defRPr>
            </a:pPr>
            <a:r>
              <a:rPr sz="1200" b="1">
                <a:solidFill>
                  <a:srgbClr val="B7E34B"/>
                </a:solidFill>
              </a:rPr>
              <a:t>Dijkstra • A*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5A892D-41BD-47DC-81C9-48CE0929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81500"/>
            <a:ext cx="467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percorsi ottimi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7E17E7-2512-4E56-9EDF-2803C098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8162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Nel laboratorio useremo Cypher base; GDS richiede un componente dedicato.</a:t>
            </a:r>
          </a:p>
        </p:txBody>
      </p:sp>
    </p:spTree>
    <p:extLst>
      <p:ext uri="{BB962C8B-B14F-4D97-AF65-F5344CB8AC3E}">
        <p14:creationId xmlns:p14="http://schemas.microsoft.com/office/powerpoint/2010/main" val="198314991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231CE-6FA1-4B03-95B0-F630F38D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SCHEMA UTILE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E3B87-FBAC-4D57-9DEF-2BB1A504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Vincoli e indici proteggono identità e punto di partenza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59E17-0328-499C-989E-EF80A978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11C97-0E3E-4AAB-B56B-3D5F138C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D0E2E-0C36-4887-822F-7D2D0665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52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1F875-D07A-4A25-866B-09FFBAF0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00275"/>
            <a:ext cx="9239250" cy="2162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CREATE CONSTRAINT movie_id IF NOT EXISTS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FOR (m:Movie) REQUIRE m.movieId IS UNIQUE;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CREATE INDEX movie_year IF NOT EXISTS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FOR (m:Movie) ON (m.year);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46463-E3E7-48B5-8DDB-88E33CE4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9587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Vincolo: correttezza • indice: ricerca più selettiva</a:t>
            </a:r>
          </a:p>
        </p:txBody>
      </p:sp>
    </p:spTree>
    <p:extLst>
      <p:ext uri="{BB962C8B-B14F-4D97-AF65-F5344CB8AC3E}">
        <p14:creationId xmlns:p14="http://schemas.microsoft.com/office/powerpoint/2010/main" val="168662691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7C3B4-0C98-4168-9456-1CBBC827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OSSERVARE IL PIANO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23648-1EF8-4921-B8E7-E66B383C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EXPLAIN stima; PROFILE esegue e misura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6DF0D-8844-4F91-BC93-D7A201AA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DB3FC-5A33-4947-91E9-3C4716F4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19250"/>
            <a:ext cx="10191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7D01B-8A71-4917-A490-07F42180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19250"/>
            <a:ext cx="95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0D1E1-F264-4E1B-BAFE-7042A4D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866900"/>
            <a:ext cx="95250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EXPLAIN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MATCH (u:User {userId: "u1"})-[:LIKES]-&gt;(m:Movie)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RETURN m.title;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PROFILE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MATCH (u:User {userId: "u1"})-[:LIKES]-&gt;(m:Movie)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RETURN m.title;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F3004-566F-4707-B3A1-6A2C258F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6673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F5A5A"/>
                </a:solidFill>
              </a:defRPr>
            </a:pPr>
            <a:r>
              <a:rPr sz="1575" b="1">
                <a:solidFill>
                  <a:srgbClr val="EF5A5A"/>
                </a:solidFill>
              </a:rPr>
              <a:t>PROFILE produce dati reali e quindi esegue la query.</a:t>
            </a:r>
          </a:p>
        </p:txBody>
      </p:sp>
    </p:spTree>
    <p:extLst>
      <p:ext uri="{BB962C8B-B14F-4D97-AF65-F5344CB8AC3E}">
        <p14:creationId xmlns:p14="http://schemas.microsoft.com/office/powerpoint/2010/main" val="8557598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D5FFD8-F97D-4F0E-BDBC-54ACA5BD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CARDINALITÀ E SUPERNODE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E8E7A-C6D0-4D43-8282-41ABF4A4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Il rischio principale: moltiplicare i percorsi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3F7B4-3ED0-4F8F-8153-4A1C7852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2FDFC-C930-4FF2-8965-E458A312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00B8D9"/>
                </a:solidFill>
              </a:defRPr>
            </a:pPr>
            <a:r>
              <a:rPr sz="4500" b="1">
                <a:solidFill>
                  <a:srgbClr val="00B8D9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9EDB7-D413-496E-AEE5-1C7200E4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vicini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7E5AF-A718-4FC7-A364-F87676EB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860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8A4C"/>
                </a:solidFill>
              </a:defRPr>
            </a:pPr>
            <a:r>
              <a:rPr sz="3450" b="1">
                <a:solidFill>
                  <a:srgbClr val="FF8A4C"/>
                </a:solidFill>
              </a:rPr>
              <a:t>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0BFA8-C0D9-4F7F-B816-AEDB44FD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00B8D9"/>
                </a:solidFill>
              </a:defRPr>
            </a:pPr>
            <a:r>
              <a:rPr sz="4500" b="1">
                <a:solidFill>
                  <a:srgbClr val="00B8D9"/>
                </a:solidFill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87070-FF6B-4C97-BFD5-D4BF6386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vicini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32661-5659-4FFD-8AAE-1383A65F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8A4C"/>
                </a:solidFill>
              </a:defRPr>
            </a:pPr>
            <a:r>
              <a:rPr sz="3450" b="1">
                <a:solidFill>
                  <a:srgbClr val="FF8A4C"/>
                </a:solidFill>
              </a:rPr>
              <a:t>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48508-B825-4702-B1D3-E9280F59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00B8D9"/>
                </a:solidFill>
              </a:defRPr>
            </a:pPr>
            <a:r>
              <a:rPr sz="4500" b="1">
                <a:solidFill>
                  <a:srgbClr val="00B8D9"/>
                </a:solidFill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4A1B88-976E-4001-89BF-BC94EEB7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vicini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39CDA2-E757-4192-BF11-62FEF0CE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8A4C"/>
                </a:solidFill>
              </a:defRPr>
            </a:pPr>
            <a:r>
              <a:rPr sz="3450" b="1">
                <a:solidFill>
                  <a:srgbClr val="FF8A4C"/>
                </a:solidFill>
              </a:rPr>
              <a:t>=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00666-D443-43A5-8ABA-899E7B3A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0025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B7E34B"/>
                </a:solidFill>
              </a:defRPr>
            </a:pPr>
            <a:r>
              <a:rPr sz="3900" b="1">
                <a:solidFill>
                  <a:srgbClr val="B7E34B"/>
                </a:solidFill>
              </a:rPr>
              <a:t>1.000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D75E5-2637-427C-B1CD-3E28D180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percorsi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C21A27-9766-4D7D-9F15-0756DE1A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Filtra presto • specifica i tipi • limita gli hop • evita espansioni inutili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77206B-9F6C-4B6C-BB5B-A7C9C305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8162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8D4DE"/>
                </a:solidFill>
              </a:defRPr>
            </a:pPr>
            <a:r>
              <a:rPr sz="1650" b="0">
                <a:solidFill>
                  <a:srgbClr val="C8D4DE"/>
                </a:solidFill>
              </a:rPr>
              <a:t>Un supernode ha così tante relazioni da rendere costosi alcuni traversal.</a:t>
            </a:r>
          </a:p>
        </p:txBody>
      </p:sp>
    </p:spTree>
    <p:extLst>
      <p:ext uri="{BB962C8B-B14F-4D97-AF65-F5344CB8AC3E}">
        <p14:creationId xmlns:p14="http://schemas.microsoft.com/office/powerpoint/2010/main" val="191256220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E9B08A-E2AC-475D-BCDC-D30264D1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TRANSAZIONI • SICUREZZA •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783DE-F84B-41CF-9119-4C911618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In produzione servono garanzie oltre alla query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FEB30-B824-4BC6-B3FC-E0C2FC27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17C5D-F9D9-46C4-8AA4-0C58BE17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1CCFE-C7EE-48CC-86B1-C41CF292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192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ACID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551A0-9452-482E-8C1F-ABC23C6C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1925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raggruppa scritture correlate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634A2-57BD-47C5-8795-B5D5B6FE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B7E5D-75BC-4266-8E50-3AC9A4AB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003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AUTH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73209-DF6E-4E6D-8031-DB26BD0E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0030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autenticazione attiva di default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822BC-4E15-4FC7-9E2F-22782609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8BE9B-742F-4552-BED5-932971DB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813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LEAST PRIVILEGE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241450-3A11-4029-8110-77225506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18135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ruoli e permessi minimi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2FD75-2896-445E-AECF-1EF21C3A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EE6"/>
                </a:solidFill>
              </a:defRPr>
            </a:pPr>
            <a:r>
              <a:rPr sz="1800" b="1">
                <a:solidFill>
                  <a:srgbClr val="7C6EE6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35C36-39E8-4488-AAF5-266230A3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624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TLS + RETE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CFF54-E5A3-4F7B-B325-9632EBA6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6240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proteggi traffico ed esposizione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75AB97-E509-4779-B1D7-0B7E939C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9C2D30-EB34-4C7D-BE6B-C4C21C3B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BACKUP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2A47B0-0673-4F48-9CEF-63EE8FBE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74345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prova il ripristino</a:t>
            </a:r>
          </a:p>
        </p:txBody>
      </p:sp>
    </p:spTree>
    <p:extLst>
      <p:ext uri="{BB962C8B-B14F-4D97-AF65-F5344CB8AC3E}">
        <p14:creationId xmlns:p14="http://schemas.microsoft.com/office/powerpoint/2010/main" val="18765670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C80C4-F74B-4978-B79F-806CD247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SETUP • 12 MINUTI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81387-DA00-4FD1-B76D-8B09A37F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Laboratorio — avviamo Neo4j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C61CD-C2FD-489C-A4D3-88E195C6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FC1CC-E0EC-4074-911A-83A70F07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10763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A249D-D190-49DC-9243-579665EF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95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746E8-7E2F-4399-97A4-2F270A52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19275"/>
            <a:ext cx="100965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docker run --name dataflix-neo4j \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  -p 127.0.0.1:7474:7474 \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  -p 127.0.0.1:7687:7687 \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  -e NEO4J_AUTH=neo4j/DataflixGraph2026X \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  -d neo4j:2026.07.1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Browser: http://localhost:7474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EA029-E647-40DA-90FA-307A8550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197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7E34B"/>
                </a:solidFill>
              </a:defRPr>
            </a:pPr>
            <a:r>
              <a:rPr sz="1575" b="1">
                <a:solidFill>
                  <a:srgbClr val="B7E34B"/>
                </a:solidFill>
              </a:rPr>
              <a:t>7474 = Browser HTTP • 7687 = Bolt</a:t>
            </a:r>
          </a:p>
        </p:txBody>
      </p:sp>
    </p:spTree>
    <p:extLst>
      <p:ext uri="{BB962C8B-B14F-4D97-AF65-F5344CB8AC3E}">
        <p14:creationId xmlns:p14="http://schemas.microsoft.com/office/powerpoint/2010/main" val="28186824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CC19EA-9967-46AB-97C9-CF4FB94E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LAB • 105 MINUTI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E9BDE-02DA-45FB-9F43-C095780C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Quattro missioni per costruire il social 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49C7F-4704-482C-8568-165E548A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076CF-9260-40D7-8F33-26AA4B3A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0429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F090E-9938-4FF1-9D01-6F4A87C3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85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B8D9"/>
                </a:solidFill>
              </a:defRPr>
            </a:pPr>
            <a:r>
              <a:rPr sz="1425" b="1">
                <a:solidFill>
                  <a:srgbClr val="00B8D9"/>
                </a:solidFill>
              </a:rPr>
              <a:t>MISSIONE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62902-EF48-4F1D-BF81-7781DD31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85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modella e carica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7677B-44D5-432E-8765-9A4C3130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859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constraints + UNWIND + MERGE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EA251-6D0D-412D-A42C-4586B31E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0429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73E65-1BE9-4216-B7FE-FFE40771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194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8A4C"/>
                </a:solidFill>
              </a:defRPr>
            </a:pPr>
            <a:r>
              <a:rPr sz="1425" b="1">
                <a:solidFill>
                  <a:srgbClr val="FF8A4C"/>
                </a:solidFill>
              </a:rPr>
              <a:t>MISSIONE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6BFB1-A192-4A94-8956-7BAFC3E8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19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attraversa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A154B-7A28-43C9-9697-DFA44B4B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194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1 hop + 2 hop + similarità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86FD9-D497-4ACD-ABCD-AD439300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10429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334679-2CA0-4035-949B-F9A118E7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52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C6EE6"/>
                </a:solidFill>
              </a:defRPr>
            </a:pPr>
            <a:r>
              <a:rPr sz="1425" b="1">
                <a:solidFill>
                  <a:srgbClr val="7C6EE6"/>
                </a:solidFill>
              </a:rPr>
              <a:t>MISSIONE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63F33-9DC7-44EC-A74C-666C6AEC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52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trova percorsi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614079-E782-4B20-A6D2-88B1E8C1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528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variable length + SHORTEST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14E4DF-9637-4825-A5D6-624D0D62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10429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1FE6A5-232E-49E3-8F02-2B6E0F3C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86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7E34B"/>
                </a:solidFill>
              </a:defRPr>
            </a:pPr>
            <a:r>
              <a:rPr sz="1425" b="1">
                <a:solidFill>
                  <a:srgbClr val="B7E34B"/>
                </a:solidFill>
              </a:rPr>
              <a:t>MISSIONE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3529A7-9DC7-483F-9F0A-659195F0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86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evolve e misura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0D38BA-FB55-40C9-8B6F-605611D1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863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MERGE + PROFILE + cleanup</a:t>
            </a:r>
          </a:p>
        </p:txBody>
      </p:sp>
    </p:spTree>
    <p:extLst>
      <p:ext uri="{BB962C8B-B14F-4D97-AF65-F5344CB8AC3E}">
        <p14:creationId xmlns:p14="http://schemas.microsoft.com/office/powerpoint/2010/main" val="102085511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3440C-7A12-481D-84C5-D3F9E3D9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VERIFICA • INDIVIDUALE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BE072-D456-4831-A1B9-B8FBADE2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Quiz finale: modello, pattern e conseguenza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9C993-50FD-4DBC-871B-09C5889F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47CA3-B9A9-404A-ACDD-7145DF77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1033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1. Quando una relazione merita di diventare un elemento del modello?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E014E-BEDA-4B4F-BCCA-F6010FB6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1033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2. Qual è la differenza tra pattern e path?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AE8D6-317C-438F-B7A7-DA61B5DB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05125"/>
            <a:ext cx="1033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3. Perché MERGE va associato a vincoli di unicità?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A5C14-910A-4040-A5F3-1AB7CE01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1033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4. Che cosa esclude la condizione NOT nel recommender?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6776C-9A75-4357-9749-52528E3D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38625"/>
            <a:ext cx="1033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5. Perché limitare profondità e tipi di relazione?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B4CA1-7530-45F5-9008-30B96A7B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05375"/>
            <a:ext cx="1033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6. In che cosa degree e shortest path rispondono a domande diverse?</a:t>
            </a:r>
          </a:p>
        </p:txBody>
      </p:sp>
    </p:spTree>
    <p:extLst>
      <p:ext uri="{BB962C8B-B14F-4D97-AF65-F5344CB8AC3E}">
        <p14:creationId xmlns:p14="http://schemas.microsoft.com/office/powerpoint/2010/main" val="158624688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C988C1-1CDF-484D-B379-DB57A3D2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RECAP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3A51B-E71D-4827-B33A-BA69489E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Neo4j in sette frasi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68591-2852-40CC-A1E8-C7B02658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44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B9384-4FC6-49DA-ACC4-F173A2FC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B8D9"/>
                </a:solidFill>
              </a:defRPr>
            </a:pPr>
            <a:r>
              <a:rPr sz="1725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61C72-25C7-458B-A464-8753B98B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192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il grafo mette le connessioni al centro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643A5-73F2-46C6-B3B8-F24B942C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8A4C"/>
                </a:solidFill>
              </a:defRPr>
            </a:pPr>
            <a:r>
              <a:rPr sz="1725" b="1">
                <a:solidFill>
                  <a:srgbClr val="FF8A4C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906B6-D19F-4A7E-937A-8B37838D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193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nodi, relazioni e proprietà formano il modello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E7EC3-4435-4E52-AA30-90A3E84B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7E34B"/>
                </a:solidFill>
              </a:defRPr>
            </a:pPr>
            <a:r>
              <a:rPr sz="1725" b="1">
                <a:solidFill>
                  <a:srgbClr val="B7E34B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61C0B-14EA-4482-9B2D-FA3B2EC1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195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le query partono dagli use 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729632-C447-4133-9ADC-1D99E114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C6EE6"/>
                </a:solidFill>
              </a:defRPr>
            </a:pPr>
            <a:r>
              <a:rPr sz="1725" b="1">
                <a:solidFill>
                  <a:srgbClr val="7C6EE6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BE0E8-3DC6-49E1-9674-25D8A1C4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Cypher descrive pattern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F681D-0CAB-4D63-8E76-26AE696E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7A36A"/>
                </a:solidFill>
              </a:defRPr>
            </a:pPr>
            <a:r>
              <a:rPr sz="1725" b="1">
                <a:solidFill>
                  <a:srgbClr val="27A36A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5C8B0-D2B9-4163-A47E-9276064D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192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MERGE e vincoli rendono gli import affidabili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C644C-1FA0-4672-BEF5-0E92CB72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193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F5A5A"/>
                </a:solidFill>
              </a:defRPr>
            </a:pPr>
            <a:r>
              <a:rPr sz="1725" b="1">
                <a:solidFill>
                  <a:srgbClr val="EF5A5A"/>
                </a:solidFill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395CA8-DBE1-4F35-ABD2-D16E826C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193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 traversal vanno delimitati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B9030-DEE0-4BC7-B4D6-3A0B61DB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C84A"/>
                </a:solidFill>
              </a:defRPr>
            </a:pPr>
            <a:r>
              <a:rPr sz="1725" b="1">
                <a:solidFill>
                  <a:srgbClr val="F4C84A"/>
                </a:solidFill>
              </a:rPr>
              <a:t>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625CAC-1927-4FA0-A6C2-F0D9E596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195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un grafo integra, non sostituisce, gli altri datastore</a:t>
            </a:r>
          </a:p>
        </p:txBody>
      </p:sp>
    </p:spTree>
    <p:extLst>
      <p:ext uri="{BB962C8B-B14F-4D97-AF65-F5344CB8AC3E}">
        <p14:creationId xmlns:p14="http://schemas.microsoft.com/office/powerpoint/2010/main" val="158773336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AA2FC-148E-4734-A546-B63546BF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PROBLEMA REALE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30862E-5ED1-4DAD-81FC-1A87035C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La prossima domanda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8E6C5-4040-4131-ABDD-B2F6AB1C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B13C1-A4E7-4864-9335-EA30847C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B7E34B"/>
                </a:solidFill>
              </a:defRPr>
            </a:pPr>
            <a:r>
              <a:rPr sz="8250" b="1">
                <a:solidFill>
                  <a:srgbClr val="B7E34B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A1AD6-45E1-476C-AE97-B22D3EDB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43100"/>
            <a:ext cx="895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Abbiamo visto key-value, documenti e grafi. Ma come scegliamo tra wide-column, time-series, search-oriented e sistemi multimodel?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9262C-1EDB-45C3-A7AB-EFDC78D1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40635-38E3-47F8-9846-7AF7C990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958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0BF"/>
                </a:solidFill>
              </a:defRPr>
            </a:pPr>
            <a:r>
              <a:rPr sz="1200" b="1">
                <a:solidFill>
                  <a:srgbClr val="9FB0BF"/>
                </a:solidFill>
              </a:rPr>
              <a:t>PROSSIMA LEZIONE • FAMIGLIE NOSQL</a:t>
            </a:r>
          </a:p>
        </p:txBody>
      </p:sp>
    </p:spTree>
    <p:extLst>
      <p:ext uri="{BB962C8B-B14F-4D97-AF65-F5344CB8AC3E}">
        <p14:creationId xmlns:p14="http://schemas.microsoft.com/office/powerpoint/2010/main" val="818224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2026-09-03T06:41:42.1450000Z</dcterms:created>
  <dcterms:modified xsi:type="dcterms:W3CDTF">2026-09-03T06:41:42.1450000Z</dcterms:modified>
</coreProperties>
</file>