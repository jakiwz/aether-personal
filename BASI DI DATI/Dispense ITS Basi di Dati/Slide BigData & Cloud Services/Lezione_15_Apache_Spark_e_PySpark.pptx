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c33424c3224922" /><Relationship Type="http://schemas.openxmlformats.org/officeDocument/2006/relationships/extended-properties" Target="/docProps/app.xml" Id="Rbadad5f5d0234f67" /><Relationship Type="http://schemas.openxmlformats.org/officeDocument/2006/relationships/officeDocument" Target="/ppt/presentation.xml" Id="R1a33b1e9d7d8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27d8710aa14415"/>
  </p:sldMasterIdLst>
  <p:notesMasterIdLst>
    <p:notesMasterId xmlns:r="http://schemas.openxmlformats.org/officeDocument/2006/relationships" r:id="Rceda5772d21b4db4"/>
  </p:notesMasterIdLst>
  <p:sldIdLst>
    <p:sldId xmlns:r="http://schemas.openxmlformats.org/officeDocument/2006/relationships" id="256" r:id="R2e9d6d49cb314b4c"/>
    <p:sldId xmlns:r="http://schemas.openxmlformats.org/officeDocument/2006/relationships" id="257" r:id="R348c5f8372e14956"/>
    <p:sldId xmlns:r="http://schemas.openxmlformats.org/officeDocument/2006/relationships" id="258" r:id="R041faf91be2e4f53"/>
    <p:sldId xmlns:r="http://schemas.openxmlformats.org/officeDocument/2006/relationships" id="259" r:id="R62e79c208c3147ab"/>
    <p:sldId xmlns:r="http://schemas.openxmlformats.org/officeDocument/2006/relationships" id="260" r:id="Red36cc3c87d04323"/>
    <p:sldId xmlns:r="http://schemas.openxmlformats.org/officeDocument/2006/relationships" id="261" r:id="R6b5579a809974984"/>
    <p:sldId xmlns:r="http://schemas.openxmlformats.org/officeDocument/2006/relationships" id="262" r:id="R4574a28f3b6644f7"/>
    <p:sldId xmlns:r="http://schemas.openxmlformats.org/officeDocument/2006/relationships" id="263" r:id="Rc21640047b6e4b29"/>
    <p:sldId xmlns:r="http://schemas.openxmlformats.org/officeDocument/2006/relationships" id="264" r:id="Rbcfc451210e34898"/>
    <p:sldId xmlns:r="http://schemas.openxmlformats.org/officeDocument/2006/relationships" id="265" r:id="Rcc9beac4b6294d3e"/>
    <p:sldId xmlns:r="http://schemas.openxmlformats.org/officeDocument/2006/relationships" id="266" r:id="R16819048b66a4f6d"/>
    <p:sldId xmlns:r="http://schemas.openxmlformats.org/officeDocument/2006/relationships" id="267" r:id="Re6c30bc93a4a4bc8"/>
    <p:sldId xmlns:r="http://schemas.openxmlformats.org/officeDocument/2006/relationships" id="268" r:id="R6146a9da70834a2a"/>
    <p:sldId xmlns:r="http://schemas.openxmlformats.org/officeDocument/2006/relationships" id="269" r:id="Rfd2a624aa10c4528"/>
    <p:sldId xmlns:r="http://schemas.openxmlformats.org/officeDocument/2006/relationships" id="270" r:id="R8eda3c63fd8246f5"/>
    <p:sldId xmlns:r="http://schemas.openxmlformats.org/officeDocument/2006/relationships" id="271" r:id="R35902983f9164d14"/>
    <p:sldId xmlns:r="http://schemas.openxmlformats.org/officeDocument/2006/relationships" id="272" r:id="R880742287fef4277"/>
    <p:sldId xmlns:r="http://schemas.openxmlformats.org/officeDocument/2006/relationships" id="273" r:id="Rbe8a0a725ac3459e"/>
    <p:sldId xmlns:r="http://schemas.openxmlformats.org/officeDocument/2006/relationships" id="274" r:id="Rc40fc15ddfd94cd8"/>
    <p:sldId xmlns:r="http://schemas.openxmlformats.org/officeDocument/2006/relationships" id="275" r:id="R93080f0d9cfd4e1a"/>
    <p:sldId xmlns:r="http://schemas.openxmlformats.org/officeDocument/2006/relationships" id="276" r:id="R0dfae6bd540945b3"/>
    <p:sldId xmlns:r="http://schemas.openxmlformats.org/officeDocument/2006/relationships" id="277" r:id="R13753a9d67b04230"/>
    <p:sldId xmlns:r="http://schemas.openxmlformats.org/officeDocument/2006/relationships" id="278" r:id="R04094e36493a41d7"/>
    <p:sldId xmlns:r="http://schemas.openxmlformats.org/officeDocument/2006/relationships" id="279" r:id="R94293ff0ad4b4839"/>
    <p:sldId xmlns:r="http://schemas.openxmlformats.org/officeDocument/2006/relationships" id="280" r:id="Rd0787e55d76f45a0"/>
    <p:sldId xmlns:r="http://schemas.openxmlformats.org/officeDocument/2006/relationships" id="281" r:id="R7ca1b40f3fb84902"/>
    <p:sldId xmlns:r="http://schemas.openxmlformats.org/officeDocument/2006/relationships" id="282" r:id="R822fd5586b12418e"/>
    <p:sldId xmlns:r="http://schemas.openxmlformats.org/officeDocument/2006/relationships" id="283" r:id="Rd63714082c8f4590"/>
    <p:sldId xmlns:r="http://schemas.openxmlformats.org/officeDocument/2006/relationships" id="284" r:id="R6a23ff3b9c5d4f46"/>
    <p:sldId xmlns:r="http://schemas.openxmlformats.org/officeDocument/2006/relationships" id="285" r:id="Rf31b3b79c08b4db3"/>
    <p:sldId xmlns:r="http://schemas.openxmlformats.org/officeDocument/2006/relationships" id="286" r:id="R8fd5093a790a49c7"/>
    <p:sldId xmlns:r="http://schemas.openxmlformats.org/officeDocument/2006/relationships" id="287" r:id="R0b3b22bd190844e4"/>
    <p:sldId xmlns:r="http://schemas.openxmlformats.org/officeDocument/2006/relationships" id="288" r:id="R905523588b2547e4"/>
    <p:sldId xmlns:r="http://schemas.openxmlformats.org/officeDocument/2006/relationships" id="289" r:id="R2c4bc83fbba24609"/>
    <p:sldId xmlns:r="http://schemas.openxmlformats.org/officeDocument/2006/relationships" id="290" r:id="R45ac851363464af4"/>
    <p:sldId xmlns:r="http://schemas.openxmlformats.org/officeDocument/2006/relationships" id="291" r:id="R3e4e6fe7869c4a7e"/>
    <p:sldId xmlns:r="http://schemas.openxmlformats.org/officeDocument/2006/relationships" id="292" r:id="R4cc33eb4a6a047da"/>
    <p:sldId xmlns:r="http://schemas.openxmlformats.org/officeDocument/2006/relationships" id="293" r:id="Rbb86a058e0344827"/>
    <p:sldId xmlns:r="http://schemas.openxmlformats.org/officeDocument/2006/relationships" id="294" r:id="R55714ffbfe604e2b"/>
    <p:sldId xmlns:r="http://schemas.openxmlformats.org/officeDocument/2006/relationships" id="295" r:id="Rc71b6ddeb4ff496a"/>
    <p:sldId xmlns:r="http://schemas.openxmlformats.org/officeDocument/2006/relationships" id="296" r:id="R2e534424d4a4423c"/>
    <p:sldId xmlns:r="http://schemas.openxmlformats.org/officeDocument/2006/relationships" id="297" r:id="R1c96258c832047cc"/>
    <p:sldId xmlns:r="http://schemas.openxmlformats.org/officeDocument/2006/relationships" id="298" r:id="R5461807619b54925"/>
    <p:sldId xmlns:r="http://schemas.openxmlformats.org/officeDocument/2006/relationships" id="299" r:id="Rd64ef7d2ce7047de"/>
    <p:sldId xmlns:r="http://schemas.openxmlformats.org/officeDocument/2006/relationships" id="300" r:id="R88bf6fd5f42042c9"/>
    <p:sldId xmlns:r="http://schemas.openxmlformats.org/officeDocument/2006/relationships" id="301" r:id="R89c461f4f62b4554"/>
    <p:sldId xmlns:r="http://schemas.openxmlformats.org/officeDocument/2006/relationships" id="302" r:id="R7e9d356150714420"/>
    <p:sldId xmlns:r="http://schemas.openxmlformats.org/officeDocument/2006/relationships" id="303" r:id="R623ff917122d4aea"/>
    <p:sldId xmlns:r="http://schemas.openxmlformats.org/officeDocument/2006/relationships" id="304" r:id="R4f7c9159613a4a26"/>
    <p:sldId xmlns:r="http://schemas.openxmlformats.org/officeDocument/2006/relationships" id="305" r:id="R71ddf55899b5481a"/>
    <p:sldId xmlns:r="http://schemas.openxmlformats.org/officeDocument/2006/relationships" id="306" r:id="R5ffdb1ce31cd42d8"/>
    <p:sldId xmlns:r="http://schemas.openxmlformats.org/officeDocument/2006/relationships" id="307" r:id="Rfdc8e6a28cb144d9"/>
    <p:sldId xmlns:r="http://schemas.openxmlformats.org/officeDocument/2006/relationships" id="308" r:id="R4bbb9a51a448419a"/>
    <p:sldId xmlns:r="http://schemas.openxmlformats.org/officeDocument/2006/relationships" id="309" r:id="Rf4c0cbfb85924a36"/>
    <p:sldId xmlns:r="http://schemas.openxmlformats.org/officeDocument/2006/relationships" id="310" r:id="Rb640ded8bba24eaa"/>
    <p:sldId xmlns:r="http://schemas.openxmlformats.org/officeDocument/2006/relationships" id="311" r:id="Rc08bee5573ed439a"/>
    <p:sldId xmlns:r="http://schemas.openxmlformats.org/officeDocument/2006/relationships" id="312" r:id="R07bf773040fa4f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dd074e3e914ebe" /><Relationship Type="http://schemas.openxmlformats.org/officeDocument/2006/relationships/slideMaster" Target="/ppt/slideMasters/slideMaster1.xml" Id="Ra027d8710aa14415" /><Relationship Type="http://schemas.openxmlformats.org/officeDocument/2006/relationships/notesMaster" Target="/ppt/notesMasters/notesMaster1.xml" Id="Rceda5772d21b4db4" /><Relationship Type="http://schemas.openxmlformats.org/officeDocument/2006/relationships/presProps" Target="/ppt/presProps.xml" Id="Rb3a99316bbeb442a" /><Relationship Type="http://schemas.openxmlformats.org/officeDocument/2006/relationships/tableStyles" Target="/ppt/tableStyles.xml" Id="R28cac69bfa05483f" /><Relationship Type="http://schemas.openxmlformats.org/officeDocument/2006/relationships/slide" Target="/ppt/slides/slide1.xml" Id="R2e9d6d49cb314b4c" /><Relationship Type="http://schemas.openxmlformats.org/officeDocument/2006/relationships/slide" Target="/ppt/slides/slide2.xml" Id="R348c5f8372e14956" /><Relationship Type="http://schemas.openxmlformats.org/officeDocument/2006/relationships/slide" Target="/ppt/slides/slide3.xml" Id="R041faf91be2e4f53" /><Relationship Type="http://schemas.openxmlformats.org/officeDocument/2006/relationships/slide" Target="/ppt/slides/slide4.xml" Id="R62e79c208c3147ab" /><Relationship Type="http://schemas.openxmlformats.org/officeDocument/2006/relationships/slide" Target="/ppt/slides/slide5.xml" Id="Red36cc3c87d04323" /><Relationship Type="http://schemas.openxmlformats.org/officeDocument/2006/relationships/slide" Target="/ppt/slides/slide6.xml" Id="R6b5579a809974984" /><Relationship Type="http://schemas.openxmlformats.org/officeDocument/2006/relationships/slide" Target="/ppt/slides/slide7.xml" Id="R4574a28f3b6644f7" /><Relationship Type="http://schemas.openxmlformats.org/officeDocument/2006/relationships/slide" Target="/ppt/slides/slide8.xml" Id="Rc21640047b6e4b29" /><Relationship Type="http://schemas.openxmlformats.org/officeDocument/2006/relationships/slide" Target="/ppt/slides/slide9.xml" Id="Rbcfc451210e34898" /><Relationship Type="http://schemas.openxmlformats.org/officeDocument/2006/relationships/slide" Target="/ppt/slides/slide10.xml" Id="Rcc9beac4b6294d3e" /><Relationship Type="http://schemas.openxmlformats.org/officeDocument/2006/relationships/slide" Target="/ppt/slides/slide11.xml" Id="R16819048b66a4f6d" /><Relationship Type="http://schemas.openxmlformats.org/officeDocument/2006/relationships/slide" Target="/ppt/slides/slide12.xml" Id="Re6c30bc93a4a4bc8" /><Relationship Type="http://schemas.openxmlformats.org/officeDocument/2006/relationships/slide" Target="/ppt/slides/slide13.xml" Id="R6146a9da70834a2a" /><Relationship Type="http://schemas.openxmlformats.org/officeDocument/2006/relationships/slide" Target="/ppt/slides/slide14.xml" Id="Rfd2a624aa10c4528" /><Relationship Type="http://schemas.openxmlformats.org/officeDocument/2006/relationships/slide" Target="/ppt/slides/slide15.xml" Id="R8eda3c63fd8246f5" /><Relationship Type="http://schemas.openxmlformats.org/officeDocument/2006/relationships/slide" Target="/ppt/slides/slide16.xml" Id="R35902983f9164d14" /><Relationship Type="http://schemas.openxmlformats.org/officeDocument/2006/relationships/slide" Target="/ppt/slides/slide17.xml" Id="R880742287fef4277" /><Relationship Type="http://schemas.openxmlformats.org/officeDocument/2006/relationships/slide" Target="/ppt/slides/slide18.xml" Id="Rbe8a0a725ac3459e" /><Relationship Type="http://schemas.openxmlformats.org/officeDocument/2006/relationships/slide" Target="/ppt/slides/slide19.xml" Id="Rc40fc15ddfd94cd8" /><Relationship Type="http://schemas.openxmlformats.org/officeDocument/2006/relationships/slide" Target="/ppt/slides/slide20.xml" Id="R93080f0d9cfd4e1a" /><Relationship Type="http://schemas.openxmlformats.org/officeDocument/2006/relationships/slide" Target="/ppt/slides/slide21.xml" Id="R0dfae6bd540945b3" /><Relationship Type="http://schemas.openxmlformats.org/officeDocument/2006/relationships/slide" Target="/ppt/slides/slide22.xml" Id="R13753a9d67b04230" /><Relationship Type="http://schemas.openxmlformats.org/officeDocument/2006/relationships/slide" Target="/ppt/slides/slide23.xml" Id="R04094e36493a41d7" /><Relationship Type="http://schemas.openxmlformats.org/officeDocument/2006/relationships/slide" Target="/ppt/slides/slide24.xml" Id="R94293ff0ad4b4839" /><Relationship Type="http://schemas.openxmlformats.org/officeDocument/2006/relationships/slide" Target="/ppt/slides/slide25.xml" Id="Rd0787e55d76f45a0" /><Relationship Type="http://schemas.openxmlformats.org/officeDocument/2006/relationships/slide" Target="/ppt/slides/slide26.xml" Id="R7ca1b40f3fb84902" /><Relationship Type="http://schemas.openxmlformats.org/officeDocument/2006/relationships/slide" Target="/ppt/slides/slide27.xml" Id="R822fd5586b12418e" /><Relationship Type="http://schemas.openxmlformats.org/officeDocument/2006/relationships/slide" Target="/ppt/slides/slide28.xml" Id="Rd63714082c8f4590" /><Relationship Type="http://schemas.openxmlformats.org/officeDocument/2006/relationships/slide" Target="/ppt/slides/slide29.xml" Id="R6a23ff3b9c5d4f46" /><Relationship Type="http://schemas.openxmlformats.org/officeDocument/2006/relationships/slide" Target="/ppt/slides/slide30.xml" Id="Rf31b3b79c08b4db3" /><Relationship Type="http://schemas.openxmlformats.org/officeDocument/2006/relationships/slide" Target="/ppt/slides/slide31.xml" Id="R8fd5093a790a49c7" /><Relationship Type="http://schemas.openxmlformats.org/officeDocument/2006/relationships/slide" Target="/ppt/slides/slide32.xml" Id="R0b3b22bd190844e4" /><Relationship Type="http://schemas.openxmlformats.org/officeDocument/2006/relationships/slide" Target="/ppt/slides/slide33.xml" Id="R905523588b2547e4" /><Relationship Type="http://schemas.openxmlformats.org/officeDocument/2006/relationships/slide" Target="/ppt/slides/slide34.xml" Id="R2c4bc83fbba24609" /><Relationship Type="http://schemas.openxmlformats.org/officeDocument/2006/relationships/slide" Target="/ppt/slides/slide35.xml" Id="R45ac851363464af4" /><Relationship Type="http://schemas.openxmlformats.org/officeDocument/2006/relationships/slide" Target="/ppt/slides/slide36.xml" Id="R3e4e6fe7869c4a7e" /><Relationship Type="http://schemas.openxmlformats.org/officeDocument/2006/relationships/slide" Target="/ppt/slides/slide37.xml" Id="R4cc33eb4a6a047da" /><Relationship Type="http://schemas.openxmlformats.org/officeDocument/2006/relationships/slide" Target="/ppt/slides/slide38.xml" Id="Rbb86a058e0344827" /><Relationship Type="http://schemas.openxmlformats.org/officeDocument/2006/relationships/slide" Target="/ppt/slides/slide39.xml" Id="R55714ffbfe604e2b" /><Relationship Type="http://schemas.openxmlformats.org/officeDocument/2006/relationships/slide" Target="/ppt/slides/slide40.xml" Id="Rc71b6ddeb4ff496a" /><Relationship Type="http://schemas.openxmlformats.org/officeDocument/2006/relationships/slide" Target="/ppt/slides/slide41.xml" Id="R2e534424d4a4423c" /><Relationship Type="http://schemas.openxmlformats.org/officeDocument/2006/relationships/slide" Target="/ppt/slides/slide42.xml" Id="R1c96258c832047cc" /><Relationship Type="http://schemas.openxmlformats.org/officeDocument/2006/relationships/slide" Target="/ppt/slides/slide43.xml" Id="R5461807619b54925" /><Relationship Type="http://schemas.openxmlformats.org/officeDocument/2006/relationships/slide" Target="/ppt/slides/slide44.xml" Id="Rd64ef7d2ce7047de" /><Relationship Type="http://schemas.openxmlformats.org/officeDocument/2006/relationships/slide" Target="/ppt/slides/slide45.xml" Id="R88bf6fd5f42042c9" /><Relationship Type="http://schemas.openxmlformats.org/officeDocument/2006/relationships/slide" Target="/ppt/slides/slide46.xml" Id="R89c461f4f62b4554" /><Relationship Type="http://schemas.openxmlformats.org/officeDocument/2006/relationships/slide" Target="/ppt/slides/slide47.xml" Id="R7e9d356150714420" /><Relationship Type="http://schemas.openxmlformats.org/officeDocument/2006/relationships/slide" Target="/ppt/slides/slide48.xml" Id="R623ff917122d4aea" /><Relationship Type="http://schemas.openxmlformats.org/officeDocument/2006/relationships/slide" Target="/ppt/slides/slide49.xml" Id="R4f7c9159613a4a26" /><Relationship Type="http://schemas.openxmlformats.org/officeDocument/2006/relationships/slide" Target="/ppt/slides/slide50.xml" Id="R71ddf55899b5481a" /><Relationship Type="http://schemas.openxmlformats.org/officeDocument/2006/relationships/slide" Target="/ppt/slides/slide51.xml" Id="R5ffdb1ce31cd42d8" /><Relationship Type="http://schemas.openxmlformats.org/officeDocument/2006/relationships/slide" Target="/ppt/slides/slide52.xml" Id="Rfdc8e6a28cb144d9" /><Relationship Type="http://schemas.openxmlformats.org/officeDocument/2006/relationships/slide" Target="/ppt/slides/slide53.xml" Id="R4bbb9a51a448419a" /><Relationship Type="http://schemas.openxmlformats.org/officeDocument/2006/relationships/slide" Target="/ppt/slides/slide54.xml" Id="Rf4c0cbfb85924a36" /><Relationship Type="http://schemas.openxmlformats.org/officeDocument/2006/relationships/slide" Target="/ppt/slides/slide55.xml" Id="Rb640ded8bba24eaa" /><Relationship Type="http://schemas.openxmlformats.org/officeDocument/2006/relationships/slide" Target="/ppt/slides/slide56.xml" Id="Rc08bee5573ed439a" /><Relationship Type="http://schemas.openxmlformats.org/officeDocument/2006/relationships/slide" Target="/ppt/slides/slide57.xml" Id="R07bf773040fa4f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db1fb3086944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5f0dbb8294b1d" /><Relationship Type="http://schemas.openxmlformats.org/officeDocument/2006/relationships/notesMaster" Target="/ppt/notesMasters/notesMaster1.xml" Id="R929428479022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7a73c17d0b4d03" /><Relationship Type="http://schemas.openxmlformats.org/officeDocument/2006/relationships/notesMaster" Target="/ppt/notesMasters/notesMaster1.xml" Id="R93c2b7c3bac342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905e4466cc4c06" /><Relationship Type="http://schemas.openxmlformats.org/officeDocument/2006/relationships/notesMaster" Target="/ppt/notesMasters/notesMaster1.xml" Id="Rc5cff13a58b64b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dae542329b442c" /><Relationship Type="http://schemas.openxmlformats.org/officeDocument/2006/relationships/notesMaster" Target="/ppt/notesMasters/notesMaster1.xml" Id="R40b470791bbe4f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2c4733a5954b36" /><Relationship Type="http://schemas.openxmlformats.org/officeDocument/2006/relationships/notesMaster" Target="/ppt/notesMasters/notesMaster1.xml" Id="Rebbbcfb3c1334f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7baecd56a4499c" /><Relationship Type="http://schemas.openxmlformats.org/officeDocument/2006/relationships/notesMaster" Target="/ppt/notesMasters/notesMaster1.xml" Id="Re5532a9182684a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c2b4ebd5af4448" /><Relationship Type="http://schemas.openxmlformats.org/officeDocument/2006/relationships/notesMaster" Target="/ppt/notesMasters/notesMaster1.xml" Id="R35d6213df0ca49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25890c66f94d1a" /><Relationship Type="http://schemas.openxmlformats.org/officeDocument/2006/relationships/notesMaster" Target="/ppt/notesMasters/notesMaster1.xml" Id="R07a35758f6de48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8b2ea2521c4e32" /><Relationship Type="http://schemas.openxmlformats.org/officeDocument/2006/relationships/notesMaster" Target="/ppt/notesMasters/notesMaster1.xml" Id="Rb5f300cd37b440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2ccbdcca2f4a82" /><Relationship Type="http://schemas.openxmlformats.org/officeDocument/2006/relationships/notesMaster" Target="/ppt/notesMasters/notesMaster1.xml" Id="R5aef4bc5aea341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a78edddc994b20" /><Relationship Type="http://schemas.openxmlformats.org/officeDocument/2006/relationships/notesMaster" Target="/ppt/notesMasters/notesMaster1.xml" Id="R25d0336d546e4f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58952d8e1f4a0b" /><Relationship Type="http://schemas.openxmlformats.org/officeDocument/2006/relationships/notesMaster" Target="/ppt/notesMasters/notesMaster1.xml" Id="R65d3850775dc4a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c8eb405ff84c8d" /><Relationship Type="http://schemas.openxmlformats.org/officeDocument/2006/relationships/notesMaster" Target="/ppt/notesMasters/notesMaster1.xml" Id="Rb9bbf4fdec7f44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37b946971c4727" /><Relationship Type="http://schemas.openxmlformats.org/officeDocument/2006/relationships/notesMaster" Target="/ppt/notesMasters/notesMaster1.xml" Id="R731cc0131c9c4c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c466cfe27d4ee1" /><Relationship Type="http://schemas.openxmlformats.org/officeDocument/2006/relationships/notesMaster" Target="/ppt/notesMasters/notesMaster1.xml" Id="Rc14d1ecfef7d46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bb7cd476b84e29" /><Relationship Type="http://schemas.openxmlformats.org/officeDocument/2006/relationships/notesMaster" Target="/ppt/notesMasters/notesMaster1.xml" Id="R0a14513be6dd41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4216a29cc44324" /><Relationship Type="http://schemas.openxmlformats.org/officeDocument/2006/relationships/notesMaster" Target="/ppt/notesMasters/notesMaster1.xml" Id="Rf5e81df2af8f46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cdf8b943a44fd2" /><Relationship Type="http://schemas.openxmlformats.org/officeDocument/2006/relationships/notesMaster" Target="/ppt/notesMasters/notesMaster1.xml" Id="Rd1431477440b4a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36a30005834980" /><Relationship Type="http://schemas.openxmlformats.org/officeDocument/2006/relationships/notesMaster" Target="/ppt/notesMasters/notesMaster1.xml" Id="R9a67911d20d642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d355abe8134f1c" /><Relationship Type="http://schemas.openxmlformats.org/officeDocument/2006/relationships/notesMaster" Target="/ppt/notesMasters/notesMaster1.xml" Id="R2a2df489a7a242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7167115fbb4cff" /><Relationship Type="http://schemas.openxmlformats.org/officeDocument/2006/relationships/notesMaster" Target="/ppt/notesMasters/notesMaster1.xml" Id="R89372e634d234d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8204b86779c40c2" /><Relationship Type="http://schemas.openxmlformats.org/officeDocument/2006/relationships/notesMaster" Target="/ppt/notesMasters/notesMaster1.xml" Id="R49e46a687e924ae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0356017d944be9" /><Relationship Type="http://schemas.openxmlformats.org/officeDocument/2006/relationships/notesMaster" Target="/ppt/notesMasters/notesMaster1.xml" Id="R621e297d9e16460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a7a148f57ac4c14" /><Relationship Type="http://schemas.openxmlformats.org/officeDocument/2006/relationships/notesMaster" Target="/ppt/notesMasters/notesMaster1.xml" Id="Rfb138ed334a44b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a5ce91bfe44615" /><Relationship Type="http://schemas.openxmlformats.org/officeDocument/2006/relationships/notesMaster" Target="/ppt/notesMasters/notesMaster1.xml" Id="R5b732040d832444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17f96632ec4805" /><Relationship Type="http://schemas.openxmlformats.org/officeDocument/2006/relationships/notesMaster" Target="/ppt/notesMasters/notesMaster1.xml" Id="R0109aa93b3974ae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2e90488e9f7495d" /><Relationship Type="http://schemas.openxmlformats.org/officeDocument/2006/relationships/notesMaster" Target="/ppt/notesMasters/notesMaster1.xml" Id="Rbf11a057f13141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281e035d454343" /><Relationship Type="http://schemas.openxmlformats.org/officeDocument/2006/relationships/notesMaster" Target="/ppt/notesMasters/notesMaster1.xml" Id="Rfac4c3946b22446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cb6f0af1084c4d" /><Relationship Type="http://schemas.openxmlformats.org/officeDocument/2006/relationships/notesMaster" Target="/ppt/notesMasters/notesMaster1.xml" Id="R082ff9aeac134ae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00ac27136564009" /><Relationship Type="http://schemas.openxmlformats.org/officeDocument/2006/relationships/notesMaster" Target="/ppt/notesMasters/notesMaster1.xml" Id="Rf3ae63baa0d949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0b11a5149841ea" /><Relationship Type="http://schemas.openxmlformats.org/officeDocument/2006/relationships/notesMaster" Target="/ppt/notesMasters/notesMaster1.xml" Id="R2e34a54573c0479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a67f5de53234331" /><Relationship Type="http://schemas.openxmlformats.org/officeDocument/2006/relationships/notesMaster" Target="/ppt/notesMasters/notesMaster1.xml" Id="R90d93cc7c057434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1597162a5d34a6d" /><Relationship Type="http://schemas.openxmlformats.org/officeDocument/2006/relationships/notesMaster" Target="/ppt/notesMasters/notesMaster1.xml" Id="Rca1f5c07e93c4c2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53e759ac3c04c55" /><Relationship Type="http://schemas.openxmlformats.org/officeDocument/2006/relationships/notesMaster" Target="/ppt/notesMasters/notesMaster1.xml" Id="Rdccaa42119b5424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6080489f274b9e" /><Relationship Type="http://schemas.openxmlformats.org/officeDocument/2006/relationships/notesMaster" Target="/ppt/notesMasters/notesMaster1.xml" Id="R45b9d21da53944b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d5de6bf03b94638" /><Relationship Type="http://schemas.openxmlformats.org/officeDocument/2006/relationships/notesMaster" Target="/ppt/notesMasters/notesMaster1.xml" Id="R41de1f9771ac4f1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52aee8d394748fa" /><Relationship Type="http://schemas.openxmlformats.org/officeDocument/2006/relationships/notesMaster" Target="/ppt/notesMasters/notesMaster1.xml" Id="R16b3215a3a49406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864fb1501543d9" /><Relationship Type="http://schemas.openxmlformats.org/officeDocument/2006/relationships/notesMaster" Target="/ppt/notesMasters/notesMaster1.xml" Id="R274102b720c649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a7c59a8f0724edf" /><Relationship Type="http://schemas.openxmlformats.org/officeDocument/2006/relationships/notesMaster" Target="/ppt/notesMasters/notesMaster1.xml" Id="R5cc6ff50a47d431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5e63d32b9a04fad" /><Relationship Type="http://schemas.openxmlformats.org/officeDocument/2006/relationships/notesMaster" Target="/ppt/notesMasters/notesMaster1.xml" Id="R4bf8e15304e34c9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4c0583415694b1a" /><Relationship Type="http://schemas.openxmlformats.org/officeDocument/2006/relationships/notesMaster" Target="/ppt/notesMasters/notesMaster1.xml" Id="Rb10c8d3dcaf7456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3c7dba17f644b8a" /><Relationship Type="http://schemas.openxmlformats.org/officeDocument/2006/relationships/notesMaster" Target="/ppt/notesMasters/notesMaster1.xml" Id="R6f25118df997442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118cf9f37334e1d" /><Relationship Type="http://schemas.openxmlformats.org/officeDocument/2006/relationships/notesMaster" Target="/ppt/notesMasters/notesMaster1.xml" Id="R57c69bf563fa4db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c6c349fa5b14cdc" /><Relationship Type="http://schemas.openxmlformats.org/officeDocument/2006/relationships/notesMaster" Target="/ppt/notesMasters/notesMaster1.xml" Id="Rf6258c8616d7474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362ddbe37144c53" /><Relationship Type="http://schemas.openxmlformats.org/officeDocument/2006/relationships/notesMaster" Target="/ppt/notesMasters/notesMaster1.xml" Id="R0ed5a3e47feb4df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47a60b832e84443" /><Relationship Type="http://schemas.openxmlformats.org/officeDocument/2006/relationships/notesMaster" Target="/ppt/notesMasters/notesMaster1.xml" Id="R184a7628d858435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2a7d57a03894cac" /><Relationship Type="http://schemas.openxmlformats.org/officeDocument/2006/relationships/notesMaster" Target="/ppt/notesMasters/notesMaster1.xml" Id="Rdff898a3376540f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2c90d76f36b4be6" /><Relationship Type="http://schemas.openxmlformats.org/officeDocument/2006/relationships/notesMaster" Target="/ppt/notesMasters/notesMaster1.xml" Id="R8e38c6da009240d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9a3e0f09f344f8e" /><Relationship Type="http://schemas.openxmlformats.org/officeDocument/2006/relationships/notesMaster" Target="/ppt/notesMasters/notesMaster1.xml" Id="R04b85a45ce8b4e4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fdb64ebff6c4819" /><Relationship Type="http://schemas.openxmlformats.org/officeDocument/2006/relationships/notesMaster" Target="/ppt/notesMasters/notesMaster1.xml" Id="Rde5e9fd549124c5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dace6fadebc473c" /><Relationship Type="http://schemas.openxmlformats.org/officeDocument/2006/relationships/notesMaster" Target="/ppt/notesMasters/notesMaster1.xml" Id="R49cea3d73016419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66cf628f49b4bf0" /><Relationship Type="http://schemas.openxmlformats.org/officeDocument/2006/relationships/notesMaster" Target="/ppt/notesMasters/notesMaster1.xml" Id="Ree152e03e7ba4cc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5df4109d7b64f03" /><Relationship Type="http://schemas.openxmlformats.org/officeDocument/2006/relationships/notesMaster" Target="/ppt/notesMasters/notesMaster1.xml" Id="R8e4cc80b3658413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89dad839bad4075" /><Relationship Type="http://schemas.openxmlformats.org/officeDocument/2006/relationships/notesMaster" Target="/ppt/notesMasters/notesMaster1.xml" Id="R852d90f8726d477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4f0dd1298994d70" /><Relationship Type="http://schemas.openxmlformats.org/officeDocument/2006/relationships/notesMaster" Target="/ppt/notesMasters/notesMaster1.xml" Id="R5d6d1a5783bb4e7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755bdf87df946f0" /><Relationship Type="http://schemas.openxmlformats.org/officeDocument/2006/relationships/notesMaster" Target="/ppt/notesMasters/notesMaster1.xml" Id="R574c3fe97d61419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7182999378348e9" /><Relationship Type="http://schemas.openxmlformats.org/officeDocument/2006/relationships/notesMaster" Target="/ppt/notesMasters/notesMaster1.xml" Id="Ra525328f7d1f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collegando la lezione a MapReduce, Hive e Pig. Oggi il punto non è soltanto scrivere Python: è capire come una catena di DataFrame diventa un piano distribuito osservabile.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- Apache Spark 4.2.0 — Overview: https://spark.apache.org/docs/latest/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Raccogli una risposta operativa e una architetturale. Spark alza il livello di astrazione, ma partizioni, shuffle, memoria e rete restano costi reali.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Dai la mappa. Gli studenti devono saper collegare una riga PySpark a un operatore del piano e a un comportamento osservabile.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la caricatura MapReduce lento, Spark veloce. Spark offre un motore DAG generale e API di livello più alto; entrambi pagano I/O, rete e serializzazione.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4.2.0 — Overview: https://spark.apache.org/docs/latest/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Spark come engine multi-linguaggio. PySpark è l’API Python: il calcolo distribuito non viene eseguito come un normale loop Python sul driver.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4.2.0 — Overview: https://spark.apache.org/docs/latest/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Correggi tre equivalenze frequenti. Spark è un consumatore e produttore di dati; deve appoggiarsi a storage e servizi esterni.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4.2.0 — Overview: https://spark.apache.org/docs/latest/</a:t>
            </a:r>
          </a:p>
          <a:p xmlns:a="http://schemas.openxmlformats.org/drawingml/2006/main">
            <a:r>
              <a:t>- Apache Spark — Tuning: https://spark.apache.org/docs/latest/tuning.html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Dai priorità a DataFrame e SQL. RDD serve per capire partizioni e lineage, ma per la maggior parte delle pipeline strutturate è una API più bassa.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4.2.0 — Overview: https://spark.apache.org/docs/latest/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- Apache Spark — Structured Streaming Programming Guide: https://spark.apache.org/docs/latest/streaming/index.html</a:t>
            </a:r>
          </a:p>
          <a:p xmlns:a="http://schemas.openxmlformats.org/drawingml/2006/main">
            <a:r>
              <a:t>- Apache Spark — MLlib Guide: https://spark.apache.org/docs/latest/ml-guide.html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L’applicazione è il perimetro giusto: un driver coordina executor dedicati a quell’applicazione. In locale i ruoli possono vivere nella stessa macchina, ma non scompaiono concettualmente.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Sottolinea che il driver non è il posto dove copiare il dataset. È coordinatore e punto di controllo, quindi memoria e affidabilità del driver contano.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Connetti task e partizione: un task di uno stage opera normalmente su una partizione. Un executor può eseguire più task nel tempo.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 resource allocation e scheduling del piano. Nel laboratorio local[4] ci dà quattro thread senza introdurre un cluster remoto.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- Apache Spark 4.2.0 — Overview: https://spark.apache.org/docs/latest/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promettere write once run anywhere senza condizioni. Dipendenze Python, filesystem, memoria e partizionamento possono cambiare il comportamento.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builder, appName, config e getOrCreate. SparkSession espone API SQL/DataFrame e dà accesso al contesto dell’applicazione.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PySpark DataFrame Quickstart: https://spark.apache.org/docs/latest/api/python/getting_started/quickstart_df.html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RDD per introdurre lineage e partizioni. La documentazione attuale indica DataFrame e Dataset come API più nuove per dati strutturati.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4.2.0 — Overview: https://spark.apache.org/docs/latest/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vantaggio non è solo comodità sintattica: lo schema e le espressioni danno informazioni al motore per analisi e ottimizzazione.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L’inferenza è utile per esplorare, ma può leggere più dati e produrre contratti fragili. Nel laboratorio raw resta stringa e il cast tollerante rende misurabili gli errori.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PySpark DataFrame Quickstart: https://spark.apache.org/docs/latest/api/python/getting_started/quickstart_df.html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Selezionare o aggiungere una colonna non modifica in place l’oggetto precedente. Questo abilita ragionamento sulle dipendenze e ricostruzione.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agli studenti di classificare le chiamate. groupBy da solo restituisce un oggetto raggruppato; l’aggregazione produce un DataFrame, ancora lazy.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PySpark DataFrame Quickstart: https://spark.apache.org/docs/latest/api/python/getting_started/quickstart_df.html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Lazy non significa che nulla viene mai letto in qualunque situazione, ma che le trasformazioni DataFrame costruiscono un piano e l’azione ne richiede l’esecuzione.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PySpark DataFrame Quickstart: https://spark.apache.org/docs/latest/api/python/getting_started/quickstart_df.html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Percorri le variabili senza dire esegue. La lettura è nel piano; l’azione successiva deciderà che cosa serve davvero.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PySpark DataFrame Quickstart: https://spark.apache.org/docs/latest/api/python/getting_started/quickstart_df.html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è un’azione e può eseguire solo quanto serve per mostrare righe, ma non va interpretata come anteprima gratuita. La seconda azione è il ponte alla cache.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PySpark DataFrame Quickstart: https://spark.apache.org/docs/latest/api/python/getting_started/quickstart_df.html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avverte che collect e toPandas caricano tutto nel driver. Non proibire collect: insegnare a dimostrare che il risultato è piccolo.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PySpark DataFrame Quickstart: https://spark.apache.org/docs/latest/api/python/getting_started/quickstart_df.html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Resilient non significa che qualunque fallimento sia gratis. La lineage permette ricostruzione, ma il costo e i limiti delle sorgenti restano.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DAG significa grafo aciclico diretto. Join introduce due genitori; il planner può scegliere strategie diverse a seconda delle dimensioni.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la mappa come relazione, non formula rigida per tutti i comandi. Nella Spark UI useremo gli stessi tre livelli.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Narrow non significa gratis: può usare CPU e I/O. Significa che una partizione di output non richiede dati da molte partizioni di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 shuffle scambia record fra executor e crea un confine di stage. L’operatore logico non dice da solo quanto costerà: contano volume e distribuzione delle chiavi.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Tuning: https://spark.apache.org/docs/latest/tuning.html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di tuning evidenzia rete e strutture dello shuffle come colli di bottiglia frequenti. Un GROUP BY corretto richiede comunque il raggruppamento.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Tuning: https://spark.apache.org/docs/latest/tuning.html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equiparare partizione Spark e partizione Hive: una è unità di calcolo/runtime, l’altra spesso una directory logica. Possono influenzarsi ma non sono la stessa cosa.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Connetti la lezione 14: il formato fisico influenza parallelismo e scansione. Molti piccoli file e un unico gzip sono problemi opposti.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- Apache Spark — Tuning: https://spark.apache.org/docs/latest/tuning.html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API repartition restituisce un DataFrame hash-partitioned sulle espressioni. Il numero giusto dipende da dati, cluster e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DataFrame.repartition: https://spark.apache.org/docs/latest/api/python/reference/pyspark.sql/api/pyspark.sql.DataFrame.repartition.html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che aggiungere executor non divide automaticamente una singola chiave. Le contromisure dipendono dall’operazione: salting, preaggregazione o strategie di join.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l’assoluto UDF mai. Il criterio è espressività contro visibilità e costo. Nel laboratorio il parsing usa espressioni Spark.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Mantieni il livello accessibile. Analyzer risolve riferimenti e tipi, optimizer riscrive il piano logico, planner sceglie operatori fisici.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chiedere di decifrare ogni riga. Fai formulare un’ipotesi dal codice e cercare l’operatore che la conferma, in particolare Exchange per lo shuffle.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DataFrame.explain: https://spark.apache.org/docs/latest/api/python/reference/pyspark.sql/api/pyspark.sql.DataFrame.explain.html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Collega al formato della lezione 14. Supporto e regole dipendono da sorgente ed espressione; il piano è l’evidenza.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- Apache Spark SQL — Performance Tuning: https://spark.apache.org/docs/latest/sql-performance-tuning.html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presentare cache come acceleratore universale. Occupa risorse, può essere espulsa e non materializza nulla finché un’azione non richiede il DataFrame.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DataFrame.cache: https://spark.apache.org/docs/latest/api/python/reference/pyspark.sql/api/pyspark.sql.DataFrame.cache.html</a:t>
            </a:r>
          </a:p>
          <a:p xmlns:a="http://schemas.openxmlformats.org/drawingml/2006/main">
            <a:r>
              <a:t>- Apache Spark — Tuning: https://spark.apache.org/docs/latest/tuning.html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laboratorio count rende visibile la materializzazione. Unpersist completa il ciclo di vita e impedisce alla demo di insegnare accumulo invisibile.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DataFrame.cache: https://spark.apache.org/docs/latest/api/python/reference/pyspark.sql/api/pyspark.sql.DataFrame.cache.html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Correggi lo slogan Spark è in-memory. La documentazione di tuning tratta memoria, rete, serializzazione e strutture di shuffle come risorse da bilanciare.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Tuning: https://spark.apache.org/docs/latest/tuning.html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entrare in tuning esaustivo. Introduci la domanda: quanto sono grandi i due lati e come sono distribuite le chiavi?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SQL — Performance Tuning: https://spark.apache.org/docs/latest/sql-performance-tuning.html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Broadcast è uno scambio uno-a-molti del lato piccolo. La soglia automatica e le statistiche influenzano la scelta; un hint sbagliato può danneggiare il driver o gli executor.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SQL — Performance Tuning: https://spark.apache.org/docs/latest/sql-performance-tuning.html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quali operatori possono essere locali e dove serve lo shuffle. countDistinct può richiedere strutture e scambi significativi.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laboratorio confronta la top 10 delle due API. La documentazione indica che SQL e DataFrame usano lo stesso motore di esecuzione.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Ricollega a Hive e ai formati. mode overwrite è adatto al lab ripetibile; in produzione richiede politiche di pubblicazione e concorrenza.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è una distinzione importante. Repartition causa normalmente uno shuffle; partitionBy crea un layout directory nella destinazione.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DataFrame.repartition: https://spark.apache.org/docs/latest/api/python/reference/pyspark.sql/api/pyspark.sql.DataFrame.repartition.html</a:t>
            </a:r>
          </a:p>
          <a:p xmlns:a="http://schemas.openxmlformats.org/drawingml/2006/main">
            <a:r>
              <a:t>- Apache Spark — Spark SQL and DataFrames Guide: https://spark.apache.org/docs/latest/sql-programming-guide.html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Connetti small files della lezione 14. Coalesce o repartition possono ridurre file, ma non fissare un numero senza misurare volume e parallelismo.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È una panoramica, non il laboratorio. Structured Streaming usa lo stesso engine SQL/DataFrame e offre processing scalabile e fault tolerant con checkpointing e semantics dipendenti dalla sorgente/sink.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Structured Streaming Programming Guide: https://spark.apache.org/docs/latest/streaming/index.html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Mantieni la panoramica. La API DataFrame-based è quella primaria; l’API RDD-based è in maintenance mode secondo la guida MLlib.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MLlib Guide: https://spark.apache.org/docs/latest/ml-guide.html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laboratorio la UI è su localhost:4040 mentre l’applicazione resta attiva. Mostra dove cercare, non tutti i contatori.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Fault tolerance non equivale a data correctness. Lineage e retry gestiscono perdita di calcolo; schema e controlli gestiscono semantica.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Spark — Cluster Mode Overview: https://spark.apache.org/docs/latest/cluster-overview.html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Gli invarianti separano risultato plausibile da risultato dimostrato. Il laboratorio conosce esattamente 20 record non validi e una top key deterministica.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il dataset completo viene generato localmente per mantenere il pacchetto leggero e riproducibile. Il seed rende il risultato verificabile.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Dai le scadenze. Il tentativo sullo starter precede il confronto con la soluzione. Ogni coppia deve produrre evidenza, non screenshot senza interpretazione.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i valori prima del laboratorio: non sono la soluzione delle trasformazioni, sono il contratto di verifica. Il gate fallisce se manca un’evidenza.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questa slide come controllo formativo: assegna un errore a ogni gruppo e chiedi una controprova dal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chiudere i quaderni e chiedi agli studenti di ricostruire la catena da codice a task usando queste sette idee.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distinguendo Spark dall’infrastruttura che lo ospita. La prossima lezione aggiunge servizi gestiti, sicurezza, rete, log e costi.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- Apache Spark 4.2.0 — Overview: https://spark.apache.org/docs/latest/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2153ebb4d48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004955da0a48ff" /><Relationship Type="http://schemas.openxmlformats.org/officeDocument/2006/relationships/slideLayout" Target="/ppt/slideLayouts/slideLayout1.xml" Id="R6784fc74bff942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84fc74bff942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69e3025234a68" /><Relationship Type="http://schemas.openxmlformats.org/officeDocument/2006/relationships/notesSlide" Target="/ppt/notesSlides/notesSlide1.xml" Id="R0acde5a530bb44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7e0388f9240a2" /><Relationship Type="http://schemas.openxmlformats.org/officeDocument/2006/relationships/notesSlide" Target="/ppt/notesSlides/notesSlide2.xml" Id="R1e16ed933646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de152af15458a" /><Relationship Type="http://schemas.openxmlformats.org/officeDocument/2006/relationships/notesSlide" Target="/ppt/notesSlides/notesSlide3.xml" Id="Rec324741b2fe43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d8a9abcb04387" /><Relationship Type="http://schemas.openxmlformats.org/officeDocument/2006/relationships/notesSlide" Target="/ppt/notesSlides/notesSlide4.xml" Id="R0432718439024d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161cda9804bc5" /><Relationship Type="http://schemas.openxmlformats.org/officeDocument/2006/relationships/notesSlide" Target="/ppt/notesSlides/notesSlide5.xml" Id="R0296279996d047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9e04b933a42ac" /><Relationship Type="http://schemas.openxmlformats.org/officeDocument/2006/relationships/notesSlide" Target="/ppt/notesSlides/notesSlide6.xml" Id="Rc6d0c28cfd9643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893ff586e4ef3" /><Relationship Type="http://schemas.openxmlformats.org/officeDocument/2006/relationships/notesSlide" Target="/ppt/notesSlides/notesSlide7.xml" Id="R372995ac97e945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a44a85be84be1" /><Relationship Type="http://schemas.openxmlformats.org/officeDocument/2006/relationships/notesSlide" Target="/ppt/notesSlides/notesSlide8.xml" Id="Rb7f4bbc08e3b4e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00ccda1a044e8" /><Relationship Type="http://schemas.openxmlformats.org/officeDocument/2006/relationships/notesSlide" Target="/ppt/notesSlides/notesSlide9.xml" Id="R0c2d72fff13f4c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fbfc64ced430a" /><Relationship Type="http://schemas.openxmlformats.org/officeDocument/2006/relationships/notesSlide" Target="/ppt/notesSlides/notesSlide10.xml" Id="R472551ef108447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24726b3de4350" /><Relationship Type="http://schemas.openxmlformats.org/officeDocument/2006/relationships/notesSlide" Target="/ppt/notesSlides/notesSlide11.xml" Id="Rfd160ad0488d42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a78d985ab43fc" /><Relationship Type="http://schemas.openxmlformats.org/officeDocument/2006/relationships/notesSlide" Target="/ppt/notesSlides/notesSlide12.xml" Id="Rb4833faffd8d48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843cdda814c22" /><Relationship Type="http://schemas.openxmlformats.org/officeDocument/2006/relationships/notesSlide" Target="/ppt/notesSlides/notesSlide13.xml" Id="R8e7e04cbe6cd43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584a5cc614609" /><Relationship Type="http://schemas.openxmlformats.org/officeDocument/2006/relationships/notesSlide" Target="/ppt/notesSlides/notesSlide14.xml" Id="R5a6f812ef8d545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8b53fe0644407" /><Relationship Type="http://schemas.openxmlformats.org/officeDocument/2006/relationships/notesSlide" Target="/ppt/notesSlides/notesSlide15.xml" Id="Raa294f9fdee749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4659667d742d3" /><Relationship Type="http://schemas.openxmlformats.org/officeDocument/2006/relationships/notesSlide" Target="/ppt/notesSlides/notesSlide16.xml" Id="Re04e322c64914b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ecd9274a64cbf" /><Relationship Type="http://schemas.openxmlformats.org/officeDocument/2006/relationships/notesSlide" Target="/ppt/notesSlides/notesSlide17.xml" Id="R86657b1a36fa4d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949b6e07f4ba8" /><Relationship Type="http://schemas.openxmlformats.org/officeDocument/2006/relationships/notesSlide" Target="/ppt/notesSlides/notesSlide18.xml" Id="Rc235a7902cf347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c68f4d9034f22" /><Relationship Type="http://schemas.openxmlformats.org/officeDocument/2006/relationships/notesSlide" Target="/ppt/notesSlides/notesSlide19.xml" Id="R038276a72abe425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36fb4254e4875" /><Relationship Type="http://schemas.openxmlformats.org/officeDocument/2006/relationships/notesSlide" Target="/ppt/notesSlides/notesSlide20.xml" Id="Rb2e92dd87c6548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a86e6d0884242" /><Relationship Type="http://schemas.openxmlformats.org/officeDocument/2006/relationships/notesSlide" Target="/ppt/notesSlides/notesSlide21.xml" Id="R7d6010a0d42d42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3a96b6b7a4e5a" /><Relationship Type="http://schemas.openxmlformats.org/officeDocument/2006/relationships/notesSlide" Target="/ppt/notesSlides/notesSlide22.xml" Id="R49ea0960104d42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077099b5c466e" /><Relationship Type="http://schemas.openxmlformats.org/officeDocument/2006/relationships/notesSlide" Target="/ppt/notesSlides/notesSlide23.xml" Id="R710c861e16e440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77946735c450d" /><Relationship Type="http://schemas.openxmlformats.org/officeDocument/2006/relationships/notesSlide" Target="/ppt/notesSlides/notesSlide24.xml" Id="Re320448415ed4d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0ca022a4142fe" /><Relationship Type="http://schemas.openxmlformats.org/officeDocument/2006/relationships/notesSlide" Target="/ppt/notesSlides/notesSlide25.xml" Id="Rddbeed2a674c42a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5e7cbed2140e8" /><Relationship Type="http://schemas.openxmlformats.org/officeDocument/2006/relationships/notesSlide" Target="/ppt/notesSlides/notesSlide26.xml" Id="Rcdebb7d04b4c4f9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1f875956942b9" /><Relationship Type="http://schemas.openxmlformats.org/officeDocument/2006/relationships/notesSlide" Target="/ppt/notesSlides/notesSlide27.xml" Id="R863378ab491842e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bd4c5f3684ace" /><Relationship Type="http://schemas.openxmlformats.org/officeDocument/2006/relationships/notesSlide" Target="/ppt/notesSlides/notesSlide28.xml" Id="R02aaaf11cd474d4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3b177f39344f8" /><Relationship Type="http://schemas.openxmlformats.org/officeDocument/2006/relationships/notesSlide" Target="/ppt/notesSlides/notesSlide29.xml" Id="Rc997ad2da786407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dc7d9aae849e9" /><Relationship Type="http://schemas.openxmlformats.org/officeDocument/2006/relationships/notesSlide" Target="/ppt/notesSlides/notesSlide30.xml" Id="R7c3df098635742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fbad8178b4306" /><Relationship Type="http://schemas.openxmlformats.org/officeDocument/2006/relationships/notesSlide" Target="/ppt/notesSlides/notesSlide31.xml" Id="R0c165ff123e346e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66ca91c934a75" /><Relationship Type="http://schemas.openxmlformats.org/officeDocument/2006/relationships/notesSlide" Target="/ppt/notesSlides/notesSlide32.xml" Id="Ra19250a2744443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b9f8c6f784cc7" /><Relationship Type="http://schemas.openxmlformats.org/officeDocument/2006/relationships/notesSlide" Target="/ppt/notesSlides/notesSlide33.xml" Id="Radd9252d34fe440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a0a4a50354c90" /><Relationship Type="http://schemas.openxmlformats.org/officeDocument/2006/relationships/notesSlide" Target="/ppt/notesSlides/notesSlide34.xml" Id="R020ab060eb4846c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ce3c8a0844f7f" /><Relationship Type="http://schemas.openxmlformats.org/officeDocument/2006/relationships/notesSlide" Target="/ppt/notesSlides/notesSlide35.xml" Id="R4323712d4f3b468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5548d4a7841e1" /><Relationship Type="http://schemas.openxmlformats.org/officeDocument/2006/relationships/notesSlide" Target="/ppt/notesSlides/notesSlide36.xml" Id="Rad5cec09bbf843c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9a71bfbc746df" /><Relationship Type="http://schemas.openxmlformats.org/officeDocument/2006/relationships/notesSlide" Target="/ppt/notesSlides/notesSlide37.xml" Id="R3106eea92cad434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5838176374a63" /><Relationship Type="http://schemas.openxmlformats.org/officeDocument/2006/relationships/notesSlide" Target="/ppt/notesSlides/notesSlide38.xml" Id="R30cb70d53f4f4b4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27fe92f45488d" /><Relationship Type="http://schemas.openxmlformats.org/officeDocument/2006/relationships/notesSlide" Target="/ppt/notesSlides/notesSlide39.xml" Id="R3401c4b7996b471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e9f9fa54c457c" /><Relationship Type="http://schemas.openxmlformats.org/officeDocument/2006/relationships/notesSlide" Target="/ppt/notesSlides/notesSlide40.xml" Id="R4e8e5978617741f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8eeead9964f52" /><Relationship Type="http://schemas.openxmlformats.org/officeDocument/2006/relationships/notesSlide" Target="/ppt/notesSlides/notesSlide41.xml" Id="R48df111432ac4ec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a0bd073404d69" /><Relationship Type="http://schemas.openxmlformats.org/officeDocument/2006/relationships/notesSlide" Target="/ppt/notesSlides/notesSlide42.xml" Id="Rb8d7c946721a443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832d31f224027" /><Relationship Type="http://schemas.openxmlformats.org/officeDocument/2006/relationships/notesSlide" Target="/ppt/notesSlides/notesSlide43.xml" Id="R899828998d8b4ce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115fb35a14fdc" /><Relationship Type="http://schemas.openxmlformats.org/officeDocument/2006/relationships/notesSlide" Target="/ppt/notesSlides/notesSlide44.xml" Id="R38f8bd6c806f4e5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55cb6d828491c" /><Relationship Type="http://schemas.openxmlformats.org/officeDocument/2006/relationships/notesSlide" Target="/ppt/notesSlides/notesSlide45.xml" Id="Rbd3c52dccc5449a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cfcfa36f448ef" /><Relationship Type="http://schemas.openxmlformats.org/officeDocument/2006/relationships/notesSlide" Target="/ppt/notesSlides/notesSlide46.xml" Id="R0a57643a8db94e0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84e635d27473a" /><Relationship Type="http://schemas.openxmlformats.org/officeDocument/2006/relationships/notesSlide" Target="/ppt/notesSlides/notesSlide47.xml" Id="R20eedd4675fb4bf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7ef46044141ba" /><Relationship Type="http://schemas.openxmlformats.org/officeDocument/2006/relationships/notesSlide" Target="/ppt/notesSlides/notesSlide48.xml" Id="R541f61b726874a0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dd8ee5e37470b" /><Relationship Type="http://schemas.openxmlformats.org/officeDocument/2006/relationships/notesSlide" Target="/ppt/notesSlides/notesSlide49.xml" Id="R4429677ef8e84b4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e380cb94246d7" /><Relationship Type="http://schemas.openxmlformats.org/officeDocument/2006/relationships/notesSlide" Target="/ppt/notesSlides/notesSlide50.xml" Id="R70421a24c5444ff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c2a94c5f74869" /><Relationship Type="http://schemas.openxmlformats.org/officeDocument/2006/relationships/notesSlide" Target="/ppt/notesSlides/notesSlide51.xml" Id="R410a3bd62fad4f2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7c0e8ffbb4402" /><Relationship Type="http://schemas.openxmlformats.org/officeDocument/2006/relationships/notesSlide" Target="/ppt/notesSlides/notesSlide52.xml" Id="R56bc5b3920084b5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42a91d5ad4597" /><Relationship Type="http://schemas.openxmlformats.org/officeDocument/2006/relationships/notesSlide" Target="/ppt/notesSlides/notesSlide53.xml" Id="Rd7eadaf75eac413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9316e06fe4500" /><Relationship Type="http://schemas.openxmlformats.org/officeDocument/2006/relationships/notesSlide" Target="/ppt/notesSlides/notesSlide54.xml" Id="R079bdb2bc3ef456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077dca87746b0" /><Relationship Type="http://schemas.openxmlformats.org/officeDocument/2006/relationships/notesSlide" Target="/ppt/notesSlides/notesSlide55.xml" Id="Rd6ddb342242543b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351d6ddb84c17" /><Relationship Type="http://schemas.openxmlformats.org/officeDocument/2006/relationships/notesSlide" Target="/ppt/notesSlides/notesSlide56.xml" Id="R4560e93d1759450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f3e4a91ae49c9" /><Relationship Type="http://schemas.openxmlformats.org/officeDocument/2006/relationships/notesSlide" Target="/ppt/notesSlides/notesSlide57.xml" Id="R5d6841ba544c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C75AB-3EE3-4133-B0F7-A81F4F60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3CA6E-2DAB-40FC-BCFA-6BB33902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Apache Spark e PySpark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76FFD-367D-4BA8-9216-B1C2CD5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8D4DE"/>
                </a:solidFill>
              </a:defRPr>
            </a:pPr>
            <a:r>
              <a:rPr sz="2250" b="0">
                <a:solidFill>
                  <a:srgbClr val="C8D4DE"/>
                </a:solidFill>
              </a:rPr>
              <a:t>Dal codice al DAG distribuito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FA4F4-CF44-40A6-9178-1DCA5A80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D1124-9F84-459C-A2FF-E89C46B7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0B1F33"/>
                </a:solidFill>
              </a:defRPr>
            </a:pPr>
            <a:r>
              <a:rPr sz="6900" b="1">
                <a:solidFill>
                  <a:srgbClr val="0B1F33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CD1F0-AE15-4DEA-B0D3-B4A73AB9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15 • un milione di eventi DATAFLIX</a:t>
            </a:r>
          </a:p>
        </p:txBody>
      </p:sp>
    </p:spTree>
    <p:extLst>
      <p:ext uri="{BB962C8B-B14F-4D97-AF65-F5344CB8AC3E}">
        <p14:creationId xmlns:p14="http://schemas.microsoft.com/office/powerpoint/2010/main" val="2031594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9A87E-3798-4BA2-B6A5-0DA30931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LEZIONE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6BC1B-9FC0-4E53-BCC5-5733BE24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domanda di oggi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7AD58-A955-4BA3-9830-1EDC1790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4D7CD-8444-4DC1-9C3A-692C39C3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DA834-5DF5-40F3-A535-98430BD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Come trasformiamo un milione di eventi senza programmare ogni fase distribuita e senza perdere il controllo sul lavoro reale?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28136-8D36-41D2-9671-5E7B5171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2668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F5DA5-1F32-402A-9A10-B9AAD7B1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MAPPA DELLA LEZIONE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8022C-8CAC-4034-A589-A81AFFCD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Oggi seguiamo il lavoro da tre prospettive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E2788-7875-4091-B329-B7689967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D264B-004D-47E0-BA2B-831328E5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C28BA-A584-4BC8-B559-368993BF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CODICE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0F151-399D-4780-9859-650025DE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DataFrame, espressioni, trasformazioni e azioni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F28CB-4F02-469E-A774-1CBA25A3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1F804-174F-447B-802B-7197FC0B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28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PIANO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AE65E-2DD4-4B26-9060-54C6AF5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lineage, DAG, job, stage e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B02EE-28CB-4D9B-829E-80DD2268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03FB5-B6D6-4C72-BC49-80A50EC4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38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RISORSE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AEB90-5FF1-4C1E-A9D5-BE75F11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partizioni, shuffle, cache, rete e memoria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938C5-B7CC-4EC5-96CB-0539B96A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BDC21-E92E-44C7-AC08-1E05F39E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4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EVIDENZA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E9A2A-53FF-451E-8398-465B54C2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8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explain, Spark UI e quality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899BE-393A-4079-AF6E-CA853374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Una pipeline è compresa quando questi quattro livelli concordano.</a:t>
            </a:r>
          </a:p>
        </p:txBody>
      </p:sp>
    </p:spTree>
    <p:extLst>
      <p:ext uri="{BB962C8B-B14F-4D97-AF65-F5344CB8AC3E}">
        <p14:creationId xmlns:p14="http://schemas.microsoft.com/office/powerpoint/2010/main" val="1845262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729A3-CCDA-428A-9034-EEFC7990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PONTE • MAPREDUCE → 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AE376-BA51-4853-B48E-FD33420B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Spark nasce nello stesso problema, con un motore più generale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8FE71-F08E-469F-B76E-EE60D5C7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47D3C-442D-4AEA-9037-62F2646C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3FACE-4444-47BB-B00A-1CB3F1B9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669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MAPREDUCE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B03AE-7CC0-4063-9B27-43083E3E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28900"/>
            <a:ext cx="1600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map → shuffle → reduce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968D6-FC28-4AA5-BF4B-0C053C9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0507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497E4-67B4-4A27-A377-0209EB76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27030-3C43-486E-A693-E11E840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62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generalizza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226A1-ACB0-45BA-99E5-653197F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2286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15AEF-0BB9-47A7-AA3E-4D27FD3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81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50B3C-BA65-43CC-8721-75B8EC25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4315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più operatori e dipendenze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B6414-C7EA-40D0-9987-3EA2312B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0507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8DD80-6715-4F66-8CDF-D5354956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08F2F-9236-43CD-9A11-B89BE678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62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esegue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5ED6E-AD06-46DC-966E-DF0BF6CB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A1144-FE9F-49D9-BB6F-8BC43BC4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669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STAGE + 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173C6-4556-4E29-BCA8-6168FBF4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28900"/>
            <a:ext cx="3028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su partizioni distribuite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C3F23-570C-4F85-A9FD-A19D930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625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La differenza utile non è “RAM contro disco”: è il piano di calcolo generale e riusabile.</a:t>
            </a:r>
          </a:p>
        </p:txBody>
      </p:sp>
    </p:spTree>
    <p:extLst>
      <p:ext uri="{BB962C8B-B14F-4D97-AF65-F5344CB8AC3E}">
        <p14:creationId xmlns:p14="http://schemas.microsoft.com/office/powerpoint/2010/main" val="1272171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25D02-0F8A-4CFF-AC36-22631192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CHE COS’È 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14E39-9288-4A1D-80BE-D784E87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Spark è un motore di elaborazione unificato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B1B1F-0C00-4C21-8F1F-9D5422BB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EB857-85D4-46E2-B80F-F867051E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5527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9C90F-F7ED-49BA-8183-A479845A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552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7C4A9-48AF-4C22-BA44-074F72D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B029E-CC28-4FBD-AA81-295E32FC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133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dataset finiti e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1FF7D-881F-4F49-BA86-E348278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52625"/>
            <a:ext cx="25527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5FBDA-6195-49F2-9094-830F6209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52625"/>
            <a:ext cx="2552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BCF59-D66A-4BA0-B8F4-14239C56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62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87802-A49D-42C1-B476-E392D5E2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95575"/>
            <a:ext cx="2133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DataFrame e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1BCD3-C991-4707-99C8-4E9BA034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5527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3ADCC-C20E-4EE3-A48B-ECC3295C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552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57942-6AAC-4814-BE9E-554FD50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STREAM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17D38-723A-4023-971A-A144F833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95575"/>
            <a:ext cx="2133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flussi incrementali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2A29E-C804-4D53-9002-A01CB2A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5527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4D424-F404-4B18-8CC7-D010A771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552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72A6B-BCCF-4037-BFE0-43E38888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62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2B59B-65C3-44D2-A6B9-E63D4F16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95575"/>
            <a:ext cx="2133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pipeline di machine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BD9CD-B4B3-4D7D-A9F8-A40BE078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530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Stessa applicazione, più workload e più sorgenti dati.</a:t>
            </a:r>
          </a:p>
        </p:txBody>
      </p:sp>
    </p:spTree>
    <p:extLst>
      <p:ext uri="{BB962C8B-B14F-4D97-AF65-F5344CB8AC3E}">
        <p14:creationId xmlns:p14="http://schemas.microsoft.com/office/powerpoint/2010/main" val="762489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60484-31DE-4844-83EF-3E1705C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CHE COSA NON 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F587B-FF3B-4FA3-A6D0-869A3908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Spark non sostituisce storage, database e catalogo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09BC5-2F0C-4EBE-89F0-B6953422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C44B9-164A-41F0-912F-74CB44A2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2FC74-E646-403D-BD47-231F15EC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ACFB4-7928-4B6D-ACDC-DA697CD8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621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NON È HDFS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68C2D-7834-40D4-B9EC-8A2985FF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95575"/>
            <a:ext cx="27241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può leggere HDFS, S3, file, JDBC e altri sistemi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38B48-B4F1-440D-854B-846F0029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03EAA-70E0-474F-B93D-54DF1A3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B0138-8944-45DC-89B5-8D334450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21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NON È UN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9BF48-A95E-4D3A-BD6B-13FF861E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95575"/>
            <a:ext cx="27241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non offre da solo il ciclo di vita completo di un database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CCFDE-7342-401A-BB17-6BB6A90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ECC4A-024D-4CC9-BB40-E3EC6D4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C8F5D-F035-431C-ACCD-AEDA2385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621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NON È SOLO 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822B0-4451-48A7-86D3-AF67D11C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95575"/>
            <a:ext cx="27241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può usare memoria e disco; lo spill resta possibile</a:t>
            </a:r>
          </a:p>
        </p:txBody>
      </p:sp>
    </p:spTree>
    <p:extLst>
      <p:ext uri="{BB962C8B-B14F-4D97-AF65-F5344CB8AC3E}">
        <p14:creationId xmlns:p14="http://schemas.microsoft.com/office/powerpoint/2010/main" val="1766615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046F38-4332-43E9-86E7-492BBD8F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MODULI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92300-913A-4AFC-8B74-7D46D42B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ecosistema, non una singola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5317F-ADC8-4119-92BD-2166ADAA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5B521-4C00-4DE5-8821-38D438AA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AC8EA-B01E-4926-99C5-4D920486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Modulo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FA256-1F36-488A-A672-28087280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192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B388F-A8E3-4234-9327-9A050FD9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526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Oggetto centrale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BAEAD-C2F7-48AF-8948-FB5FA83C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192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57A1E-93A8-4D53-A1AA-C14CA6A1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52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893F0-53E4-4A0D-9A2E-82533C49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DEDB4-93CE-4C4C-892F-9174B754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288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Spark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304AC-2489-4C40-9832-827E8B4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145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BE7BB-890B-4E25-B0B8-4BFECD47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2885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RDD / scheduler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C8E3B-2BB2-4AA2-9F76-EFD6811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14550"/>
            <a:ext cx="419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D9095-8327-4755-82E0-03488A28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2885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esecuzione e primitive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446BF-1674-463E-A0C7-BD6D7080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03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1F0D6-4FDF-4FE9-A155-2A2CA3F5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46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Spark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66693-7956-4E8E-82DD-C1926D0F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003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E18FF-0138-4A00-ACB8-02A111C8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1465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DataFrame / 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0BC7B-AED7-455D-AAFD-112B8CDD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0350"/>
            <a:ext cx="419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D0E51-00D5-457E-8215-10259E16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1465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dati strutturati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1B914-863A-41BD-9D34-A283C194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861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B924F-4290-4C06-84C5-134C1BE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004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Structured Streaming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06B5D-BE15-424C-8888-F2CA76EB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861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ED801-88BF-4A96-BAEB-F00A0881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0045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streaming DataFrame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321395-58F8-4295-A3E1-6FCE023F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86150"/>
            <a:ext cx="419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35CD3-BBD8-4D84-97FF-EB315C1E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0045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flussi incrementali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04985-E0D5-43D2-A8EF-F60AF6FC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C7D65-9EDB-4F40-9CC6-0D09BFE5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86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MLlib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EA1959-6FC2-4CBC-B68B-E97EEB2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719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2F4A1C-742A-47AF-84FD-5AB3DA99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28625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Pipeline / Transformer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3283A3-1C09-4223-BA39-95E3BAB6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71950"/>
            <a:ext cx="419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A99C6-0640-45D3-86C5-10C0EA0C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8625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machine learning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5A8007-C046-4E2C-A2F5-CA57A81D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80B359-B035-4EB6-BC7E-51FA0363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720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GraphX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C1E0CD-75E6-4AC2-ABC3-36628F55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8577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46EDEF-B83F-4E62-A23B-5D607215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97205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grafo / RDD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DFBDBC-72E1-4AB5-BAEE-5263328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57750"/>
            <a:ext cx="419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D1F893-10C4-4D4B-AA42-37E89A7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7205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graph processing in Scala</a:t>
            </a:r>
          </a:p>
        </p:txBody>
      </p:sp>
    </p:spTree>
    <p:extLst>
      <p:ext uri="{BB962C8B-B14F-4D97-AF65-F5344CB8AC3E}">
        <p14:creationId xmlns:p14="http://schemas.microsoft.com/office/powerpoint/2010/main" val="235559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480D4-9C74-4BA2-B270-FA0ED458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ARCHITETTURA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752C7-F428-4E1B-9836-2F6E578C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Un’applicazione Spark ha un driver e più executor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16F52-2084-4C4A-9AD1-296BDE2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787AC-5932-435A-B451-770BABFD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A37CB-A674-4EE5-9CC6-0FF6C35F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430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DRIVER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59728-E7A3-417A-8955-148B1813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05025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SparkSession • piano • coordinamento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80925-1D24-4EA4-977E-91099891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81325"/>
            <a:ext cx="2428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221DA-8FFF-486C-9D4B-1AEFF19C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09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000BF-ADEC-413B-8769-153FB9C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384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01D9D-7E90-4C43-AA84-3F070A39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81325"/>
            <a:ext cx="2428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CAF8F-03ED-4FB1-8FA7-3EE3ACC1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09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631AE-8EFB-40BF-9A34-DB000781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384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8FD15-1A8E-4DE0-97F5-15897B2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D7EBE-40D9-45B4-B4EA-FD55DC57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052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EXECUTOR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8C730-BD5F-455A-8B28-F4A86CE7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67150"/>
            <a:ext cx="2552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task • cache • shuffle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38625-28C5-4597-91FB-1B9E4872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7FE23-1920-433E-B4FF-6A22C82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052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EXECUTOR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65727-207F-4765-8918-4BF0DF40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67150"/>
            <a:ext cx="2552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task • cache • shuffle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9FCF9-32CC-491C-BDD5-60AA668D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1928F-22F3-431B-A7D3-BA0A7C0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052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EXECUTOR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D4647-A28B-4ED4-9539-6AA6DCF7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867150"/>
            <a:ext cx="2552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task • cache • shuffle</a:t>
            </a:r>
          </a:p>
        </p:txBody>
      </p:sp>
    </p:spTree>
    <p:extLst>
      <p:ext uri="{BB962C8B-B14F-4D97-AF65-F5344CB8AC3E}">
        <p14:creationId xmlns:p14="http://schemas.microsoft.com/office/powerpoint/2010/main" val="259089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7ADD9-204D-4235-BDA0-4F93FBBB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DRIVER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E8E8B-5DA8-48E7-92F9-D2D22AEC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driver costruisce e coordina il lavoro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D57D3-1D75-4C57-86D5-DE86B4D4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74089-E54D-42EE-8D9D-0193FACE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73E24-38DE-4718-B687-284DA5FD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41C00-D265-4A89-B3FA-9C7B0A4A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CONTESTO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8A5FA-FD47-4E3E-8145-A27F66E1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72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crea SparkSession e SparkContext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7F977-6D01-434B-916C-E343868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143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A8CD3-38AF-40A1-B26D-932E3E14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143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DBE3F-EFF9-4C76-B9FE-F6ECB74A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PIANO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719C3-66D7-4D41-8A14-AE21C58D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472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interpreta azioni e dipendenze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FEBA7-6D32-41FC-A227-F56201F0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143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BC2D5-AEE5-4566-8A2D-AC22FD03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143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EE733-AF16-4188-883E-F47AB1F3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SCHEDULING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E0709-A446-42B1-BA22-E0F45B76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72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invia task agli executor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1176A-7985-4833-9FAD-6F8DC2B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143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90917-9BE5-4F2C-A2E9-D9ED4685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143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93596-CDFD-4F43-8BEF-5EDE95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RISULTATI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3E368-16E6-41F5-9CC1-E843A2FB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472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riceve piccoli risultati e metriche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3A023-88BA-4BBF-B2A9-6130DAAD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Se il driver termina, l’applicazione termina.</a:t>
            </a:r>
          </a:p>
        </p:txBody>
      </p:sp>
    </p:spTree>
    <p:extLst>
      <p:ext uri="{BB962C8B-B14F-4D97-AF65-F5344CB8AC3E}">
        <p14:creationId xmlns:p14="http://schemas.microsoft.com/office/powerpoint/2010/main" val="673584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021D7-608E-4B99-91BB-E263FCA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EXECUTOR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8B36F-F7B1-46F6-9E52-E8B5EFC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Gli executor eseguono task e conservano dati applicativi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93520-96B0-403C-964E-798D1869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17BFC-0277-40EF-AC8E-7D5051D3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763C4-F08D-4E34-9E78-8EBC9FB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D0843-2F5D-454C-BDEC-A7896C4D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C5866-6DB1-4285-8463-FD2370A4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8056B-C4DD-4E81-9872-52127C0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CALCOLO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38019-72CD-4327-B822-46E7AEB3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Ogni task lavora su una partizione. Più core permettono più task concorrenti, entro i limiti di risorse.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567DE-C099-43F5-ADFC-7EA1BCBF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8B030-1322-4528-BADE-FEA568B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Blocchi di cache e dati intermedi possono vivere in memoria o disco. Gli executor si scambiano dati nello shuffle.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3096D-8F57-4813-859A-35E40E9D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Gli executor appartengono alla singola applicazione Spark.</a:t>
            </a:r>
          </a:p>
        </p:txBody>
      </p:sp>
    </p:spTree>
    <p:extLst>
      <p:ext uri="{BB962C8B-B14F-4D97-AF65-F5344CB8AC3E}">
        <p14:creationId xmlns:p14="http://schemas.microsoft.com/office/powerpoint/2010/main" val="3991970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8D1DB-C720-4190-A756-461CA7F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CLUSTER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D2CE0-7744-466C-AFB4-7943FBE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cluster manager assegna risorse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142E4-658D-4507-9B0E-F537056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7DBB2-F2AC-443B-83C1-C4E775FF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5527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8EAC6-F307-438C-8A46-FB29C84A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552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69478-183B-4C78-8DC3-16FE06F6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STANDALONE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BD325-AE12-4A63-9F65-AD7A3821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133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manager incluso in 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F40D0-F684-4BF3-92DB-C8AFC4B1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5527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68EDD-4711-4015-BFC6-94B72315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552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4D63A-96B8-455D-B65F-6EFD6EB4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0980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YARN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54CA3-DD5A-4E21-98C9-B0E7B23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43200"/>
            <a:ext cx="2133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integrazione con ecosistemi Hadoop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4957E-3AE5-4617-BE8E-12190C51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5527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21314-16F6-4606-A33F-C7CFEF2A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552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DE627-87BE-43FC-9DE9-C657618B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KUBERNETES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BECFF-0C4A-4278-B3C0-3144F99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133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pod e risorse del cluster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4190F-A6F2-4A79-83AE-EE37E3C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5527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8D2BF-388E-4C37-9590-AF6E2C6E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552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39E08-7E08-4235-8275-83070CA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LOCAL[N]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B2B9D-C982-47A8-8772-EC25A27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2133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 thread su una macchina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35674-F67D-4CB0-85AE-EE68669F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Lo scheduler Spark decide il lavoro; il cluster manager procura CPU e memoria.</a:t>
            </a:r>
          </a:p>
        </p:txBody>
      </p:sp>
    </p:spTree>
    <p:extLst>
      <p:ext uri="{BB962C8B-B14F-4D97-AF65-F5344CB8AC3E}">
        <p14:creationId xmlns:p14="http://schemas.microsoft.com/office/powerpoint/2010/main" val="1083462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C2B35-5CAE-4FBA-950B-B1CEE590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LOCAL vs CLUSTER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A04C0-1104-41FB-A515-C263B7D8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Local e cluster cambiano il deployment, non il modello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64719-BBD9-49ED-9B88-4049E50D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17809-BEF9-4604-9478-18B26226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F9BFC-54C8-4284-8618-053343E3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DF5CE-9636-4B47-BD3D-A83E90C0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74B0B-4A81-4CDF-BBA7-9A9C57D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926A3-E2EA-4482-BD61-F1ED90DC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LOCAL[4]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08A55-5AFC-49E3-B8F9-7443575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Driver ed executor locali nello stesso host. Ideale per laboratorio, test e dataset compatibili con una macchina.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844C8-FC31-43E9-BEC9-31BE13B9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6873D-2F70-4E68-8096-A3997912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Driver ed executor su nodi/pod. Rete, data locality, failure e configurazione diventano visibili.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3B8E6-4D36-4AF3-9F33-5E6D899A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19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Codice simile ≠ comportamento identico: misura sempre piano e risorse.</a:t>
            </a:r>
          </a:p>
        </p:txBody>
      </p:sp>
    </p:spTree>
    <p:extLst>
      <p:ext uri="{BB962C8B-B14F-4D97-AF65-F5344CB8AC3E}">
        <p14:creationId xmlns:p14="http://schemas.microsoft.com/office/powerpoint/2010/main" val="7666445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A835B-E744-4B26-B654-F63D1EB6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F3740-4DED-4093-94E7-6C67C5E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SparkSession è il punto di ingresso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45C9C-5012-4191-A50D-90B935A9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AD7D4-8B01-47F7-AB20-E683042D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9906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A2DF7-C197-4E4B-ADFD-1E43100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4050"/>
            <a:ext cx="94488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from pyspark.sql import SparkSession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spark = (SparkSession.builder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  .appName('DATAFLIX-L15')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  .config('spark.sql.shuffle.partitions', '8')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  .getOrCreate())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print(spark.version)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print(spark.sparkContext.master)</a:t>
            </a:r>
          </a:p>
        </p:txBody>
      </p:sp>
    </p:spTree>
    <p:extLst>
      <p:ext uri="{BB962C8B-B14F-4D97-AF65-F5344CB8AC3E}">
        <p14:creationId xmlns:p14="http://schemas.microsoft.com/office/powerpoint/2010/main" val="8961201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04874-9D4F-4A13-9EFB-DA10A164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RDD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3640-00DD-4A0B-96AD-CD413E71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RDD: dati distribuiti, immutabili e partizionati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57E3B-B8BB-4BC2-B956-649FB9EA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E5409-1A33-491C-86ED-A7DA5CB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E5D41-01D4-4C01-A48D-E4B9126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77F50-0812-46F9-98AF-507206A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RESILIENT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67E28-039C-4CC1-B304-47F092F8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384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ricostruibile dalla lineage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1BDA5-E964-497D-B54C-24F73BA2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F24CE-5CE1-4860-A7DF-809D8393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2C0F5-A4AD-4197-A4A8-2A5E153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DISTRIBUTED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2BE39-7189-4142-B987-06C2FF0C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384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partizioni su executor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5CE97-BB8B-443A-9E5B-E18FF70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FAD88-C92E-4A7F-B994-8961E0F3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C50BB-BCCB-4C9F-8C3D-7830D424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69809-2089-4DBD-A097-D46DD2AD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384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collezione di elementi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CCB7B-78FE-471F-8FED-21F0C475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95875"/>
            <a:ext cx="771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È il livello fondamentale storico; non espone colonne e schema al motore SQL.</a:t>
            </a:r>
          </a:p>
        </p:txBody>
      </p:sp>
    </p:spTree>
    <p:extLst>
      <p:ext uri="{BB962C8B-B14F-4D97-AF65-F5344CB8AC3E}">
        <p14:creationId xmlns:p14="http://schemas.microsoft.com/office/powerpoint/2010/main" val="1434918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72742-1A20-4379-8D0F-49B46C6E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747E3-4014-4472-8868-B434523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DataFrame = righe distribuite + colonne nominate +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105ED-2A9C-4972-9842-E9792097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00C7B-7588-463B-A339-D8C81C57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A8DD4-636E-4747-9820-33C044CF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622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DATI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913E9-877F-480A-857E-E4360EB0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241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partizioni distribuite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7BB5D-29B0-45B0-A144-8BD612A8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5270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77E38-1AE2-4534-995A-13161286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6C76A-EC07-403A-9655-80BE919D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09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BB6E3-EFED-4AFC-90FD-838F5E56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7314B-C771-475F-8E8D-63A81059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22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B979F-1E08-4D1C-A3AB-468A222C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nomi e tipi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D8519-CFFC-4FF2-BD49-0EDDE73A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3A088-7769-471C-981E-8EADA692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50EA9-8CA6-47A6-8588-F961A1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=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55EB9-4020-4A67-B22E-B40D2102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84E1D-267C-44AA-B736-D5902A3E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717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PIANO OTTIMIZZABILE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D4D25-1365-4DB3-8588-72D495B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336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il motore comprende operatori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E05D3-1EDC-43F5-A4FB-7E95A764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In PySpark il DataFrame è l’API strutturata principale.</a:t>
            </a:r>
          </a:p>
        </p:txBody>
      </p:sp>
    </p:spTree>
    <p:extLst>
      <p:ext uri="{BB962C8B-B14F-4D97-AF65-F5344CB8AC3E}">
        <p14:creationId xmlns:p14="http://schemas.microsoft.com/office/powerpoint/2010/main" val="11146908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2F8DB-1904-4636-9B07-CB648DA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B9675-EA5F-4E68-A5E2-68037AC6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Lo schema esplicito rende gli errori osservabili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20CEF-2002-4010-943A-C0F4AC39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F1FFB-1F85-4A7A-BB0C-ABC7FC80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5048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20E3-969F-415F-9B74-D2FD597A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62150"/>
            <a:ext cx="4705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schema = StructType([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StructField('event_id', StringType()),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StructField('event_ts_raw', StringType()),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StructField('duration_raw', StringType())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])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B514F-1DAA-4C31-A84A-B9A482BE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048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21FB1-A876-47C2-830A-ECB13E4D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962150"/>
            <a:ext cx="4705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parsed = raw.select(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expr("try_to_timestamp(event_ts_raw, ...)"),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expr("try_cast(duration_raw AS INT)")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5501F-DD9A-4E19-AF22-14ED864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Raw conserva. Curated tipizza dopo il quality gate.</a:t>
            </a:r>
          </a:p>
        </p:txBody>
      </p:sp>
    </p:spTree>
    <p:extLst>
      <p:ext uri="{BB962C8B-B14F-4D97-AF65-F5344CB8AC3E}">
        <p14:creationId xmlns:p14="http://schemas.microsoft.com/office/powerpoint/2010/main" val="463653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04691-A3B1-48D1-874D-6E36ADF9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API • IMMUTABILITÀ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DD6A3-8910-423A-A238-544422B7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 DataFrame non viene modificato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068A3-FB1B-496B-93CA-06891CE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A7089-135D-4AAF-AD87-BA88B8F3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B8D9"/>
                </a:solidFill>
              </a:defRPr>
            </a:pPr>
            <a:r>
              <a:rPr sz="8250" b="1">
                <a:solidFill>
                  <a:srgbClr val="00B8D9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FF0D1-0B12-4FE7-B0A8-194E30A6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Ogni trasformazione descrive un nuovo DataFrame. La sorgente resta immutata e la lineage registra come ottenerlo.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36700-374C-46F8-A039-5808ABB5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47912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F0C46-0061-4669-9994-E1B850A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TRANSFORMATION vs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36DD1-179F-4C40-A596-96696B42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Trasformazioni descrivono; azioni richiedono un risultato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883F7-0841-4E87-BEEF-21BC0EF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C47BE-CF93-4E98-A0FD-E6076683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396E5-148E-4848-9797-2AA21995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59A23-C05B-4766-90BF-7494FD65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30109-E135-4D22-8513-C2BB5298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481E2-4C69-4967-8024-A5C4F05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TRASFORMAZIONI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FCB57-8B7B-4694-9F80-DD721614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select • filter • withColumn • groupBy • join • orderBy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Producono un nuovo DataFrame e costruiscono il piano.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81FB8-C17A-4152-851E-5A5D7B9D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AZIONI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198FC-8EAC-43D7-8999-35475B53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count • show • collect • write • 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Richiedono dati o effetti e possono avviare uno o più job.</a:t>
            </a:r>
          </a:p>
        </p:txBody>
      </p:sp>
    </p:spTree>
    <p:extLst>
      <p:ext uri="{BB962C8B-B14F-4D97-AF65-F5344CB8AC3E}">
        <p14:creationId xmlns:p14="http://schemas.microsoft.com/office/powerpoint/2010/main" val="11428734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48C7E-19B3-4065-BC98-8E55F243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LAZY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CD5BF-10D9-4BE2-A526-90BC49C0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Lazy evaluation separa descrizione ed esecuzione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9AEC7-EECF-4269-A310-6A83CAC2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F7054-2088-4E7B-8610-4C3228B0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F14FB-F9E5-41A0-BB26-BFDF0E2E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A2A33-5109-457A-B8FC-44B2DFE3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descrizione sorgente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9B025-82CD-43F1-BFD1-63BA1FE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9825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D227D-EC22-4C2F-ACA2-5D2998A0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584B9-9E70-47FA-96F0-B19B088C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66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lazy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C652C-3E0C-4C38-AB58-3577941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BB725-056F-4129-90E1-940C0694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193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38F71-C79E-4370-8070-69531CCE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812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espressione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22A1E-AB53-4C86-A98C-781A885F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59AB8-D248-4C39-8925-5F0F3E11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9C7FE-6EEE-41A7-8555-F0CA0BD7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lazy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DC430-0FD6-43C3-96B3-55CE4DDA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D106B-D9A8-4E59-914F-9E3E9F0C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193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GROUP BY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CFDB6-9A4D-4937-BDA5-9C2505F3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812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dipendenza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3777D-D0C9-4808-9BE5-433427B2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09825"/>
            <a:ext cx="1000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F92EE-2CD2-4DE3-A84B-42AE1C82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0C0AE-62ED-4F4F-B03E-D477F812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669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40CC5-8BC0-4975-AE15-E311A69A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57625"/>
            <a:ext cx="2286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04E70-1D68-4695-8064-5681984F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290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18FF4-5CAA-45F6-AF95-6577ACCB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91025"/>
            <a:ext cx="1981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esecuzione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F95F5-EA1B-4DD9-9364-4E95238C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0062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Prima dell’azione, Spark può analizzare l’intera catena.</a:t>
            </a:r>
          </a:p>
        </p:txBody>
      </p:sp>
    </p:spTree>
    <p:extLst>
      <p:ext uri="{BB962C8B-B14F-4D97-AF65-F5344CB8AC3E}">
        <p14:creationId xmlns:p14="http://schemas.microsoft.com/office/powerpoint/2010/main" val="5923645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2251F-A092-485E-B21D-3AD33A2C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CATENA LAZY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4F5D5-EEEB-4801-AA03-C76463A5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Queste righe non hanno ancora calcolato il risultato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0C770-BBF9-4F1A-BCB9-BC82FD2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C8595-EB62-4B28-91DA-6E2B2FB3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A8F13-9AE3-4971-A4C4-0852840B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24050"/>
            <a:ext cx="963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events = spark.read.schema(schema).csv(path)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valid = (events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  .filter(F.col('duration_seconds') &gt;= 0)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  .select('movie_id', 'duration_seconds', 'country'))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top = (valid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  .groupBy('movie_id')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  .agg(F.count('*').alias('events')))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489C6-925D-425B-8C0A-54A528E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A4C"/>
                </a:solidFill>
              </a:defRPr>
            </a:pPr>
            <a:r>
              <a:rPr sz="1650" b="1">
                <a:solidFill>
                  <a:srgbClr val="FF8A4C"/>
                </a:solidFill>
              </a:rPr>
              <a:t>Nessuna azione esplicita → nessun risultato richiesto.</a:t>
            </a:r>
          </a:p>
        </p:txBody>
      </p:sp>
    </p:spTree>
    <p:extLst>
      <p:ext uri="{BB962C8B-B14F-4D97-AF65-F5344CB8AC3E}">
        <p14:creationId xmlns:p14="http://schemas.microsoft.com/office/powerpoint/2010/main" val="12649285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16A51-ADED-4AF1-9489-A01B8FEA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1E2F8-BC71-4519-BA66-391667E5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Un’azione crea un job sul piano necessario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86CE-A91C-4E20-ABC6-9FB541CC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873B4-2B12-4322-B37B-E0F25A9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A7048-BAAE-4068-9CFF-40184559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0275"/>
            <a:ext cx="3752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FF6FB"/>
                </a:solidFill>
              </a:defRPr>
            </a:pPr>
            <a:r>
              <a:rPr sz="1725" b="0">
                <a:solidFill>
                  <a:srgbClr val="DFF6FB"/>
                </a:solidFill>
              </a:rPr>
              <a:t>top.show(10, truncate=False)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E8AD5-F350-4EF0-BF5C-BA32E7C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05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0D991-4582-46C1-8095-1D94A0FB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C872B-6B25-410E-A72C-354954EA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62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FB41C-02EF-4EA6-836C-E6564C4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3619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C2302-02F8-4D34-A4FA-871B317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764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2E6BA-C167-4849-A44D-A804D1F0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stage → task → risultati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B0CD3-FC20-4EB2-A034-21E45A84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62500"/>
            <a:ext cx="771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Una seconda azione può rieseguire la lineage se i risultati non sono stati persistiti.</a:t>
            </a:r>
          </a:p>
        </p:txBody>
      </p:sp>
    </p:spTree>
    <p:extLst>
      <p:ext uri="{BB962C8B-B14F-4D97-AF65-F5344CB8AC3E}">
        <p14:creationId xmlns:p14="http://schemas.microsoft.com/office/powerpoint/2010/main" val="15643567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5762E-1670-4195-B825-130CA299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DRIVER • MEMORIA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0BBE6-D32B-46CB-8289-173474FA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collect() cambia il confine del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E3918-6680-4261-9B6E-8E3B2E1B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FE742-4B0E-421F-B5DE-2E7B0E6D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EF5A5A"/>
                </a:solidFill>
              </a:defRPr>
            </a:pPr>
            <a:r>
              <a:rPr sz="8250" b="1">
                <a:solidFill>
                  <a:srgbClr val="EF5A5A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678F7-1ED6-4EB7-8E4E-6D39F70D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Porta tutti i record nel processo driver. Su una top 10 è ragionevole; su un milione di eventi può essere inutile o pericoloso.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4EB69-BA0B-4B63-B0E7-F8E8065D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02469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F235C-AA83-4E3E-886C-E5C5BB57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LINEAGE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1B4AC-7735-4198-9088-A5CBBCB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lineage racconta come ricostruire un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3A8FE-E6E9-456C-825C-7EB1740B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5A778-7ADF-49CD-B9BA-555F8825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7D396-A3BB-4E40-A741-FA79B71D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E1092-71BD-4B9A-B072-83521641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8FD11-AAC2-4DC1-BE20-9D36EF02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0507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67FA6-5D93-42CC-BE6D-33288336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85EF7-0023-4722-B74F-4F14A7ED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74654-9BEC-4665-AAED-B1664ED7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14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PARSE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82B16-0A5B-4734-8176-2A0FBD7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7652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7F0E3-7C94-48D5-B6FF-72F969E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0507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E2EC8-B6D8-43C1-87BB-5B32A80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65CA7-C6F8-4686-BE1B-9E4AD85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E82ED-77F7-43FC-B16E-A810BBCC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14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CFD29-935E-47C9-9E22-A7C5220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7652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7EAEC-9E71-488D-A25A-42F28431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5EA02-C878-4777-B252-99038D9E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6FF3F-78E9-42F0-896C-12C089A7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43125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8C939-22D7-4363-9C36-93DCFE13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145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GROUP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D1FD9-90F3-475A-A734-395AA23D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7652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movie_id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9BC8B-58EA-491E-834E-44A4BE66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10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Se una partizione intermedia si perde, Spark può ricalcolarla dalle dipendenze.</a:t>
            </a:r>
          </a:p>
        </p:txBody>
      </p:sp>
    </p:spTree>
    <p:extLst>
      <p:ext uri="{BB962C8B-B14F-4D97-AF65-F5344CB8AC3E}">
        <p14:creationId xmlns:p14="http://schemas.microsoft.com/office/powerpoint/2010/main" val="2258437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D5490-E631-41B9-8BBE-A107FAEB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A90B4-799E-4C60-AD2F-D69960A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DAG è il grafo delle dipendenze del calcolo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D5C26-D15B-439B-8BDA-AF8505CD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A99F7-0BA1-485B-9043-FF36626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71BDD-7C67-4DE3-9625-4741C65F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7BA40-2E92-46BC-B9A4-B76770EB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741D-1E8D-45BD-934A-AA0EE7D5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FFB79-CFF3-412F-844A-3D0410B2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 MOVIES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A5D19-8A81-4A57-B7CA-2F1E6C3B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AFB0A-7270-47A9-A8C0-9699F1E9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DF978-D170-43C2-BCF2-B0DEA0C4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81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VALID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289CC-4417-49CC-966A-90F58078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431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6DFC0-0610-42BF-AE2B-EB684ACB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7A971-3CFB-42C7-AFFE-E1CFD185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SMALL DIM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EB58F-4090-4CB3-9B92-86893116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671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4D662-C453-4BC6-9522-F402479E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EE913-A7F2-45C0-AACB-D56E3FA1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JOIN + GROUP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F64FC-A31B-44E6-BF4A-547775E4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wide operators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D27DC-A0F8-48AA-927A-3F4060C3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C1035-029C-41FD-94A7-D86E400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CDABC-4C94-4F77-9B6D-430706AE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narrow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ADBF5-7B50-4D25-BCAC-841E00C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DA36A-E409-4FF0-905F-1E2B75F4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A03EF-99A5-494C-ABB1-559F7EB5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narrow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E962A-CFB4-4CE4-B97E-CFC21083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E8C17-1A93-44EB-B181-1D3C9547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79CD5-35BC-4FB6-BD66-CB83A60B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shuffle?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EE434-CABE-4443-8931-24467B15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958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Non è una linea: una trasformazione può dipendere da più rami.</a:t>
            </a:r>
          </a:p>
        </p:txBody>
      </p:sp>
    </p:spTree>
    <p:extLst>
      <p:ext uri="{BB962C8B-B14F-4D97-AF65-F5344CB8AC3E}">
        <p14:creationId xmlns:p14="http://schemas.microsoft.com/office/powerpoint/2010/main" val="21283364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746637-4718-401A-9CFE-72FAE2C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ESECUZIONE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48E8C-F477-4DC5-92F0-503440E7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Job, stage e task sono tre granularità diverse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43441-17EA-458F-8E6D-22720DA6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447F3-D22A-4A76-85BC-B4581CCE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1229C-D5D0-4921-BCF2-860AB740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Livello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DEDC7-4506-4F2F-94BE-5540CF7B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A23A5-1E3F-4389-B8AA-0963B94D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431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Nasce 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63607-9836-485D-B193-B5097E7C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99F29-DCB4-46FE-A786-654927E8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Unità osservabile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D9386-6B4C-4526-9D7F-C7554A10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11A06-1AA5-4226-87B3-4792183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1935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JOB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17154-3D95-4FF7-8252-5683022C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06141-7E2B-418C-8415-0C01826E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19350"/>
            <a:ext cx="3448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un’azione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BC7A9-E12C-4EBD-89EC-5A964337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EBEDB-5D83-4E10-99A1-391BE292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3543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un risultato richiesto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80994-D633-4EF3-8272-9D9015BC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0FCCA-DACE-45E9-9D38-BAD38330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AD498-2205-4D7B-9731-16DA1878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BE7F3-1BBF-4158-8869-2A3FA717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95650"/>
            <a:ext cx="3448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confini di shuffle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CC2DD-65BE-4F84-A3CF-9D4790E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81350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D9E2C-2DAA-43A1-934C-B38AF99C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543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insieme di task compatibili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DAF21-1368-4870-9C6B-D95A5A3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E0956-DF62-4A30-A969-28F54048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9B51F-B6CF-48FA-A69C-95C9F5F0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AF3E2-32A6-4E51-B218-86C7A241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71950"/>
            <a:ext cx="3448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una partizione nello stage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4AC8B8-8BF7-432D-890D-B5D38781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260DB-0D7A-48AA-B075-A316590A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1950"/>
            <a:ext cx="3543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unità inviata a un executor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27814C-2254-4DEE-B00E-540B1EEB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292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1 azione → 1+ job; 1 job → 1+ stage; 1 stage → molti task.</a:t>
            </a:r>
          </a:p>
        </p:txBody>
      </p:sp>
    </p:spTree>
    <p:extLst>
      <p:ext uri="{BB962C8B-B14F-4D97-AF65-F5344CB8AC3E}">
        <p14:creationId xmlns:p14="http://schemas.microsoft.com/office/powerpoint/2010/main" val="2022694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4F1E68-13D8-4495-A295-8B4CB66C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NARROW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E353C-C799-4BB0-8092-6264E1C2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trasformazione narrow usa un numero limitato di genitori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9055A-0794-465B-8DA2-4497FF9C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74A5F-1EFE-47E0-838D-BA556FC6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ECAB7-B066-4234-81DE-706E2A17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E20EF-FD12-4198-8E05-D39C9EFC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5B157-0700-4EF8-B4A3-F57754F6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3445D-A58B-4B7C-9D74-2F7FFCB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81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FB84F-1D90-4374-BF4E-256FB3E0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431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72677-5B39-44BE-ABD6-81B40D33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92886-E6F7-4FA9-8B91-05D64C6A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81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379BD-20C8-4C17-A46F-DC255D2F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40B93-5168-401F-8150-28CDE8B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D21C9-80EC-4CD2-BDE6-A6FFAD96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81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548EC-5530-4AA1-872C-925939E5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D12CC-1394-4806-87C8-65AA3A4E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765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D10F5-6886-444E-9488-293034ED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05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DFA17-CEA1-478C-A651-9E8BB5A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33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DB351-9519-4C7A-B1B0-042C48AB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2FE93-A5D3-4981-A1D0-54A8F24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B71D3-995C-4059-803A-8D0D99BD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filter/select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F6A04-395D-440D-8878-B1D5EAE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765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78809-3574-4565-B165-B318A02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05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115A5-FD62-4BDE-BD15-C9EEF996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33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local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36F8B4-7001-4D6C-A2E4-4FCCCCF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0C058-B792-4113-AD15-16218A4B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957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01C26-C66C-439D-96F9-CBCF330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576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filter/select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3EA5D-5C1F-494A-A40E-F43D52A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765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9E7F5-9F49-4E41-A6D1-2131E63D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05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3C035-6971-4DBA-8F2A-19360716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33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local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D98A0-C50F-4410-92A5-4322BCF8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E7005-4234-46D3-8E85-56C30F58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EC0F78-3BC4-4FF8-9FFF-8EB6BC18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76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filter/select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54176-90AF-48D2-9C02-363AA17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765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656C4D-1E0A-42C2-AF48-E76F620F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905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84629-A0DA-498C-AA8A-8F6707EA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local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1A7582-A3C2-497C-AC0E-88474118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607F00-8D2A-4DF1-AC48-791635BF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957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752EB5-934A-4C44-B222-81EDB75B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576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filter/select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E3C0D8-10D4-492C-AE10-0569F5DD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91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filter • select • withColumn: ogni partizione può avanzare localmente.</a:t>
            </a:r>
          </a:p>
        </p:txBody>
      </p:sp>
    </p:spTree>
    <p:extLst>
      <p:ext uri="{BB962C8B-B14F-4D97-AF65-F5344CB8AC3E}">
        <p14:creationId xmlns:p14="http://schemas.microsoft.com/office/powerpoint/2010/main" val="2602565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DC468-3179-4A36-B210-3D4FE96D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WIDE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FDABF-3491-478D-9FEE-EFA88D4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Una trasformazione wide deve ridistribuire dati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DF301-E743-4379-AB25-FA99F9CF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977CE-7B41-40B7-917A-0D9D8F2F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4AB2D-14E6-427C-9D8C-B6041A0C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62554-A169-45DF-B075-C4593DBC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314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input keys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806C6-D45E-4353-8854-063328C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7AA83-29CD-47A5-A734-398221D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907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A2028-236A-43A3-8512-71D4C0D2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52650"/>
            <a:ext cx="1314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input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914A1-976B-49D9-9107-8CDDCDE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C6DBD-DEE5-43C9-9C23-1981FF7B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75D5D-ADD0-48F8-84DE-AD2AFFD3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1314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input keys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2F73E-1A6B-4708-8053-E7F29986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0775C-9B07-4AB4-9B0B-E55A1AF2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D5A20-7FC1-4C75-B72F-B472A2F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52650"/>
            <a:ext cx="1314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input keys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057BA-1E32-437A-8597-4F9693D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62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7D1C3-98F3-44E6-9E5E-31F94991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8A4C"/>
                </a:solidFill>
              </a:defRPr>
            </a:pPr>
            <a:r>
              <a:rPr sz="1500" b="1">
                <a:solidFill>
                  <a:srgbClr val="FF8A4C"/>
                </a:solidFill>
              </a:rPr>
              <a:t>SHUFFLE • hash(key) → nuova partizione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E1823-8562-4347-AC79-6CE7CE81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B146A-EF5E-4347-A5DA-26FB6535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862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KEY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6F635-4DFA-4F78-9CB0-7431868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records from all 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775B0-A6AF-4210-98B2-A6193506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147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3A354-17CC-44B8-93F1-31B26C77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8862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KEY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D3437-C858-4306-8CF4-74D39E44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481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records from all 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80F2A-6747-4452-B2D2-09AE2B8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07AF8-2063-4C0A-95C5-3B785BBA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KEY 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5F7F4-D755-4B56-8DAD-51F3A4D6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481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records from all 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9FED7-5032-4602-A7C4-92161E37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911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groupBy • orderBy • repartition • molte join</a:t>
            </a:r>
          </a:p>
        </p:txBody>
      </p:sp>
    </p:spTree>
    <p:extLst>
      <p:ext uri="{BB962C8B-B14F-4D97-AF65-F5344CB8AC3E}">
        <p14:creationId xmlns:p14="http://schemas.microsoft.com/office/powerpoint/2010/main" val="19810918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9CBF4-C162-4D70-905D-3CA9B126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COSTO DELLO SHUFFLE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4419F-CD49-48E2-86D1-6019B191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Lo shuffle paga rete, serializzazione, memoria e disco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26980-FCCC-4A82-8514-F1B67CE5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61114-0086-4179-8621-53FA38C6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1AF56-00E7-414F-8904-1442BAFB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2C34A-B264-48FE-987B-F94A29C6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C3558-5900-4CC6-9813-3071B72B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72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record trasferiti fra executor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E4E67-5CFE-4357-850C-E8D0302B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143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39583-A8F8-47AD-8EFB-21A17EF3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143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6941B-C268-4FCB-B973-83E30E10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7DC69-A430-432A-B129-5C293BD4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472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hash, sort, compressione e serializzazione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DC77C-1CAD-402B-8AC8-10FC07AB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143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6EAA7-B619-4BDE-8164-00AB3DFA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143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EE9C4-C51E-406C-9A85-1C95D71D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9CC99-04DB-47C5-B230-B4C64230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72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buffer e strutture di aggregazione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E6EBA-3FEB-4EED-AB97-120B88A7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143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90BFB-95B7-44B0-967C-1BCA1F46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143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E87E0-F3C2-4B73-BCDB-945BDC97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7FD23-AE2E-4C94-B0AA-EA3682BE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4724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spill e file intermedi quando necessario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3850F-6DD7-44FE-B0FD-CCAC6261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721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Ottimizzare non significa eliminare ogni shuffle: significa renderlo necessario e sostenibile.</a:t>
            </a:r>
          </a:p>
        </p:txBody>
      </p:sp>
    </p:spTree>
    <p:extLst>
      <p:ext uri="{BB962C8B-B14F-4D97-AF65-F5344CB8AC3E}">
        <p14:creationId xmlns:p14="http://schemas.microsoft.com/office/powerpoint/2010/main" val="776235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45F57-535F-4151-8B20-7F32EAEA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PARTITIONS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3C5B7-F3F0-46A0-B8E1-CC0E6C8E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partizione è l’unità pratica di parallelismo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85AA4-9DF6-4C65-99A1-ED85CA05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DB2A4-0209-486A-86D7-FF1417A2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F4EC3-9B63-477D-864B-44C7840D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DATAFRAME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D8A74-F52F-4B46-BE28-691BC0B0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1.000.000 righe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998B0-6649-4F30-9608-3930898C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C6AD7-5D07-42A5-9725-948B9490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1B8A4-F507-44D3-B5D3-E1741E2E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22515-F274-4C2F-8933-97CA6A9A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1333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DB0D2-4327-42DD-9BD9-18DEC973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2407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30B7D-2D4C-4A99-A15A-9F294D4B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86025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task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BBAFD-6AF5-4F3F-9A8A-BA92C31E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1333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1A711-BACE-477D-B7C8-AD872CB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66099-B938-4F4A-80D7-A10006A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task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B05BA-0A32-4AF8-AB94-B112B6B9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1333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D9440-70DE-4754-9018-81119B97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2407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0D6A4-510B-46FC-B10E-46047E2E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86025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task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2009C-FE2B-4B9C-8F3B-FDAC86F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333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1B0AF-838C-4317-84A6-2F4D1D3B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194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85D78-5D10-4649-9251-0E350392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81400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task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2029B-270D-4BB9-A139-84C0A0B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435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Troppo poche: core inattivi. Troppe: overhead e piccoli file.</a:t>
            </a:r>
          </a:p>
        </p:txBody>
      </p:sp>
    </p:spTree>
    <p:extLst>
      <p:ext uri="{BB962C8B-B14F-4D97-AF65-F5344CB8AC3E}">
        <p14:creationId xmlns:p14="http://schemas.microsoft.com/office/powerpoint/2010/main" val="1661967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30BFDB-096D-401F-9FEB-3A296173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INPUT PARTITIONS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E486C-29A8-422F-A7D7-098B5954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sorgente influenza il numero iniziale di partizioni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14A79-BD81-460E-B6A1-AE104CE3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8CAC9-F9D8-4197-B2BD-0D2BB1BC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760F5-E43F-4299-ACF3-678C594D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0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Sorgente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BF121-2D19-4487-BC1F-42C3E5C2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61E70-A5E3-4EB0-8BB5-7275918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02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Cosa influenza lo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A9393-F29E-420A-8DC7-0F8C4D90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BC7FD-6F94-413F-B92F-7A59CE30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02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Caveat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AA094-2A70-4FA3-B06E-DEFFFF9C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B5D65-6884-4B02-A887-2BD0965A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76475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Parquet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458EE-0AC1-405E-BBB6-002E407C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62175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E13D4-B049-4660-A20E-B5087889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76475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file, row group, dimensione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F0C45-B4E9-4519-ACBD-8F6D00CE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62175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1338B-595F-4F34-BEAA-49D5726E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335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column pruning e statistiche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A0D64-BA19-4584-AF05-1AE8727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9A274-793A-4820-BBC6-7BE39BF7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CSV non compresso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F93E0-8D31-4CAE-952E-661DE922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81325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1052B-3C59-4431-89C8-C4C2E3A6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95625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file e range splittabili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04EE9-77B9-40E8-823E-221BA039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81325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5DD43-3E37-4B65-BAB5-3C90EAC7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95625"/>
            <a:ext cx="335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parsing testuale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68563-A6B8-43F7-854B-C95EE13B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C0FDB-9154-4634-8D01-EE515238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14775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gzip singolo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0DB23-9CA5-4386-B68D-E61964B1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99566-BAF6-4B0F-8D87-D6112954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14775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codec non splittabile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CA129-CC61-4A9D-B000-C0305E6D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D2412-5B72-420D-9C0F-1EA6442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14775"/>
            <a:ext cx="335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un file può limitare parallelismo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EFA8F-2A70-4BCD-ACC9-26A5E6FD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2517F-8BB3-4ABD-8D80-57014B1B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JDBC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C5703-5C93-419F-8C6D-983FC499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9625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B40A9-3203-4025-89FB-B1748E7B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33925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opzioni partitionColumn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A4BAB-769C-4D90-BFAF-B3A60A26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9625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FB8AE-A9D1-4B62-90A7-B1F8D36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33925"/>
            <a:ext cx="335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serve un range corretto</a:t>
            </a:r>
          </a:p>
        </p:txBody>
      </p:sp>
    </p:spTree>
    <p:extLst>
      <p:ext uri="{BB962C8B-B14F-4D97-AF65-F5344CB8AC3E}">
        <p14:creationId xmlns:p14="http://schemas.microsoft.com/office/powerpoint/2010/main" val="17807167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7C56B-D6AA-4EAD-8D70-45E2ECA4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PARTITION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DA43F-4758-454D-A306-A02CE9C0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repartition e coalesce cambiano la distribuzione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98848-FAF7-4D1A-9E66-44CEE85F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9466D-DE71-4B79-BA65-654D93A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B2C42-6E22-441A-8E07-2181322A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8CA52-6E60-458D-A4A9-4CD09D8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25FC0-A15C-44DE-AA8C-C18DEA99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1B5A6-35EB-4052-9151-B70AB7B5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repartition(n, cols)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90FA5-4E80-49B8-80A5-37CA3B4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Può aumentare o diminuire partizioni e normalmente introduce uno shuffle. Utile per riequilibrare o distribuire per chiave.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86DBE-99BB-4540-958F-43A731A4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coalesce(n)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42875-3FB5-4BFE-B601-3BCC0E1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Riduce partizioni cercando di evitare uno shuffle completo. Più economico, ma può lasciare distribuzione sbilanciata.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9DD82-70E5-4763-8885-3CF7DF7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62500"/>
            <a:ext cx="4857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3806E-8782-4EE7-8A22-A90B37B5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914900"/>
            <a:ext cx="451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df.repartition(8, 'event_date')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df.coalesce(2)</a:t>
            </a:r>
          </a:p>
        </p:txBody>
      </p:sp>
    </p:spTree>
    <p:extLst>
      <p:ext uri="{BB962C8B-B14F-4D97-AF65-F5344CB8AC3E}">
        <p14:creationId xmlns:p14="http://schemas.microsoft.com/office/powerpoint/2010/main" val="9575113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58450-698D-4968-B209-9C11A59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 SKEW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5DFC6-F6F5-4887-B205-780B549F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chiave calda rende il cluster diseguale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051EE-18CF-4493-83BE-3B67FB46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18246-851A-4BE8-8ACB-0FCE50E9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078BF-B50E-4AA8-BE8C-E9768D20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01B58-E3B3-419C-ADBE-60FE74A2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10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91B61-9402-43A6-BD22-7CACB5C3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54796-E129-4208-839E-AA2C359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8BC7D-6D1C-4463-A96A-C980D43E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24150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12 MB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A4FAD-AB51-4B25-A7C8-8F3BBE13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78E91-90F5-407D-B470-56F2357B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P3 • HOT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87A69-CF9A-4052-A212-6F00E528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0764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780 MB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B9C91-38DD-4D7E-9AC4-3562177C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97D58-17A5-40DB-B3B1-33BC9AE3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26876-DF2E-4BBA-A762-CF6828A3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9 MB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76577-1BC4-496C-A129-B895FB37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Il job finisce quando termina il task più lento.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A061F-0E19-43A4-BF64-188E4F98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Diagnosi: durata task, shuffle read, righe e dimensione per partizione.</a:t>
            </a:r>
          </a:p>
        </p:txBody>
      </p:sp>
    </p:spTree>
    <p:extLst>
      <p:ext uri="{BB962C8B-B14F-4D97-AF65-F5344CB8AC3E}">
        <p14:creationId xmlns:p14="http://schemas.microsoft.com/office/powerpoint/2010/main" val="210165333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5A486-0438-48C6-BD41-18BE9310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EXPRESSIONS vs PYTHON UDF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E0724-4B2C-4F1D-A74E-A9C41E3E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funzioni built-in restano visibili all’ottimizzatore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33514-CDD9-4465-8923-6872F9AB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D4831-49EE-43F0-93A6-519E971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79CDC-7FA9-4A74-99A7-DA907AD5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14AB7-8C19-42AF-BED2-1A8B3CAF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3F8CE-FD59-43A0-AB7C-2F29AE5F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3D7B8-327E-40F8-AE28-BCD2CCC6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SPARK BUILT-IN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08547-1890-4731-8D93-B82BA81E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col, when, sum, to_date, regexp_extract…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Espressioni dichiarative comprese dal motore e integrabili nel piano.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DBCD1-51DC-4549-B501-26B37ECA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PYTHON UDF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0583C-6DEC-41C2-9144-9537BE88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Funzione arbitraria Python. Utile quando manca un’espressione, ma crea un confine meno trasparente e può aggiungere costi.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594EB-CA5B-4715-A9D2-76BB07F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Regola: prima cerca un’espressione nativa; poi misura la UDF.</a:t>
            </a:r>
          </a:p>
        </p:txBody>
      </p:sp>
    </p:spTree>
    <p:extLst>
      <p:ext uri="{BB962C8B-B14F-4D97-AF65-F5344CB8AC3E}">
        <p14:creationId xmlns:p14="http://schemas.microsoft.com/office/powerpoint/2010/main" val="2727842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7AF7E-0907-4EBE-9AB5-061EEFE5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CATALYST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ECDBC-AC71-49AC-BD53-A416DCFB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Catalyst trasforma l’intento in un piano eseguibile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8696B-FC8B-4581-AD6E-03841850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4576E-245B-4E1F-ABBD-A87C0262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59E64-B4D5-48EC-B611-197496C1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145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UNRESOLVED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AE474-119D-4792-A52A-83F969B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76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nomi e funzioni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77244-1FF9-44EC-A019-8D397723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050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822FE-7C63-45B4-BC46-0D88BFF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851C7-5B73-46EE-9007-F19A5872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62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analyze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C1C87-4B9F-4871-92D4-0C9BE988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43125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A6916-7098-41E6-9D6D-0BF4EF62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3145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LOGICAL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8A4A9-6843-4EA4-805C-DE073FFB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676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tipi e relazioni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F13DA-405E-4233-AC81-CC635DCC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050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27894-761C-493A-BB46-C4DFDF58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050DD-951D-4C53-A4A9-42040F06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62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optimize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7050D-92A5-4C92-8DDC-AA14F759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43125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F53A8-1F31-418C-A337-64FC8802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145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OPTIMIZED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3A3CE-3B4B-4C37-B0A1-21B0A2F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676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regole applicate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3D20D-6179-4495-9C44-0A3498C9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050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803BD-DAA8-4751-BE47-D43E7297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2B340-CC43-4AC3-92B0-8D709B8E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62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ECC9D-4F89-4258-B54D-2D6F5805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4312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93BCC-1CB0-4B31-8FDB-92F3C255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145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PHYSICAL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D03B8-7F4B-4A01-BD40-C2170CF4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7652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operatori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6434C-FFBC-4547-BF90-BE2E3B97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625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Il codice è una descrizione; il physical plan è una strategia scelta.</a:t>
            </a:r>
          </a:p>
        </p:txBody>
      </p:sp>
    </p:spTree>
    <p:extLst>
      <p:ext uri="{BB962C8B-B14F-4D97-AF65-F5344CB8AC3E}">
        <p14:creationId xmlns:p14="http://schemas.microsoft.com/office/powerpoint/2010/main" val="204996228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34F95-6B76-45A0-9AE9-4895FCFD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EBAA3-3B58-4FFC-97DE-E6A618A9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explain rende il piano parte del debugging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BA5E8-4204-4AC4-89D1-31FFC942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0798B-5141-4A41-B503-CBAA9414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7B4BE-75FE-452F-9EAC-BC460ADD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924050"/>
            <a:ext cx="93535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top_movies.explain(mode='formatted')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== Physical Plan ==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AdaptiveSparkPlan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+- Sort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 +- Exchange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    +- HashAggregate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       +- FileScan csv 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3AB5F-9BB8-4DD3-984F-F847D2AC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Cerca Scan, Filter, Project, Exchange, Aggregate e Join.</a:t>
            </a:r>
          </a:p>
        </p:txBody>
      </p:sp>
    </p:spTree>
    <p:extLst>
      <p:ext uri="{BB962C8B-B14F-4D97-AF65-F5344CB8AC3E}">
        <p14:creationId xmlns:p14="http://schemas.microsoft.com/office/powerpoint/2010/main" val="20829453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E8691-E60C-4143-9A6A-0CC57C67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PRUNING &amp; PUSHDOWN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DC8B0-9D0A-4A03-8E91-0ED80BA6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Parquet permette di spingere meno lavoro verso la scansione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F5D44-B0BA-4DA2-AF22-37E49B72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5D210-B402-4CBC-A850-7BE5D060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33717-370A-4306-81A8-9485C336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FILE PARQUET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EADBC-0A32-4875-83E2-8B1AE966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100 colonne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8BEFF-CC6D-4497-BC13-0DC8695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4483D-D8C3-4427-87F1-669A2383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6F51A-4BEF-45B1-912B-67024EC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select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B657B-F1DE-40B3-9C38-95543A2B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31DD2-3C4A-4EFA-A7D7-A332E725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622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COLUMN PRUNING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A36CA-945A-45A8-8DDA-8683529B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24150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legge colonne utili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25AA1-B788-4B99-8F6D-305B340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5270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F8704-E754-421B-A939-5D879E4D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BADE7-ADC1-449A-8D5E-10398DC5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09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22DB5-6D7C-4405-9E6E-FF5A4F53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048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2B033-2400-47E8-B100-F85873E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PREDICATE PUSHDOWN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06088-32CB-465E-B126-BF3DED0A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274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usa filtri/statistiche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97911-F421-44A7-8687-58A0A0D7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Verifica in explain: non assumere che ogni filtro venga spinto.</a:t>
            </a:r>
          </a:p>
        </p:txBody>
      </p:sp>
    </p:spTree>
    <p:extLst>
      <p:ext uri="{BB962C8B-B14F-4D97-AF65-F5344CB8AC3E}">
        <p14:creationId xmlns:p14="http://schemas.microsoft.com/office/powerpoint/2010/main" val="11217222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17DF-A80A-49B4-A031-FAA3C7D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CACHE • DECISIONE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06DFE-4F41-48DF-B167-19CE5656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cache è una scelta di riuso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23130-B31B-4B22-984E-BE883F78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6E5F8-D1C8-4A34-9D09-6140EB1A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D7066-58D8-490E-8632-3B955BE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Ha senso quando un DataFrame costoso viene usato più volte e il costo di conservarlo è inferiore al costo di ricalcolarlo.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162C8-BF69-43DF-9CAA-6391AEA1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24543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C6BA5-E43B-4EE6-A35E-F4CE94E5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CACHE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AE962-CDD4-4C11-BCBD-7D745490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persist descrive; la prima azione materializza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143BD-DA6F-4EB5-9276-D5C3B8FC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B9C79-A99D-4144-A3D5-70CB6AF8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B28FC-66F1-4215-80F4-A9293427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curated.persist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C9902-E526-460E-BFFD-6B1104CF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86025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marca il piano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E77DD-F838-43F2-9FCB-B4047F18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F6360-8B63-45DB-8761-3980B23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0B3C6-DE0B-4C14-ADBC-D98A7F70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lazy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334C9-E20D-40E1-9125-6651D250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7A0FD-48FF-4B1C-B4FB-9C9F513C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2407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curated.count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EB4F3-662C-4042-B76D-30290E43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86025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prima 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240D9-1C54-4C5C-AF95-EAF9766F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9D8A1-7EB4-4E48-B0A5-57336F77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FDE96-E897-423F-941D-016F5869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stores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2F409-F5EC-449D-B175-BC592C36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568A9-62E8-48EE-9345-3FC5F61C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240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CACHE BLOCKS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6ACA4-53BD-4B82-8109-3CA52721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86025"/>
            <a:ext cx="2552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memory / 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3C320-47BF-407B-842E-401FC76D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8E2EB-420E-46CF-83F0-55584851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767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unpersist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06D28-665B-4648-B96E-5E5139D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rilascia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0F4C8-067A-48AB-BA56-794C73D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E1CE7-F19B-4764-87FF-91E5206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48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EF5A5A"/>
                </a:solidFill>
              </a:defRPr>
            </a:pPr>
            <a:r>
              <a:rPr sz="2625" b="1">
                <a:solidFill>
                  <a:srgbClr val="EF5A5A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5901F-A0C2-4A84-A60D-6FD1469C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5A5A"/>
                </a:solidFill>
              </a:defRPr>
            </a:pPr>
            <a:r>
              <a:rPr sz="1050" b="1">
                <a:solidFill>
                  <a:srgbClr val="EF5A5A"/>
                </a:solidFill>
              </a:rPr>
              <a:t>remove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5ECBD-DB95-4F87-9F54-9F9F87F1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La Spark UI Storage mostra partizioni e dimensione memorizzata.</a:t>
            </a:r>
          </a:p>
        </p:txBody>
      </p:sp>
    </p:spTree>
    <p:extLst>
      <p:ext uri="{BB962C8B-B14F-4D97-AF65-F5344CB8AC3E}">
        <p14:creationId xmlns:p14="http://schemas.microsoft.com/office/powerpoint/2010/main" val="20974303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B1A9C-D3CB-4F19-B2E4-B5D40DED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MEMORY MYTH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9681E-349A-4D3F-A5E8-40D4339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Spark non richiede che tutto entri in 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BA313-44C1-4C46-970F-2AFDE97A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A1EB9-A0A0-47E1-8E03-64E6489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44529-8C70-43C9-973B-FB4C0492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21F95-BD6C-4B15-B212-D77B2068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EF592-8D06-4623-A145-68D74203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5CCC4-0FBD-4003-B523-D853D20D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IN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C7C59-E539-46BE-B6E0-1BE9EC8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Cache e strutture operative possono ridurre letture ripetute. Più memoria può aiutare workload iterativi.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DF4DB-A4B3-4B20-BE07-4D07D731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SPILL / RECOMPUTE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A7283-DB36-4292-97B9-1D26ED9C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Operatori possono usare disco; partizioni di cache possono essere ricalcolate; il costo si sposta su I/O e CPU.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ED7ED-921F-4B09-9912-FCC220D8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La domanda corretta: quale working set e quale operatore devono stare in memoria?</a:t>
            </a:r>
          </a:p>
        </p:txBody>
      </p:sp>
    </p:spTree>
    <p:extLst>
      <p:ext uri="{BB962C8B-B14F-4D97-AF65-F5344CB8AC3E}">
        <p14:creationId xmlns:p14="http://schemas.microsoft.com/office/powerpoint/2010/main" val="170144368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48BA3-8F5E-4644-8537-CC5B2F0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F44E1-56AB-4922-8D8F-2D668FCE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join è un incontro fra due distribuzioni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0ADDD-280F-462A-BF2A-C8B768A6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BD8BE-AAD3-4356-BDC2-DD66FDB3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68DFE-D54B-4F99-9FF3-0FDB08E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F5089-4CB1-4DFD-ABBD-C49DAA62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SHUFFLE HASH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42214-BCF9-4DD6-AFB2-008567D4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3845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ridistribuisce entrambi per chiave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7DB50-69F8-4399-8100-28F80071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7D764-F606-4962-8DBE-BBE6A1A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DE675-8F3F-4525-B75B-9B129B6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SORT MERGE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ACD00-7B14-4690-88E6-B0654512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3845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ordina e unisce grandi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76EC0-D031-4D54-A9C8-2F646A3E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210F2-3906-476A-9570-C23C40F3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DC90B-5A27-4C0A-AC84-097BD9C6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BROADCAST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D96A9-503A-457E-8A20-193823A0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38450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copia il lato piccolo agli executor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A3F90-148D-4BEA-83EB-5E4151E3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95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Il physical plan rivela la strategia scelta.</a:t>
            </a:r>
          </a:p>
        </p:txBody>
      </p:sp>
    </p:spTree>
    <p:extLst>
      <p:ext uri="{BB962C8B-B14F-4D97-AF65-F5344CB8AC3E}">
        <p14:creationId xmlns:p14="http://schemas.microsoft.com/office/powerpoint/2010/main" val="102795373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5DDB5-3409-4F63-8BFA-3DA85C3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BROADCAST 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34C17-BB2F-4446-88CC-3B8DC92F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Broadcast evita lo shuffle del lato grande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4A265-B6D1-4344-A39C-85421B0B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267E9-50A6-4511-978E-06CA82C8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76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6A837-4E1B-4D57-ADA1-846964EA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6D2E0-DAC2-4B79-A8E4-CAB895D5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457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1.000.000 righe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CFDBA-89D0-4D52-AC29-E7DC79BA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762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5E3E2-0A50-49AE-9258-961F84AB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MOVIES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AB83B-9B4C-4039-B579-8AC19B61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2.000 righe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DA97A-FF87-4C7F-A6F3-EFD1237A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0B041-93EE-47EF-BDF1-2DEB06E2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6CB34-0895-4AA0-8CAF-51509DD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66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AC137-5F5C-4E0D-811D-9E19B4D1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AE21F-95AC-4307-9B3B-4E7302B4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00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C52F9-5CFA-456E-88C4-67188D40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broadcast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279CD-081B-4126-B800-F306EE63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E7EC5-DCE8-4083-9E5D-727B82A2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76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EXECUTOR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CB54F-7D61-4E5B-8970-EE6B12A1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384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events + movies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F7BD5-2A62-4D90-B29E-23F287DD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CF805-5BD8-4EA3-8367-DEA3A8E3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76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EXECUTOR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C51CF-66B7-4489-B926-86B2A356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84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events + movies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51AF5-BF0B-437B-AD60-B8A4944F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050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10119-F670-4150-A449-42745B9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76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EXECUTOR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A3F78-D6EA-4A1D-BFB7-9A65F9E1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384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events + movies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AF35E-76B5-4FA2-8430-AFC8A8F8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38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Copiare è conveniente soltanto se il lato piccolo è davvero piccolo.</a:t>
            </a:r>
          </a:p>
        </p:txBody>
      </p:sp>
    </p:spTree>
    <p:extLst>
      <p:ext uri="{BB962C8B-B14F-4D97-AF65-F5344CB8AC3E}">
        <p14:creationId xmlns:p14="http://schemas.microsoft.com/office/powerpoint/2010/main" val="4797845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8BB5E-64CF-4EAA-B2D6-138C3721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DATAFRAME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7FA0C-1B49-4514-9968-B17D54CA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aggregazioni combinano espressioni dichiarative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DDEB7-E4AA-4D72-845E-0062A56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6F05F-B686-4C0F-B18E-9FB8826B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906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01B7C-8EFC-472C-945C-CEA6E0F9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6425"/>
            <a:ext cx="9448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country_minutes = (curated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.groupBy('country')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.agg(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  F.round(F.sum('duration_seconds') / 60, 2).alias('minutes'),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  F.countDistinct('user_id').alias('active_users')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)</a:t>
            </a:r>
          </a:p>
          <a:p xmlns:a="http://schemas.openxmlformats.org/drawingml/2006/main">
            <a:pPr algn="l">
              <a:defRPr sz="1575" b="0">
                <a:solidFill>
                  <a:srgbClr val="DFF6FB"/>
                </a:solidFill>
              </a:defRPr>
            </a:pPr>
            <a:r>
              <a:rPr sz="1575" b="0">
                <a:solidFill>
                  <a:srgbClr val="DFF6FB"/>
                </a:solidFill>
              </a:rPr>
              <a:t>  .orderBy(F.desc('minutes')))</a:t>
            </a:r>
          </a:p>
        </p:txBody>
      </p:sp>
    </p:spTree>
    <p:extLst>
      <p:ext uri="{BB962C8B-B14F-4D97-AF65-F5344CB8AC3E}">
        <p14:creationId xmlns:p14="http://schemas.microsoft.com/office/powerpoint/2010/main" val="12846563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81527-1666-46A9-B7EC-FAE82BD5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SPARK 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194C4-A0C0-441B-8D4A-D879F235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DataFrame e SQL condividono lo stesso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FACF1-0A7F-4064-9028-0789A410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97DE2-9A1D-4813-9976-1064E7DA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02ED7-C8F9-412C-BA06-547E7EFD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14525"/>
            <a:ext cx="46101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curated.createOrReplaceTempView('events')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spark.sql("""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SELECT movie_id, COUNT(*) AS events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FROM events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GROUP BY movie_id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ORDER BY events DESC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""")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00825-6E3B-4A27-AB34-0D61CEB8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75472-EA7C-4C4D-B577-B6FCA071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14525"/>
            <a:ext cx="46101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(curated</a:t>
            </a:r>
          </a:p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 .groupBy('movie_id')</a:t>
            </a:r>
          </a:p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 .agg(F.count('*').alias('events'))</a:t>
            </a:r>
          </a:p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 .orderBy(F.desc('events')))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22055-C317-4A44-9A8E-DADB917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863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Due sintassi, stessa semantica da verificare con piano e risultato.</a:t>
            </a:r>
          </a:p>
        </p:txBody>
      </p:sp>
    </p:spTree>
    <p:extLst>
      <p:ext uri="{BB962C8B-B14F-4D97-AF65-F5344CB8AC3E}">
        <p14:creationId xmlns:p14="http://schemas.microsoft.com/office/powerpoint/2010/main" val="6911249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8E584-8506-4C18-93F1-6A0EDC28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29FCB-F8E3-4610-AB0D-D9CE8BC8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Leggere e scrivere mantiene schema e piano espliciti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6FEF5-B1F4-4530-BBEC-8DCE16FD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0A1F7-DE61-46A1-9C0D-D916EC0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9620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6AD51-48CC-4C9B-8439-6FBF1D16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19300"/>
            <a:ext cx="91630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events = (spark.read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.schema(schema)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.option('header', True)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.csv(input_path))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(curated.write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.mode('overwrite')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.parquet(output_path))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C3B88-4DEB-4814-81BE-8F36C8AF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Sorgente e destinazione fanno parte del piano e del contratto.</a:t>
            </a:r>
          </a:p>
        </p:txBody>
      </p:sp>
    </p:spTree>
    <p:extLst>
      <p:ext uri="{BB962C8B-B14F-4D97-AF65-F5344CB8AC3E}">
        <p14:creationId xmlns:p14="http://schemas.microsoft.com/office/powerpoint/2010/main" val="201398508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0D91F-0539-4F91-9BB8-C9E7F192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WRITE PARTITIONS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181BF-987E-40A8-BD19-E6B3D26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partitionBy organizza il layout; repartition organizza il lavoro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11CF5-249D-4B32-B37F-41D623D7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3ED42-BFB8-407C-A21A-D88B062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0E916-D3A2-4B53-91EF-99812A63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62150"/>
            <a:ext cx="4419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(curated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.repartition(8, 'event_date')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.write.mode('overwrite')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.partitionBy('event_date')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.parquet(path))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7758D-C66F-4799-A757-2BCF7833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3810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3C7E8-39A7-42B3-AD0C-A38F80B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7645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RUNTIME PARTITIONS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A0AD3-C43D-4CF1-8D01-95BACFA8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350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task e distribuzione prima della 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62A0C-2876-467E-9DA8-B51E8A62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3810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8E808-3290-4D4B-99FF-5A4955FC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052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DIRECTORY PARTITIONS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F5040-BCBF-49BB-B8A6-74FF4F69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350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event_date=2026-08-01/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1324B-33EB-48E2-8285-9ED2EA5A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91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Correlate, ma non equivalenti.</a:t>
            </a:r>
          </a:p>
        </p:txBody>
      </p:sp>
    </p:spTree>
    <p:extLst>
      <p:ext uri="{BB962C8B-B14F-4D97-AF65-F5344CB8AC3E}">
        <p14:creationId xmlns:p14="http://schemas.microsoft.com/office/powerpoint/2010/main" val="17389458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B55C6-1899-4983-A4CB-378A148C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SMALL 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3DE12-B45A-412F-AA26-CBA10B1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Anche Spark può produrre il problema dei piccoli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0DF22-2801-416D-BA69-98118698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927DF-EECF-4625-AE2F-BEADFE7B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15A0F-3017-4A75-A8EB-970B65B7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2.000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2E61C-B2E1-4F14-B570-CF55A026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molto parallelismo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884E8-2720-439D-84E9-9ED86B71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8912A-0EC0-4037-A876-AD97BA30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A3C20-4C90-45A3-A789-6919A8F9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62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12633-2131-4495-A6C0-6908394E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D4BAC-F349-4070-82D6-5BA6F4E9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2.000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5BABE-91AA-4C8C-B8D5-141E3EF3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metadata + open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22E5C-B6AE-45C7-A63E-D3CFEC82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48644-244E-4F3F-85AB-3A1DAEE0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FC412-B106-40AA-AF5B-6C3C80AD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62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next 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95F6D-810E-4796-BC6C-DA145F86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3AC0C-A6C7-46BF-B6AC-17D2D037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2.000 TASK?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37067-9D0F-4592-B824-D3D0F0FA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overhead futuro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FE0BF-E1A3-4F66-91DB-C39731A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Controlla partizioni e dimensione dei file prima della pubblicazione.</a:t>
            </a:r>
          </a:p>
        </p:txBody>
      </p:sp>
    </p:spTree>
    <p:extLst>
      <p:ext uri="{BB962C8B-B14F-4D97-AF65-F5344CB8AC3E}">
        <p14:creationId xmlns:p14="http://schemas.microsoft.com/office/powerpoint/2010/main" val="45181819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2BFB3-EA23-47BB-B6B0-B27731FB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STREAMING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1F653-E021-4FD5-A203-16B2EAA9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Structured Streaming riusa il modello DataFrame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18408-4519-4DDD-9779-D9B36F3A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0109A-B560-403B-B9C1-74C04ADB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286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B2E08-89F2-4372-87D1-04E85A07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145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4F6B-46CD-42C7-9205-1F186B88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76525"/>
            <a:ext cx="198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eventi continui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E9B60-631E-426C-8E38-B43F91FE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050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1A897-C985-480E-92CC-44832EF5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CBA1B-7F30-40AB-B91E-758BDB1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62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micro-batch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4D27C-3641-4F2B-96DB-E254C90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286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CE734-731A-48D0-A344-6E710D40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145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DATAFRAME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4C3C2-0CFC-4A49-9C27-EBB6BAA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76525"/>
            <a:ext cx="1981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select • filter • agg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572CB-0D18-4EB0-ADD3-47706A9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050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20C36-AD12-452A-887D-1ECFA81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B2D34-2EA6-4C4C-A7FE-C7E3C70E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62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incremental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FCFE2-FF89-4716-9B28-18FC6C96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5E720-56D3-4ABB-9080-984F1A06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145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E677E-B23C-496B-AA3A-4335EF49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76525"/>
            <a:ext cx="3028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table • files • console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F38D1-460F-46D8-A2DA-DADA535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577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La tabella è concettualmente non limitata; il risultato viene aggiornato nel tempo.</a:t>
            </a:r>
          </a:p>
        </p:txBody>
      </p:sp>
    </p:spTree>
    <p:extLst>
      <p:ext uri="{BB962C8B-B14F-4D97-AF65-F5344CB8AC3E}">
        <p14:creationId xmlns:p14="http://schemas.microsoft.com/office/powerpoint/2010/main" val="188837907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B5E05-8AEC-4CCC-B80E-B62CBE92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MLLIB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4EA36-551A-4014-851F-3C23C3AD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MLlib costruisce pipeline distribuite di feature e modelli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7A7C1-1568-4A4C-8113-8C387B79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C1C3F-9C7F-4E0B-BE77-1D3535C6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5D4A4-6CB9-43D3-A5E8-2C00788B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62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DATAFRAME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498B7-55F7-41C3-B12B-60730107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241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features raw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11BE-CE73-45AC-819D-7B86FA16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527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3DD18-9F80-4E2E-BB62-42FB35D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4954F-B86A-4D54-A1F6-333A99A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9075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0978F-BCA8-4022-9EE5-95CB8A8B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362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TRANSFORMER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1F7BE-F237-4658-B7C5-6266B032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7241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clean / encode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DB3CF-7B06-4245-8E60-1AD31273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527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DD8E4-2474-45F9-A766-B80F7C59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7720F-CB3E-4488-8EA7-9ED22B6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FE3CF-D64F-4A51-9A5E-6C6091A0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62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ESTIMATOR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705DE-B0DE-441F-B72B-57FBD32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7241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fit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DA610-6A58-4C09-A6EE-FE7CEF5B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527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C04D9-6BB7-4A2A-B89D-F78BC910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B8D7C-1FFE-4501-B209-A3BE219A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90750"/>
            <a:ext cx="152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A1164-6789-4043-B3BB-218E05F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3622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D5FE5-7261-45A6-A03D-2F38B531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24150"/>
            <a:ext cx="1219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predict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B1FF7-E3DB-4FAB-8313-D5F37594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Prima dei modelli: qualità, split corretto e metrica.</a:t>
            </a:r>
          </a:p>
        </p:txBody>
      </p:sp>
    </p:spTree>
    <p:extLst>
      <p:ext uri="{BB962C8B-B14F-4D97-AF65-F5344CB8AC3E}">
        <p14:creationId xmlns:p14="http://schemas.microsoft.com/office/powerpoint/2010/main" val="49475095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54563-5E7F-470D-8D3A-557BF713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EB85F-5A55-4401-8A88-7FB7E335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Spark UI trasforma ipotesi in evidenza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7C0D8-7239-4BC8-9AD9-0458226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A0631-29F4-4BA2-8DB7-05736B9A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AA0AF-CDD5-4784-AC64-F572D4E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4DA0B-255B-4B7B-B628-0E02AF3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JOBS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4B77B-BF5B-42CC-A05D-E9AB5923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azioni e stato complessivo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C8C1D-3597-43B5-B9E1-FA5F1224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FD891-1CEE-4CE2-95B0-F12B6628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6E3CE-EFBB-4F9D-8765-38D7B561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39867-290C-443C-8B72-0950B22F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task, shuffle, skew e durata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3FE4E-0D76-4BB5-8E00-F9F0AA22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E14AD-5B00-415C-A0B1-9C8F4299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2DA76-437E-4B32-BA57-EF3B4B52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A629C-3630-439B-8377-4AC2FACF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query e physical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19776-C873-41BA-8FD8-E8484087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33C57-52F4-4DFA-83CE-960F00CD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F60E7-CBE1-48C7-8632-A90CEA7F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671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2DDB8-EBC2-43E5-931A-AED46F3D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00575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cache, partizioni e dimensioni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FB700-3C4B-45FF-8CB9-149920AF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309B9-A1F2-4B83-8ACC-7FD89E4C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9E587-0469-4749-AAFB-DC12065C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671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EXECUTORS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7B25B-7C8F-4DAE-AAF7-D456CAD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00575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CPU, memoria, input e shuffle</a:t>
            </a:r>
          </a:p>
        </p:txBody>
      </p:sp>
    </p:spTree>
    <p:extLst>
      <p:ext uri="{BB962C8B-B14F-4D97-AF65-F5344CB8AC3E}">
        <p14:creationId xmlns:p14="http://schemas.microsoft.com/office/powerpoint/2010/main" val="128994438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B4B072-767B-4029-9981-84BC466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03964-850F-4724-8A60-19D260FA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retry ricostruisce task, non corregge dati o logica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0347D-8A8F-428F-95C7-E6D79858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5E856-CB99-44E1-97E9-FABC31AA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37CE3-673F-465E-830F-BFDE7B5A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02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9D43A-6D8C-4EEA-A583-02F5AF86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66875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325F9-83DD-45E7-A2D5-963BDCA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0022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Meccanismo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FF34D-D050-4540-A821-FD68ADD4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6687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45D3F-03EB-47CF-AFAF-1A1FAE5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002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Limite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85BBA-10FB-4236-B569-1202B196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62175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FC36B-5DE9-4569-8768-2077FE5C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76475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task fallisce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A6965-1131-439F-A22F-04612DE1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62175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184AE-DED5-4F6F-B240-37988FA2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76475"/>
            <a:ext cx="3448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retry su un executor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DB384-AB6C-4AC7-83B9-00E36427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62175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D5C22-837C-497A-BE14-41C92163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76475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errore deterministico fallisce ancora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135C0-D77E-4DBE-8CAE-64DE4A01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56BB9-661C-4A1F-9208-37767AF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95625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executor perso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63552-E715-494D-BF11-9434EFC1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81325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E9F34-2099-45B3-A758-B3D7B257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95625"/>
            <a:ext cx="3448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task e cache ricostruiti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C7243-B7D2-45E4-A4C1-A003650E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81325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71472-DDAD-4AA2-A587-9B8C50A2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95625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shuffle/cache possono costare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2F9C8-656E-40F6-A0BC-3006D7EC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8101B-155B-4DA0-B54B-98479E3A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14775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driver perso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AF0A2-EF8F-4075-A37F-C0502AFD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00475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706D90-A6A2-48A2-97E8-A9D81477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14775"/>
            <a:ext cx="3448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applicazione termina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80A9B-0774-4D85-BAA6-C9CC1906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00475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4AE928-F72A-4FAC-91DE-C21A08D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14775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serve gestione esterna/restart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62294B-F490-42C9-9280-741B11A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621070-4FDE-4E5F-A6A6-E09C132E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33925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dato errato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C62F15-2259-4F15-B95F-C94772A0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19625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940A2-CC92-440D-963D-D9EC601D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33925"/>
            <a:ext cx="3448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nessun retry semantico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45DA3-1472-464D-A7A2-C74DFDF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19625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7393A1-4C5D-469B-8BC7-F3F23A28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733925"/>
            <a:ext cx="3829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serve quality gate</a:t>
            </a:r>
          </a:p>
        </p:txBody>
      </p:sp>
    </p:spTree>
    <p:extLst>
      <p:ext uri="{BB962C8B-B14F-4D97-AF65-F5344CB8AC3E}">
        <p14:creationId xmlns:p14="http://schemas.microsoft.com/office/powerpoint/2010/main" val="1166301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0F33D0-3112-43B8-8170-F5325548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QUALITY &amp;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AC409-0376-468E-9F19-9393A285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pipeline affidabile espone invarianti verificabili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B33DB-51CE-4CCA-BED7-BAC2F6C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4461B-B199-4F48-A8A2-C3671471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8F335-00D0-4FCB-892E-DBFB9256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0142C-3CD3-4DA4-AD1F-D4A820DE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BDB4B-02DA-4067-AAFF-942328C3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raw = valid + invalid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F07E6-297D-40E7-B4BA-EC159051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A68B6-706E-46D7-9666-1D4F0F9E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4DA27-7376-44F2-BF7F-8B4BE657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DOMAIN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CC512-FB90-4FA4-B287-A58AF11E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event_type appartiene all’insieme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C561F-6799-40F6-9A21-0967BE8D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10347-24DB-468E-8C6A-50142D32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C4729-6A41-4307-89D7-1227266F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UNIQUENESS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FCD18-3ECA-4477-8404-A4442DB2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event_id non duplicato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36B00-247F-4DD9-AD13-0C09C2A7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9C001-EFF7-4A7A-B5BF-08B17FD1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87007-5681-4629-88D1-D365D5B6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671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EQUIVALENCE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57C05-A5E8-4D92-B84B-9C638EC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00575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SQL top 10 = DataFrame top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4D8C5-764F-4105-A70A-979A3D91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A6DD4-7090-4133-B04B-7BFD23F7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EDD04-E375-4909-8E10-58A3B07E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671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ECB2F-B150-4521-8DB7-B72AD006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00575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_SUCCESS e schema attesi</a:t>
            </a:r>
          </a:p>
        </p:txBody>
      </p:sp>
    </p:spTree>
    <p:extLst>
      <p:ext uri="{BB962C8B-B14F-4D97-AF65-F5344CB8AC3E}">
        <p14:creationId xmlns:p14="http://schemas.microsoft.com/office/powerpoint/2010/main" val="151239300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2656E-F28C-4BC8-B8FB-4C0FED3B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LAB •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FB236-5EC9-47F6-AB8E-30A53E0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DATAFLIX produce un milione di eventi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67813-21E2-4750-B621-51DBA43D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52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A1793-9665-4E52-B9C2-C9B0BCDA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B7E34B"/>
                </a:solidFill>
              </a:defRPr>
            </a:pPr>
            <a:r>
              <a:rPr sz="5700" b="1">
                <a:solidFill>
                  <a:srgbClr val="B7E34B"/>
                </a:solidFill>
              </a:rPr>
              <a:t>1.000.000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21326-E686-45C1-93C0-1ED5888C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eventi validi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EA4DC-1957-4BBD-BDD7-E71F4FE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EF5A5A"/>
                </a:solidFill>
              </a:defRPr>
            </a:pPr>
            <a:r>
              <a:rPr sz="5700" b="1">
                <a:solidFill>
                  <a:srgbClr val="EF5A5A"/>
                </a:solidFill>
              </a:rPr>
              <a:t>+ 20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789C6-03F1-4BCA-88DE-9922E12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record deliberatamente errati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8F289-DA4F-4C9C-9880-B69E0709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196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B8D9"/>
                </a:solidFill>
              </a:defRPr>
            </a:pPr>
            <a:r>
              <a:rPr sz="2025" b="1">
                <a:solidFill>
                  <a:srgbClr val="00B8D9"/>
                </a:solidFill>
              </a:rPr>
              <a:t>10 colonne • 30 giorni • 120.000 utenti • 2.003 film</a:t>
            </a:r>
          </a:p>
        </p:txBody>
      </p:sp>
    </p:spTree>
    <p:extLst>
      <p:ext uri="{BB962C8B-B14F-4D97-AF65-F5344CB8AC3E}">
        <p14:creationId xmlns:p14="http://schemas.microsoft.com/office/powerpoint/2010/main" val="195742217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C4E8B-E5E4-4796-8CB2-B802BB0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LAB • 150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6A78B-94F5-4809-825B-DCCADFF6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laboratorio segue il ciclo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1F122-0F80-4530-8FF3-D533DF23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0C602-8869-4E8D-8820-3498A455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24E9D-5395-4F79-B41D-929B7075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71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FD53B-D429-41E0-A0C6-40B7967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schema raw e conteggio fisico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85211-7123-4C4E-A7FA-F2D107A9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0D3A3-D460-4169-BA7C-8C35B896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3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CURATE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8A81A-FCBE-423A-B924-859C1349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cast tollerante e quality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06293-34EC-464F-B84B-9B772026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6D474-1DD9-4B7F-B500-D744E0B5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05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ANALYZE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5BDAD-9CBD-438A-BFA3-CD94CF98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groupBy, SQL, explain e shuffle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DDF1B-F1D4-4063-BA4E-847AC4B9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0AB9D-4CF4-415C-8BF6-1CAEACC5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PUBLISH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E1F51-EEE5-4DAC-A711-0471F16D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Parquet e partizioni per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6A577-FABC-4125-A85E-3D2B9C4C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50523-DFEB-4CAB-AB88-EC3FE2C5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38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OBSERVE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F509E-8E8F-4A2B-9EB5-70CF5B05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Spark UI, cache e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ADEC3-EF7E-4AA5-BDD6-22AAFC4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FD30E-C627-4476-A882-4691D815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05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29FE0-4E2D-4C5A-B4B9-94F4223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05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evidence gate e tre insight autonomi</a:t>
            </a:r>
          </a:p>
        </p:txBody>
      </p:sp>
    </p:spTree>
    <p:extLst>
      <p:ext uri="{BB962C8B-B14F-4D97-AF65-F5344CB8AC3E}">
        <p14:creationId xmlns:p14="http://schemas.microsoft.com/office/powerpoint/2010/main" val="38702245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9652FF-81EB-4C81-84B8-D888662A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EVIDENCE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D2448-691F-41F6-9A25-C87B1020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gate verifica dati, piano 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87861-E5E2-401F-9ECB-0CC5E616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18CF5-4463-4332-84AF-4F1B46A6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5CA24-494E-4DF6-A2D0-3978EC6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Controllo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4F889-9C55-4953-A5D6-CDC9094F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19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45236-B3A6-4D96-BA59-62A7FB8A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526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Atteso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D426A-0E83-4246-9316-7A29B2D9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192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06FA6-0F27-4777-9DE3-802B478B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52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53B01-6553-40C9-8F1E-AB8EC9FD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B4935-6C00-4947-81A5-0EE909A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288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raw / valid / invalid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ACFEF-3957-47F5-9706-E8D58515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145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56342-3974-4668-82CF-7FB16A6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28850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1.000.020 / 1.000.000 /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0550A-2A2B-4D21-8175-AB28CC2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145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4AE04-3D2A-48E1-AB4F-A2D3564A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2885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summary.json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510D2-4A3B-4339-ABBC-4553D0BD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3BB50-5EA6-4F70-9869-7DC34911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527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top movie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6250B-795B-4DC3-AC52-D0A5B2F7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384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15FFF-DF18-40A2-995B-3CCCBA0E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52750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MOV-0042 = 80.000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5CE71-DC1B-4066-811A-D5C9BE8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384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BF5B1-E4A2-4030-958D-0D39CF6C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5275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aggregazione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2EC17-AEDD-43D0-BD08-64A4C037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8A277-DECC-45AC-A726-8BE527E9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766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API equivalenti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A5ED6-8C78-4474-A5BB-4D69B14D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623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85150-7175-4467-8535-FD217E01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76650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DataFrame top 10 = SQL top 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B4C72F-CFDA-47EF-BEF7-A17DA6F7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4AE84-1A4C-46EA-A8A7-29C2FEB4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7665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sql_equivalence.json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7F6A8-A793-4F2F-8031-A5707EE9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34983-ED81-4A56-8337-A615ABA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005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piano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1B8F9B-3E4C-4B93-8FF2-6D57B79D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862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8FBEF3-1AE6-4A03-9690-CEC9E37B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00550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Exchange / Aggregate osservabili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F3010C-3168-4C02-A0A2-E0BDF861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862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46B6AA-AB1E-4F0C-825E-CA312E11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40055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explain_formatted.txt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E62988-991D-4E16-B81F-348A190D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101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697357-27DD-4BCA-82C9-595219C9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244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pubblicazione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1DC9F4-41F3-470F-BF40-C09DD1A4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101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B0242-E25E-4B0D-8B1E-4B6F5B4F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124450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sei directory con _SUCCESS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19543-9CE7-4678-B6E7-71E0CD26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101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1DF7DA-9C70-47AA-8AE8-8583C7E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124450"/>
            <a:ext cx="392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filesystem</a:t>
            </a:r>
          </a:p>
        </p:txBody>
      </p:sp>
    </p:spTree>
    <p:extLst>
      <p:ext uri="{BB962C8B-B14F-4D97-AF65-F5344CB8AC3E}">
        <p14:creationId xmlns:p14="http://schemas.microsoft.com/office/powerpoint/2010/main" val="185514677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ACBC1-8295-4709-9898-18D13056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MISCONCEPTIONS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601E5-7D9B-4A8B-A7B1-BD039FE3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Cinque errori da intercettare subito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489DD-38F8-4035-8DBB-BDC3C5C5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E518E-CE1E-4D6C-BBE2-51F3D870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F7489-F125-401F-87D3-06DDA7A7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00F68-F2FF-4BB4-A05F-C3E580E5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“Spark = RAM”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52652-4ED3-4408-8EC0-9A5126B6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può spillare e rileggere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FD2AE-3C10-4946-83E3-7327B048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CB900-7B5E-4DAC-97ED-C7034416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0A987-01C5-46DD-91F0-05F62DBC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“filter esegue”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12685-3389-4E88-A8F9-5455C376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è una trasformazione lazy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39297-DADF-4273-A795-344B600D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4DC03-91D9-48D1-9075-900BE570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00C09-F802-4195-A144-01EC5F08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“più partizioni è meglio”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F5DAA-6E66-4286-92BB-EE7EC95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overhead e small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623BB-8CE6-4CDF-9382-188C97FD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9FF1B-C5C8-4ECD-955E-C4C8F981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7CB3F-8905-47DF-AB2B-66D912C4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671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“cache tutto”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2A581-DB00-4B91-86F6-D677FE5C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00575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occupa risorse e può non servire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D7410-A654-4F47-8749-FF7335F9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CD0E7-7EDC-4AC9-A901-2F9398F8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EB9F6-B2BA-4F77-BD9F-E938698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671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“collect è una preview”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15FD9-F25D-4741-955F-DD6367B3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00575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sposta tutto sul driver</a:t>
            </a:r>
          </a:p>
        </p:txBody>
      </p:sp>
    </p:spTree>
    <p:extLst>
      <p:ext uri="{BB962C8B-B14F-4D97-AF65-F5344CB8AC3E}">
        <p14:creationId xmlns:p14="http://schemas.microsoft.com/office/powerpoint/2010/main" val="84553947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C1FA0-A47C-4951-BF8D-F400EF67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486D4-9B4D-46AC-9106-0ECD467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Se ricordi sette idee, ricorda queste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F3836-EACE-4C42-8B2A-4622FAC9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29E86-FA27-4BF3-901D-622B8889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43050"/>
            <a:ext cx="5238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4752C-BB3F-4A02-A1B2-63FA1AFC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6A1BE-789D-444B-80D0-B2D704D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5906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Driver coordina; executor eseguono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DAF62-3769-49FB-BB59-FBC58041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5238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D6056-0C38-432D-A21C-081F1B72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0C6AF-B988-4FCF-804F-3849DB8B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621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DataFrame espone schema e operatori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9CDB6-3A52-4565-A413-582BBA5F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5238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1CED9-2491-4519-82BE-74CE8D39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00852-CB25-48EF-B13B-660C3111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336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Trasformazioni lazy; azioni creano lavoro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0188B-DB0D-4ADD-8159-4064661A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5238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89905-2890-457F-A884-408A69A1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83ACE-8AE0-47B3-917B-1C9A11C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051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Shuffle separa stage e muove dati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9AA8-E6E1-43E5-B1C2-1B0EA9DB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238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14352-6EB3-4EBE-A9BF-4B03DADD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1D80F-1D66-4668-AA31-380FF5C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766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Partizioni governano task e parallelismo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D81E7-CEFB-4225-8326-48AF467A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5238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46328-8E05-4749-ABD7-23D17314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FAA40-DE46-46AB-ACB6-11D5C578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481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Cache serve soltanto al riuso dimostrato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ED906-8432-47DD-902C-BA22CA5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5238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14C68-EAE9-44B5-8F04-AA945E74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2829F-0DE2-437B-BF34-AAFDEA2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196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Explain + UI + invarianti danno evidenza</a:t>
            </a:r>
          </a:p>
        </p:txBody>
      </p:sp>
    </p:spTree>
    <p:extLst>
      <p:ext uri="{BB962C8B-B14F-4D97-AF65-F5344CB8AC3E}">
        <p14:creationId xmlns:p14="http://schemas.microsoft.com/office/powerpoint/2010/main" val="6890692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A83BE-4903-43B0-BBCA-37A4CE6F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PONTE • LEZIONE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4DF05-00A9-455A-969E-825C7C12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Prossima fermata: il 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70EB9-57BC-4C86-BBC5-3E1773A5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5DA4A-85E4-49B0-8FD4-6A784402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369D6-95E2-4479-8D59-6C7CB29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Nella Lezione 16 sposteremo storage e calcolo su AWS: S3, IAM, EMR, osservabilità e soprattutto controllo delle risorse e dei costi.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16DFB-700F-4594-9AB7-71DF7B5F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8893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2026-09-04T05:41:38.0810000Z</dcterms:created>
  <dcterms:modified xsi:type="dcterms:W3CDTF">2026-09-04T05:41:38.0810000Z</dcterms:modified>
</coreProperties>
</file>