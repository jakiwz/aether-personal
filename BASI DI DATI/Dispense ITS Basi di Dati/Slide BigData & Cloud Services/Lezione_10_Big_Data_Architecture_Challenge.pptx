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850ca6a05944e1" /><Relationship Type="http://schemas.openxmlformats.org/officeDocument/2006/relationships/extended-properties" Target="/docProps/app.xml" Id="R406afcd6ec36448d" /><Relationship Type="http://schemas.openxmlformats.org/officeDocument/2006/relationships/officeDocument" Target="/ppt/presentation.xml" Id="Rdcd98e8e7ed14b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8787f6ce3345d7"/>
  </p:sldMasterIdLst>
  <p:notesMasterIdLst>
    <p:notesMasterId xmlns:r="http://schemas.openxmlformats.org/officeDocument/2006/relationships" r:id="R740e70ff7d554980"/>
  </p:notesMasterIdLst>
  <p:sldIdLst>
    <p:sldId xmlns:r="http://schemas.openxmlformats.org/officeDocument/2006/relationships" id="256" r:id="R25ced175a04f45c3"/>
    <p:sldId xmlns:r="http://schemas.openxmlformats.org/officeDocument/2006/relationships" id="257" r:id="R4246888e7078429f"/>
    <p:sldId xmlns:r="http://schemas.openxmlformats.org/officeDocument/2006/relationships" id="258" r:id="R0102fc49ca204c22"/>
    <p:sldId xmlns:r="http://schemas.openxmlformats.org/officeDocument/2006/relationships" id="259" r:id="R83a8d730e71d468f"/>
    <p:sldId xmlns:r="http://schemas.openxmlformats.org/officeDocument/2006/relationships" id="260" r:id="R6defcac9608e406b"/>
    <p:sldId xmlns:r="http://schemas.openxmlformats.org/officeDocument/2006/relationships" id="261" r:id="R3a8ec1b98df74109"/>
    <p:sldId xmlns:r="http://schemas.openxmlformats.org/officeDocument/2006/relationships" id="262" r:id="Rcf43bb15288240b3"/>
    <p:sldId xmlns:r="http://schemas.openxmlformats.org/officeDocument/2006/relationships" id="263" r:id="R6c9db26460064df0"/>
    <p:sldId xmlns:r="http://schemas.openxmlformats.org/officeDocument/2006/relationships" id="264" r:id="Ra29dff4f20954080"/>
    <p:sldId xmlns:r="http://schemas.openxmlformats.org/officeDocument/2006/relationships" id="265" r:id="R7d35cfc5835a45b7"/>
    <p:sldId xmlns:r="http://schemas.openxmlformats.org/officeDocument/2006/relationships" id="266" r:id="Rba30e3a5e14a4477"/>
    <p:sldId xmlns:r="http://schemas.openxmlformats.org/officeDocument/2006/relationships" id="267" r:id="R0e932fd6d9de4029"/>
    <p:sldId xmlns:r="http://schemas.openxmlformats.org/officeDocument/2006/relationships" id="268" r:id="R7ebc6a48240c4f78"/>
    <p:sldId xmlns:r="http://schemas.openxmlformats.org/officeDocument/2006/relationships" id="269" r:id="R21fda86709b24914"/>
    <p:sldId xmlns:r="http://schemas.openxmlformats.org/officeDocument/2006/relationships" id="270" r:id="R00ca9db3403b44a2"/>
    <p:sldId xmlns:r="http://schemas.openxmlformats.org/officeDocument/2006/relationships" id="271" r:id="R1be0842d09c14922"/>
    <p:sldId xmlns:r="http://schemas.openxmlformats.org/officeDocument/2006/relationships" id="272" r:id="Rfff0048114964498"/>
    <p:sldId xmlns:r="http://schemas.openxmlformats.org/officeDocument/2006/relationships" id="273" r:id="R6045f0d3d2954d2e"/>
    <p:sldId xmlns:r="http://schemas.openxmlformats.org/officeDocument/2006/relationships" id="274" r:id="R1b4813e54d234de1"/>
    <p:sldId xmlns:r="http://schemas.openxmlformats.org/officeDocument/2006/relationships" id="275" r:id="Rb892a1dd9fc9442e"/>
    <p:sldId xmlns:r="http://schemas.openxmlformats.org/officeDocument/2006/relationships" id="276" r:id="R8ec3d46b1cf8403c"/>
    <p:sldId xmlns:r="http://schemas.openxmlformats.org/officeDocument/2006/relationships" id="277" r:id="R8f228adf58af4656"/>
    <p:sldId xmlns:r="http://schemas.openxmlformats.org/officeDocument/2006/relationships" id="278" r:id="R6457076fcbae40de"/>
    <p:sldId xmlns:r="http://schemas.openxmlformats.org/officeDocument/2006/relationships" id="279" r:id="R97770454d6c149e8"/>
    <p:sldId xmlns:r="http://schemas.openxmlformats.org/officeDocument/2006/relationships" id="280" r:id="R38c50c1cdc424aa7"/>
    <p:sldId xmlns:r="http://schemas.openxmlformats.org/officeDocument/2006/relationships" id="281" r:id="R5c300b6361404448"/>
    <p:sldId xmlns:r="http://schemas.openxmlformats.org/officeDocument/2006/relationships" id="282" r:id="Rda5ba5ac2f7c41ee"/>
    <p:sldId xmlns:r="http://schemas.openxmlformats.org/officeDocument/2006/relationships" id="283" r:id="R209a6ad623124d90"/>
    <p:sldId xmlns:r="http://schemas.openxmlformats.org/officeDocument/2006/relationships" id="284" r:id="R66f3fb606ab14ceb"/>
    <p:sldId xmlns:r="http://schemas.openxmlformats.org/officeDocument/2006/relationships" id="285" r:id="Raafec10bacba40d6"/>
    <p:sldId xmlns:r="http://schemas.openxmlformats.org/officeDocument/2006/relationships" id="286" r:id="R1266a153393a4c06"/>
    <p:sldId xmlns:r="http://schemas.openxmlformats.org/officeDocument/2006/relationships" id="287" r:id="R9573a4e5e272437a"/>
    <p:sldId xmlns:r="http://schemas.openxmlformats.org/officeDocument/2006/relationships" id="288" r:id="R42e938ce38bf4a21"/>
    <p:sldId xmlns:r="http://schemas.openxmlformats.org/officeDocument/2006/relationships" id="289" r:id="R7c690e9add024eda"/>
    <p:sldId xmlns:r="http://schemas.openxmlformats.org/officeDocument/2006/relationships" id="290" r:id="R0dd7a881f2034be8"/>
    <p:sldId xmlns:r="http://schemas.openxmlformats.org/officeDocument/2006/relationships" id="291" r:id="Rbb738fb939e24143"/>
    <p:sldId xmlns:r="http://schemas.openxmlformats.org/officeDocument/2006/relationships" id="292" r:id="R41768f8d1d534e72"/>
    <p:sldId xmlns:r="http://schemas.openxmlformats.org/officeDocument/2006/relationships" id="293" r:id="Rbdfdda90ae7c48bd"/>
    <p:sldId xmlns:r="http://schemas.openxmlformats.org/officeDocument/2006/relationships" id="294" r:id="R1120ea2f996d496c"/>
    <p:sldId xmlns:r="http://schemas.openxmlformats.org/officeDocument/2006/relationships" id="295" r:id="R1f78d5579a244ca4"/>
    <p:sldId xmlns:r="http://schemas.openxmlformats.org/officeDocument/2006/relationships" id="296" r:id="R2ae21fc582624cbc"/>
    <p:sldId xmlns:r="http://schemas.openxmlformats.org/officeDocument/2006/relationships" id="297" r:id="R9b63e11ae55b4d03"/>
    <p:sldId xmlns:r="http://schemas.openxmlformats.org/officeDocument/2006/relationships" id="298" r:id="R7c90d90d33794408"/>
    <p:sldId xmlns:r="http://schemas.openxmlformats.org/officeDocument/2006/relationships" id="299" r:id="R9142847e45fc4610"/>
    <p:sldId xmlns:r="http://schemas.openxmlformats.org/officeDocument/2006/relationships" id="300" r:id="Ree55fad0324148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4c88af75ae491b" /><Relationship Type="http://schemas.openxmlformats.org/officeDocument/2006/relationships/slideMaster" Target="/ppt/slideMasters/slideMaster1.xml" Id="Raa8787f6ce3345d7" /><Relationship Type="http://schemas.openxmlformats.org/officeDocument/2006/relationships/notesMaster" Target="/ppt/notesMasters/notesMaster1.xml" Id="R740e70ff7d554980" /><Relationship Type="http://schemas.openxmlformats.org/officeDocument/2006/relationships/presProps" Target="/ppt/presProps.xml" Id="R7412aae75ef84ec0" /><Relationship Type="http://schemas.openxmlformats.org/officeDocument/2006/relationships/tableStyles" Target="/ppt/tableStyles.xml" Id="R62e16b797a354dc6" /><Relationship Type="http://schemas.openxmlformats.org/officeDocument/2006/relationships/slide" Target="/ppt/slides/slide1.xml" Id="R25ced175a04f45c3" /><Relationship Type="http://schemas.openxmlformats.org/officeDocument/2006/relationships/slide" Target="/ppt/slides/slide2.xml" Id="R4246888e7078429f" /><Relationship Type="http://schemas.openxmlformats.org/officeDocument/2006/relationships/slide" Target="/ppt/slides/slide3.xml" Id="R0102fc49ca204c22" /><Relationship Type="http://schemas.openxmlformats.org/officeDocument/2006/relationships/slide" Target="/ppt/slides/slide4.xml" Id="R83a8d730e71d468f" /><Relationship Type="http://schemas.openxmlformats.org/officeDocument/2006/relationships/slide" Target="/ppt/slides/slide5.xml" Id="R6defcac9608e406b" /><Relationship Type="http://schemas.openxmlformats.org/officeDocument/2006/relationships/slide" Target="/ppt/slides/slide6.xml" Id="R3a8ec1b98df74109" /><Relationship Type="http://schemas.openxmlformats.org/officeDocument/2006/relationships/slide" Target="/ppt/slides/slide7.xml" Id="Rcf43bb15288240b3" /><Relationship Type="http://schemas.openxmlformats.org/officeDocument/2006/relationships/slide" Target="/ppt/slides/slide8.xml" Id="R6c9db26460064df0" /><Relationship Type="http://schemas.openxmlformats.org/officeDocument/2006/relationships/slide" Target="/ppt/slides/slide9.xml" Id="Ra29dff4f20954080" /><Relationship Type="http://schemas.openxmlformats.org/officeDocument/2006/relationships/slide" Target="/ppt/slides/slide10.xml" Id="R7d35cfc5835a45b7" /><Relationship Type="http://schemas.openxmlformats.org/officeDocument/2006/relationships/slide" Target="/ppt/slides/slide11.xml" Id="Rba30e3a5e14a4477" /><Relationship Type="http://schemas.openxmlformats.org/officeDocument/2006/relationships/slide" Target="/ppt/slides/slide12.xml" Id="R0e932fd6d9de4029" /><Relationship Type="http://schemas.openxmlformats.org/officeDocument/2006/relationships/slide" Target="/ppt/slides/slide13.xml" Id="R7ebc6a48240c4f78" /><Relationship Type="http://schemas.openxmlformats.org/officeDocument/2006/relationships/slide" Target="/ppt/slides/slide14.xml" Id="R21fda86709b24914" /><Relationship Type="http://schemas.openxmlformats.org/officeDocument/2006/relationships/slide" Target="/ppt/slides/slide15.xml" Id="R00ca9db3403b44a2" /><Relationship Type="http://schemas.openxmlformats.org/officeDocument/2006/relationships/slide" Target="/ppt/slides/slide16.xml" Id="R1be0842d09c14922" /><Relationship Type="http://schemas.openxmlformats.org/officeDocument/2006/relationships/slide" Target="/ppt/slides/slide17.xml" Id="Rfff0048114964498" /><Relationship Type="http://schemas.openxmlformats.org/officeDocument/2006/relationships/slide" Target="/ppt/slides/slide18.xml" Id="R6045f0d3d2954d2e" /><Relationship Type="http://schemas.openxmlformats.org/officeDocument/2006/relationships/slide" Target="/ppt/slides/slide19.xml" Id="R1b4813e54d234de1" /><Relationship Type="http://schemas.openxmlformats.org/officeDocument/2006/relationships/slide" Target="/ppt/slides/slide20.xml" Id="Rb892a1dd9fc9442e" /><Relationship Type="http://schemas.openxmlformats.org/officeDocument/2006/relationships/slide" Target="/ppt/slides/slide21.xml" Id="R8ec3d46b1cf8403c" /><Relationship Type="http://schemas.openxmlformats.org/officeDocument/2006/relationships/slide" Target="/ppt/slides/slide22.xml" Id="R8f228adf58af4656" /><Relationship Type="http://schemas.openxmlformats.org/officeDocument/2006/relationships/slide" Target="/ppt/slides/slide23.xml" Id="R6457076fcbae40de" /><Relationship Type="http://schemas.openxmlformats.org/officeDocument/2006/relationships/slide" Target="/ppt/slides/slide24.xml" Id="R97770454d6c149e8" /><Relationship Type="http://schemas.openxmlformats.org/officeDocument/2006/relationships/slide" Target="/ppt/slides/slide25.xml" Id="R38c50c1cdc424aa7" /><Relationship Type="http://schemas.openxmlformats.org/officeDocument/2006/relationships/slide" Target="/ppt/slides/slide26.xml" Id="R5c300b6361404448" /><Relationship Type="http://schemas.openxmlformats.org/officeDocument/2006/relationships/slide" Target="/ppt/slides/slide27.xml" Id="Rda5ba5ac2f7c41ee" /><Relationship Type="http://schemas.openxmlformats.org/officeDocument/2006/relationships/slide" Target="/ppt/slides/slide28.xml" Id="R209a6ad623124d90" /><Relationship Type="http://schemas.openxmlformats.org/officeDocument/2006/relationships/slide" Target="/ppt/slides/slide29.xml" Id="R66f3fb606ab14ceb" /><Relationship Type="http://schemas.openxmlformats.org/officeDocument/2006/relationships/slide" Target="/ppt/slides/slide30.xml" Id="Raafec10bacba40d6" /><Relationship Type="http://schemas.openxmlformats.org/officeDocument/2006/relationships/slide" Target="/ppt/slides/slide31.xml" Id="R1266a153393a4c06" /><Relationship Type="http://schemas.openxmlformats.org/officeDocument/2006/relationships/slide" Target="/ppt/slides/slide32.xml" Id="R9573a4e5e272437a" /><Relationship Type="http://schemas.openxmlformats.org/officeDocument/2006/relationships/slide" Target="/ppt/slides/slide33.xml" Id="R42e938ce38bf4a21" /><Relationship Type="http://schemas.openxmlformats.org/officeDocument/2006/relationships/slide" Target="/ppt/slides/slide34.xml" Id="R7c690e9add024eda" /><Relationship Type="http://schemas.openxmlformats.org/officeDocument/2006/relationships/slide" Target="/ppt/slides/slide35.xml" Id="R0dd7a881f2034be8" /><Relationship Type="http://schemas.openxmlformats.org/officeDocument/2006/relationships/slide" Target="/ppt/slides/slide36.xml" Id="Rbb738fb939e24143" /><Relationship Type="http://schemas.openxmlformats.org/officeDocument/2006/relationships/slide" Target="/ppt/slides/slide37.xml" Id="R41768f8d1d534e72" /><Relationship Type="http://schemas.openxmlformats.org/officeDocument/2006/relationships/slide" Target="/ppt/slides/slide38.xml" Id="Rbdfdda90ae7c48bd" /><Relationship Type="http://schemas.openxmlformats.org/officeDocument/2006/relationships/slide" Target="/ppt/slides/slide39.xml" Id="R1120ea2f996d496c" /><Relationship Type="http://schemas.openxmlformats.org/officeDocument/2006/relationships/slide" Target="/ppt/slides/slide40.xml" Id="R1f78d5579a244ca4" /><Relationship Type="http://schemas.openxmlformats.org/officeDocument/2006/relationships/slide" Target="/ppt/slides/slide41.xml" Id="R2ae21fc582624cbc" /><Relationship Type="http://schemas.openxmlformats.org/officeDocument/2006/relationships/slide" Target="/ppt/slides/slide42.xml" Id="R9b63e11ae55b4d03" /><Relationship Type="http://schemas.openxmlformats.org/officeDocument/2006/relationships/slide" Target="/ppt/slides/slide43.xml" Id="R7c90d90d33794408" /><Relationship Type="http://schemas.openxmlformats.org/officeDocument/2006/relationships/slide" Target="/ppt/slides/slide44.xml" Id="R9142847e45fc4610" /><Relationship Type="http://schemas.openxmlformats.org/officeDocument/2006/relationships/slide" Target="/ppt/slides/slide45.xml" Id="Ree55fad0324148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d054959c334c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f9296209c3413d" /><Relationship Type="http://schemas.openxmlformats.org/officeDocument/2006/relationships/notesMaster" Target="/ppt/notesMasters/notesMaster1.xml" Id="R0ec612bea03a45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4ae7870af6474f" /><Relationship Type="http://schemas.openxmlformats.org/officeDocument/2006/relationships/notesMaster" Target="/ppt/notesMasters/notesMaster1.xml" Id="R5c4456ea671040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5d1c169c654041" /><Relationship Type="http://schemas.openxmlformats.org/officeDocument/2006/relationships/notesMaster" Target="/ppt/notesMasters/notesMaster1.xml" Id="Rf2a849267c684b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274e99c77f4b21" /><Relationship Type="http://schemas.openxmlformats.org/officeDocument/2006/relationships/notesMaster" Target="/ppt/notesMasters/notesMaster1.xml" Id="Rb7e2e04adc8947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a09e1ff7314ceb" /><Relationship Type="http://schemas.openxmlformats.org/officeDocument/2006/relationships/notesMaster" Target="/ppt/notesMasters/notesMaster1.xml" Id="R11bcdffdec6648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25a6adb5074db2" /><Relationship Type="http://schemas.openxmlformats.org/officeDocument/2006/relationships/notesMaster" Target="/ppt/notesMasters/notesMaster1.xml" Id="R496eaee3143548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c80abbcc0c4703" /><Relationship Type="http://schemas.openxmlformats.org/officeDocument/2006/relationships/notesMaster" Target="/ppt/notesMasters/notesMaster1.xml" Id="R73e46ac67e564b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7b5704065b4922" /><Relationship Type="http://schemas.openxmlformats.org/officeDocument/2006/relationships/notesMaster" Target="/ppt/notesMasters/notesMaster1.xml" Id="R9ccb716961ed4d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d991c32ff043d0" /><Relationship Type="http://schemas.openxmlformats.org/officeDocument/2006/relationships/notesMaster" Target="/ppt/notesMasters/notesMaster1.xml" Id="R4157494574064e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ecbfc588a844a5" /><Relationship Type="http://schemas.openxmlformats.org/officeDocument/2006/relationships/notesMaster" Target="/ppt/notesMasters/notesMaster1.xml" Id="R5be0a60daeb244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8715d66a004635" /><Relationship Type="http://schemas.openxmlformats.org/officeDocument/2006/relationships/notesMaster" Target="/ppt/notesMasters/notesMaster1.xml" Id="Rddd037dd7d4842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32cd62a0c74bc7" /><Relationship Type="http://schemas.openxmlformats.org/officeDocument/2006/relationships/notesMaster" Target="/ppt/notesMasters/notesMaster1.xml" Id="R7a83d332c8684e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378b3204d740db" /><Relationship Type="http://schemas.openxmlformats.org/officeDocument/2006/relationships/notesMaster" Target="/ppt/notesMasters/notesMaster1.xml" Id="R8dba6c7be15b49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7a961895524a96" /><Relationship Type="http://schemas.openxmlformats.org/officeDocument/2006/relationships/notesMaster" Target="/ppt/notesMasters/notesMaster1.xml" Id="R870dbbbf2a8347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ec41b526f24d51" /><Relationship Type="http://schemas.openxmlformats.org/officeDocument/2006/relationships/notesMaster" Target="/ppt/notesMasters/notesMaster1.xml" Id="R5b07766586004a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45d024aea046d7" /><Relationship Type="http://schemas.openxmlformats.org/officeDocument/2006/relationships/notesMaster" Target="/ppt/notesMasters/notesMaster1.xml" Id="R3ce6b47d3fda494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844aff4d7d4fb0" /><Relationship Type="http://schemas.openxmlformats.org/officeDocument/2006/relationships/notesMaster" Target="/ppt/notesMasters/notesMaster1.xml" Id="R3bbc65ad6a524a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1c7c41316547a2" /><Relationship Type="http://schemas.openxmlformats.org/officeDocument/2006/relationships/notesMaster" Target="/ppt/notesMasters/notesMaster1.xml" Id="R43077671ac8543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cf67c0c361498c" /><Relationship Type="http://schemas.openxmlformats.org/officeDocument/2006/relationships/notesMaster" Target="/ppt/notesMasters/notesMaster1.xml" Id="Rf7a66994cee740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31f7bb83134774" /><Relationship Type="http://schemas.openxmlformats.org/officeDocument/2006/relationships/notesMaster" Target="/ppt/notesMasters/notesMaster1.xml" Id="R083a5db25c3b499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9f3dbcbf3d4bec" /><Relationship Type="http://schemas.openxmlformats.org/officeDocument/2006/relationships/notesMaster" Target="/ppt/notesMasters/notesMaster1.xml" Id="R2fd2a51d2f27488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a8a482b18e4bf0" /><Relationship Type="http://schemas.openxmlformats.org/officeDocument/2006/relationships/notesMaster" Target="/ppt/notesMasters/notesMaster1.xml" Id="R418879b785aa4ca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42dd448da24419d" /><Relationship Type="http://schemas.openxmlformats.org/officeDocument/2006/relationships/notesMaster" Target="/ppt/notesMasters/notesMaster1.xml" Id="Ra2738d3a97f34d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8836037f994720" /><Relationship Type="http://schemas.openxmlformats.org/officeDocument/2006/relationships/notesMaster" Target="/ppt/notesMasters/notesMaster1.xml" Id="Ra859794ed17f48a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4ec410713cd4031" /><Relationship Type="http://schemas.openxmlformats.org/officeDocument/2006/relationships/notesMaster" Target="/ppt/notesMasters/notesMaster1.xml" Id="R101f340de80840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cd5c6fa592a45c3" /><Relationship Type="http://schemas.openxmlformats.org/officeDocument/2006/relationships/notesMaster" Target="/ppt/notesMasters/notesMaster1.xml" Id="R3abc052db4ce4a6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acb2f25cad541ed" /><Relationship Type="http://schemas.openxmlformats.org/officeDocument/2006/relationships/notesMaster" Target="/ppt/notesMasters/notesMaster1.xml" Id="Rcc420fe980fe4aa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2c83a03f2ad4440" /><Relationship Type="http://schemas.openxmlformats.org/officeDocument/2006/relationships/notesMaster" Target="/ppt/notesMasters/notesMaster1.xml" Id="R174668b985cf44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a6ec9aed446466d" /><Relationship Type="http://schemas.openxmlformats.org/officeDocument/2006/relationships/notesMaster" Target="/ppt/notesMasters/notesMaster1.xml" Id="R80c01377e1fc413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be9cb74a0ac45f4" /><Relationship Type="http://schemas.openxmlformats.org/officeDocument/2006/relationships/notesMaster" Target="/ppt/notesMasters/notesMaster1.xml" Id="Rac9babe551904ac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24e57584f34f1c" /><Relationship Type="http://schemas.openxmlformats.org/officeDocument/2006/relationships/notesMaster" Target="/ppt/notesMasters/notesMaster1.xml" Id="R8ded6d31863e497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7a3e572de5a47c6" /><Relationship Type="http://schemas.openxmlformats.org/officeDocument/2006/relationships/notesMaster" Target="/ppt/notesMasters/notesMaster1.xml" Id="R7ed9aa77d31747d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5437da159e8440f" /><Relationship Type="http://schemas.openxmlformats.org/officeDocument/2006/relationships/notesMaster" Target="/ppt/notesMasters/notesMaster1.xml" Id="R1a69546513c7493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af926ee50614d9a" /><Relationship Type="http://schemas.openxmlformats.org/officeDocument/2006/relationships/notesMaster" Target="/ppt/notesMasters/notesMaster1.xml" Id="R1ec6dd3225a84a7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b24309028304f45" /><Relationship Type="http://schemas.openxmlformats.org/officeDocument/2006/relationships/notesMaster" Target="/ppt/notesMasters/notesMaster1.xml" Id="R201202857c344d8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2315b9e69734091" /><Relationship Type="http://schemas.openxmlformats.org/officeDocument/2006/relationships/notesMaster" Target="/ppt/notesMasters/notesMaster1.xml" Id="R0149c63cb5fc4d7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fd35ce1417f479a" /><Relationship Type="http://schemas.openxmlformats.org/officeDocument/2006/relationships/notesMaster" Target="/ppt/notesMasters/notesMaster1.xml" Id="R68a5fd6333bf42b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c8d0e6ccbf345f4" /><Relationship Type="http://schemas.openxmlformats.org/officeDocument/2006/relationships/notesMaster" Target="/ppt/notesMasters/notesMaster1.xml" Id="R3c2561dc780a4ad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ecb256a51194ba6" /><Relationship Type="http://schemas.openxmlformats.org/officeDocument/2006/relationships/notesMaster" Target="/ppt/notesMasters/notesMaster1.xml" Id="R0182d5b57a604a4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899536d85b64857" /><Relationship Type="http://schemas.openxmlformats.org/officeDocument/2006/relationships/notesMaster" Target="/ppt/notesMasters/notesMaster1.xml" Id="Reca3ad3a6897411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e98841126ff42cc" /><Relationship Type="http://schemas.openxmlformats.org/officeDocument/2006/relationships/notesMaster" Target="/ppt/notesMasters/notesMaster1.xml" Id="Ra5d03323af9440a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b67b3b538b94302" /><Relationship Type="http://schemas.openxmlformats.org/officeDocument/2006/relationships/notesMaster" Target="/ppt/notesMasters/notesMaster1.xml" Id="R2ba1b8e21cfb436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6c03b1b642e45fe" /><Relationship Type="http://schemas.openxmlformats.org/officeDocument/2006/relationships/notesMaster" Target="/ppt/notesMasters/notesMaster1.xml" Id="R81afb084ce5c4c4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e0e9f75c8134432" /><Relationship Type="http://schemas.openxmlformats.org/officeDocument/2006/relationships/notesMaster" Target="/ppt/notesMasters/notesMaster1.xml" Id="R4bdd1c7cf318458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8ef4bf0eded4bbd" /><Relationship Type="http://schemas.openxmlformats.org/officeDocument/2006/relationships/notesMaster" Target="/ppt/notesMasters/notesMaster1.xml" Id="R8653ff312a0647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come una commissione tecnica: oggi non aggiungiamo un nuovo database. Usiamo quanto appreso per progettare, sottoporre a guasti e difendere l’architettura DATAFLIX.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numeri sono parte dello scenario didattico DATAFLIX, non dati riferiti a una piattaforma reale. Chiedi quale numero cambia maggiormente il progetto e perché.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Dichiara il criterio di successo: il gruppo deve saper spiegare perché il disegno è coerente, cosa accade quando fallisce e come verifica il recupero.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Imposta il tono: non esiste una soluzione unica. Una scelta alternativa vale se modifica esplicitamente assunzioni e accetta le conseguenze.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Well-Architected Framework — The pillars of the framework: https://docs.aws.amazon.com/wellarchitected/latest/framework/the-pillars-of-the-framework.html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 valori sono dati di progetto per l’esercizio. Consentono di discutere picchi, multi-region, organizzazione e costo. Non permettere ai gruppi di cambiarli senza scriverlo.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Gli SLO sono didattici e servono a valutare il progetto. Chiedi come cambia la tecnologia quando il requisito passa da “rapido” a un percentile e un degraded mode. Il Google SRE Workbook tratta SLO e monitoraggio come strumenti decisionali.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SRE Workbook — Site Reliability Engineering Workbook: https://sre.google/workbook/index/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seguire un utente attraverso la piattaforma. I journey impediscono di progettare datastore isolati dall’esperienza. Ogni gruppo ne sceglierà almeno tre.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matrice unisce verbo, forma della query e scala. Riprende la Lezione 8: la famiglia nasce dall’access pattern, non dalla quantità astratta di dati.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Classificare i dati evita di applicare backup, consistenza e retention uniformi. Una sessione scaduta e un pagamento non hanno lo stesso valore né lo stesso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context map mostra dipendenze, non tutti i dettagli infrastrutturali. Ogni servizio possiede un linguaggio e una responsabilità. Altri contesti passano da API o eventi.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Prescriptive Guidance — Database-per-service pattern: https://docs.aws.amazon.com/prescriptive-guidance/latest/modernization-data-persistence/database-per-service.html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basta assegnare lo schema. L’owner risponde di contratto, accesso, on-call, runbook, qualità e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query cards sono le prove che l’architettura deve superare. Ogni gruppo ne seleziona almeno quattro e indica fonte o projection.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comando cambia lo stato e deve dichiarare regole, autorizzazione, idempotency key e risultato. Le query non applicano business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distinguere regola da convenienza di lettura. Una projection stale non deve autorizzare un pagamento o decidere unicità.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source of truth accetta il comando; le projection servono query specifiche e devono avere provenance, freshness e rebuild.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Richiama la Lezione 3. Il database relazionale resta centrale per vincoli e transazioni; i modelli NoSQL risolvono access pattern specifici.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modello relazionale è una scelta naturale per account, ordini e pagamenti quando invarianti e transazioni dominano. Il cambio piano può richiedere una saga tra Billing 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Key-value è adatto a sessioni, rate limit e cache. Il gruppo deve dichiarare se la sessione è ricostruibile, se un flush causa logout e chi è la fonte del valore cachato.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documento rappresenta l’aggregato film e la sua variabilità. La disponibilità è autorevole nel Catalog; l’indice Search è una proiezione.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grafo è utile quando la relazione è il percorso della query. Chiedi sempre profondità, direzione, frequenza e strategia di cancellazione.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Riprendi Cassandra dalla Lezione 8: tabelle per query, partition key per distribuzione/località e clustering per ordine. Non usare una singola tabella universale.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Confronta due specializzazioni: tempo dominante e rilevanza testuale. In entrambi i casi serve un percorso di ingest, misura del lag e rebuild.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log disaccoppia producer e consumer e sostiene replay entro la retention. L’object storage conserva media, raw event e dataset. Le query operative richiedono viste dedicate.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Kafka Documentation — Message delivery semantics: https://kafka.apache.org/documentation/#semantics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è la struttura generica che i gruppi devono specializzare. Il valore è nelle etichette delle frecce e nei failure mode, non nel numero di componenti.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flusso riprende la Lezione 9. La transactional outbox elimina il buco tra stato ed evento; la consegna rimane almeno una volta e richiede idempotenza.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Prescriptive Guidance — Transactional outbox pattern: https://docs.aws.amazon.com/prescriptive-guidance/latest/cloud-design-patterns/transactional-outbox.html</a:t>
            </a:r>
          </a:p>
          <a:p xmlns:a="http://schemas.openxmlformats.org/drawingml/2006/main">
            <a:r>
              <a:t>- Apache Kafka Documentation — Message delivery semantics: https://kafka.apache.org/documentation/#semantics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saga coordina transazioni locali con azioni compensative. Non equivale a rollback globale. Ogni passo e compensazione devono essere idempotenti e osservabili.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Prescriptive Guidance — Saga pattern: https://docs.aws.amazon.com/prescriptive-guidance/latest/modernization-data-persistence/saga-pattern.html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read model serve una schermata senza fan-out runtime. generatedAt e sourceVersions rendono osservabile la freschezza. Il costo è sincronizzazione e rebuild.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Azure Architecture Center — CQRS pattern: https://learn.microsoft.com/en-us/azure/architecture/patterns/cqrs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Cache-aside è un pattern di lettura. La fonte rimane autorevole. Aggiornare la fonte e poi invalidare evita una specifica race; TTL limita la durata degli errori ma non sostituisce il contratto.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Azure Architecture Center — Cache-Aside pattern: https://learn.microsoft.com/en-us/azure/architecture/patterns/cache-aside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Eventual consistency diventa un intervallo misurabile. Il gruppo deve dichiarare budget, metrica e comportamento oltre soglia.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etichette assolute sul database. La garanzia dipende dall’operazione, dalla configurazione e dal comportamento in errore.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Riprendi la Lezione 4. Durante una partizione non puoi garantire contemporaneamente consistenza e disponibilità per la stessa operazione. Fai specificare timeout, risposta e riconciliazione.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matrice lega failure, impatto e recovery. Il laboratorio aggiunge un chaos card imprevisto; il gruppo deve seguire l’effetto end-to-end.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Well-Architected Framework — Failure management: https://docs.aws.amazon.com/wellarchitected/latest/framework/rel-failmgmt.html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Collega ogni SLO e failure mode a una metrica. Correlation ID aiuta a seguire il journey; consumer lag e freshness provano lo stato delle projection.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SRE Workbook — Site Reliability Engineering Workbook: https://sre.google/workbook/index/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Ogni datastore e flusso amplia la superficie. Richiedi identità di servizio, least privilege, TLS, gestione segreti, audit e minimizzazione dei dati negli eventi.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OWASP Cheat Sheet — Microservices Security: https://cheatsheetseries.owasp.org/cheatsheets/Microservices_Security_Cheat_Sheet.html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RTO e RPO derivano dal bisogno business. Una projection ricostruibile richiede sorgente, procedura, tempo stimato e verifica. AWS tratta RTO/RPO e test di recovery come elementi della gestione dei guasti.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Well-Architected Framework — Failure management: https://docs.aws.amazon.com/wellarchitected/latest/framework/rel-failmgmt.html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costo totale include persone e incidenti, non soltanto licenza o storage. Il gruppo deve rimuovere un motore che non risolve un requisito prioritario.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prima fase difende la semplicità: modular monolith, PostgreSQL e object storage. Evita di anticipare dieci motori. Definisci confini logici e contratti per poter evolvere.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seconda fase aggiunge log, search e Redis se workload misurati lo richiedono. Mantiene PostgreSQL per il cuore transazionale.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terza fase evidenzia ingest, storage distribuito, processing e serving views. Non approfondire ancora Hadoop: la slide deve creare la domanda per la Lezione 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scorecard rende la scelta tracciabile. Uno zero su una garanzia critica o sulla capacità operativa richiede rimozione o mitigazione, anche se la somma è 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Well-Architected Framework — The pillars of the framework: https://docs.aws.amazon.com/wellarchitected/latest/framework/the-pillars-of-the-framework.html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i sei sprint. Il tempo di laboratorio include design, chaos injection, revisione e preparazione della difesa. La guida contiene worksheet, solution key e adattamento ai gruppi.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Ogni artefatto risponde a una domanda della review board. La guida include template compilabili e una soluzione DATAFLIX.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review non premia aggressività. Le domande devono collegarsi a requisito, failure o costo. Il board assegna un verdetto e una motivazione. Il numero di gruppi determina la durata totale.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Well-Architected Framework — The review process: https://docs.aws.amazon.com/wellarchitected/latest/framework/the-review-process.html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queste domande come rubrica orale. Le risposte migliori collegano decisione, conseguenza e verifica.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il Modulo 1 facendo emergere il limite: i datastore servono query e comandi, ma l’elaborazione massiva richiede storage e calcolo distribuiti. La Lezione 11 introdurrà Hadoop.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ab6a561284d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039e2f426b4f77" /><Relationship Type="http://schemas.openxmlformats.org/officeDocument/2006/relationships/slideLayout" Target="/ppt/slideLayouts/slideLayout1.xml" Id="R277a6d1186bf4d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7a6d1186bf4d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419a89c174618" /><Relationship Type="http://schemas.openxmlformats.org/officeDocument/2006/relationships/notesSlide" Target="/ppt/notesSlides/notesSlide1.xml" Id="R87bc35395d4f48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995df687b454f" /><Relationship Type="http://schemas.openxmlformats.org/officeDocument/2006/relationships/notesSlide" Target="/ppt/notesSlides/notesSlide2.xml" Id="R4cd71f1e8ad04d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e516db7c74fc2" /><Relationship Type="http://schemas.openxmlformats.org/officeDocument/2006/relationships/notesSlide" Target="/ppt/notesSlides/notesSlide3.xml" Id="Rce22d45fbb5948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f78b0d8834742" /><Relationship Type="http://schemas.openxmlformats.org/officeDocument/2006/relationships/notesSlide" Target="/ppt/notesSlides/notesSlide4.xml" Id="Rbd2c96cae4864e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4f33787a840c7" /><Relationship Type="http://schemas.openxmlformats.org/officeDocument/2006/relationships/notesSlide" Target="/ppt/notesSlides/notesSlide5.xml" Id="R204c466668cc4f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173d32370413b" /><Relationship Type="http://schemas.openxmlformats.org/officeDocument/2006/relationships/notesSlide" Target="/ppt/notesSlides/notesSlide6.xml" Id="Rf35b97244f154b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44bc42fdf48f6" /><Relationship Type="http://schemas.openxmlformats.org/officeDocument/2006/relationships/notesSlide" Target="/ppt/notesSlides/notesSlide7.xml" Id="Rd69f1d8f2df14b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158345ac4469e" /><Relationship Type="http://schemas.openxmlformats.org/officeDocument/2006/relationships/notesSlide" Target="/ppt/notesSlides/notesSlide8.xml" Id="R8175ea0aca1f42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127c294b04b88" /><Relationship Type="http://schemas.openxmlformats.org/officeDocument/2006/relationships/notesSlide" Target="/ppt/notesSlides/notesSlide9.xml" Id="R06574fd2096944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732b858e14ca5" /><Relationship Type="http://schemas.openxmlformats.org/officeDocument/2006/relationships/notesSlide" Target="/ppt/notesSlides/notesSlide10.xml" Id="Re00c504127844d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dcbd0bd85459b" /><Relationship Type="http://schemas.openxmlformats.org/officeDocument/2006/relationships/notesSlide" Target="/ppt/notesSlides/notesSlide11.xml" Id="Rd4c601c23c0846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2710b529c4efd" /><Relationship Type="http://schemas.openxmlformats.org/officeDocument/2006/relationships/notesSlide" Target="/ppt/notesSlides/notesSlide12.xml" Id="Rd8d3eb1b65c94a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7f289426f4ec1" /><Relationship Type="http://schemas.openxmlformats.org/officeDocument/2006/relationships/notesSlide" Target="/ppt/notesSlides/notesSlide13.xml" Id="R025ca917459e43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99f15f6d244a0" /><Relationship Type="http://schemas.openxmlformats.org/officeDocument/2006/relationships/notesSlide" Target="/ppt/notesSlides/notesSlide14.xml" Id="R30a99ce098294f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ad7a1661248b7" /><Relationship Type="http://schemas.openxmlformats.org/officeDocument/2006/relationships/notesSlide" Target="/ppt/notesSlides/notesSlide15.xml" Id="Radc5073630f54d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fae82ae294fa0" /><Relationship Type="http://schemas.openxmlformats.org/officeDocument/2006/relationships/notesSlide" Target="/ppt/notesSlides/notesSlide16.xml" Id="R58adcb790ea9449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ba7fe54d24fed" /><Relationship Type="http://schemas.openxmlformats.org/officeDocument/2006/relationships/notesSlide" Target="/ppt/notesSlides/notesSlide17.xml" Id="Rf03bfa9225fc41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03c15a21c4dfd" /><Relationship Type="http://schemas.openxmlformats.org/officeDocument/2006/relationships/notesSlide" Target="/ppt/notesSlides/notesSlide18.xml" Id="R9e2ea447357a40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836dc16d74055" /><Relationship Type="http://schemas.openxmlformats.org/officeDocument/2006/relationships/notesSlide" Target="/ppt/notesSlides/notesSlide19.xml" Id="Reac2cd59de6443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d4fec913b41fb" /><Relationship Type="http://schemas.openxmlformats.org/officeDocument/2006/relationships/notesSlide" Target="/ppt/notesSlides/notesSlide20.xml" Id="Rfe6126fa94a841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2919300c247e1" /><Relationship Type="http://schemas.openxmlformats.org/officeDocument/2006/relationships/notesSlide" Target="/ppt/notesSlides/notesSlide21.xml" Id="R9a71bba40d6a49b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45ce5fead46eb" /><Relationship Type="http://schemas.openxmlformats.org/officeDocument/2006/relationships/notesSlide" Target="/ppt/notesSlides/notesSlide22.xml" Id="Rd2c7b824a5834a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cf51c14b1421d" /><Relationship Type="http://schemas.openxmlformats.org/officeDocument/2006/relationships/notesSlide" Target="/ppt/notesSlides/notesSlide23.xml" Id="R12b67de2f7a44d3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1a9166e7945ba" /><Relationship Type="http://schemas.openxmlformats.org/officeDocument/2006/relationships/notesSlide" Target="/ppt/notesSlides/notesSlide24.xml" Id="Rca00b648180f49d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30cc39a334c30" /><Relationship Type="http://schemas.openxmlformats.org/officeDocument/2006/relationships/notesSlide" Target="/ppt/notesSlides/notesSlide25.xml" Id="Rc8f1fe3c0f354db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7355608e24a05" /><Relationship Type="http://schemas.openxmlformats.org/officeDocument/2006/relationships/notesSlide" Target="/ppt/notesSlides/notesSlide26.xml" Id="R771d8481d8ce4d0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bbf9f30984a66" /><Relationship Type="http://schemas.openxmlformats.org/officeDocument/2006/relationships/notesSlide" Target="/ppt/notesSlides/notesSlide27.xml" Id="Rf4622cf1a8414a7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165e839974656" /><Relationship Type="http://schemas.openxmlformats.org/officeDocument/2006/relationships/notesSlide" Target="/ppt/notesSlides/notesSlide28.xml" Id="Refc794a5cee74c3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f8f807907418f" /><Relationship Type="http://schemas.openxmlformats.org/officeDocument/2006/relationships/notesSlide" Target="/ppt/notesSlides/notesSlide29.xml" Id="Rcbf00ffa003442b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ee528729f4a9c" /><Relationship Type="http://schemas.openxmlformats.org/officeDocument/2006/relationships/notesSlide" Target="/ppt/notesSlides/notesSlide30.xml" Id="R3f88a6ef45ce48f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96b93814e464b" /><Relationship Type="http://schemas.openxmlformats.org/officeDocument/2006/relationships/notesSlide" Target="/ppt/notesSlides/notesSlide31.xml" Id="Rde28f31b4729450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4b8d9d04e417f" /><Relationship Type="http://schemas.openxmlformats.org/officeDocument/2006/relationships/notesSlide" Target="/ppt/notesSlides/notesSlide32.xml" Id="R4b839b86b2964b7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0598428ad470f" /><Relationship Type="http://schemas.openxmlformats.org/officeDocument/2006/relationships/notesSlide" Target="/ppt/notesSlides/notesSlide33.xml" Id="Re030d39b8c8f4bc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c19bae9124ae9" /><Relationship Type="http://schemas.openxmlformats.org/officeDocument/2006/relationships/notesSlide" Target="/ppt/notesSlides/notesSlide34.xml" Id="R032c83f8386d451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2d38f1cf243b6" /><Relationship Type="http://schemas.openxmlformats.org/officeDocument/2006/relationships/notesSlide" Target="/ppt/notesSlides/notesSlide35.xml" Id="R0e45e09166b44c6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4c076483a443a" /><Relationship Type="http://schemas.openxmlformats.org/officeDocument/2006/relationships/notesSlide" Target="/ppt/notesSlides/notesSlide36.xml" Id="Re8dfd8608ba84d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8ef4840944960" /><Relationship Type="http://schemas.openxmlformats.org/officeDocument/2006/relationships/notesSlide" Target="/ppt/notesSlides/notesSlide37.xml" Id="Rcecc5020eb5a4dd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5024fe8214d3d" /><Relationship Type="http://schemas.openxmlformats.org/officeDocument/2006/relationships/notesSlide" Target="/ppt/notesSlides/notesSlide38.xml" Id="R34154d17392240f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da8f69f6a472a" /><Relationship Type="http://schemas.openxmlformats.org/officeDocument/2006/relationships/notesSlide" Target="/ppt/notesSlides/notesSlide39.xml" Id="Re76fe55fabe6492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cb1e9d59c4cff" /><Relationship Type="http://schemas.openxmlformats.org/officeDocument/2006/relationships/notesSlide" Target="/ppt/notesSlides/notesSlide40.xml" Id="R651e79f7724d439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da0ee3fad46a4" /><Relationship Type="http://schemas.openxmlformats.org/officeDocument/2006/relationships/notesSlide" Target="/ppt/notesSlides/notesSlide41.xml" Id="R8c1cfec663ad478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20c1e06fe4cc2" /><Relationship Type="http://schemas.openxmlformats.org/officeDocument/2006/relationships/notesSlide" Target="/ppt/notesSlides/notesSlide42.xml" Id="R36af0fec6ac44c2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8a13e8bb94ac5" /><Relationship Type="http://schemas.openxmlformats.org/officeDocument/2006/relationships/notesSlide" Target="/ppt/notesSlides/notesSlide43.xml" Id="R03dff52fa4b74b8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7401fcfc2433b" /><Relationship Type="http://schemas.openxmlformats.org/officeDocument/2006/relationships/notesSlide" Target="/ppt/notesSlides/notesSlide44.xml" Id="R87e3aeba256e4ba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5129e20ab4eff" /><Relationship Type="http://schemas.openxmlformats.org/officeDocument/2006/relationships/notesSlide" Target="/ppt/notesSlides/notesSlide45.xml" Id="Ra32ccd329be04d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F8143-0256-4AF9-A812-DF66D58D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D28FB-738B-4309-8D1D-8FAA5DF7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19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Big Data Architecture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E3BB7-6077-4AD8-B44C-C16C067B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8D4DE"/>
                </a:solidFill>
              </a:defRPr>
            </a:pPr>
            <a:r>
              <a:rPr sz="2175" b="0">
                <a:solidFill>
                  <a:srgbClr val="C8D4DE"/>
                </a:solidFill>
              </a:rPr>
              <a:t>Progettare, rompere e difendere DATAFLIX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75CA1-12B5-448A-94B3-46EA12EE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23950"/>
            <a:ext cx="2190750" cy="2381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39372-6EA7-4CC4-9268-EE465777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24000"/>
            <a:ext cx="1771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0B1F33"/>
                </a:solidFill>
              </a:defRPr>
            </a:pPr>
            <a:r>
              <a:rPr sz="7050" b="1">
                <a:solidFill>
                  <a:srgbClr val="0B1F3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25972-4879-4480-8E0C-833E5F31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Lezione 10 • chiusura Modulo 1</a:t>
            </a:r>
          </a:p>
        </p:txBody>
      </p:sp>
    </p:spTree>
    <p:extLst>
      <p:ext uri="{BB962C8B-B14F-4D97-AF65-F5344CB8AC3E}">
        <p14:creationId xmlns:p14="http://schemas.microsoft.com/office/powerpoint/2010/main" val="347934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FE2DB-42AF-4AC4-A93E-5D35C67F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DECISIONE ARCHITETTURALE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8B018-A360-42FE-904C-9F7285ED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problema è diventato abbastanza grande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851EE-CD53-4C16-B9CE-7786E414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D4A81-113E-460E-9820-D94AEF4F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0ACDD-1F1F-4E03-8D29-B8B62B1C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50 milioni di utenti, 800.000 contenuti e 5 miliardi di eventi al giorno. Ogni scelta tecnica ora produce conseguenze operative.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9326D-D011-4506-97B4-E3B54278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46727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45B16-7304-4791-812E-852ADB77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OBIETTIVO DELLA GIORNATA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D07A6-690C-4639-88F2-BF42F2E9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missione: una decisione difendibile, non un poster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52662-C98E-4374-8BF0-AD92653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29BAD-33C7-4E9D-82AC-9FAAB6D3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8A25F-6CEF-4C79-AE3C-3DF1AA5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14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699ED-2074-4C88-9209-F58E1B0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tradurre query, comandi e SLO in confini e datastore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96403-A04D-4F1B-9E1F-47D7B4D9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5AA16-5C70-4CA8-8F62-4BD21AFB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71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43462-2CF9-4DE8-8606-845765FF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iniettare un guasto e seguire le conseguenze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624E4-510F-4412-A089-F2AEE8D9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5C31D-73FA-49E9-B8DE-60CB2F24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29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RECOVER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26947-4A2F-4217-A9BD-746C4519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dimostrare come il sistema torna corretto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6567E-892B-4229-A0A0-B1899D6C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CE4BD-D58C-4419-9927-4E3FD9FD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86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DEFEND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057B1-718C-4FEF-8F37-243FB398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spiegare trade-off davanti alla review board</a:t>
            </a:r>
          </a:p>
        </p:txBody>
      </p:sp>
    </p:spTree>
    <p:extLst>
      <p:ext uri="{BB962C8B-B14F-4D97-AF65-F5344CB8AC3E}">
        <p14:creationId xmlns:p14="http://schemas.microsoft.com/office/powerpoint/2010/main" val="1032421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3241B-F227-4AA1-B87D-BD45FDFF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NON ESISTE IL DIAGRAMMA PERFETTO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F6498-C7DC-4F21-8278-FF787C24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Architettura significa scegliere sotto vincoli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696C4-D9B2-4B9F-BB05-DE2B4A7E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67183-3195-49DB-9C63-E6F5D7B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7A1A8-07F6-4E47-A352-D64232E3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50B6A-B342-4299-AA91-E706E080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1304B-80BB-4C8A-9DCD-833B9222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A0EE0-14BD-42D3-9C1D-974983CA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REQUISITI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5394F-93BC-4228-83BA-6AF1EFDD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Query, comandi, volumi, latenza, consistenza, sicurezza e recovery.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AE636-1379-4E18-85A3-EBEF8346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VINCOLI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94A97-4536-4DD8-AAD7-8958259A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Tempo, competenze, budget, complessità operativa e dipendenze.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594DD-89F7-4485-8BB0-52E63905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619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Una scelta è buona quando rende esplicito che cosa ottimizza e che cosa sacrifica.</a:t>
            </a:r>
          </a:p>
        </p:txBody>
      </p:sp>
    </p:spTree>
    <p:extLst>
      <p:ext uri="{BB962C8B-B14F-4D97-AF65-F5344CB8AC3E}">
        <p14:creationId xmlns:p14="http://schemas.microsoft.com/office/powerpoint/2010/main" val="551851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06FC9A-386C-4E38-B35D-A47D1DC2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DATAFLIX •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0CB19-BA60-49EF-A67F-CC88A727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Lo scenario ha assunzioni precise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0E4DF-049B-421A-B537-BF951894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2B978-908A-4A6A-A77F-14EBEF9F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CFE7F-9046-4B25-AA29-0F72A360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6C82D-75F3-4E60-AFB5-F1A19353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UTENTI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D112E-DD8B-450D-A38F-0BCF703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2 milioni concorrenti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D4016-2CF5-4C00-A2A5-5425934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50 milioni registrati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D8DD3-6570-4810-A925-923584F0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D823D-C26E-4836-88E6-2AB23DE0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DF0EC-0A6E-48D9-A01E-44787FBA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CATALOGO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7E1E2-DC8E-4AA4-B4BE-08AEFDFD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6EE6"/>
                </a:solidFill>
              </a:defRPr>
            </a:pPr>
            <a:r>
              <a:rPr sz="1125" b="1">
                <a:solidFill>
                  <a:srgbClr val="7C6EE6"/>
                </a:solidFill>
              </a:rPr>
              <a:t>12 lingue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6E99D-1556-4005-BB85-25D3DF0B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05075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800.000 contenuti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02F62-BD13-4863-B3CC-38DC5AA6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E4ED4-7CAD-404B-B234-13F33E78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1F258-8400-4671-AE40-04431E9C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EVENTI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D4860-405B-4001-8C77-C43C2A32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picchi 10×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D3247-7386-4185-869C-6773BA5B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05075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5 miliardi / giorno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FB8FC-7717-451A-802A-48D6B800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D62F3-6218-4C97-8563-C7D14A93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E17AF-2214-4C67-80FF-388632B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REGIONI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8CB1C-B53A-490B-BAE2-A1AE7C32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4B"/>
                </a:solidFill>
              </a:defRPr>
            </a:pPr>
            <a:r>
              <a:rPr sz="1125" b="1">
                <a:solidFill>
                  <a:srgbClr val="B7E34B"/>
                </a:solidFill>
              </a:rPr>
              <a:t>latenza geografica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C7BF0-12A2-4AB6-85B4-DFAB0E0E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Europa + America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A76CB-31A4-4AEB-B106-8271FC65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6532C-0D25-4DBD-B8E6-DA9CDBFB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278E0-E10B-455D-890F-B441D0C7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TEAM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99E71C-4E1F-41F7-A033-F0814B3E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A5A"/>
                </a:solidFill>
              </a:defRPr>
            </a:pPr>
            <a:r>
              <a:rPr sz="1125" b="1">
                <a:solidFill>
                  <a:srgbClr val="EF5A5A"/>
                </a:solidFill>
              </a:rPr>
              <a:t>on-call limitato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E15BB-411C-4621-B58E-1FACA3E1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6 squadre prodotto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6A74E-4E96-4F99-A525-B0E89BFC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C75B83-C001-4D43-9833-F02866C7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173EC0-4CD9-415E-90CD-6082B93C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BUDGET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3E7B09-C5A9-4C76-874E-C916D980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A36A"/>
                </a:solidFill>
              </a:defRPr>
            </a:pPr>
            <a:r>
              <a:rPr sz="1125" b="1">
                <a:solidFill>
                  <a:srgbClr val="27A36A"/>
                </a:solidFill>
              </a:rPr>
              <a:t>costo misurabile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CB4014-9279-43C7-8F62-9D5BA8EC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crescita progressiva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4F1558-8CF2-4485-8548-6D9DF92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292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Le assunzioni possono cambiare, ma vanno dichiarate prima della tecnologia.</a:t>
            </a:r>
          </a:p>
        </p:txBody>
      </p:sp>
    </p:spTree>
    <p:extLst>
      <p:ext uri="{BB962C8B-B14F-4D97-AF65-F5344CB8AC3E}">
        <p14:creationId xmlns:p14="http://schemas.microsoft.com/office/powerpoint/2010/main" val="1683696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04BA95-433A-4809-86B8-FAD7FFA6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REQUISITI NON FUNZIONALI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7B553-9033-4014-9032-F56E68D4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Gli SLO trasformano “veloce” e “affidabile” in obiettivi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9A228-4E37-42C5-B3F5-EC8174E6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85F42-C1E6-4F77-8BB3-E6C195E2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5EC70-2627-4C0C-BF22-05E64C7F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Percorso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BBA9E-8FB5-453B-B8D6-F7F88C83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F9053-3C31-4FAB-B58C-DD5786AB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Obiettivo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4B5F7-0589-4E4F-A20F-AE3944F2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145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D45A6-0AAF-4AA9-BBF4-F5BDEF66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478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Degraded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3DD14-471C-40D4-A2E0-9E381742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B215F-5AC4-4D58-B4E6-6CFBE4EF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55D95-04FC-4C7F-BBA2-526068EA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098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7F883-EC0E-447C-89D2-360C35F9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p95 &lt; 300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B9D90-2110-48F2-BDA1-2139704C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980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D2A78-6AC7-4414-9F99-0E058D9B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nuovo tentativo controllato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07DC5-6919-41E4-8058-24BC1D66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822D6-F039-4925-B484-CB582682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Riproduzione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67DE3-CA22-4941-BA53-F1687D64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BE521-74A2-452A-96E5-FB5D8828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6705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start p95 &lt; 2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4BB7E-A2E0-43AA-BA4A-C935CA3A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26EF1-1C54-498E-8646-81502F84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qualità adattiva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BEEBB-6A68-49C9-AACC-E8DF02AD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E19EE-7928-47BC-A508-A8DCD631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Ricerca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48282-3677-499F-B1FF-4A16A392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F15A9-8246-4C47-B7A9-8773C75A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5285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p95 &lt; 700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4D1C8B-0D6D-4F20-86A0-1618A937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8140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1C6B8-E8BE-44B1-BFEB-6215AA27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risultati parziali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405E64-01AD-4B37-8EC9-6FBB70BF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2B2FA3-B739-4F90-BC4E-B4621316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Pagamento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4AE7E-C84B-4C80-99B4-0AA1F199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6DFB47-2CB0-46EC-8B9F-C6DA7F70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3865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nessuna doppia cattura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2F1A18-ADB0-45D9-A859-01BA5C39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F11872-7DF6-4F77-9C68-2E117C0B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386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stato pending + verifica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4B8AD4-73E0-4784-A467-20D7EFCB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92AB59-E3DF-4AF5-93F7-493FA5FC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Analytics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C90909-CDDF-445D-B9FB-36D72798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530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05B262-C1C5-47EF-9796-2B424DCC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2445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freshness &lt; 15 min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D2B3B7-CB3D-492B-8BB7-A4CAD074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6A5A85-A0DF-4FEC-9AC3-56E5350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244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ritardo visibile</a:t>
            </a:r>
          </a:p>
        </p:txBody>
      </p:sp>
    </p:spTree>
    <p:extLst>
      <p:ext uri="{BB962C8B-B14F-4D97-AF65-F5344CB8AC3E}">
        <p14:creationId xmlns:p14="http://schemas.microsoft.com/office/powerpoint/2010/main" val="82145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D95CB-105B-47B2-A499-AA02FE93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DALL’UTENTE AL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93650-EC45-4C3A-8677-A7ABFC7D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Cinque user journey guidano la piattaforma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610DC-D03F-4B35-8118-F56FBAC1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96038-5B31-4527-85A5-155775FE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952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028B8-71FB-42B3-B9DD-F81F0B8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ENTRA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9BAEA-7EFA-410D-8DDA-425A70C4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login + sessione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1113F-65B1-4C13-B6C8-F8E4AA25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8607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657A8-9D80-4244-8097-DC575AB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14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FF2A7-E706-4F8E-8E81-E4F41A13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1952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3E58A-B1CA-47F6-ACEA-652BCE32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SCOPRE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46CD0-F9E0-4B5A-AE3C-D8F085C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home + ricerca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8DBBD-C692-4848-B315-60401815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8607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E6D8B-DC73-499A-882C-CE2B2CE6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14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1D707-D009-4F10-9DB4-250CA52B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1952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335CC-7A4C-4F1C-9247-47CDC25D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955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GUARDA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3F117-5671-4B2E-9E31-852242DF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stream + telemetria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41CFE-CD93-4762-A278-7020D127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8607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72BCD-2449-4CE2-9BD4-8965888D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14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729B0-A22E-4094-BF1F-90C15B71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952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4095A-E4A3-445D-9F8D-33567E59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955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REAGISCE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A81D4-4CF3-4864-B730-F2C99583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rating + follow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C2362-BC43-47FA-B365-A94693D4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8607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B40E7-2720-4BD7-AA97-6FFB1861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14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239A4-F83D-44A6-A6FC-591BFB23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1952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5434A6-CA1D-43FB-9F3C-C77AF06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95550"/>
            <a:ext cx="160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PAGA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FB9341-2CA7-4068-8AC1-BD2E9D9F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5275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piano + fattura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FB4C9D-8195-4205-88BD-B15909E8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24375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Ogni journey contiene query, comandi, dati e failure mode differenti.</a:t>
            </a:r>
          </a:p>
        </p:txBody>
      </p:sp>
    </p:spTree>
    <p:extLst>
      <p:ext uri="{BB962C8B-B14F-4D97-AF65-F5344CB8AC3E}">
        <p14:creationId xmlns:p14="http://schemas.microsoft.com/office/powerpoint/2010/main" val="4570757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39E77F-AC60-42A5-8DA9-54AF0401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WORKLOAD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52C75-F040-40F8-8EAF-9A6F076F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Inventariare il workload viene prima del modello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0B030-4617-4100-859E-40B771DB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5B12B-40CA-4848-877A-8B170747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2EDBA-DE1C-4A9B-B8A4-CA1EC47D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Operazione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C16E7-CD83-4367-8AE1-E34FD5AA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466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D961A-A6EA-41E8-801F-9BBB339A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526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Forma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2A4F7-816F-4C04-BF1C-A44A0233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86E83-D01B-4579-94C5-BC47A82C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Scala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3C32F-9CAA-484E-9CD2-BD1F761C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341E9-031B-43E6-86F6-A8849A3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GET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82398-6D87-4455-AF2A-F2F079AA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466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AEC91-669F-4ABE-8C8E-F8837D8C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86000"/>
            <a:ext cx="440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lookup per chiave + TTL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2FFEF-9A4C-4D08-A141-E3F8014D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555B8-994A-4D0B-82A2-C09FA671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860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milioni concorrenti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573A4-43BD-4678-B4F6-3B1730CF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60572-FC9F-4838-A9FE-3E1D365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Search film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C3AEC-49F8-49AA-A12C-1EC283D0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19400"/>
            <a:ext cx="466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59457-64CC-441F-8246-4B9F13A5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440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testo + filtri +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2450C-D2A3-40AA-B7BD-90C66613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17FDB-5292-499F-86C9-2A01E90C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908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picchi serali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7D516-70EA-480C-B92E-279FEDED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287E6-D2E1-46BA-B02B-B4CCC832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Write view event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C8B62-14B2-4E46-A502-39AB3F10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466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99E93-5E35-442A-AB59-9A6338FE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95700"/>
            <a:ext cx="440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append ad alto volume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F51FF8-F270-4FF1-ABD9-B1D60D06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01A61-E319-4EB0-AB98-CFC8F35F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957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miliardi / giorno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8F52E8-466F-4CD5-ACE5-3DA55B23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C5C53-F2C6-4054-81A4-C744AEC3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Friends liked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048AD-2F02-48DB-9B5C-F7D3F7AE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29100"/>
            <a:ext cx="466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D0D210-9E9A-4A7A-A978-D49C5DD0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00550"/>
            <a:ext cx="440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traversal limitato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6EA702-E50F-4E54-9FCD-D3E6CBAB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2910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165810-EB25-4ECA-A01C-284E0EA6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005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letture personalizzate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7AE0CA-0F3E-4BE9-B2B9-6473DBF9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BD23E-EAE1-4C2C-A558-BAAD95B8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Revenue report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1635D3-AD2D-4CD1-8BD8-86543361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466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E5D9DB-A00C-4761-B1E7-9C68F2A0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05400"/>
            <a:ext cx="440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scan + aggregazione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52B77C-81EE-4B35-9DC0-3FBBBDE9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2F164-B67C-4F8E-9424-E6CEF87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054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batch / ad hoc</a:t>
            </a:r>
          </a:p>
        </p:txBody>
      </p:sp>
    </p:spTree>
    <p:extLst>
      <p:ext uri="{BB962C8B-B14F-4D97-AF65-F5344CB8AC3E}">
        <p14:creationId xmlns:p14="http://schemas.microsoft.com/office/powerpoint/2010/main" val="16139271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97982-18A6-4DB8-A531-00C3E875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E0AF8-5374-4551-8382-30D8DC58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Dati diversi hanno identità e cicli di vita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CB281-1F17-4A6F-AED7-9A1406F7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6A87B-D7E9-4206-A376-AB65C720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7982F-0678-4A57-8326-4CA4AE4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89E6C-81BD-4A6A-B437-D023D6B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CORE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0FDE9-4B0C-4ECE-BCB1-DCC7917A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vincoli +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029F2-492B-44B8-AD6B-A5FD0B8D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account • pagamento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AB284-BDC2-4A3D-AA20-74B48A52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2BFBB-F744-49E7-B4D4-1A6F2365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C769F-068D-4EC4-9FA6-D01B5CDA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81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EPHEMERAL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B2A2B-4242-41A1-BD19-D222D61F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TTL + perdita tollerata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8A644-459C-44A4-B3ED-1720BDD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98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sessione •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A5CDD-07C4-4C35-98E5-B70B9F48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54AC2-7A3B-4007-BF12-B0C44604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6D03F-9451-48E9-A776-2A813B03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EF4C6-8FA9-4E2E-9E68-F07F1B86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6EE6"/>
                </a:solidFill>
              </a:defRPr>
            </a:pPr>
            <a:r>
              <a:rPr sz="1125" b="1">
                <a:solidFill>
                  <a:srgbClr val="7C6EE6"/>
                </a:solidFill>
              </a:rPr>
              <a:t>versione + 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A98C2-5D42-459B-B992-DCCF7E92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film • immagini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1EB0D-CC71-4506-A254-51399A36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91FE9-48C2-4DA4-A2B4-64EDEC61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A4B12-560F-4816-BF4E-19AD74EC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4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RELATIONSHIP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55764C-DCC8-4BE1-A3D4-C5A411FE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4B"/>
                </a:solidFill>
              </a:defRPr>
            </a:pPr>
            <a:r>
              <a:rPr sz="1125" b="1">
                <a:solidFill>
                  <a:srgbClr val="B7E34B"/>
                </a:solidFill>
              </a:rPr>
              <a:t>path + delete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D284F-F8BF-4268-9F35-7317C26E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433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follow • like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D9984-DAB7-4556-BF1C-D1F96288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CD6EFA-C9B5-4854-8DEC-59604DB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27F37-3537-48BA-8A78-2DD761B2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EVENT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C52EA6-EB2D-41BC-B2E0-52FAEFEF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A5A"/>
                </a:solidFill>
              </a:defRPr>
            </a:pPr>
            <a:r>
              <a:rPr sz="1125" b="1">
                <a:solidFill>
                  <a:srgbClr val="EF5A5A"/>
                </a:solidFill>
              </a:rPr>
              <a:t>append + replay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58B202-C977-4B2B-B852-6617C4DD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view • click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CDED8-77C5-4C9D-8A90-0FAE4A35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C68B44-D020-4BEA-AB15-D028DE3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10317A-E307-4F25-B7E4-BA5CAB02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48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ANALYTICS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5B43C7-6941-43EA-9D3E-A362CF04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01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A36A"/>
                </a:solidFill>
              </a:defRPr>
            </a:pPr>
            <a:r>
              <a:rPr sz="1125" b="1">
                <a:solidFill>
                  <a:srgbClr val="27A36A"/>
                </a:solidFill>
              </a:rPr>
              <a:t>retention + qualità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D64830-3668-422B-8C22-EC7D5725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768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metriche aggregate</a:t>
            </a:r>
          </a:p>
        </p:txBody>
      </p:sp>
    </p:spTree>
    <p:extLst>
      <p:ext uri="{BB962C8B-B14F-4D97-AF65-F5344CB8AC3E}">
        <p14:creationId xmlns:p14="http://schemas.microsoft.com/office/powerpoint/2010/main" val="3423976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27DC49-FB01-4A12-AE16-7C5D1650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CONTEXT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236CC-2B6A-4E1E-8E8D-4C8A69CF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 confini del dominio riducono conflitti di significato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8D727-2E3B-43E8-A394-E9060847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FBF6B-88E8-49C7-8EA7-DFFEB0EB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0507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A4041-95F9-4BAA-9A4A-FF5B2C8F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B26BB-0C8D-4C48-8246-FF047E69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621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DDE3"/>
                </a:solidFill>
              </a:defRPr>
            </a:pPr>
            <a:r>
              <a:rPr sz="1050" b="1">
                <a:solidFill>
                  <a:srgbClr val="D8DDE3"/>
                </a:solidFill>
              </a:rPr>
              <a:t>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E3143-B92B-4BF0-8486-1F9AF4B2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0507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ACF63-65F1-4F55-84EE-231D834C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59ECE-3023-4856-B629-67542435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621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DDE3"/>
                </a:solidFill>
              </a:defRPr>
            </a:pPr>
            <a:r>
              <a:rPr sz="1050" b="1">
                <a:solidFill>
                  <a:srgbClr val="D8DDE3"/>
                </a:solidFill>
              </a:rPr>
              <a:t>eventi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8F60-771F-4BE6-8A6A-3F76E99D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0507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2C3A9-ED93-4769-BCC7-B1A1A299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9411F-D47C-4353-8E94-0355BAE8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621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DDE3"/>
                </a:solidFill>
              </a:defRPr>
            </a:pPr>
            <a:r>
              <a:rPr sz="1050" b="1">
                <a:solidFill>
                  <a:srgbClr val="D8DDE3"/>
                </a:solidFill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99F1B-9901-4CAB-B055-B6AC5EE0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05325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0B37C-C699-4C63-A01F-1D967ABC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338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4C84A"/>
                </a:solidFill>
              </a:defRPr>
            </a:pPr>
            <a:r>
              <a:rPr sz="2625" b="1">
                <a:solidFill>
                  <a:srgbClr val="F4C84A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5533C-D7A9-4154-BC47-AC82D32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24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C84A"/>
                </a:solidFill>
              </a:defRPr>
            </a:pPr>
            <a:r>
              <a:rPr sz="1050" b="1">
                <a:solidFill>
                  <a:srgbClr val="F4C84A"/>
                </a:solidFill>
              </a:rPr>
              <a:t>event stream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7F8AA-4975-4D8A-A5CF-E6AB2BDB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74FC4-E105-4DA2-A19E-5D89B8EA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9075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7F76C-347B-4E40-852F-809CFCC7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552700"/>
            <a:ext cx="1647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account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23DFB-D17F-420D-B9EF-ADFF2BD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92F6A-96A5-43B7-B926-CA6CB803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9075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CATALOG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56009-FDBB-4EFE-8832-A5FB5B6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52700"/>
            <a:ext cx="1647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contenuti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8B818-49D3-4473-B47A-1AC2CE42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2DB01-E7D7-49F4-AF60-C6631E69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9075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SOCIAL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B57FC-0C36-430D-9BFD-3717F2F2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552700"/>
            <a:ext cx="1647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relazioni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C2BFAF-D76F-465E-9939-0E0727F2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0F33AA-3E2D-43EB-980D-BA6E3317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BILLING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E3B8E-CB88-48D1-9ED8-F8AF48CE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1647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pagamenti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9890A-E1EE-4048-B522-66BEA005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9575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D6DE0-5B35-49CD-B7DC-540CBA44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28625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PLAYBACK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C420EC-0CAB-4614-B5C2-A18FDABE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1647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stream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2A6239-A386-4417-9E87-5727286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15C3B-D146-4A3F-9B13-37BC0BAF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8625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C609E3-C609-4A98-9656-2BF308F1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48200"/>
            <a:ext cx="1647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insight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8AC498-DFCA-4AF6-9133-200A0019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768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Un confine risponde a: “chi decide il significato di questo dato?”</a:t>
            </a:r>
          </a:p>
        </p:txBody>
      </p:sp>
    </p:spTree>
    <p:extLst>
      <p:ext uri="{BB962C8B-B14F-4D97-AF65-F5344CB8AC3E}">
        <p14:creationId xmlns:p14="http://schemas.microsoft.com/office/powerpoint/2010/main" val="1795414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B8CF94-52F4-434F-A04B-F0206BA4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RESPONSIBILITY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0C430-E9E7-4A30-90F1-90F57D50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Ogni responsabilità deve avere un owner operativo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B6852-58C1-46AA-A29A-633E2556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BFEF4-7E64-4F08-A1DF-F651070A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A8F14-BB46-45CD-8356-46C4CC92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02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Contesto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EC8FA-8AEA-4473-B41B-BA73C24B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66875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1D2FE-D856-443E-B04B-B1DC421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02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35ADC-B128-492C-B95A-2DD2C9F3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3333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729F9-05AB-42D5-A44B-2EA0B1F3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Risponde quando fallisce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51442-97AB-432D-B79E-BE42F717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62175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FB65A-7496-494E-AADD-C67067C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3362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BC1EE-6D70-438F-AA57-72BFE9DD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62175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8A486-1D0A-43B9-8B60-D2B1A551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3362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account, ruoli, piano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CA641-0319-4A3F-831E-BF1180E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62175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A35ED-3648-409B-905F-C9C1B359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336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Identity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DD859-DFB5-4AC0-B532-32BE0B08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67025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56E30-A5A2-44C8-BAC4-E3A7F461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Catalog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77D9A-E58C-4174-88E2-5FA442B7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67025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24A48-2F78-458D-A4D7-89B7FB30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3847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titolo, disponibilità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50466-AD4A-4802-993A-A9504B8D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67025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16A68-5860-42AD-B05A-E5C0AE6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3847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Content 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619E8-9955-4FB9-8177-DE32DDDA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C65A5-2DE8-4D9C-A839-40F5778D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4332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Social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D0F42-4A1F-438F-A6A1-9425744C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71875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43966-B243-417B-8DAC-69D264CA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74332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follow, like, rating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673EAB-8091-4E91-8828-F2EFCF0A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295BAF-514F-4578-AC69-71266B58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7433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Engagement Team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102E46-A2A9-45C7-9D91-CB903C3A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76725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C1CE8E-938B-44FD-A567-08772C7C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4817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Billing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E9B27A-EF58-4585-B669-292B4C8C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76725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4D0BED-C706-46E6-B783-5177A11D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4817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ordine, pagamento, fattura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AB408-F209-4DE1-8610-6E62A4A5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DEBBA2-C6A7-4AF9-A233-2580F08C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4817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Commerce Team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88B7A-83E1-4997-AAA0-51850690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81575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433B92-4CD1-4B07-8B2E-68F861C4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53025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Analytics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CD1F34-6A29-48BC-ADB6-70CB980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81575"/>
            <a:ext cx="4953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3D5FF1-FE78-4487-B964-FA8B1ADB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53025"/>
            <a:ext cx="468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dataset, qualità, insight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852ED2-7FF6-4A69-9682-9D0317DB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81575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236AC6-78DC-4743-BC71-16A92D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1530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Data Platform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59F9F6-B127-4BC8-B75C-7D618F71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5A5A"/>
                </a:solidFill>
              </a:defRPr>
            </a:pPr>
            <a:r>
              <a:rPr sz="1575" b="1">
                <a:solidFill>
                  <a:srgbClr val="EF5A5A"/>
                </a:solidFill>
              </a:rPr>
              <a:t>Ownership significa anche alert, runbook e recovery.</a:t>
            </a:r>
          </a:p>
        </p:txBody>
      </p:sp>
    </p:spTree>
    <p:extLst>
      <p:ext uri="{BB962C8B-B14F-4D97-AF65-F5344CB8AC3E}">
        <p14:creationId xmlns:p14="http://schemas.microsoft.com/office/powerpoint/2010/main" val="888859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AF695-8286-4146-9F93-1E3CC356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QUERY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62FD3-17BD-48AF-A489-AF321CBE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 query dominanti determinano le viste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4C40A-4B2B-4682-AB7D-F2B43246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20CA0-923B-42F0-A743-FB6183D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BBC5E-748A-423B-A63A-CC25540B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96DA5-3279-4BF5-A72D-30F9894F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Q1 • Home utente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E6EE2-F183-4A0C-909F-CDBE8C07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&lt; 500 ms • personalizzata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9891D-D209-46E7-A0CE-5B9519D6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E50F1-0D11-422D-9BB9-5C8FB534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8837D-B352-43D0-84E4-3ADAA3E9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Q2 • Ricerca film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9E720-E21D-4DBA-BA99-3482F350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testo + faccette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A81C5-61BB-4CC1-8631-0CD40B0F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2027C-A465-4AB0-95D5-D37CCB16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2234C-9455-49F5-9FD1-B4A42B01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Q3 • Cronologia viste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C932C-5D71-463B-B7AE-8EA566C7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utente + tempo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9C6D0-71F7-4B9E-9DF4-9EB1CE2C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1272D-2BD8-49E8-902F-7695F7B1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363B5-0603-4C1D-A39A-D813F12F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Q4 • Amici con gusti simili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AE726-4F39-4ABF-BE58-F9353923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traversal 2 hop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C8357-7E20-4AE0-9A64-3696F1CF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88245-EFB8-4FAD-9D41-EA322D27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B6121-24C8-43D8-BAEB-36AE4326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Q5 • Fatturato per paese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85BEC-79FE-4BEF-931B-98700D5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aggregazione giornaliera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8DFA7-AA86-4608-8AA2-5780A258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3463C-B8D8-42B4-BCFE-41A432F9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2D912-DED3-4D2E-8675-8345BFA5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Q6 • Incidenti di playback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73B8D-C0FC-4AA1-93DE-2E46AE40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finestra 15 minuti</a:t>
            </a:r>
          </a:p>
        </p:txBody>
      </p:sp>
    </p:spTree>
    <p:extLst>
      <p:ext uri="{BB962C8B-B14F-4D97-AF65-F5344CB8AC3E}">
        <p14:creationId xmlns:p14="http://schemas.microsoft.com/office/powerpoint/2010/main" val="4236432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13097-BF75-4317-92FE-A4972688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COMMAND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11359-8754-4264-89FA-EE385396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 comandi critici proteggono invarianti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78A97-4264-413F-A5A1-52D14118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AB413-B8DF-409B-86C9-EC284269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572C3-F823-4ABA-96BD-9363FB54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CREA ACCOUNT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FA962-7DA2-474E-9263-CB968A2F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email unica • consenso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DBDE-F494-400A-9C2B-04AB29C6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FA673-6E77-4F84-A488-402EFC81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00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SET RATING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98B07-E12B-49F9-A766-A285BE52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0–10 • una versione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360CA-22F0-4506-9318-20DE7F11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974CF-9843-4D40-AFC7-20862F9B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813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CAMBIA PIANO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3D3E5-0D90-4915-804E-9B8B6419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pagamento + entitlement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F6865-BF89-4D31-8090-39F035A1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6E733-B0A8-444F-A3C3-05BAFE13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62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PUBBLICA FILM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A8EB1-2784-4731-A2E3-BD356098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workflow + disponibilità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590F6-27BD-4064-9D39-2CA424B1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927B8-94F1-4A2A-AA45-BF8983F1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43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DELETE 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EE40B-4095-4C56-8A78-C2DAAFBE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434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tutte le copie + audit</a:t>
            </a:r>
          </a:p>
        </p:txBody>
      </p:sp>
    </p:spTree>
    <p:extLst>
      <p:ext uri="{BB962C8B-B14F-4D97-AF65-F5344CB8AC3E}">
        <p14:creationId xmlns:p14="http://schemas.microsoft.com/office/powerpoint/2010/main" val="17482722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96B39-0A27-4AF4-9AD7-7EC82FD6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BUSINESS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D597B-9EE4-4DDA-971E-5CBD6D41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 invarianti non possono dipendere da una projection stale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3C3A5-F9CC-47FE-ABA7-DC01AC3F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9F2F9-7804-49D8-9A92-42185951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B916B-E089-43AC-81CB-C6943562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59B09-89ED-4B41-8A1B-060067C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26FF6-C03C-416A-A140-CB961B97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EE773-72E5-47EE-93E6-5F7E3EFB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INVARIANTE LOCALE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FDBBC-DF3D-4363-999D-F57A2FD1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Un’email è unica. Un voto è compreso tra 0 e 10. Una cattura usa una idempotency key.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151C3-78CF-493A-9C19-C885125E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VISTA DERIVATA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3AA31-9770-4436-B5B0-259C010E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Media voti, home, indice di ricerca e dashboard possono essere aggiornati dopo il commit.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DD002-B2E7-4319-A1A2-EAC98974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197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La regola critica vive con il dato autorevole.</a:t>
            </a:r>
          </a:p>
        </p:txBody>
      </p:sp>
    </p:spTree>
    <p:extLst>
      <p:ext uri="{BB962C8B-B14F-4D97-AF65-F5344CB8AC3E}">
        <p14:creationId xmlns:p14="http://schemas.microsoft.com/office/powerpoint/2010/main" val="17188892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D52F07-9059-481D-8C84-0B1808F1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OWNERSHIP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74D76-CB59-422B-8836-50DA67DC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dato può avere molte copie, ma una sola autorità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C0752-C644-4731-A914-73D067EA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052D7-99C8-45E9-8616-E4C74E8E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EDA7C-62EB-42A9-B0F3-6BAA241A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9258F-8533-44DD-B7DF-AC33E5E6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8F8D4-E316-416F-BA1B-664F5E8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52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Source of 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F9F6A-1B39-450D-BF77-13313CB2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724BC-9DC2-4505-9A88-EF6A65A9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7297A-DF35-42CC-8707-746F1825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DFA3A-534D-4CC2-8EE5-F5B3010F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Account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7712A-DB33-4D75-AFC0-DBAC511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03FE3-5D4B-4EC7-BEDD-1D49415B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Identity / 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021E6-A0E7-48C5-BED9-B96342FD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9F6BB-095A-4190-8DD7-CFE07AF4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home profile, audit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C4FCA-5251-4C43-BAEC-9EEF7FA1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CC6B7-3F6D-4FBB-810C-55C24F1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Film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7801F-3FEE-471A-9051-5E399B4E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194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D8229-A65B-48F3-996F-F72C64F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08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Catalog / document DB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01586-492E-4A2A-BB27-22BFC8F6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2826D-61AC-4CBE-8234-95771424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9085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search index, cache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6F6BB-DBAB-4277-A00B-EB216F99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1F107-C2BC-4D11-A600-3E4276FC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Rating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86EC8-1704-4F91-A018-8DCC7CA8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A0D1C-3DB8-4014-9959-3D2F757D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9570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Rating Service / 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281B7-39B8-4C23-B8C3-4572453E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782CE-E0A5-4B0E-896B-3A82FC9B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957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graph, recommendation, 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5073A-80F2-46AA-862D-6639B5E2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EA170-1D79-4A98-91D0-F30898E8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Session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719B3-C4A0-417B-9769-C8CC94AA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EA3F3-DC05-4B9F-A2C7-93EBA85B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005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Session / key-value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C273D4-4317-4B06-88A9-7A54F95D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37D244-F586-4956-862A-CF5567FA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0055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metriche aggregate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CAA2A8-FF2B-47A2-A650-F87C03A1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A24E9-2F40-4179-8AE5-8C03B609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View event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5589E1-B284-424E-9511-1C1882E0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339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2E8F39-7B03-40E0-A5F8-255B1F23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0540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Event log + archive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D9EB55-63AF-4988-B0D6-67BDB8A1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339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CF0C77-8ECF-4C03-B29D-6C12220D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0540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wide-column, lake, dashboard</a:t>
            </a:r>
          </a:p>
        </p:txBody>
      </p:sp>
    </p:spTree>
    <p:extLst>
      <p:ext uri="{BB962C8B-B14F-4D97-AF65-F5344CB8AC3E}">
        <p14:creationId xmlns:p14="http://schemas.microsoft.com/office/powerpoint/2010/main" val="1587461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DB559-1220-429C-96A2-C479136B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DECISIONE ARCHITETTURALE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C0866-A2B6-42B2-AA65-013649A7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scelta fondamentale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21A6-7A52-455B-B83E-EDF3B9F1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9C265-41B8-4C9A-B078-D0ECCB7C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00B8D9"/>
                </a:solidFill>
              </a:defRPr>
            </a:pPr>
            <a:r>
              <a:rPr sz="8250" b="1">
                <a:solidFill>
                  <a:srgbClr val="00B8D9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7F418-DDE9-4D43-A2E8-904FE1A7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SQL o NoSQL non è un derby. La domanda corretta è: quale responsabilità, quale access pattern e quale garanzia?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280F4-DBDE-4CE1-8F54-6F60D3F3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9097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2C01F-2BE8-4C4D-BB96-4EDE590E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POSTGRESQL • ACCOUNT + BILLING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AFBB4-735B-456C-A804-88945958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relazionale protegge il cuore transazionale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CB018-A952-4837-8CA9-7C528F7E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A2110-0387-4BE9-813E-228D2DBF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B8D9"/>
                </a:solidFill>
              </a:defRPr>
            </a:pPr>
            <a:r>
              <a:rPr sz="2175" b="1">
                <a:solidFill>
                  <a:srgbClr val="00B8D9"/>
                </a:solidFill>
              </a:rPr>
              <a:t>ACCOUNT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CB785-C6C3-426D-BFAE-A8C26A2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0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F5A5A"/>
                </a:solidFill>
              </a:defRPr>
            </a:pPr>
            <a:r>
              <a:rPr sz="2175" b="1">
                <a:solidFill>
                  <a:srgbClr val="EF5A5A"/>
                </a:solidFill>
              </a:rPr>
              <a:t>PAYMENT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EEE2B-33D5-4B8E-8266-43833047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8A4C"/>
                </a:solidFill>
              </a:defRPr>
            </a:pPr>
            <a:r>
              <a:rPr sz="2175" b="1">
                <a:solidFill>
                  <a:srgbClr val="FF8A4C"/>
                </a:solidFill>
              </a:rPr>
              <a:t>ENTITLEMENT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CC75A-5D42-466E-9E60-44C13964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BEC37-6E1C-4470-A6DB-58CE1233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95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2606D"/>
                </a:solidFill>
              </a:defRPr>
            </a:pPr>
            <a:r>
              <a:rPr sz="2625" b="1">
                <a:solidFill>
                  <a:srgbClr val="52606D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2FFA5-0724-4F50-A77D-84E790CB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2405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transaction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866C5-D62D-4DBB-A71B-034D2357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6695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CFA46-0972-4671-9262-F5A4EA94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2606D"/>
                </a:solidFill>
              </a:defRPr>
            </a:pPr>
            <a:r>
              <a:rPr sz="2625" b="1">
                <a:solidFill>
                  <a:srgbClr val="52606D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BA974-E2F3-41E2-BFF9-43733E57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2405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event / saga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15FB2-D17D-42FC-BC29-C7E4A292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Vincoli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AC56F-E8DA-4EE6-9BF1-D3626AA7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Idempotenza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42B2F-061E-4FBA-93B7-C69A1561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1391B-66C1-47B4-ABE1-7F40266C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625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Il database non elimina il processo cross-service: lo rende esplicito.</a:t>
            </a:r>
          </a:p>
        </p:txBody>
      </p:sp>
    </p:spTree>
    <p:extLst>
      <p:ext uri="{BB962C8B-B14F-4D97-AF65-F5344CB8AC3E}">
        <p14:creationId xmlns:p14="http://schemas.microsoft.com/office/powerpoint/2010/main" val="18737877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C5A48-B76B-4424-A1E8-96DFBC01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REDIS • SESSIONI + CACHE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DEF15-D85A-49ED-B2F6-50A9EC32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Key-value serve il percorso più corto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61A05-E664-4282-8F64-F933ED9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EF796-54AA-4ABA-B552-C067A8EA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8A4C"/>
                </a:solidFill>
              </a:defRPr>
            </a:pPr>
            <a:r>
              <a:rPr sz="2250" b="1">
                <a:solidFill>
                  <a:srgbClr val="FF8A4C"/>
                </a:solidFill>
              </a:rPr>
              <a:t>session:7F3A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89D25-DA7C-4A16-B4C0-0D1DB6E4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982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A4AFB-200F-4EDD-942F-96124371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58481-21C0-4588-8361-719E31ED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GET / SET + TTL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416A2-8531-4F3E-A157-5F5A2418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34E86-EA35-40DB-8B1B-64BC4908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3837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{ userId: u1,</a:t>
            </a:r>
          </a:p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  expiresAt: …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353E3-7E8A-46D0-BFDD-BBCD9611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F5A5A"/>
                </a:solidFill>
              </a:defRPr>
            </a:pPr>
            <a:r>
              <a:rPr sz="2025" b="1">
                <a:solidFill>
                  <a:srgbClr val="EF5A5A"/>
                </a:solidFill>
              </a:rPr>
              <a:t>Perdita tollerata ≠ dato senza responsabilità.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FF356-EC5E-4A35-9BE9-8E73F22D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Dichiarare TTL, invalidazione, persistence e fallback.</a:t>
            </a:r>
          </a:p>
        </p:txBody>
      </p:sp>
    </p:spTree>
    <p:extLst>
      <p:ext uri="{BB962C8B-B14F-4D97-AF65-F5344CB8AC3E}">
        <p14:creationId xmlns:p14="http://schemas.microsoft.com/office/powerpoint/2010/main" val="10846544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2D87D-8375-443B-AEA6-17F6EB64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DOCUMENT DB • CATALOGO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DC171-B86E-47E9-A5AE-92DEC5BA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documento conserva il film come aggregato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B4F12-5C84-4428-A9BB-C3A3F188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9E7FA-21D5-4B68-9576-AE742438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88582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D7E80-6B7D-4E26-99D2-DA4DF9CA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952625"/>
            <a:ext cx="8096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"movieId": "m1",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"title": "Interstellar",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"genres": ["Sci-Fi", "Drama"],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"languages": ["it", "en"],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"availability": [{"country":"IT","from":"…"}]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A6042-A2DF-422F-84EB-40429EE5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721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6EE6"/>
                </a:solidFill>
              </a:defRPr>
            </a:pPr>
            <a:r>
              <a:rPr sz="1725" b="1">
                <a:solidFill>
                  <a:srgbClr val="7C6EE6"/>
                </a:solidFill>
              </a:rPr>
              <a:t>Il Catalog decide; Search indicizza.</a:t>
            </a:r>
          </a:p>
        </p:txBody>
      </p:sp>
    </p:spTree>
    <p:extLst>
      <p:ext uri="{BB962C8B-B14F-4D97-AF65-F5344CB8AC3E}">
        <p14:creationId xmlns:p14="http://schemas.microsoft.com/office/powerpoint/2010/main" val="20789707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D06A1-3FD6-4CDB-9629-0E76805B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GRAPH DB • SOCIAL +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B75E9-75D7-4A38-B9B2-3370FEA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grafo rende naturali connessioni e percorsi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95E79-37ED-4D11-82CE-AD08FC17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47EFE-6DCD-4B0D-825B-F76ECB55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464CA-0318-4C68-A490-83CF67A7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95219-AEEC-4641-8F62-1BE7D44E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09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FOLLOWS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905B6-1A50-4D2B-8F6D-A93B2140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BF9DD-883C-44C8-9475-86C842F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0E568-0549-47B8-856D-9586D268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LIKES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9C3E0-A4B6-497C-A20D-8B117335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83576-83C3-4B8D-B5B3-06CE7009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C609E-EB0A-4422-918B-44B988AB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7B664-6625-4BE4-85A4-E5CB6FAE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854C9-3A37-4C1D-AB3A-AD11FAC9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ANNA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4F251-DA5F-484A-BCFD-6C5B5451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B4FD4-A1C0-4B23-A759-BA80D9A1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A1FA0-66A6-4EBD-BC8B-698417E6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860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INTERSTELLAR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FF578-361E-4E1A-8975-2CC5535A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movie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1CF7A7-4E9C-4532-A828-369C276B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Query: film apprezzati dagli amici di Mario, con profondità limitata.</a:t>
            </a:r>
          </a:p>
        </p:txBody>
      </p:sp>
    </p:spTree>
    <p:extLst>
      <p:ext uri="{BB962C8B-B14F-4D97-AF65-F5344CB8AC3E}">
        <p14:creationId xmlns:p14="http://schemas.microsoft.com/office/powerpoint/2010/main" val="16567128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E21210-F0D5-4520-ABD2-DEF9C2BB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WIDE-COLUMN • HISTORY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6E48A-B651-4ECF-9025-A7AD2020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Gli eventi operativi vanno modellati per la 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F098D-36F4-41D7-9FF4-2809931E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026B6-5506-40C3-95B9-F2C7DEEB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CA855-F952-4252-872C-A0CF1C8D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Partition key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A3A2E-9FA2-47A6-B0A7-61E1D182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0500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FC6BA-FE08-4DAF-97EB-34BE4211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383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Clustering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F8E79-79F6-4225-8E82-CC69FE3E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050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2D2B6-71DD-4721-B901-7A623D83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383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Query naturale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A840F-5664-49CB-BD26-3024E32A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03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4A2FB-F068-4E3B-B036-985E2CCD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717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(user_id, day)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D919C-52DB-4450-8F8B-BA93DC22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03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36BE0-C094-403F-B1A1-8A7F279D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717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event_time DESC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C9823-1B5A-4481-962C-90166DCD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003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063EF-0DA3-4048-A868-201FCAFB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7175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cronologia giornaliera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CF06B-94D4-4662-8550-34E71485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8D930-D0B8-4CB3-8DF3-8C92855E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099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(movie_id, hour)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EFFE7-1F84-4FAD-B611-85C6FD68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385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4071D-505D-400A-8EFC-7CABC7AF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099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event_time DESC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CE29C-5A51-4746-8EBD-38598CFF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385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96DB2-89C9-40AA-ACB5-4C346AF2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0995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hot title nell’ora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1187F-D679-4D42-9C27-516ECF75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767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90D64-C658-4771-9ADA-BC877A3A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248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(device_id, day)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64949-EEBB-4510-B959-DC56FD2E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767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74BB3-733C-4ABA-AD19-2A32BDD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248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event_time DESC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5A75DA-980F-4F2F-903D-31531263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767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6DA01B-3379-4BE1-93F0-533624F2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48150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diagnostica dispositivo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E8E9D-1F39-49DD-9F4B-424B87C0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435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Due query dominanti possono richiedere due viste denormalizzate.</a:t>
            </a:r>
          </a:p>
        </p:txBody>
      </p:sp>
    </p:spTree>
    <p:extLst>
      <p:ext uri="{BB962C8B-B14F-4D97-AF65-F5344CB8AC3E}">
        <p14:creationId xmlns:p14="http://schemas.microsoft.com/office/powerpoint/2010/main" val="14692294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EC5A4-4502-4199-B74B-9DE3B2C2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TIME-SERIES +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6B217-CA52-4776-8FBF-BDFBE5D0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Tempo e rilevanza richiedono viste specializzate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6FAF5-7D57-40FB-AE82-5259AC3E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427FF-5D87-406C-9AE3-FC4018BC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87910-D7C2-4746-B601-1DE8F26F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6CFC1-1B74-43C8-9320-018939DE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B08A8-637C-419C-A096-9AB5BC10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B30FC-B185-473D-8804-4C1F56AF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TIME-SERIES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6B204-3594-4024-8998-9FAD225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Buffer, bitrate, errori e finestre temporali. Retention e downsampling fanno parte del requisito.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BE45D-1534-4F43-A8AD-56B3367C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C8514-5A8A-43C1-9D95-51B5F3D1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Titolo, sinossi, cast e faccette. Ranking rapido; Catalog rimane autorevole.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F034D-5915-407E-92D0-A080C6A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97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Entrambe sono proiezioni ricostruibili dal flusso sorgente.</a:t>
            </a:r>
          </a:p>
        </p:txBody>
      </p:sp>
    </p:spTree>
    <p:extLst>
      <p:ext uri="{BB962C8B-B14F-4D97-AF65-F5344CB8AC3E}">
        <p14:creationId xmlns:p14="http://schemas.microsoft.com/office/powerpoint/2010/main" val="8263413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EEA39-DD66-4B7A-BD6F-5AE1824E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EVENT LOG + OBJECT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A08A6-9B9B-47A1-8304-44EC587F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log distribuisce fatti; l’object storage conserva storia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1CA85-7A70-4DAD-8691-1FAA30F1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995AE-E97B-4F15-B89F-5A5526BC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3BC29-B23E-4484-9104-15FB41E4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4C84A"/>
                </a:solidFill>
              </a:defRPr>
            </a:pPr>
            <a:r>
              <a:rPr sz="2625" b="1">
                <a:solidFill>
                  <a:srgbClr val="F4C84A"/>
                </a:solidFill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D56D9-30AF-4A86-972A-4C60E4D6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C84A"/>
                </a:solidFill>
              </a:defRPr>
            </a:pPr>
            <a:r>
              <a:rPr sz="1050" b="1">
                <a:solidFill>
                  <a:srgbClr val="F4C84A"/>
                </a:solidFill>
              </a:rPr>
              <a:t>consumer groups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AE11A-DD06-4675-B12A-490E6B0E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295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9CD84-5B78-49B7-988A-1BC9222A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336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EVENT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75C26-8DF4-4DEE-B370-3C8BDCB5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95575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ordine per partizione • replay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74575-630E-4E85-827E-51DB418F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3810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1F374-E407-45FA-A974-56A480DB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OBJECT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0EDAC-7B7F-47E6-B05B-3F9D8199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95575"/>
            <a:ext cx="350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raw archive • video • 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04905-B717-4A63-85BD-4D215013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LOG: muove eventi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F28C2-CAAF-4C0C-9828-008C1665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STORAGE: conserva oggetti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B7A82-AA5F-4DEE-92BF-3F10D688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9112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Nessuno dei due sostituisce automaticamente le viste applicative.</a:t>
            </a:r>
          </a:p>
        </p:txBody>
      </p:sp>
    </p:spTree>
    <p:extLst>
      <p:ext uri="{BB962C8B-B14F-4D97-AF65-F5344CB8AC3E}">
        <p14:creationId xmlns:p14="http://schemas.microsoft.com/office/powerpoint/2010/main" val="13559798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9D765A-24C4-444C-B2E4-D16E8A9F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VISTA END-TO-END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A00E7-39CA-4F59-A38A-88C26F00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piattaforma nasce dai flussi, non dai rettangoli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A1B87-EFE5-4508-BB7E-6FB65E0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53BF1-6E12-44A4-B384-86C32C3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0277D-4247-4DD2-968B-070998C3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F90BD-42CC-46A2-A214-4989DA3B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14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command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FA250-E347-4E50-8B8D-F4E440EF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F6375-E74D-465B-8A30-9E8D415B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86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2005B-7171-4638-9199-FDE01568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outbox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CFF2E-7F2A-4FBF-89D2-39E8B7AD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8829B-A0F3-4A9D-B961-C4DE4BD5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86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4C84A"/>
                </a:solidFill>
              </a:defRPr>
            </a:pPr>
            <a:r>
              <a:rPr sz="2625" b="1">
                <a:solidFill>
                  <a:srgbClr val="F4C84A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803EF-C7B9-46AF-A748-A73B35B3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C84A"/>
                </a:solidFill>
              </a:defRPr>
            </a:pPr>
            <a:r>
              <a:rPr sz="1050" b="1">
                <a:solidFill>
                  <a:srgbClr val="F4C84A"/>
                </a:solidFill>
              </a:rPr>
              <a:t>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B7323-936B-4C0A-ACCA-FD77B4A1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67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89A4D-D8F1-412A-9F26-20E38724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95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7A36A"/>
                </a:solidFill>
              </a:defRPr>
            </a:pPr>
            <a:r>
              <a:rPr sz="2625" b="1">
                <a:solidFill>
                  <a:srgbClr val="27A36A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42AAE-FACC-4BEA-8ADB-9190F36A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243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36A"/>
                </a:solidFill>
              </a:defRPr>
            </a:pPr>
            <a:r>
              <a:rPr sz="1050" b="1">
                <a:solidFill>
                  <a:srgbClr val="27A36A"/>
                </a:solidFill>
              </a:rPr>
              <a:t>archive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5D0D2-8020-4077-A035-4EA81B9A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714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0FBDF-F6A1-4861-93AD-4A2D495B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563A7-CD4A-473A-B241-43811BBE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1409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web • mobile • TV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3885B-06BF-4421-B308-81D2E02B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000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38306A-DD05-4260-AC7C-B901926C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43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DOMAIN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BCF8B-9B71-4E50-A126-40B56DD6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05075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validate + 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CAF93-3B85-4DCF-BEE4-66E4B56B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000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26743-419B-47BC-890A-4794D157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EVENT 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813C1-6D04-4EA4-BB95-30545092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05075"/>
            <a:ext cx="1695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partition + retention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61C651-03C4-4385-90D0-D4CF93BC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190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380E77-8155-4509-89B3-22D08DEA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431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PROJECTIONS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4C36F-8512-4274-B6C2-933D6D14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1885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search • graph • 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01952-58E1-4A26-9128-76338311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6D5CA-4799-44E4-8274-06C92E19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528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OBJECT STORAGE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00E653-6FD4-43DD-AF5F-93CB7779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14825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raw + media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001923-F369-4E61-8591-E02DBF83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816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Ogni freccia: contratto • owner • retry • metrica.</a:t>
            </a:r>
          </a:p>
        </p:txBody>
      </p:sp>
    </p:spTree>
    <p:extLst>
      <p:ext uri="{BB962C8B-B14F-4D97-AF65-F5344CB8AC3E}">
        <p14:creationId xmlns:p14="http://schemas.microsoft.com/office/powerpoint/2010/main" val="160847116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FE0AE-D7E1-4F8C-BD03-7CC3C04C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FLOW 1 • RATING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89F07-0315-47D1-B044-0D383624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rating usa un commit locale e conseguenze asincrone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590EC-08C6-402F-AC30-29D35F4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5BCA4-612B-4D0A-BD57-709BCBD3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D3DDB-4BF6-459C-A28A-EFD68C4E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COMMAND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3893A-8A57-4958-86FB-40CFABAB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SetRating con command_id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03BA0-C1DC-4A0F-AE45-8FB776CB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4CF9A-87D1-4CEB-94D9-9C69C4DF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81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9A4D7-970A-4BEB-98A9-BD9C3A24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rating + outbox nella stessa transazione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D53AF-CBDA-4DAA-96E9-1084907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C84A"/>
                </a:solidFill>
              </a:defRPr>
            </a:pPr>
            <a:r>
              <a:rPr sz="1800" b="1">
                <a:solidFill>
                  <a:srgbClr val="F4C84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8F51F-ED2D-409F-81DC-16AE4C2E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43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PUBLISH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5FDCC-D62A-469A-B6EF-9CCCD93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relay/CDC invia RatingChanged.v1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EA810-9289-4984-A8B3-8536FAD3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87A08-413F-41E1-927A-A35140D8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CONSUME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2008D-7256-413B-A737-90828206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graph, recommendation e analytics deduplicano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225CF-4AB0-457C-A949-588B0D2C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BF85C-C606-4BC4-8240-9C3C4CF8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OBSERVE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60C0E-1903-401B-AE99-96D4D159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lag, duplicate e DLQ misurati</a:t>
            </a:r>
          </a:p>
        </p:txBody>
      </p:sp>
    </p:spTree>
    <p:extLst>
      <p:ext uri="{BB962C8B-B14F-4D97-AF65-F5344CB8AC3E}">
        <p14:creationId xmlns:p14="http://schemas.microsoft.com/office/powerpoint/2010/main" val="19740170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A9F7C-A773-468E-A321-2C5904C2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FLOW 2 • BILLING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D8EB4-2133-4018-901C-06B99BE3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cambio piano è una saga, non un unico rollback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1C0C5-406A-4790-B977-BDE3B99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5F69C-B9E5-4835-AD57-FEC2BB6B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B8C8C-AC7A-444A-A110-F26138EE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76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5793E-780C-441F-9717-7A67FD9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333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59A3-3D65-44F4-8AE3-BF55C455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86000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1 • CREATE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D46BD-555C-4209-8616-1483C119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47950"/>
            <a:ext cx="2028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local transaction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9B233-D31C-476A-AFB0-7033649A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479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C03D8-285F-470D-9A8A-EC6653A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D9BD9-C4F3-405B-B535-90011384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333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C839B-4A86-4E8E-B5AE-CC537191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86000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2 • AUTHORIZE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C537D-5FFC-4865-B1CA-51CCFBAB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2028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idempotency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9A173-ACBB-4590-8511-E74743C0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3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0CA48-DD88-407A-8982-7C147D14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8DDE3"/>
                </a:solidFill>
              </a:defRPr>
            </a:pPr>
            <a:r>
              <a:rPr sz="2625" b="1">
                <a:solidFill>
                  <a:srgbClr val="D8DDE3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2A967-CCFE-463D-9283-8A4D9229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2333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75CFB-61A4-4C5A-80B0-A2746C49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86000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3 • ACTIVATE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6EBDF-5EFC-4A98-A853-FD72D064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47950"/>
            <a:ext cx="2028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entitlement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1E298-240F-453E-93DB-16BF1D0E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333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5DF2-7CB2-495B-A7CA-C083B531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86000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4 • CONFIRM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B9DC5-0856-4E88-ADC4-AD1C6BFB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028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local transaction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7C5BF-DF98-436E-A1E0-C9CB38C2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F5A5A"/>
                </a:solidFill>
              </a:defRPr>
            </a:pPr>
            <a:r>
              <a:rPr sz="2025" b="1">
                <a:solidFill>
                  <a:srgbClr val="EF5A5A"/>
                </a:solidFill>
              </a:rPr>
              <a:t>Se ACTIVATE fallisce: void/compensazione + stato osservabile.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2BFAF-3DC6-4B13-A1A0-7DF4BBD3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053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Compensare è una nuova operazione: può fallire e richiede retry.</a:t>
            </a:r>
          </a:p>
        </p:txBody>
      </p:sp>
    </p:spTree>
    <p:extLst>
      <p:ext uri="{BB962C8B-B14F-4D97-AF65-F5344CB8AC3E}">
        <p14:creationId xmlns:p14="http://schemas.microsoft.com/office/powerpoint/2010/main" val="17585276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E21B4-967B-40A1-ACF7-87FADDD5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FLOW 3 • CQRS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F03E9-BBB7-40F1-85CF-4B43C341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home è una read model con freschezza dichiarata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717D8-9750-4735-B9E4-5FF07989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70D1-E4D9-4E4F-A379-99F56892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3810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E82B0-11FE-4220-92B5-03CF3E0F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WRITE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6E9D9-A984-4A83-B6DC-125AF3EC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575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Catalog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Social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Playback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55806-DE2F-45BA-A2BD-41731ED4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765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A5615-AFB4-4384-A0B9-5D5A4015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05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1442B-9680-4B60-9FBF-A0C9A914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33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655F1-E0E9-4E9F-A3A8-1AB2357B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286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F1503-0675-4B56-9D60-C9BF0617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43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HOME READ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3440A-E394-4B41-8626-A878374F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continueWatching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recommended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subscription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generatedAt + versions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12581-056B-4D97-9073-3B397526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Veloce perché precomposta; corretta perché misurata e ricostruibile.</a:t>
            </a:r>
          </a:p>
        </p:txBody>
      </p:sp>
    </p:spTree>
    <p:extLst>
      <p:ext uri="{BB962C8B-B14F-4D97-AF65-F5344CB8AC3E}">
        <p14:creationId xmlns:p14="http://schemas.microsoft.com/office/powerpoint/2010/main" val="3698150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78624-2C71-49B6-8971-0FBD9A55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CACHE-ASIDE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B4C72-1DD0-46AD-9945-BE934E65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cache accelera soltanto se l’invalidazione è progettata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274F8-7D09-4D56-9941-D995734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02137-4C7A-4B1D-B356-38EBAC10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C9BB0-E99F-4CE0-846C-72584B7B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14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56652-3DE2-4F72-83AE-E8E8AF25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lookup cache; su miss legge la fonte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F6BB9-D6CD-4926-B724-59458748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130A6-D4F2-4E74-B28B-F6695B91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71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A7AD1-AD15-4654-951E-B7EB62E6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scrive con TTL e versione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44B30-CDD6-4AC5-9CC2-11D40CE3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16CEE-5468-4384-9E69-C7943D24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29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WRITE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D568F-82F6-40AC-99FE-E24826D3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aggiorna la fonte autorevole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C332C-BC81-496A-89FE-94D0B183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31618-B1D9-4469-A910-9F12D799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86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7C1F5-35C6-485F-A410-4FAC39C3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rimuove la chiave dopo il commit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059EF-C89A-4445-982C-8F90A359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3816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Misura hit rate, miss, eviction e stale read.</a:t>
            </a:r>
          </a:p>
        </p:txBody>
      </p:sp>
    </p:spTree>
    <p:extLst>
      <p:ext uri="{BB962C8B-B14F-4D97-AF65-F5344CB8AC3E}">
        <p14:creationId xmlns:p14="http://schemas.microsoft.com/office/powerpoint/2010/main" val="18700424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CB3A27-3BCE-4FB5-9A96-9E731141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CONSISTENCY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26ECE-E304-4CD0-A024-7E361BE1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Ogni feature riceve un freshness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4E231-4F47-4A7E-B601-293B441B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A1E5-8E9D-45CE-AFD4-37EAD3D6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CFAE6-6706-40FE-9EBD-18059AD5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0DBB1-21E7-4B39-9AAF-5FE288EE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D3EB2-CA1F-438A-B877-845C62CF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526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Autorità / budget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5D65E-7B23-40B8-A866-3FE5723D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4238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C0288-E6EB-4085-BBF5-AA17C7F9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4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Esperienza utente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8E9D9-EBB2-4451-9E22-E754841A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8B0D7-2ACE-4EC5-8486-93E0000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860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Pagamento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C7AA23-4CC6-45F8-9AE4-3CE9D6E7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14550"/>
            <a:ext cx="381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20E23-441C-4B24-BA8D-9FE367C6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8600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source • immediato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9E456-5F59-4BCF-A89A-88922C6D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14550"/>
            <a:ext cx="4238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101FE-3AAB-44F6-80C7-E614B384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86000"/>
            <a:ext cx="397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pending se esito incerto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7CBA9-5AD8-4283-9D2D-593E2143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0BEF4-670B-48E8-B6B3-5A6C1286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908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Profilo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9E82C-E8A4-47A9-8124-32A7C3BD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19400"/>
            <a:ext cx="381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2F49A-1109-43D3-9385-405DD04D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9085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read-your-writes &lt; 1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AF44A-04EB-4BFA-8DDB-53186925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19400"/>
            <a:ext cx="4238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8D461-AC95-4443-A01E-AAEE1332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990850"/>
            <a:ext cx="397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mostra comando locale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1DF28D-D9BC-4B0A-B4CE-77F9D470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7095B-A64C-41FC-A961-42A19C51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957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Ricerca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956FE-3B8A-43C8-B020-EFCBA8AB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24250"/>
            <a:ext cx="381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3C67F6-F6B4-4B1C-A339-0CC959D5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9570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projection &lt; 30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8765E-7C73-4E38-B25C-795F9C9E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24250"/>
            <a:ext cx="4238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A920AC-2A13-4D3E-89A7-8C7B25F3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695700"/>
            <a:ext cx="397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disponibilità verificata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AAB6E8-292C-4FCC-9FD7-46755BB2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54A91B-26FD-4B20-AE8F-94EC7155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005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Home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835175-61A3-4AD2-965E-13F03B4C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9100"/>
            <a:ext cx="381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185792-28B6-4DCF-AF5B-796CA735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40055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read model &lt; 10 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40EB5E-02EA-4412-AB76-1F61D2C1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29100"/>
            <a:ext cx="4238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D03F7E-5688-49D1-A5E9-D46BCAFA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400550"/>
            <a:ext cx="397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sezioni degradabili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93F6A0-AE8D-4B33-82EB-33171EE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F6655D-847E-4905-AAB3-3F0B4853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0540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Analytics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77CD3E-550B-440D-A7B8-20A74589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33950"/>
            <a:ext cx="381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46628F-945F-4652-8819-81A46BD1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10540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projection &lt; 15 min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D599EC-77A3-464B-AAB1-919D3DE3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33950"/>
            <a:ext cx="4238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B7DEC7-23ED-40AB-A0A5-431CC298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105400"/>
            <a:ext cx="397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timestamp visibile</a:t>
            </a:r>
          </a:p>
        </p:txBody>
      </p:sp>
    </p:spTree>
    <p:extLst>
      <p:ext uri="{BB962C8B-B14F-4D97-AF65-F5344CB8AC3E}">
        <p14:creationId xmlns:p14="http://schemas.microsoft.com/office/powerpoint/2010/main" val="17349299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A548DA-D35A-4D32-9DA2-7775FA75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NON PER PRODOTTO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C4F6D-F90F-40A2-99E1-7F69588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consistenza si decide per operazione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9383C-A544-4AEB-B704-32FA9163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057A4-3E77-4995-9ABA-E7660221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5BE85-62AA-41D2-BBB5-16B668F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47024-2A30-4FB9-B6DE-C2355762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STRONG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C528E-4217-489A-AB50-F9A19E0A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A5A"/>
                </a:solidFill>
              </a:defRPr>
            </a:pPr>
            <a:r>
              <a:rPr sz="1125" b="1">
                <a:solidFill>
                  <a:srgbClr val="EF5A5A"/>
                </a:solidFill>
              </a:rPr>
              <a:t>rifiuta o attende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7EF7F-A85E-4008-B050-D08F9FF5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saldo • pagamento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C7385-0870-4B5E-A885-4012F989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28447-CEA1-47FC-8CAF-55206664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6CD1D-AA37-4B36-ABF9-A6058683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READ-YOUR-WRITES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5555A-5C1E-4949-8A2D-F43C7A2B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336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risultato locale/versione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CD627-FCD5-425B-930D-75DD6636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03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profilo • rating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34F12-FD39-4517-97A4-4F786F89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4C407-7B80-436B-93C2-305F3E25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49E66-E4CF-4562-8EC8-56378168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EVENTUAL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4DEE8-EC15-4350-8C45-D70A3919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lag entro budget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89105-35AA-4183-AB5F-059CED1E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search • home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9ADF1-E2AE-4820-BE2A-7803B627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BA071-F70C-467D-9BE7-0A5D494E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08CF1-F261-4D63-A90E-5DBFFF0C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APPEND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0C19C-8263-4F43-8A39-C6644AE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6EE6"/>
                </a:solidFill>
              </a:defRPr>
            </a:pPr>
            <a:r>
              <a:rPr sz="1125" b="1">
                <a:solidFill>
                  <a:srgbClr val="7C6EE6"/>
                </a:solidFill>
              </a:rPr>
              <a:t>ordine per aggregate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7256D-96D2-4992-99A1-2F094BF7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view 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E1577-17C8-4BD0-AED4-5220F598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292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Una piattaforma reale combina garanzie differenti.</a:t>
            </a:r>
          </a:p>
        </p:txBody>
      </p:sp>
    </p:spTree>
    <p:extLst>
      <p:ext uri="{BB962C8B-B14F-4D97-AF65-F5344CB8AC3E}">
        <p14:creationId xmlns:p14="http://schemas.microsoft.com/office/powerpoint/2010/main" val="17387063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2EF71-1D7E-49B1-A0CF-00E83DB3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CAP APPLICATO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AB7C7-69FE-41AF-8640-1FAFA6F1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Durante una partizione, ogni operazione deve scegliere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81B08-4454-4E1E-A6E3-8602155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B3DA2-661D-4DF7-BF1B-E21B94F5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B8D9"/>
                </a:solidFill>
              </a:defRPr>
            </a:pPr>
            <a:r>
              <a:rPr sz="2325" b="1">
                <a:solidFill>
                  <a:srgbClr val="00B8D9"/>
                </a:solidFill>
              </a:rPr>
              <a:t>ROMA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259E4-0181-452F-894C-EA21CC91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C6EE6"/>
                </a:solidFill>
              </a:defRPr>
            </a:pPr>
            <a:r>
              <a:rPr sz="2325" b="1">
                <a:solidFill>
                  <a:srgbClr val="7C6EE6"/>
                </a:solidFill>
              </a:rPr>
              <a:t>LONDRA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9E73A-2AB6-4C2F-9A32-1ED40C79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523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C6DFD-5A68-4B54-A531-DE31488C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5A5A"/>
                </a:solidFill>
              </a:defRPr>
            </a:pPr>
            <a:r>
              <a:rPr sz="1650" b="1">
                <a:solidFill>
                  <a:srgbClr val="EF5A5A"/>
                </a:solidFill>
              </a:rPr>
              <a:t>NETWORK PARTITION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08605-7065-4FF8-9017-E5D9DB3A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52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3B4FE-599C-4DCE-A8F0-A29CCBF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73D99-669A-4E0A-83A1-4E582B17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degradare o rifiutare?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BCAEA-F9CB-4B3D-BF4E-A5349645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14750"/>
            <a:ext cx="2952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65C16-B137-4EF6-9F40-9347238D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24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72211-9C83-47CC-86C1-BDD2369B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05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accettare e riconciliare?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6145E-2752-498B-B47F-C7BDF462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952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6AC5D-F4D8-40C4-B77C-F3F8FCA9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24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PAYMENT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EC1E5-9972-4C3A-A30C-C4942A3E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bloccare su dubbio?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09AEE-C709-45EB-B29B-9C4AB45B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816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CAP diventa comportamento osservabile, non un’etichetta.</a:t>
            </a:r>
          </a:p>
        </p:txBody>
      </p:sp>
    </p:spTree>
    <p:extLst>
      <p:ext uri="{BB962C8B-B14F-4D97-AF65-F5344CB8AC3E}">
        <p14:creationId xmlns:p14="http://schemas.microsoft.com/office/powerpoint/2010/main" val="15855571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A2E55C-F9FA-47A6-A1F3-B609EFE0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FAILURE MODE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0C756-745D-437A-9CE8-65509476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progetto deve dichiarare come fallisce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96396-CC6D-482C-8CE7-B2A17258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B804E-8EA0-40F6-A779-63EA18B6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96E28-8212-48C2-90F0-42CBE3DB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Guasto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B9DAB-AE6D-47B6-9391-8F2B1122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192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75661-E1EF-4BAA-A873-DB0D9712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526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Sintomo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4768B-78C7-4C6B-AB55-E96AFF57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19250"/>
            <a:ext cx="3476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6A096-03C6-4A67-8929-A0C03346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52600"/>
            <a:ext cx="3286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3183D-5279-435E-9E5D-0C0BFD9D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A4708-914B-4EA4-BA6E-C1F03A01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860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Database owner down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2BA6B-F3B1-4DD1-A947-35231306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145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2FC3D-35BC-4C37-B4C7-9524A754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8600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comando non confermato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05DF3-526A-4568-9C6D-01F65081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14550"/>
            <a:ext cx="347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3F742-FF78-4E41-8062-E8440D3F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86000"/>
            <a:ext cx="3209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failover / restore / retry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449D8-EC6E-4CF8-A21D-0AD2A4EE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F6BD4-0067-41EE-996F-BB75BE6B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908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Consumer fermo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2C6C3-2E53-46A0-9583-1A8D3611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194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31ED1-F648-4D9E-96E5-014F2454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9908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projection stale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54F17-FBAD-44DA-8B06-A3817C07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19400"/>
            <a:ext cx="347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ADC73-C3AA-47FD-92D4-A5D98452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90850"/>
            <a:ext cx="3209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resume + replay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8A617-2AC2-4325-9F77-4B36253C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C11C36-B0D5-438C-B4A4-2B57041D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957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Evento duplicato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5A71E-2A2B-495D-8A5A-EA99A084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242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600C13-FFE5-4D69-80A0-FE7D5C11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69570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effetto ripetuto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E873F-6F93-415D-8830-24D19977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24250"/>
            <a:ext cx="347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E1C076-B53E-466C-9A76-8474BFE7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695700"/>
            <a:ext cx="3209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idempotenza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B5041-6526-45BF-9AE9-D6F48C99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806C27-5BA8-4E63-8F10-27633A9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005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Schema incompatibile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64FA12-D6ED-4611-B1D8-C6FB542A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291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18992-5530-4FC4-8158-F455903E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4005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DLQ / backlog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059965-C24E-4423-99DE-7B5E97AF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29100"/>
            <a:ext cx="347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EDED52-8167-4CC3-8565-BCC57ED8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00550"/>
            <a:ext cx="3209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rollback + replay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F7C769-60C0-478A-8883-28E3C31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339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FF2837-0AEB-4F01-AAFC-DB77F4FB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05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Regione isolata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519E15-8969-475F-BED2-8EBA832F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3395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3D075C-6163-4E46-921A-2B250282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10540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dati divergenti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D00ACB-DBB4-4902-A5C3-4CF9A664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33950"/>
            <a:ext cx="3476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09F2CB-2DD2-4ABB-8023-06DEDFDF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105400"/>
            <a:ext cx="3209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policy per operazione</a:t>
            </a:r>
          </a:p>
        </p:txBody>
      </p:sp>
    </p:spTree>
    <p:extLst>
      <p:ext uri="{BB962C8B-B14F-4D97-AF65-F5344CB8AC3E}">
        <p14:creationId xmlns:p14="http://schemas.microsoft.com/office/powerpoint/2010/main" val="16236248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982DDC-B0BA-4FBD-94F1-28CC8C47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METRICHE + TRACING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86B9C-180D-4607-9187-2CB774B6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Un’architettura osservabile dimostra il proprio stato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E275D-746A-441F-BEBE-379F8B6C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2E6EB-34D7-43BD-B0DD-B425EF0F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1C3F7-9221-485F-A948-8D0986A1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2D5C5-91B7-4492-9D79-35649254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58FE2-88B0-4D6E-9595-A80B7CD8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latency • error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B4E80-0E7A-48BB-A5CC-4F7442E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C8BA8-B0EF-434A-9519-B54A24F9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0F60F-A0F3-4847-94CA-D1A232A0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5D981-E390-4F01-B7EC-A5A1E2E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outbox age • consumer 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E0D5F-C0CC-45B5-BCD5-F6139CD3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0F7BF-382B-429A-9713-8A6F80E5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F780C-04E9-4E41-865C-7CD654F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6CEA0-499B-4A50-9EB5-7183E65C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freshness • mismatch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D93C4-0601-4B47-A87E-E2BD83E1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62BB3-2A5E-42E0-9531-E55B6805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349A5-1F73-48C3-BB0C-68ABCBDE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E11A0-B98D-4863-92CB-D2F2DEE6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RTO • RPO • rebuild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8B291-CBB5-42B0-B085-608C68ED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44B04-0036-46E7-AA43-45D19E1B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0DDBC-5362-480D-AD92-B04EEBB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2DF48-401B-42EF-8E40-C4EC21FD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€/1M eventi • storage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202006-AFA0-4920-A3FC-194DC782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88B600-992B-4874-BB63-8F4AEDF7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F97AB1-B77D-44D3-953A-54A4D08D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TRACE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A7BB4-3CED-45BB-A0DA-8059AD1C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correlation_id end-to-end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DE3A62-568E-4C50-9DD9-40E2984A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292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Una metrica è utile quando guida una decisione o un’azione.</a:t>
            </a:r>
          </a:p>
        </p:txBody>
      </p:sp>
    </p:spTree>
    <p:extLst>
      <p:ext uri="{BB962C8B-B14F-4D97-AF65-F5344CB8AC3E}">
        <p14:creationId xmlns:p14="http://schemas.microsoft.com/office/powerpoint/2010/main" val="12745932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715C25-DEDD-41A4-97F4-DE0F464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THREAT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98E3B-3E8E-4421-B7A9-067B6E5F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sicurezza segue dati, identità e confini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06261-6CE5-47E1-B244-281F635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A3B15-866F-492C-AF3E-D54E5CA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F8498-DBFC-4E6E-A274-501D48FC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4AC9C-E471-4037-ADD7-AC241764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AUTHN / AUTHZ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CF6CE-9EB2-4D85-A7B2-14E5A3D9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service identity + least privilege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4F6CF-FD82-405E-8762-664AF3B0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846F4-B34F-465F-8CDE-184084B0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22FFC-D3CC-471D-B111-00C7719C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81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NETWORK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297A2-CEC4-4B2E-8F19-0EE87FB6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955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segmentazione + TLS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E33EE-98DE-4E1E-9C01-45D5CD68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A10C0-B9BA-47B6-85DE-E696E1EE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49277-EE3B-4861-B833-505BE3D3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SECRETS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670EA-62FD-46A8-983C-8703F974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90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vault + rotazione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1061B-BF2D-4EAE-94BF-4C85048D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1C787-6F30-4D53-B96B-30E0FD97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46D7C-6FEF-491E-BAEC-4B1A46DE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4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EVENTS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6D699-87B1-4AFC-BA09-6D133955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290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minimizzazione +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08429-55A4-41A8-951E-9B56D896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E111B-40A0-4135-97A5-63E98CB2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FF226-5BB5-484D-AF0E-BBC5FB08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F6D58-8EF2-4E6E-B016-2B1AAD5A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chi ha letto o scritto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677551-7604-461A-A199-81D0EBDD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68E1A-3BE4-44E2-8C2A-6B504561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5CC06-DD1B-4A9F-9DA8-C23C7D92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48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ABUSE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D24C3-DBF3-43FB-B92A-719E1670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625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rate limit + antifrode</a:t>
            </a:r>
          </a:p>
        </p:txBody>
      </p:sp>
    </p:spTree>
    <p:extLst>
      <p:ext uri="{BB962C8B-B14F-4D97-AF65-F5344CB8AC3E}">
        <p14:creationId xmlns:p14="http://schemas.microsoft.com/office/powerpoint/2010/main" val="135546213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29BCF6-7FD3-4F91-A3B0-8A24A12F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RECOVERY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AD514-99BA-4578-BE15-2428BEB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Backup senza restore testato è soltanto una speranza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0D73D-43FA-4FAF-858D-0C64D5FF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44416-5261-421E-BD19-109F25A6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6F8C6-EBBC-441C-9649-3B3DE604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Componente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2A87B-717A-465A-99DB-7CB40989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19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34796-A5B0-4B07-A306-F899DCA3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52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0919E-87E8-46F4-9EB0-462E06FD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000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276D0-4772-404C-8CB6-E3B50FFA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RTO / prova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9D59D-339E-4826-ACDE-76411E2C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48764-95D0-4917-B4A7-644E8F30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Account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B65A6-3C39-481B-9A3D-627E6B55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145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DB23D-FE8B-4581-8100-4750865D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860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≤ 5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F7D80-44FE-4EE5-B9E0-D56870B6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00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1BCD8-04AD-458D-88E8-40D514B5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4733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restore trimestrale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82FE9-A5AE-4525-B67E-9AEA6010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BB2AB-E5FB-4E03-A497-D188F1E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Billing 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254C8-E4CC-4A5C-BFCE-5B9BBAB2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E2AB9-106D-4114-B2AF-F5B780C4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prossimo a zero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93879-6820-4B8A-B916-4A55F3E7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500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481DB5-0EC6-4078-8DF5-C3C59657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4733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failover + reconcile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B2FF4-4D73-45C4-BAC9-B35EE8AA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17755-1CA0-42E1-A60D-45FDC612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Search index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C2580-C94C-40B0-B6B9-EDFA4A2D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242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559733-C02D-43DD-961F-AD669046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957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ricostruibile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EBD62-4075-4EC5-8F6C-17A123B1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00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B3C8F8-1A90-41B3-B6E8-C14D60AF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4733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reindex su v2 + switch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C178CA-C202-4A62-83F5-E0D3DFA9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EA9EF0-C374-47F2-8CD3-EF08FA3D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Read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1D391D-720D-4C02-B7E6-AD1F0839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291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EACCAD-C4CA-45B3-BC2B-AB85288A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005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ricostruibile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326494-D06C-45EF-8D77-08D7CFF6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500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ABEAB4-FF40-41E1-8854-4FDD0303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00550"/>
            <a:ext cx="4733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replay + checksum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977388-9775-4B60-8DCC-03DDE186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8DDD84-46BB-4519-A0EF-0880B7F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Raw archive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4C6D66-A427-4A7C-BE90-4965FA7A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339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01F9E3-2C47-43CE-BBF8-1D007F76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054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versioning / policy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AAAC08-3029-42DE-B652-ED631332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00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9DF59B-1EBE-4CAD-93FD-A4F89817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05400"/>
            <a:ext cx="4733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inventory + sample restore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B6C8DF-F949-4FA5-80CC-E3746914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RPO: quanto dato possiamo perdere • RTO: quanto tempo possiamo restare fermi</a:t>
            </a:r>
          </a:p>
        </p:txBody>
      </p:sp>
    </p:spTree>
    <p:extLst>
      <p:ext uri="{BB962C8B-B14F-4D97-AF65-F5344CB8AC3E}">
        <p14:creationId xmlns:p14="http://schemas.microsoft.com/office/powerpoint/2010/main" val="118970898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F7F613-F2F3-477D-BC94-024DE518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COSTO TOTALE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02429-1AB0-4CF9-88B4-B9E68B25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Ogni nuovo motore deve pagare il proprio affitto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1D2DB-406E-40E1-A95D-E1F82D2F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92CBE-C426-4A55-9FBF-7A694159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14E57-F46A-47AB-A179-DA390ED8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647A7-BCE0-4CFE-ADF0-09ED2C03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INFRA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D9C1A-6C33-447A-8421-CBFD7E03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compute • storage • traffic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7E99C-492B-4D1F-B0E9-E2CEE661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BF717-F940-4F39-BF3B-BCDCB863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7CBF9-392C-48C5-A542-28111152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PEOPLE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71F62-DC06-4C64-9B4A-888F0F73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skill • on-call •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3EC66-53DD-42D6-A16C-7C11557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37519-3453-41CA-AEEE-957F4394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3FD8E-129F-42C1-83EC-DA3AA058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9FE84-FCA2-4E52-819A-896DFE9E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patch • backup • restore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D9B65-B146-4BF1-A4EA-DBD8219B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E9A02-1864-48A2-841C-DCC30174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B898E-6DCC-4890-BEEE-CC17C202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PIPELINES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9650A-5E23-4879-8FCB-613143DB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connectors • schema •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A0715-A4A5-442C-9F3E-0272278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BC4F5-5ED3-4CFD-AE0E-DF2078E9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37A33-C52E-4A05-8470-CC386E03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9E280-4654-43CD-B7E6-FC040EDA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catalog • retention •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C1088-5A9C-4A2A-8EC3-B7637F88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ACE7C-BA30-4275-9602-40B0B21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ACC76-DF15-4C8D-BB04-CD46C316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LOCK-IN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85CE1-846B-42AA-8178-2D97F253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migrazione • exit plan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6B776-976B-47C7-9581-51F949D8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29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Benefit misurabile &gt; TCO incrementale.</a:t>
            </a:r>
          </a:p>
        </p:txBody>
      </p:sp>
    </p:spTree>
    <p:extLst>
      <p:ext uri="{BB962C8B-B14F-4D97-AF65-F5344CB8AC3E}">
        <p14:creationId xmlns:p14="http://schemas.microsoft.com/office/powerpoint/2010/main" val="189321466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FAEB8-96FF-4AAF-860C-5983DE7E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EVOLUZIONE • 10.000 UTENTI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0F648-0986-44A0-AED3-BB8B1A7D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Fase 1: partire semplice conserva velocità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F5BE5-1461-45E0-9194-35935B99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2491D-5369-47ED-A7E3-1FB0DC36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90825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C8A8D-37B5-4B01-A42E-D9D3A70A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2606D"/>
                </a:solidFill>
              </a:defRPr>
            </a:pPr>
            <a:r>
              <a:rPr sz="2625" b="1">
                <a:solidFill>
                  <a:srgbClr val="52606D"/>
                </a:solidFill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3626D-DBC6-482C-8154-695FE94C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47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4009B-8677-4446-8FC9-AA3B382C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90825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F90A1-B2C6-4AB9-9D74-86EB437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2606D"/>
                </a:solidFill>
              </a:defRPr>
            </a:pPr>
            <a:r>
              <a:rPr sz="2625" b="1">
                <a:solidFill>
                  <a:srgbClr val="52606D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E9B3F-DAAF-4F85-8511-96314A00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47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objects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CC8BE-315C-4721-B38C-D9CC0FAB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7EB94-D464-40CA-91B8-139C02C1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MODULAR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7C252-FC13-4920-8245-A758DB98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2028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Identity • Catalog • 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BD5F1-C62B-4823-AFF1-63CBC426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714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0A780-C7A9-4021-91DA-8BD32EC3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3362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CC5E2-4DF8-4E0A-9D53-3C6AA2EC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95575"/>
            <a:ext cx="2409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source transazionale +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0562B-30A9-4CC7-9006-459F7AC7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55755-B13C-4748-8CB5-7ECF5999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336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OBJECT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2BF4A-F306-470C-AADA-5713403C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9557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video + export eventi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4C79E-2FAF-4328-A69B-13F67C85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29125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Una sola piattaforma dati può essere la scelta più professionale.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B382A-CA5E-43A7-9F0E-497EC76E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5A5A"/>
                </a:solidFill>
              </a:defRPr>
            </a:pPr>
            <a:r>
              <a:rPr sz="1650" b="1">
                <a:solidFill>
                  <a:srgbClr val="EF5A5A"/>
                </a:solidFill>
              </a:rPr>
              <a:t>Estrarre soltanto quando una misura dimostra il limite.</a:t>
            </a:r>
          </a:p>
        </p:txBody>
      </p:sp>
    </p:spTree>
    <p:extLst>
      <p:ext uri="{BB962C8B-B14F-4D97-AF65-F5344CB8AC3E}">
        <p14:creationId xmlns:p14="http://schemas.microsoft.com/office/powerpoint/2010/main" val="33483143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2826D5-D0F1-48A0-86B4-82711B94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EVOLUZIONE • 1 MILIONE DI UTENTI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2A321-9411-436E-A5D4-AA516242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Fase 2: specializzare i colli di bottiglia misurati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74EFF-1225-4498-895E-495F4C2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AF761-B401-4ABC-B5A5-52CAA4CB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C69F3-9FEF-4836-B6E7-B40248B2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2606D"/>
                </a:solidFill>
              </a:defRPr>
            </a:pPr>
            <a:r>
              <a:rPr sz="2625" b="1">
                <a:solidFill>
                  <a:srgbClr val="52606D"/>
                </a:solidFill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78AC-8A8B-46D1-92C3-A798EBE0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098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394E7-9E02-41DD-82F0-7BB50837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5270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7C133-BF80-4C56-A268-5A78BA69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2606D"/>
                </a:solidFill>
              </a:defRPr>
            </a:pPr>
            <a:r>
              <a:rPr sz="2625" b="1">
                <a:solidFill>
                  <a:srgbClr val="52606D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14E66-D995-494D-8B9D-DBCBC4AB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098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AF7FF-21B3-4DF3-B00E-DECE760D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6D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829CD-E6A7-4844-B168-9F1B098D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81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52606D"/>
                </a:solidFill>
              </a:defRPr>
            </a:pPr>
            <a:r>
              <a:rPr sz="2625" b="1">
                <a:solidFill>
                  <a:srgbClr val="52606D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F09E5-1DA7-4EF5-B450-E5246675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06D"/>
                </a:solidFill>
              </a:defRPr>
            </a:pPr>
            <a:r>
              <a:rPr sz="1050" b="1">
                <a:solidFill>
                  <a:srgbClr val="52606D"/>
                </a:solidFill>
              </a:rPr>
              <a:t>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95399-3F2D-4836-952F-23637888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7C1CD-CB9C-47D8-8BF1-A2E1A95C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17631-C92E-4438-8BA4-E6EB5905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confini estratti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81FAE-AC52-43FA-86C7-445AEA45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526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099CE-DC34-4F1A-867E-98EDEFCD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1431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25961-A394-4D4A-82BC-8B4831E6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5050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account + billing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2F2C8-E1D4-432A-9363-233C6CA9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E596B-0598-460C-B685-032CA86C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431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EVENT 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6EB36C-6164-43E1-8C66-5747936D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0507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view + rating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2FA18-F3C5-4F99-80B2-E2503E2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952625"/>
            <a:ext cx="1952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3187A-83CE-4BCD-93A2-4A5D829F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143125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E6D7A8-D3FF-49C4-8A6A-E2257745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05075"/>
            <a:ext cx="1647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catalog projection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6D62F6-D6A7-4C63-BCA0-A19030A6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48125"/>
            <a:ext cx="2333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4389A-7954-46AE-9497-473C4DDE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38625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REDIS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9C638-1A56-476E-8C28-08387F40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00575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session + cache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5C63A-27AF-464E-8F6C-4DFEB580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48125"/>
            <a:ext cx="2571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F57C92-39EB-4191-8508-42157CC2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386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OBJECT STORAGE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0C098C-1642-4645-AECF-5F52574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00575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media + raw archive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70A93-B382-40BE-A184-682DF80F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76875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Ogni estrazione risponde a una prova: latenza, throughput o autonomia.</a:t>
            </a:r>
          </a:p>
        </p:txBody>
      </p:sp>
    </p:spTree>
    <p:extLst>
      <p:ext uri="{BB962C8B-B14F-4D97-AF65-F5344CB8AC3E}">
        <p14:creationId xmlns:p14="http://schemas.microsoft.com/office/powerpoint/2010/main" val="11067297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42896B-DE3B-4ABD-BBA8-DEEF93B2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EVOLUZIONE • 50 MILIONI DI UTENTI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D13D6-544E-43F9-ABE6-3F9DE6BA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Fase 3: a 5 miliardi di eventi servono pipeline e viste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0516C-43BD-4DF0-99C6-AEA330E1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4E0FA-6110-4F35-BA29-CE5C1E4B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145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C7D06-6E12-4594-9B21-B9F71910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43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4C84A"/>
                </a:solidFill>
              </a:defRPr>
            </a:pPr>
            <a:r>
              <a:rPr sz="2625" b="1">
                <a:solidFill>
                  <a:srgbClr val="F4C84A"/>
                </a:solidFill>
              </a:rPr>
              <a:t>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BF3F9-0010-46D5-9766-30578D32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71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C84A"/>
                </a:solidFill>
              </a:defRPr>
            </a:pPr>
            <a:r>
              <a:rPr sz="1050" b="1">
                <a:solidFill>
                  <a:srgbClr val="F4C84A"/>
                </a:solidFill>
              </a:rPr>
              <a:t>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0D127-06C7-4416-9D63-F43000E5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145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45E8B-FF4C-4340-8986-6F6FA096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4C84A"/>
                </a:solidFill>
              </a:defRPr>
            </a:pPr>
            <a:r>
              <a:rPr sz="2625" b="1">
                <a:solidFill>
                  <a:srgbClr val="F4C84A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4021C-3CA3-4A2F-9397-6F53B02A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71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C84A"/>
                </a:solidFill>
              </a:defRPr>
            </a:pPr>
            <a:r>
              <a:rPr sz="1050" b="1">
                <a:solidFill>
                  <a:srgbClr val="F4C84A"/>
                </a:solidFill>
              </a:rPr>
              <a:t>consume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0DBBA-88C5-4BE3-A22A-7D8ABE9D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145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7D39E-40C8-4F6D-8250-6616AA2E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43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70C5D-8035-442C-A1BC-3981FEE4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71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BFFE7-5FA5-4053-A567-FB258B06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BEE54-6169-4193-BE83-8FACC54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PRODUCERS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65D1D-EE72-472E-8B2F-5D111AF1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web • mobile • TV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2E65B-3F5E-4600-8223-B4B7243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C9234-5A31-4F20-8D4E-16070D99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050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EVENT 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632DD-930C-4BB7-AC68-DF4A045F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669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partition • retention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71941-4A68-4883-A002-35268247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2FF9D-70EC-455F-A8BC-6610A140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33157-7A8C-4F2C-BF9D-DE424512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stream + batch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83BC4-8D59-4FA5-A605-D55859ED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1619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3A067-3044-4496-914D-94BFBE26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050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APIs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D6C80-3813-430B-98F9-15475BCF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266950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insight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58B90-B4D2-4E3C-A05D-AD22A33C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48125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8B7C6-3FC6-4E17-83ED-AE7F03A5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386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OBJECT 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381864-8C74-4F1B-A503-D1D3F67B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00575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raw immutable archive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E00F85-67C1-4026-B872-255A0940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48125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A1197-9AFF-4C23-9B73-7491CED4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386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QUERY VIEWS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F6F9B7-73EE-47D1-8DC2-F6F48930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00575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wide-column • search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2023F5-C1AD-4A0F-96A0-6209E468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247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8A087-6838-47EE-B529-3A8ED9F4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386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4D59CF-FF1F-48BA-9F70-6C87565A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00575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columnar • BI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E82995-3F5B-4DA8-A5DA-FEF0337D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La scala introduce il problema che Hadoop e Spark affronteranno nel Modulo 2.</a:t>
            </a:r>
          </a:p>
        </p:txBody>
      </p:sp>
    </p:spTree>
    <p:extLst>
      <p:ext uri="{BB962C8B-B14F-4D97-AF65-F5344CB8AC3E}">
        <p14:creationId xmlns:p14="http://schemas.microsoft.com/office/powerpoint/2010/main" val="86377798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1BF007-72C6-4718-8312-C0A72972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ADMISSION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90C16-C95C-46F5-887D-F9F33E15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tecnologia entra soltanto se supera la scorecard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F2AE6-8CF7-46E7-9C5F-71B05EC9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D4309-1123-4241-8FFB-0754B6EF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44B96-AFBB-4BE2-A5EE-A1F60393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Criterio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E6332-4A74-4A56-916A-E9C179A1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24000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A1E1D-E8BF-41B7-B5AA-828C192E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573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Domanda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09490-F997-4B17-9B62-AFFFB352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524000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56D23-3377-4033-9C55-2420D7FF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5735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0–3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FC68E-7979-429D-B3E6-2DC27C37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F4797-DF4C-4B16-8ED7-DFE4A7F4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907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35BD0-DD5E-414D-8BC8-EB411DEC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19300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4AD6E-C064-4B51-8988-420E9CB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90750"/>
            <a:ext cx="640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serve una query o comando prioritario?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786E1-D083-46BC-AE07-FA0D9FFF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19300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03E6D-B2E3-478B-A2E3-59AA4A57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190750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0 1 2 3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B7761-4039-49FB-A263-DCC376FC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C6D2D-BE25-4CE2-81B0-15E29461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00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GARANZIE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EEE94-FC9E-4D26-91CE-D2D07D1D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28900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6E184-B9C8-4110-8812-4364D4B5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00350"/>
            <a:ext cx="640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rispetta consistenza e failure mode?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B6A9A-702E-4962-9B00-3C136658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28900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4DBBC4-CDB5-4063-BE57-F0CACFD9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00350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0 1 2 3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D63E56-2B73-4348-AD93-3AE9927A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410CA-3D66-4B92-BFCA-349A390A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099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6EB00F-6C61-4E8E-9583-E403AAAA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B9682-4A5A-46FD-9FFB-FF3B191E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409950"/>
            <a:ext cx="640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restore o rebuild sono provati?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F161F-DFDD-424D-85F9-53B36199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38500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0A926-C1A0-4D3F-BF44-1E5D2074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409950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0 1 2 3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C2EBBF-390C-4C8C-81AF-7C5C5F26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396A27-B31A-4568-8889-A00B8621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195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SECURITY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AF7C6F-0FB0-4D37-8CD2-C5E5B7B3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48100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C349F-7FEA-40A6-990D-4B1F95E3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019550"/>
            <a:ext cx="640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privilegi e dati sono governati?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41BB5E-48B4-4D6E-A92A-6960C01F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848100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AA714-79C4-4CA6-913B-D981B406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019550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0 1 2 3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8BC446-4815-4FBB-8387-7482C180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75FCC1-B132-4DA0-AAE5-C5079512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291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OPERATIONS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11EA86-4E89-4FB2-AE34-73A2C9F0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57700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1F02B8-671E-4F1F-9B3B-D56988D3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29150"/>
            <a:ext cx="640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il team sa gestirla 24/7?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F2D796-2B02-42C6-A850-56724F8B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57700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D0968D-F74A-41F4-8D8A-BD883E67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629150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0 1 2 3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06D9FC-6BA8-4487-BF59-502164C0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BDE09D-77EA-422C-A7AB-99B58117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387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COSTO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0A98C9-5A4D-406F-A743-D5D196E2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67300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816F90-9E88-4E5D-B702-67807438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238750"/>
            <a:ext cx="640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beneficio supera il TCO?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109631-ECF0-499C-BCC5-0E66E79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067300"/>
            <a:ext cx="1666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AB91F7-2FCC-47A2-8D26-66F7F1D1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5238750"/>
            <a:ext cx="1400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0 1 2 3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00AC2F-67FA-4858-A7D4-F65CB4A6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762625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5A5A"/>
                </a:solidFill>
              </a:defRPr>
            </a:pPr>
            <a:r>
              <a:rPr sz="1575" b="1">
                <a:solidFill>
                  <a:srgbClr val="EF5A5A"/>
                </a:solidFill>
              </a:rPr>
              <a:t>Nessun punteggio totale compensa uno zero critico.</a:t>
            </a:r>
          </a:p>
        </p:txBody>
      </p:sp>
    </p:spTree>
    <p:extLst>
      <p:ext uri="{BB962C8B-B14F-4D97-AF65-F5344CB8AC3E}">
        <p14:creationId xmlns:p14="http://schemas.microsoft.com/office/powerpoint/2010/main" val="14790836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D6A1DE-909B-49E8-97BF-E09F2FFB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LAB • 165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C50FB-A014-4B5F-8E5D-63B7F518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Architecture Challenge: sei sprint, una difesa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08209-E287-4D96-99E9-5FDB4531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D1D90-2474-40AF-8335-4A320B64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2ADBF-9EB1-42C3-AAF3-19399BFF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B2381-D9F2-442D-9FCB-8B17A7E0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1 •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085F3-71B7-4093-BC3F-0C7F5E59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query • comandi • SLO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46642-0D6A-40DE-AB7C-6AD91EB7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DFF0B-C14B-4C1F-8EA2-3318915E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C0E52-7CE6-4024-AD0E-FC586141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2 •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3A0FA-C564-462C-B1CA-FB5F3B88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source • 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7EEA4-EDC7-437B-B9F9-D58E52B1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96E05-5332-41EF-B50E-CA17071D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EA6BB-0A8D-4A7F-BFCD-BD04D7E2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3 • 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8A401-CAA0-425A-8FAD-780C6BA9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write • read • 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B4332-5059-4321-B9F3-6609B8EB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F4BC1-BE53-406A-B7D3-CDC4F7EC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93F39-268A-411C-A9A7-D1B922B8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4 • CHAOS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507FA-5387-4BA9-9933-BA3E887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failure • degraded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0A3D3-979F-4B01-9545-F8AE730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56D9D-6DB7-4337-87C9-CC534C2B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7FCB65-C6C0-4FE7-84A1-E22A9DCA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5 • 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07EA9E-E225-4B35-9D0D-C0C6D006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replay • restore •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D964B-C9F5-446C-8576-E1514224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0765B0-399A-41ED-B731-A10488BC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2649C-95DB-4488-B4BD-AFF0B0F3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6 • DEFENSE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20133E-7975-47A9-831D-6AF93A8B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scorecard • trade-off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DAC0E7-78BD-4AA9-A65C-D261DFE8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Il diagramma cambia dopo il guasto: questa è parte della consegna.</a:t>
            </a:r>
          </a:p>
        </p:txBody>
      </p:sp>
    </p:spTree>
    <p:extLst>
      <p:ext uri="{BB962C8B-B14F-4D97-AF65-F5344CB8AC3E}">
        <p14:creationId xmlns:p14="http://schemas.microsoft.com/office/powerpoint/2010/main" val="159121521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444A5D-EF35-4CCC-9E45-F230C98F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CONSEGNA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DD1C7-1042-4EE8-9330-A11C9B20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deliverable rende verificabile il ragionamento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6416C-3096-4E43-97CF-EE4BF1DE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DBAD7-E00F-4A23-9E50-7209B41D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3CD2-8C72-44FB-A744-E944CFF6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308E2-C909-48FE-BAC7-639B5A74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 • CONTEXT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7E2AC-B789-4D81-AD6C-369006A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domini +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E6EA4-3E63-4477-B722-1EE1B963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88913-D351-44DF-B5D6-87374849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CFD9D-B492-44CB-902C-81FC3926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81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 • WORKLOAD MATRIX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A0A97-01FC-44A3-9B48-F69FA2E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955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query + comandi + SLO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28882-E8DB-47F6-917B-339DF2B1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77091-9D4B-40C4-9C4D-2D05B8DC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6D417-40D5-486D-8F27-AA8F5BF1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 • DATA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05574-B2EA-4AE0-8197-0A678DD4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90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source + projection + 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849D7-984A-4F82-AF14-32A0E51E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C3E1F-B674-44C2-A194-E250919A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F5626-5372-4927-9AA2-E8BCA57E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4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 • FLOW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1CBD0-B0F5-41CD-BE8F-0A712CE1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290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API + eventi + idempotenza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2349A-25C3-4303-A44A-0A908F5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6DA6D-708D-40C8-977C-3DBF36AB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92D1A-A10B-40E6-B6B6-3D54C10B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 • FAILURE DOSSIER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EFFA3-CE4E-4BFD-860C-9D20988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sintomo + metriche + recovery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2C5E8-0085-4E21-BC7A-ADBE2E44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5095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3477A-8652-4833-BA77-8EEAE66E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FCCEC-3F53-457E-9436-37C0ED3E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48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 • DECISION 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8A56B6-61C2-41DD-ABA7-4168382D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62525"/>
            <a:ext cx="467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scorecard + alternative</a:t>
            </a:r>
          </a:p>
        </p:txBody>
      </p:sp>
    </p:spTree>
    <p:extLst>
      <p:ext uri="{BB962C8B-B14F-4D97-AF65-F5344CB8AC3E}">
        <p14:creationId xmlns:p14="http://schemas.microsoft.com/office/powerpoint/2010/main" val="67717692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2B2B3-F354-40CC-A5A8-50DCBA8A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PROTOCOLLO • 12 MINUTI PER GRUPPO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F379C-C1D0-47FF-94F0-1E5465D4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review board tenta di rompere il progetto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FC397-15DA-4075-96C3-3504912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DA2B7-777B-4B2D-9086-21000DBD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893BE-C101-49BC-8953-DA7C328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535A1-7988-4997-9961-D63FA5EA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 minuti: problema, scelte, valore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CBD01-5C35-412A-956D-115BAD3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3667B-51BA-414F-92BC-0520D41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28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63993-8EE3-46E5-B735-C1C71E2F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 minuti: un comando end-to-end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A131E-38A1-41D5-AF16-77738A26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45E18-D369-4514-AB62-D2DFE309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90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CHAOS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4ABC5-CCF1-443E-A212-A5D03092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90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 minuti: il board inietta un guasto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2FB9E-4D52-4C9F-AFEB-0FF2FD3C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AD039-B34A-4950-A8C0-DBE22D1D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52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9274D-04F5-4555-AD15-0BD963FF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52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2 minuti: contenimento, ripristino, prova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343DE-11C8-45BC-AD8B-DEE80DF3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A37A3-8F7F-4E0F-A7B0-6E93844C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14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VERDICT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3A9C8-2336-4C73-BCF9-F4CAB076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 minuto: accept, revise o reject</a:t>
            </a:r>
          </a:p>
        </p:txBody>
      </p:sp>
    </p:spTree>
    <p:extLst>
      <p:ext uri="{BB962C8B-B14F-4D97-AF65-F5344CB8AC3E}">
        <p14:creationId xmlns:p14="http://schemas.microsoft.com/office/powerpoint/2010/main" val="129247602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E1252-67A0-48BD-A974-BA70AC74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SEI DOMANDE DEL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4F91F-0E56-49A3-9ECD-5F634646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difesa finale usa prove, non slogan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3764C-B0B2-465E-96DB-66CB6154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D7B11-C359-4377-97EF-80C39ED1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1. Quale query giustifica ogni datastore?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D4876-0344-4EED-A5CF-FA2CC71B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2. Chi possiede ciascun dato e chi può modificarlo?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0B6DB-2D62-4C55-BC94-7E35B0CC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3. Dove esiste atomicità e dove accettate eventual consistency?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60F85-4A68-4B4A-A49F-FBF5EF3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4. Che cosa vede l’utente durante il guasto?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2BF9F-6391-488E-80F6-987213C9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5. Come ripristinate e provate la correttezza?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E097E-6BB0-48DB-981C-D6C5AD4C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6. Quale componente eliminereste per ridurre il TCO?</a:t>
            </a:r>
          </a:p>
        </p:txBody>
      </p:sp>
    </p:spTree>
    <p:extLst>
      <p:ext uri="{BB962C8B-B14F-4D97-AF65-F5344CB8AC3E}">
        <p14:creationId xmlns:p14="http://schemas.microsoft.com/office/powerpoint/2010/main" val="103518148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C3F8B-BE89-4825-9BF3-BC2E854E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DECISIONE ARCHITETTURALE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E96D0-4A47-4B64-8789-A3C4E5CA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prossimo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44EB3-4F20-4627-ACC6-B0043CCF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42981-36B8-4675-A9F7-222F8E85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89DE6-5091-4D66-B97A-9D979738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Abbiamo progettato dove vivono i dati. Ora dobbiamo elaborare miliardi di eventi senza affidarci a una sola macchina.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25E62-9F3E-4CF1-B900-75B52B70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BD417-0F83-4580-81FE-8FA0616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95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PROSSIMA LEZIONE • APACHE HADOOP</a:t>
            </a:r>
          </a:p>
        </p:txBody>
      </p:sp>
    </p:spTree>
    <p:extLst>
      <p:ext uri="{BB962C8B-B14F-4D97-AF65-F5344CB8AC3E}">
        <p14:creationId xmlns:p14="http://schemas.microsoft.com/office/powerpoint/2010/main" val="1620172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2026-09-03T15:24:04.4470000Z</dcterms:created>
  <dcterms:modified xsi:type="dcterms:W3CDTF">2026-09-03T15:24:04.4470000Z</dcterms:modified>
</coreProperties>
</file>