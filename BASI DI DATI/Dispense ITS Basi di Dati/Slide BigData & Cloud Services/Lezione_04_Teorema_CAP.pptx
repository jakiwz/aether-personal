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64482d38184140" /><Relationship Type="http://schemas.openxmlformats.org/officeDocument/2006/relationships/extended-properties" Target="/docProps/app.xml" Id="R26499879d9b34ac9" /><Relationship Type="http://schemas.openxmlformats.org/officeDocument/2006/relationships/officeDocument" Target="/ppt/presentation.xml" Id="R4bb2a225aa78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4ea17157845df"/>
  </p:sldMasterIdLst>
  <p:notesMasterIdLst>
    <p:notesMasterId xmlns:r="http://schemas.openxmlformats.org/officeDocument/2006/relationships" r:id="Rc1c7fd50bd4b425a"/>
  </p:notesMasterIdLst>
  <p:sldIdLst>
    <p:sldId xmlns:r="http://schemas.openxmlformats.org/officeDocument/2006/relationships" id="256" r:id="R73f17ad1169e4df3"/>
    <p:sldId xmlns:r="http://schemas.openxmlformats.org/officeDocument/2006/relationships" id="257" r:id="R3082bf4c729c4d1f"/>
    <p:sldId xmlns:r="http://schemas.openxmlformats.org/officeDocument/2006/relationships" id="258" r:id="R9813a1dfbb3e4ea9"/>
    <p:sldId xmlns:r="http://schemas.openxmlformats.org/officeDocument/2006/relationships" id="259" r:id="R40f62a11a59445ec"/>
    <p:sldId xmlns:r="http://schemas.openxmlformats.org/officeDocument/2006/relationships" id="260" r:id="R8f93e4d94bd24146"/>
    <p:sldId xmlns:r="http://schemas.openxmlformats.org/officeDocument/2006/relationships" id="261" r:id="R6eba47da99b54039"/>
    <p:sldId xmlns:r="http://schemas.openxmlformats.org/officeDocument/2006/relationships" id="262" r:id="R4f1d11b59ad64ce5"/>
    <p:sldId xmlns:r="http://schemas.openxmlformats.org/officeDocument/2006/relationships" id="263" r:id="R64799fde76024ddb"/>
    <p:sldId xmlns:r="http://schemas.openxmlformats.org/officeDocument/2006/relationships" id="264" r:id="R9a2ea697efb24c87"/>
    <p:sldId xmlns:r="http://schemas.openxmlformats.org/officeDocument/2006/relationships" id="265" r:id="R315ab10252204ce6"/>
    <p:sldId xmlns:r="http://schemas.openxmlformats.org/officeDocument/2006/relationships" id="266" r:id="R0bf30ece073d4c9d"/>
    <p:sldId xmlns:r="http://schemas.openxmlformats.org/officeDocument/2006/relationships" id="267" r:id="R8e8991f6267f4666"/>
    <p:sldId xmlns:r="http://schemas.openxmlformats.org/officeDocument/2006/relationships" id="268" r:id="R96f7c09351234c59"/>
    <p:sldId xmlns:r="http://schemas.openxmlformats.org/officeDocument/2006/relationships" id="269" r:id="R16dcb67626e64c74"/>
    <p:sldId xmlns:r="http://schemas.openxmlformats.org/officeDocument/2006/relationships" id="270" r:id="Rf8c5cbaa97904850"/>
    <p:sldId xmlns:r="http://schemas.openxmlformats.org/officeDocument/2006/relationships" id="271" r:id="R3ccb7661ffe3427c"/>
    <p:sldId xmlns:r="http://schemas.openxmlformats.org/officeDocument/2006/relationships" id="272" r:id="R27f224ef24ba4c97"/>
    <p:sldId xmlns:r="http://schemas.openxmlformats.org/officeDocument/2006/relationships" id="273" r:id="R1a6b94c1d744449d"/>
    <p:sldId xmlns:r="http://schemas.openxmlformats.org/officeDocument/2006/relationships" id="274" r:id="R61bf1ae8dcd94c61"/>
    <p:sldId xmlns:r="http://schemas.openxmlformats.org/officeDocument/2006/relationships" id="275" r:id="Rcc70da15f1aa4ab5"/>
    <p:sldId xmlns:r="http://schemas.openxmlformats.org/officeDocument/2006/relationships" id="276" r:id="R66f6e8e24a684566"/>
    <p:sldId xmlns:r="http://schemas.openxmlformats.org/officeDocument/2006/relationships" id="277" r:id="R11ed5dfbbe114284"/>
    <p:sldId xmlns:r="http://schemas.openxmlformats.org/officeDocument/2006/relationships" id="278" r:id="Ra1da30efb87549b0"/>
    <p:sldId xmlns:r="http://schemas.openxmlformats.org/officeDocument/2006/relationships" id="279" r:id="R1e4a3bf74bd44957"/>
    <p:sldId xmlns:r="http://schemas.openxmlformats.org/officeDocument/2006/relationships" id="280" r:id="R5dcba73f1a994b1f"/>
    <p:sldId xmlns:r="http://schemas.openxmlformats.org/officeDocument/2006/relationships" id="281" r:id="R25f0bd1289ee4e31"/>
    <p:sldId xmlns:r="http://schemas.openxmlformats.org/officeDocument/2006/relationships" id="282" r:id="Rf95fa5b41a3c4bfa"/>
    <p:sldId xmlns:r="http://schemas.openxmlformats.org/officeDocument/2006/relationships" id="283" r:id="Rc21da1eb771b48b4"/>
    <p:sldId xmlns:r="http://schemas.openxmlformats.org/officeDocument/2006/relationships" id="284" r:id="R53ba44ccd0bf4498"/>
    <p:sldId xmlns:r="http://schemas.openxmlformats.org/officeDocument/2006/relationships" id="285" r:id="R8b349a2681d14cb1"/>
    <p:sldId xmlns:r="http://schemas.openxmlformats.org/officeDocument/2006/relationships" id="286" r:id="R35d07012a60a48b4"/>
    <p:sldId xmlns:r="http://schemas.openxmlformats.org/officeDocument/2006/relationships" id="287" r:id="R5ee884e280b74f8b"/>
    <p:sldId xmlns:r="http://schemas.openxmlformats.org/officeDocument/2006/relationships" id="288" r:id="Rf2878675572e400c"/>
    <p:sldId xmlns:r="http://schemas.openxmlformats.org/officeDocument/2006/relationships" id="289" r:id="R6fd072f4a1d74116"/>
    <p:sldId xmlns:r="http://schemas.openxmlformats.org/officeDocument/2006/relationships" id="290" r:id="Rac38d992ff04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4dfed169614dc2" /><Relationship Type="http://schemas.openxmlformats.org/officeDocument/2006/relationships/slideMaster" Target="/ppt/slideMasters/slideMaster1.xml" Id="R6234ea17157845df" /><Relationship Type="http://schemas.openxmlformats.org/officeDocument/2006/relationships/notesMaster" Target="/ppt/notesMasters/notesMaster1.xml" Id="Rc1c7fd50bd4b425a" /><Relationship Type="http://schemas.openxmlformats.org/officeDocument/2006/relationships/presProps" Target="/ppt/presProps.xml" Id="Rc0739334b03f4080" /><Relationship Type="http://schemas.openxmlformats.org/officeDocument/2006/relationships/tableStyles" Target="/ppt/tableStyles.xml" Id="R51d5b94bf18b4ef0" /><Relationship Type="http://schemas.openxmlformats.org/officeDocument/2006/relationships/slide" Target="/ppt/slides/slide1.xml" Id="R73f17ad1169e4df3" /><Relationship Type="http://schemas.openxmlformats.org/officeDocument/2006/relationships/slide" Target="/ppt/slides/slide2.xml" Id="R3082bf4c729c4d1f" /><Relationship Type="http://schemas.openxmlformats.org/officeDocument/2006/relationships/slide" Target="/ppt/slides/slide3.xml" Id="R9813a1dfbb3e4ea9" /><Relationship Type="http://schemas.openxmlformats.org/officeDocument/2006/relationships/slide" Target="/ppt/slides/slide4.xml" Id="R40f62a11a59445ec" /><Relationship Type="http://schemas.openxmlformats.org/officeDocument/2006/relationships/slide" Target="/ppt/slides/slide5.xml" Id="R8f93e4d94bd24146" /><Relationship Type="http://schemas.openxmlformats.org/officeDocument/2006/relationships/slide" Target="/ppt/slides/slide6.xml" Id="R6eba47da99b54039" /><Relationship Type="http://schemas.openxmlformats.org/officeDocument/2006/relationships/slide" Target="/ppt/slides/slide7.xml" Id="R4f1d11b59ad64ce5" /><Relationship Type="http://schemas.openxmlformats.org/officeDocument/2006/relationships/slide" Target="/ppt/slides/slide8.xml" Id="R64799fde76024ddb" /><Relationship Type="http://schemas.openxmlformats.org/officeDocument/2006/relationships/slide" Target="/ppt/slides/slide9.xml" Id="R9a2ea697efb24c87" /><Relationship Type="http://schemas.openxmlformats.org/officeDocument/2006/relationships/slide" Target="/ppt/slides/slide10.xml" Id="R315ab10252204ce6" /><Relationship Type="http://schemas.openxmlformats.org/officeDocument/2006/relationships/slide" Target="/ppt/slides/slide11.xml" Id="R0bf30ece073d4c9d" /><Relationship Type="http://schemas.openxmlformats.org/officeDocument/2006/relationships/slide" Target="/ppt/slides/slide12.xml" Id="R8e8991f6267f4666" /><Relationship Type="http://schemas.openxmlformats.org/officeDocument/2006/relationships/slide" Target="/ppt/slides/slide13.xml" Id="R96f7c09351234c59" /><Relationship Type="http://schemas.openxmlformats.org/officeDocument/2006/relationships/slide" Target="/ppt/slides/slide14.xml" Id="R16dcb67626e64c74" /><Relationship Type="http://schemas.openxmlformats.org/officeDocument/2006/relationships/slide" Target="/ppt/slides/slide15.xml" Id="Rf8c5cbaa97904850" /><Relationship Type="http://schemas.openxmlformats.org/officeDocument/2006/relationships/slide" Target="/ppt/slides/slide16.xml" Id="R3ccb7661ffe3427c" /><Relationship Type="http://schemas.openxmlformats.org/officeDocument/2006/relationships/slide" Target="/ppt/slides/slide17.xml" Id="R27f224ef24ba4c97" /><Relationship Type="http://schemas.openxmlformats.org/officeDocument/2006/relationships/slide" Target="/ppt/slides/slide18.xml" Id="R1a6b94c1d744449d" /><Relationship Type="http://schemas.openxmlformats.org/officeDocument/2006/relationships/slide" Target="/ppt/slides/slide19.xml" Id="R61bf1ae8dcd94c61" /><Relationship Type="http://schemas.openxmlformats.org/officeDocument/2006/relationships/slide" Target="/ppt/slides/slide20.xml" Id="Rcc70da15f1aa4ab5" /><Relationship Type="http://schemas.openxmlformats.org/officeDocument/2006/relationships/slide" Target="/ppt/slides/slide21.xml" Id="R66f6e8e24a684566" /><Relationship Type="http://schemas.openxmlformats.org/officeDocument/2006/relationships/slide" Target="/ppt/slides/slide22.xml" Id="R11ed5dfbbe114284" /><Relationship Type="http://schemas.openxmlformats.org/officeDocument/2006/relationships/slide" Target="/ppt/slides/slide23.xml" Id="Ra1da30efb87549b0" /><Relationship Type="http://schemas.openxmlformats.org/officeDocument/2006/relationships/slide" Target="/ppt/slides/slide24.xml" Id="R1e4a3bf74bd44957" /><Relationship Type="http://schemas.openxmlformats.org/officeDocument/2006/relationships/slide" Target="/ppt/slides/slide25.xml" Id="R5dcba73f1a994b1f" /><Relationship Type="http://schemas.openxmlformats.org/officeDocument/2006/relationships/slide" Target="/ppt/slides/slide26.xml" Id="R25f0bd1289ee4e31" /><Relationship Type="http://schemas.openxmlformats.org/officeDocument/2006/relationships/slide" Target="/ppt/slides/slide27.xml" Id="Rf95fa5b41a3c4bfa" /><Relationship Type="http://schemas.openxmlformats.org/officeDocument/2006/relationships/slide" Target="/ppt/slides/slide28.xml" Id="Rc21da1eb771b48b4" /><Relationship Type="http://schemas.openxmlformats.org/officeDocument/2006/relationships/slide" Target="/ppt/slides/slide29.xml" Id="R53ba44ccd0bf4498" /><Relationship Type="http://schemas.openxmlformats.org/officeDocument/2006/relationships/slide" Target="/ppt/slides/slide30.xml" Id="R8b349a2681d14cb1" /><Relationship Type="http://schemas.openxmlformats.org/officeDocument/2006/relationships/slide" Target="/ppt/slides/slide31.xml" Id="R35d07012a60a48b4" /><Relationship Type="http://schemas.openxmlformats.org/officeDocument/2006/relationships/slide" Target="/ppt/slides/slide32.xml" Id="R5ee884e280b74f8b" /><Relationship Type="http://schemas.openxmlformats.org/officeDocument/2006/relationships/slide" Target="/ppt/slides/slide33.xml" Id="Rf2878675572e400c" /><Relationship Type="http://schemas.openxmlformats.org/officeDocument/2006/relationships/slide" Target="/ppt/slides/slide34.xml" Id="R6fd072f4a1d74116" /><Relationship Type="http://schemas.openxmlformats.org/officeDocument/2006/relationships/slide" Target="/ppt/slides/slide35.xml" Id="Rac38d992ff04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de2836a9754f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56e53d19d4b48" /><Relationship Type="http://schemas.openxmlformats.org/officeDocument/2006/relationships/notesMaster" Target="/ppt/notesMasters/notesMaster1.xml" Id="R15da74257d89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e5a9ecbe84fe8" /><Relationship Type="http://schemas.openxmlformats.org/officeDocument/2006/relationships/notesMaster" Target="/ppt/notesMasters/notesMaster1.xml" Id="R19bc38c06b7340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f518428aa47aa" /><Relationship Type="http://schemas.openxmlformats.org/officeDocument/2006/relationships/notesMaster" Target="/ppt/notesMasters/notesMaster1.xml" Id="R9fbc2c5249d243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c675f1a5f4628" /><Relationship Type="http://schemas.openxmlformats.org/officeDocument/2006/relationships/notesMaster" Target="/ppt/notesMasters/notesMaster1.xml" Id="R972dcb8ed40340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cf9d766f94e06" /><Relationship Type="http://schemas.openxmlformats.org/officeDocument/2006/relationships/notesMaster" Target="/ppt/notesMasters/notesMaster1.xml" Id="Rc07cfe607f66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62f8fadd045ba" /><Relationship Type="http://schemas.openxmlformats.org/officeDocument/2006/relationships/notesMaster" Target="/ppt/notesMasters/notesMaster1.xml" Id="R9a951ce5d2c4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f20d76c23442d0" /><Relationship Type="http://schemas.openxmlformats.org/officeDocument/2006/relationships/notesMaster" Target="/ppt/notesMasters/notesMaster1.xml" Id="R0039b0d5adc041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cfec99fdf4437" /><Relationship Type="http://schemas.openxmlformats.org/officeDocument/2006/relationships/notesMaster" Target="/ppt/notesMasters/notesMaster1.xml" Id="Rf526f7e07f934a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8bdddf76be40e1" /><Relationship Type="http://schemas.openxmlformats.org/officeDocument/2006/relationships/notesMaster" Target="/ppt/notesMasters/notesMaster1.xml" Id="R8ed5b8ec871945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7a036ca47c4daf" /><Relationship Type="http://schemas.openxmlformats.org/officeDocument/2006/relationships/notesMaster" Target="/ppt/notesMasters/notesMaster1.xml" Id="Rcbf76d900cd745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c1210da79146d2" /><Relationship Type="http://schemas.openxmlformats.org/officeDocument/2006/relationships/notesMaster" Target="/ppt/notesMasters/notesMaster1.xml" Id="Ra56bc690faa042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17a647d0cc4247" /><Relationship Type="http://schemas.openxmlformats.org/officeDocument/2006/relationships/notesMaster" Target="/ppt/notesMasters/notesMaster1.xml" Id="R20526a026a3645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1d7fd67efa4368" /><Relationship Type="http://schemas.openxmlformats.org/officeDocument/2006/relationships/notesMaster" Target="/ppt/notesMasters/notesMaster1.xml" Id="Rc8e9227c5fb74d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963a05a76a4b94" /><Relationship Type="http://schemas.openxmlformats.org/officeDocument/2006/relationships/notesMaster" Target="/ppt/notesMasters/notesMaster1.xml" Id="R240abbe952d04d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b5d1c2b1da4a17" /><Relationship Type="http://schemas.openxmlformats.org/officeDocument/2006/relationships/notesMaster" Target="/ppt/notesMasters/notesMaster1.xml" Id="R003635f3fdc641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60d955a7454603" /><Relationship Type="http://schemas.openxmlformats.org/officeDocument/2006/relationships/notesMaster" Target="/ppt/notesMasters/notesMaster1.xml" Id="Rabc93143671848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ec8c667cc44778" /><Relationship Type="http://schemas.openxmlformats.org/officeDocument/2006/relationships/notesMaster" Target="/ppt/notesMasters/notesMaster1.xml" Id="Rb1454089551643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6c450d749d47f6" /><Relationship Type="http://schemas.openxmlformats.org/officeDocument/2006/relationships/notesMaster" Target="/ppt/notesMasters/notesMaster1.xml" Id="R5a1aaee9b53b40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07a83a7a5243fc" /><Relationship Type="http://schemas.openxmlformats.org/officeDocument/2006/relationships/notesMaster" Target="/ppt/notesMasters/notesMaster1.xml" Id="R0805c5d3083944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0599c1c50d4993" /><Relationship Type="http://schemas.openxmlformats.org/officeDocument/2006/relationships/notesMaster" Target="/ppt/notesMasters/notesMaster1.xml" Id="R953449abecdb41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8365fc591f47e2" /><Relationship Type="http://schemas.openxmlformats.org/officeDocument/2006/relationships/notesMaster" Target="/ppt/notesMasters/notesMaster1.xml" Id="R4d9c90651a0645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a24dab2b9b4243" /><Relationship Type="http://schemas.openxmlformats.org/officeDocument/2006/relationships/notesMaster" Target="/ppt/notesMasters/notesMaster1.xml" Id="R8d3bdf3d904142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97d3acd1b547df" /><Relationship Type="http://schemas.openxmlformats.org/officeDocument/2006/relationships/notesMaster" Target="/ppt/notesMasters/notesMaster1.xml" Id="R9b23b688896344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26c8fe8cc540a9" /><Relationship Type="http://schemas.openxmlformats.org/officeDocument/2006/relationships/notesMaster" Target="/ppt/notesMasters/notesMaster1.xml" Id="R9eed90c6493947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affb3ec68b4196" /><Relationship Type="http://schemas.openxmlformats.org/officeDocument/2006/relationships/notesMaster" Target="/ppt/notesMasters/notesMaster1.xml" Id="R2c65f02cb41e46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57560220844094" /><Relationship Type="http://schemas.openxmlformats.org/officeDocument/2006/relationships/notesMaster" Target="/ppt/notesMasters/notesMaster1.xml" Id="Ra4f9da39ddda4bf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df6e3355ef4478" /><Relationship Type="http://schemas.openxmlformats.org/officeDocument/2006/relationships/notesMaster" Target="/ppt/notesMasters/notesMaster1.xml" Id="Rb89eaa79db954f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569db18f4304e7b" /><Relationship Type="http://schemas.openxmlformats.org/officeDocument/2006/relationships/notesMaster" Target="/ppt/notesMasters/notesMaster1.xml" Id="Rb53bb38b9b074f6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8d37afee3d4011" /><Relationship Type="http://schemas.openxmlformats.org/officeDocument/2006/relationships/notesMaster" Target="/ppt/notesMasters/notesMaster1.xml" Id="R4836940655d44c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03b83478744e29" /><Relationship Type="http://schemas.openxmlformats.org/officeDocument/2006/relationships/notesMaster" Target="/ppt/notesMasters/notesMaster1.xml" Id="Rfa01046df75b459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d6d51c258c4540" /><Relationship Type="http://schemas.openxmlformats.org/officeDocument/2006/relationships/notesMaster" Target="/ppt/notesMasters/notesMaster1.xml" Id="R7ded29375a3d417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40de3bfa9341a1" /><Relationship Type="http://schemas.openxmlformats.org/officeDocument/2006/relationships/notesMaster" Target="/ppt/notesMasters/notesMaster1.xml" Id="R775396cee95f40e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009a4154b945b4" /><Relationship Type="http://schemas.openxmlformats.org/officeDocument/2006/relationships/notesMaster" Target="/ppt/notesMasters/notesMaster1.xml" Id="R48a44bdb305b43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a20b7225f894347" /><Relationship Type="http://schemas.openxmlformats.org/officeDocument/2006/relationships/notesMaster" Target="/ppt/notesMasters/notesMaster1.xml" Id="R4f0828c513954d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bba31a1f57c4b84" /><Relationship Type="http://schemas.openxmlformats.org/officeDocument/2006/relationships/notesMaster" Target="/ppt/notesMasters/notesMaster1.xml" Id="R04e8cf091d9f4c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riprendendo la domanda lasciata dalla lezione 3: quando due repliche non comunicano, possiamo continuare a rispondere e restare perfettamente coerenti?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nominare subito CAP. Fai scegliere alla classe tra risposta immediata e attesa, poi chiedi che cosa potrebbe andare storto in entrambi i casi.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la replica aumenta resilienza e vicinanza agli utenti, ma crea il problema di mantenere allineate più copie.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la replica risolve problemi reali, ma introduce comunicazione, consenso, ritardi e conflitti.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Racconta il caso normale: la scrittura viene propagata secondo il protocollo e il client riceve conferma quando il criterio richiesto è soddisfatto.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crash e partizione: i nodi possono continuare a servire client locali, ma alcuni messaggi vengono persi o ritardati arbitrariamente.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le lettere senza ancora ridurle a slogan. Le definizioni formali sono più strette dell’uso quotidiano dei termini.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consistenza CAP formalizzata da Gilbert e Lynch è atomic o linearizable consistency: una lettura iniziata dopo una scrittura completata deve vedere quel valore o uno successivo.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Rendi esplicita la distinzione: database consistency in ACID riguarda transazioni e invarianti; atomic consistency in CAP riguarda l’ordine osservabile delle operazioni distribuite.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definizione formale richiede che ogni richiesta a un nodo non guasto riceva una risposta. Non garantisce che la risposta sia l’ultima versione.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l’equivoco: CAP usa una proprietà teorica per tutte le richieste, non una percentuale annuale di uptime.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Gilbert e Lynch modellano la partition permettendo alla rete di perdere arbitrariamente molti messaggi tra nodi. Il punto non è evitare il guasto, ma definire il comportamento quando accade.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rinunciare a P equivale ad assumere che la comunicazione tra nodi non si interrompa. Per un sistema realmente distribuito è un’assunzione fragile.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il cuore del risultato: con una partition non si possono garantire simultaneamente availability e atomic consistency. Attendere protegge C ma sacrifica A; rispondere localmente protegge A ma può sacrificare 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Brewer ha chiarito che la formulazione “due su tre” può confondere: il trade-off C/A è richiesto quando esiste una partition e può essere gestito con granularità.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Eric Brewer — CAP Twelve Years Later: How the “Rules” Have Changed: https://www.infoq.com/articles/cap-twelve-years-later-how-the-rules-have-changed/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 non dice che un sistema distribuito è sempre incoerente o indisponibile. Il limite emerge nelle esecuzioni in cui i messaggi non arrivano.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Seth Gilbert, Nancy Lynch — Brewer’s Conjecture and the Feasibility of Consistent, Available, Partition-Tolerant Web Services: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comportamento CP rifiuta o blocca alcune richieste quando non può garantire la coerenza. Non significa che l’intero servizio debba essere spento.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comportamento AP accetta richieste in più componenti della partition. L’applicazione deve tollerare e risolvere versioni temporaneamente differenti.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di classificare automaticamente un database singolo come CA. CAP riguarda sistemi distribuiti; CA descrive l’assenza del requisito di tollerare partition.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 un saldo o una prenotazione unica, una decisione presa su uno stato incompleto può produrre danni irreversibili. La scelta tipica protegge consistenza.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contatore non critico può accettare risposte locali e riconciliazione successiva, purché il metodo di merge non perda incrementi.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Metti due studenti nel ruolo dei client. Se entrambe le componenti confermano, la riconciliazione non può eliminare il danno già promesso a un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AP non significa ignorare la divergenza. Servono metadati di versione, rilevazione del conflitto e una strategia di risoluzione.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Rendi concreto che last-write-wins può essere accettabile per alcuni campi e pericoloso per contatori, inventario o operazioni irreversibili.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Cassandra documenta un modello last-write-wins per le mutazioni. Presenta CRDT solo come approfondimento: la lezione deve far capire prima il costo semantico del merge.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Documentation — Dynamo and Tunable Consistency: https://cassandra.apache.org/doc/latest/cassandra/architecture/dynamo.html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 N, R e W senza trasformare la formula in una garanzia universale. Cassandra spiega che quorum di lettura e scrittura sovrapposti rendono visibili le scritture confermate alle letture successive.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Documentation — Dynamo and Tunable Consistency: https://cassandra.apache.org/doc/latest/cassandra/architecture/dynamo.html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Apache Cassandra espone consistency levels per operazione: ONE, QUORUM, ALL e varianti locali. Il livello controlla quante risposte attendere prima di rispondere al client.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Documentation — Dynamo and Tunable Consistency: https://cassandra.apache.org/doc/latest/cassandra/architecture/dynamo.html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PACELC come approfondimento: se c’è una partition si sceglie tra availability e consistency; altrimenti resta spesso il trade-off tra latency e consistency.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Daniel J. Abadi — Consistency Tradeoffs in Modern Distributed Database System Design: CAP is Only Part of the Story: https://www.cs.umd.edu/~abadi/papers/abadi-pacelc.pdf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Fornisci il framework per il laboratorio. Non chiedere “CP o AP?” come prima domanda: fate prima emergere danni, reversibilità e autorità.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MongoDB espone write concern e Cassandra consistency levels; DynamoDB offre letture eventuali o forti in contesti supportati. La classificazione dipende da configurazione, topologia e singola operazione.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Documentation — Write Concern: https://www.mongodb.com/docs/manual/reference/write-concern/</a:t>
            </a:r>
          </a:p>
          <a:p xmlns:a="http://schemas.openxmlformats.org/drawingml/2006/main">
            <a:r>
              <a:t>- Apache Cassandra Documentation — Dynamo and Tunable Consistency: https://cassandra.apache.org/doc/latest/cassandra/architecture/dynamo.html</a:t>
            </a:r>
          </a:p>
          <a:p xmlns:a="http://schemas.openxmlformats.org/drawingml/2006/main">
            <a:r>
              <a:t>- Amazon DynamoDB Developer Guide — Read consistency: https://docs.aws.amazon.com/amazondynamodb/latest/developerguide/HowItWorks.ReadConsistency.html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Assegna ruoli: tre nodi, tre client, controller di rete e osservatori. Ogni gruppo deve dichiarare prima la politica e poi recitare risposte e conseguenze.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round dura circa quindici minuti: cinque per decidere, cinque per simulare, cinque per spiegare trade-off e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Concedi dieci minuti. Pretendi sempre una conseguenza concreta: stale read, rifiuto, conflitto, autorità o riconciliazione.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leggere le cinque frasi a cinque studenti. Correggi immediatamente ogni ritorno alla formula rigida “due su tre”.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collegando CAP alle sessioni, ai contatori e alla cache. La lezione 5 entrerà nel modello key-value e userà Redis per rendere operativi TTL, sessioni e classifiche.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ad2c166cc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4bd3fa21b422e" /><Relationship Type="http://schemas.openxmlformats.org/officeDocument/2006/relationships/slideLayout" Target="/ppt/slideLayouts/slideLayout1.xml" Id="Rf4c40c21c06645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40c21c06645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f4a915bbd4cb2" /><Relationship Type="http://schemas.openxmlformats.org/officeDocument/2006/relationships/notesSlide" Target="/ppt/notesSlides/notesSlide1.xml" Id="R07be2c3932b0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b5ca56c654b8c" /><Relationship Type="http://schemas.openxmlformats.org/officeDocument/2006/relationships/notesSlide" Target="/ppt/notesSlides/notesSlide2.xml" Id="Ra3a85fc3f55a47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510986d594099" /><Relationship Type="http://schemas.openxmlformats.org/officeDocument/2006/relationships/notesSlide" Target="/ppt/notesSlides/notesSlide3.xml" Id="R671f59fc9ad041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d32d2cc5491a" /><Relationship Type="http://schemas.openxmlformats.org/officeDocument/2006/relationships/notesSlide" Target="/ppt/notesSlides/notesSlide4.xml" Id="R6081426628a64b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6da19da95456b" /><Relationship Type="http://schemas.openxmlformats.org/officeDocument/2006/relationships/notesSlide" Target="/ppt/notesSlides/notesSlide5.xml" Id="R8e92ae6d383c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11837f6af4efc" /><Relationship Type="http://schemas.openxmlformats.org/officeDocument/2006/relationships/notesSlide" Target="/ppt/notesSlides/notesSlide6.xml" Id="Raceadc58515c48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fd34c2cf4131" /><Relationship Type="http://schemas.openxmlformats.org/officeDocument/2006/relationships/notesSlide" Target="/ppt/notesSlides/notesSlide7.xml" Id="R375733e002bb48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3a00f410d438e" /><Relationship Type="http://schemas.openxmlformats.org/officeDocument/2006/relationships/notesSlide" Target="/ppt/notesSlides/notesSlide8.xml" Id="Rcab307326aac4a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632deab5b4ecd" /><Relationship Type="http://schemas.openxmlformats.org/officeDocument/2006/relationships/notesSlide" Target="/ppt/notesSlides/notesSlide9.xml" Id="R64149bc4c7174c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65f6697c74f6b" /><Relationship Type="http://schemas.openxmlformats.org/officeDocument/2006/relationships/notesSlide" Target="/ppt/notesSlides/notesSlide10.xml" Id="R84e504da3b0847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fab1c6d5c40f4" /><Relationship Type="http://schemas.openxmlformats.org/officeDocument/2006/relationships/notesSlide" Target="/ppt/notesSlides/notesSlide11.xml" Id="R0bbde5c426f747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24ee679e946f2" /><Relationship Type="http://schemas.openxmlformats.org/officeDocument/2006/relationships/notesSlide" Target="/ppt/notesSlides/notesSlide12.xml" Id="Rc134350f1b194f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65aa342cd4cfa" /><Relationship Type="http://schemas.openxmlformats.org/officeDocument/2006/relationships/notesSlide" Target="/ppt/notesSlides/notesSlide13.xml" Id="R7545edb614654f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8abdd1b4e4055" /><Relationship Type="http://schemas.openxmlformats.org/officeDocument/2006/relationships/notesSlide" Target="/ppt/notesSlides/notesSlide14.xml" Id="Ref88143aa7b64c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8376efd24f7c" /><Relationship Type="http://schemas.openxmlformats.org/officeDocument/2006/relationships/notesSlide" Target="/ppt/notesSlides/notesSlide15.xml" Id="R13a9405a23964a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be95b0c064f68" /><Relationship Type="http://schemas.openxmlformats.org/officeDocument/2006/relationships/notesSlide" Target="/ppt/notesSlides/notesSlide16.xml" Id="Ra97bc438fa3b43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8479798446d8" /><Relationship Type="http://schemas.openxmlformats.org/officeDocument/2006/relationships/notesSlide" Target="/ppt/notesSlides/notesSlide17.xml" Id="Rb0a2f2d4ad9d44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66ef2aaa04362" /><Relationship Type="http://schemas.openxmlformats.org/officeDocument/2006/relationships/notesSlide" Target="/ppt/notesSlides/notesSlide18.xml" Id="Rc875510b85124d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07d6a120c41ed" /><Relationship Type="http://schemas.openxmlformats.org/officeDocument/2006/relationships/notesSlide" Target="/ppt/notesSlides/notesSlide19.xml" Id="R8bbf7e23bb8a45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aad5f7c9f4f16" /><Relationship Type="http://schemas.openxmlformats.org/officeDocument/2006/relationships/notesSlide" Target="/ppt/notesSlides/notesSlide20.xml" Id="R9c473c24aa1f42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4983272464bec" /><Relationship Type="http://schemas.openxmlformats.org/officeDocument/2006/relationships/notesSlide" Target="/ppt/notesSlides/notesSlide21.xml" Id="R36146dcc9a5042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fc2496c94868" /><Relationship Type="http://schemas.openxmlformats.org/officeDocument/2006/relationships/notesSlide" Target="/ppt/notesSlides/notesSlide22.xml" Id="R4851446923ad40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7751f86ee4a2f" /><Relationship Type="http://schemas.openxmlformats.org/officeDocument/2006/relationships/notesSlide" Target="/ppt/notesSlides/notesSlide23.xml" Id="Rc6c3f99fe66946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ec7cdfc02499c" /><Relationship Type="http://schemas.openxmlformats.org/officeDocument/2006/relationships/notesSlide" Target="/ppt/notesSlides/notesSlide24.xml" Id="Re9c63dd9478844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32149492f47f9" /><Relationship Type="http://schemas.openxmlformats.org/officeDocument/2006/relationships/notesSlide" Target="/ppt/notesSlides/notesSlide25.xml" Id="Re8b267f554664de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32d5cf9ea417c" /><Relationship Type="http://schemas.openxmlformats.org/officeDocument/2006/relationships/notesSlide" Target="/ppt/notesSlides/notesSlide26.xml" Id="Rf83e79747bd943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353df687c428f" /><Relationship Type="http://schemas.openxmlformats.org/officeDocument/2006/relationships/notesSlide" Target="/ppt/notesSlides/notesSlide27.xml" Id="Rb41e8d41ac3242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de89304834b01" /><Relationship Type="http://schemas.openxmlformats.org/officeDocument/2006/relationships/notesSlide" Target="/ppt/notesSlides/notesSlide28.xml" Id="Rb9b69b6b4eb04f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85a5c5f0c4979" /><Relationship Type="http://schemas.openxmlformats.org/officeDocument/2006/relationships/notesSlide" Target="/ppt/notesSlides/notesSlide29.xml" Id="R6b14669b505e422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7fddf19424788" /><Relationship Type="http://schemas.openxmlformats.org/officeDocument/2006/relationships/notesSlide" Target="/ppt/notesSlides/notesSlide30.xml" Id="R86aa104eab8f44e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909d67ec645f6" /><Relationship Type="http://schemas.openxmlformats.org/officeDocument/2006/relationships/notesSlide" Target="/ppt/notesSlides/notesSlide31.xml" Id="R7c2bef642854474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87a0a49d146af" /><Relationship Type="http://schemas.openxmlformats.org/officeDocument/2006/relationships/notesSlide" Target="/ppt/notesSlides/notesSlide32.xml" Id="R50334f1968de4fc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4ab3d50584614" /><Relationship Type="http://schemas.openxmlformats.org/officeDocument/2006/relationships/notesSlide" Target="/ppt/notesSlides/notesSlide33.xml" Id="R5bd621c394f74f7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b42316da640fb" /><Relationship Type="http://schemas.openxmlformats.org/officeDocument/2006/relationships/notesSlide" Target="/ppt/notesSlides/notesSlide34.xml" Id="Ra7ff6d9073fc43c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329db4b93441b" /><Relationship Type="http://schemas.openxmlformats.org/officeDocument/2006/relationships/notesSlide" Target="/ppt/notesSlides/notesSlide35.xml" Id="R9f81639e4d1644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B8BB4-8FBD-4FEE-A300-B741058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F4461-52C2-43E1-BB8F-6E07545C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Teorema 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CAD8B-8589-4C12-8294-03AF56C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8D4DE"/>
                </a:solidFill>
              </a:defRPr>
            </a:pPr>
            <a:r>
              <a:rPr sz="2325" b="0">
                <a:solidFill>
                  <a:srgbClr val="C8D4DE"/>
                </a:solidFill>
              </a:rPr>
              <a:t>La scelta che nasce quando la rete si divide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5180E-46B8-43DB-ACF0-341BB892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239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25EB6-BA42-4A22-B6C3-B619364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B1F33"/>
                </a:solidFill>
              </a:defRPr>
            </a:pPr>
            <a:r>
              <a:rPr sz="7200" b="1">
                <a:solidFill>
                  <a:srgbClr val="0B1F3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6A551-9461-4808-BA1F-84925913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04 • DATAFLIX</a:t>
            </a:r>
          </a:p>
        </p:txBody>
      </p:sp>
    </p:spTree>
    <p:extLst>
      <p:ext uri="{BB962C8B-B14F-4D97-AF65-F5344CB8AC3E}">
        <p14:creationId xmlns:p14="http://schemas.microsoft.com/office/powerpoint/2010/main" val="29255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89B46-762A-41D0-BBF5-9A04BA62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SISTEMI DISTRIBUITI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20F08-A00C-4765-8AFC-449636BE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rete si è spezzata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760C6-4ED9-491F-9DC2-4814883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02FCE-DBD1-4EE7-8A27-4E157BC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EF5A5A"/>
                </a:solidFill>
              </a:defRPr>
            </a:pPr>
            <a:r>
              <a:rPr sz="8250" b="1">
                <a:solidFill>
                  <a:srgbClr val="EF5A5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7CDDE-D0EB-4BEA-A770-EBC28C3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Continuiamo a rispondere oppure aspettiamo per non mostrare due verità diverse?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71EAC-D13A-4E8E-A8A0-3B03B8F7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5598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01DBB-734C-4811-BF8F-601652A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REPLICAZIONE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177D1-28B4-46A1-A574-55C85FF0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Un database distribuito conserva più copie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46E02-27CE-4673-93D2-04A86E89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B57E7-A5EA-441B-BD95-1A8D9AEA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27FDA-7838-4056-8268-69F3532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51B9F-B570-4660-B352-54497DD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575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saldo = 100 €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DEB2C-C3FF-4244-8B21-EEB60A31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9C0A8-B60E-4A44-8298-B05C96F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7EE0D-5105-49FC-851E-53B11770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575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saldo = 100 €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3C0CC-B1A3-4F27-BE44-56CACE38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2412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7C610-6307-4B8D-82FD-D01F7651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LONDRA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44456-F8C8-4DCE-8B05-083FE05D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575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saldo = 100 €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FD327-E719-47FC-A605-B02A4F63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B8D9"/>
                </a:solidFill>
              </a:defRPr>
            </a:pPr>
            <a:r>
              <a:rPr sz="2850" b="1">
                <a:solidFill>
                  <a:srgbClr val="00B8D9"/>
                </a:solidFill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275C6-9668-49EB-AD91-FC19A88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B8D9"/>
                </a:solidFill>
              </a:defRPr>
            </a:pPr>
            <a:r>
              <a:rPr sz="2850" b="1">
                <a:solidFill>
                  <a:srgbClr val="00B8D9"/>
                </a:solidFill>
              </a:rPr>
              <a:t>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D15F6-FBA3-4FCF-BA55-E71E72D1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57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Tre nodi. Una sola informazione logica.</a:t>
            </a:r>
          </a:p>
        </p:txBody>
      </p:sp>
    </p:spTree>
    <p:extLst>
      <p:ext uri="{BB962C8B-B14F-4D97-AF65-F5344CB8AC3E}">
        <p14:creationId xmlns:p14="http://schemas.microsoft.com/office/powerpoint/2010/main" val="1675215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4252-6FA4-4F42-9FA6-63881EF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1A860-07D8-4B6C-84F9-682B67F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Replichiamo per ottenere proprietà utili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70ECF-A985-41FA-A802-98D06041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B1AD1-8252-4C07-8F3E-CE9E9768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EC300-3208-4B51-813A-8709DEAE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DISPONIBILITÀ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23E32-C0F3-468D-8808-D691EDA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un nodo può sostituirne un altro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F009-EF4E-4B3B-AE3E-B506750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49051-B6AC-48F8-B990-D936ED13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DURABILITÀ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A85EE-445F-4967-9657-724FF94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più copie riducono il rischio di perdita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9F230-306E-49A9-82EE-9E0A51B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7545E-1FA6-466D-B1AF-3C3CB2B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LATENZA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1CC2D-E1AE-498E-AF52-FEE0DA9F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il dato può essere vicino all’utente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717E5-1611-4DC3-BD92-3F7012D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B4FFB-200B-4C50-AC44-7995F48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SCALA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03FC3-EB31-44F0-8204-0637539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letture e scritture possono distribuirsi</a:t>
            </a:r>
          </a:p>
        </p:txBody>
      </p:sp>
    </p:spTree>
    <p:extLst>
      <p:ext uri="{BB962C8B-B14F-4D97-AF65-F5344CB8AC3E}">
        <p14:creationId xmlns:p14="http://schemas.microsoft.com/office/powerpoint/2010/main" val="1643334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B028D-3978-444B-8027-5FC8E07A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HAPPY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3E839-BBE8-4C0A-888A-14C95E9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Quando la rete funziona, le copie si coordinano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10FD8-8876-49CB-80D8-E68AF41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EC706-023E-4687-813E-F093CAE7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9EF92-4745-4EC7-940C-42ECBFC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083FB-CEAE-4711-BC3D-DEA09BF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write: saldo = 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6DCF7-EAC2-4FBA-A57E-F28F1B8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622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8A4C"/>
                </a:solidFill>
              </a:defRPr>
            </a:pPr>
            <a:r>
              <a:rPr sz="28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757F1-8576-4387-9C60-F0BE23E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C11C8-D906-4420-A92C-55D6313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240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3CBDB-4E72-4C39-869F-D85B75A2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860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saldo = 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43462-1E0D-4CB0-8E71-5F80A57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195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06DB7-E3E1-4286-9338-75D2367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909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LONDRA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C8CF9-28C3-46C1-BB22-5732C3CA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1529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saldo = 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7CCF5-E15B-4654-BD37-8FA503A4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2C91B-7A03-4E08-B5F6-1BA7965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→ CLIENTE</a:t>
            </a:r>
          </a:p>
        </p:txBody>
      </p:sp>
    </p:spTree>
    <p:extLst>
      <p:ext uri="{BB962C8B-B14F-4D97-AF65-F5344CB8AC3E}">
        <p14:creationId xmlns:p14="http://schemas.microsoft.com/office/powerpoint/2010/main" val="1077536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884B5-3C2D-48A1-83A3-EC3DDC3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NETWORK PARTITION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FC7BB-A02B-40A9-9C0C-E581E190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Una partition separa nodi ancora funzionanti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C1CF8-F456-4FF7-9E2F-9BD05CE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6D247-2B9E-4395-A7A7-C2DE4D12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8209-0482-44D2-9073-6DDCD4A1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01475-D04E-49C3-A850-D2A76AC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raggiungibile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6F118-1D32-409A-A4B3-C61B20FC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6450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23DA4-F7AF-4DEF-A075-0AB2CD31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RETE</a:t>
            </a:r>
          </a:p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INTERROTTA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EB8F1-A8E3-42A0-9D59-29729EF0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12743-C77F-4DA3-A343-B2748AB2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71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C9A0B-D85B-40CA-B6B9-89E28677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33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raggiungibile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6E140-A31F-4A77-8603-0A98297E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4EADE-9258-4DD2-8395-94340DF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LONDRA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187F3-4F98-4DE9-9C90-1ED0050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005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raggiungibile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08E79-4786-44B2-8BC4-FFC9F7B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 nodi vivono. I messaggi non attraversano il taglio.</a:t>
            </a:r>
          </a:p>
        </p:txBody>
      </p:sp>
    </p:spTree>
    <p:extLst>
      <p:ext uri="{BB962C8B-B14F-4D97-AF65-F5344CB8AC3E}">
        <p14:creationId xmlns:p14="http://schemas.microsoft.com/office/powerpoint/2010/main" val="1970000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12A56-43D5-46D9-98DC-4F300BE6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7ABE9-8A8A-40EF-A546-1A6F49A6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CAP descrive tre garanzie desiderabili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4F812-6FA3-46E2-9536-C3C3AEC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BAEE8-51E2-40E0-880B-F9735FF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6B320-59B9-4402-9D2F-6E5D601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F98CC-D25A-4856-AE8C-5EEA9BF8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B8D9"/>
                </a:solidFill>
              </a:defRPr>
            </a:pPr>
            <a:r>
              <a:rPr sz="4500" b="1">
                <a:solidFill>
                  <a:srgbClr val="00B8D9"/>
                </a:solidFill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1E9F4-A380-44E5-8ECC-D134944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CONSISTENCY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C72F3-63CE-434D-8D3C-5587F31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una sola sequenza logica delle operazioni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17AB9-7627-46D4-BAAB-82B0E6BB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FB8AE-04BD-4E2C-85FD-9D449E52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77354-96EB-493C-96D1-58A8DBD1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05050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8A4C"/>
                </a:solidFill>
              </a:defRPr>
            </a:pPr>
            <a:r>
              <a:rPr sz="4500" b="1">
                <a:solidFill>
                  <a:srgbClr val="FF8A4C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26DEE-3C2E-4CFA-9214-BD88302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57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B307B-D528-4E86-B82B-13572E02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05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ogni richiesta a un nodo sano termina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865C2-FDE0-4BD9-B3FF-E1A50228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0D814-DAEF-48AC-9230-A744379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E38B0-0362-4A68-AD7C-50694D5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C6EE6"/>
                </a:solidFill>
              </a:defRPr>
            </a:pPr>
            <a:r>
              <a:rPr sz="4500" b="1">
                <a:solidFill>
                  <a:srgbClr val="7C6EE6"/>
                </a:solidFill>
              </a:rPr>
              <a:t>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F3A33-91D6-42EE-95BA-EBF3BC35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PARTITION TOLERANCE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F9632-C893-4D4D-A76E-2B69DF9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il sistema affronta messaggi persi</a:t>
            </a:r>
          </a:p>
        </p:txBody>
      </p:sp>
    </p:spTree>
    <p:extLst>
      <p:ext uri="{BB962C8B-B14F-4D97-AF65-F5344CB8AC3E}">
        <p14:creationId xmlns:p14="http://schemas.microsoft.com/office/powerpoint/2010/main" val="11337963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C3CC3-ED52-4F15-BF0C-F644576C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SISTEMI DISTRIBUITI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66134-19E9-4248-9D18-E2210A56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 — Consistency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94323-0211-461B-9021-EB66165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D8D63-3116-4BA5-B1E1-685C46E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B8D9"/>
                </a:solidFill>
              </a:defRPr>
            </a:pPr>
            <a:r>
              <a:rPr sz="8250" b="1">
                <a:solidFill>
                  <a:srgbClr val="00B8D9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1308-4944-4F39-B9EF-BC483FC4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Ogni operazione appare come se avvenisse su una sola copia, in un ordine unico.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C2963-6B74-44CC-A61B-D0B93D8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0D0B3-8742-4595-A9C5-6B04588C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00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LINEARIZABILITY • SINGLE-COPY ILLUSION</a:t>
            </a:r>
          </a:p>
        </p:txBody>
      </p:sp>
    </p:spTree>
    <p:extLst>
      <p:ext uri="{BB962C8B-B14F-4D97-AF65-F5344CB8AC3E}">
        <p14:creationId xmlns:p14="http://schemas.microsoft.com/office/powerpoint/2010/main" val="12426885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317D9-2F12-4807-A1AF-5EA17A21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85378-491D-41B7-80C6-2A749D8F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Due “Consistency” con significati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BC829-704D-41B2-BAC4-DB5A0758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599A9-628F-4C2E-8CC1-9793C65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9C58E-630B-45DB-83A5-47F7996C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8B64-B291-4BF8-979B-D5CB66D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70FB8-8905-4025-86CB-180C1D2E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82D79-EF62-4A15-BE29-C57C245E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 DI ACID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C0282-C7F9-41E0-AE93-6C2B9E02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28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La transazione preserva vincoli e invarianti: stato valido → stato valido.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96055-0BE6-4360-9E8F-9C0B545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 DI 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516B5-C7C1-4A22-9B53-24C74357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28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Le operazioni distribuite appaiono ordinate come su una singola copia.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C95F-AFD8-481C-A975-C734881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5A5A"/>
                </a:solidFill>
              </a:defRPr>
            </a:pPr>
            <a:r>
              <a:rPr sz="1500" b="1">
                <a:solidFill>
                  <a:srgbClr val="EF5A5A"/>
                </a:solidFill>
              </a:rPr>
              <a:t>Stessa parola. Domande differenti.</a:t>
            </a:r>
          </a:p>
        </p:txBody>
      </p:sp>
    </p:spTree>
    <p:extLst>
      <p:ext uri="{BB962C8B-B14F-4D97-AF65-F5344CB8AC3E}">
        <p14:creationId xmlns:p14="http://schemas.microsoft.com/office/powerpoint/2010/main" val="110271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FD01E-6788-430C-B457-3E3AAEF7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SISTEMI DISTRIBUITI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8EB93-36EC-4098-8620-CA522EF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— Availability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B452C-94D9-41BC-8795-1D2F8EA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050AD-AE66-4231-BD52-5F228B03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E1A81-532B-43A5-9837-A34072E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Ogni richiesta ricevuta da un nodo non guasto deve terminare con una risposta.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A987-459D-439C-8336-4CCBFDFF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B2F22-EB65-4D87-A3AF-03C91A5C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006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B0BF"/>
                </a:solidFill>
              </a:defRPr>
            </a:pPr>
            <a:r>
              <a:rPr sz="1350" b="1">
                <a:solidFill>
                  <a:srgbClr val="9FB0BF"/>
                </a:solidFill>
              </a:rPr>
              <a:t>La risposta può non contenere il valore più recente.</a:t>
            </a:r>
          </a:p>
        </p:txBody>
      </p:sp>
    </p:spTree>
    <p:extLst>
      <p:ext uri="{BB962C8B-B14F-4D97-AF65-F5344CB8AC3E}">
        <p14:creationId xmlns:p14="http://schemas.microsoft.com/office/powerpoint/2010/main" val="1160477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95600-82A3-4049-B65C-8865E7BC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35344-715C-42CC-9EBF-BCF89534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Availability CAP non significa “99,99% uptime”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64CB9-9C41-4C9C-A431-97C043CB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F2614-B17C-47F8-AF3B-BACBC07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7B19E-180B-4C10-B745-0643B76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7D011-29D8-41EB-BAC9-D1EC33BA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538B1-B2A7-42F9-A8A4-3C7AB76A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7F0C2-F29A-4BEF-AC79-BE40047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ALTA DISPONIBILITÀ OPERATIVA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36B46-E7F4-4E6E-8DCC-F3C7F66D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28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SLA, ridondanza, failover, tempi di ripristino e percentuali osservate.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1E4BB-A482-4014-8DE8-0F0259C5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AVAILABILITY 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F7F9D-2E9C-42A9-90F8-FEAF778B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28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Nessuna richiesta a un nodo sano resta senza esito, anche durante la partition.</a:t>
            </a:r>
          </a:p>
        </p:txBody>
      </p:sp>
    </p:spTree>
    <p:extLst>
      <p:ext uri="{BB962C8B-B14F-4D97-AF65-F5344CB8AC3E}">
        <p14:creationId xmlns:p14="http://schemas.microsoft.com/office/powerpoint/2010/main" val="7911008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5A06F-4C9D-47D7-BB87-19519B25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SISTEMI DISTRIBUITI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0F644-7ABE-4654-A8FD-505D2BB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 — Partition tolerance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DA886-7A3B-4C30-8200-995BD80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EFCE9-ED33-4F80-AD5E-C5A3AC9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7C6EE6"/>
                </a:solidFill>
              </a:defRPr>
            </a:pPr>
            <a:r>
              <a:rPr sz="8250" b="1">
                <a:solidFill>
                  <a:srgbClr val="7C6EE6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3F63C-9661-400C-BAD5-BC2E138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Il sistema deve continuare a rispettare il comportamento dichiarato anche se la rete perde messaggi tra gruppi di nodi.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A68B0-FDA3-4D90-BF34-AA9B0DC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12621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5FA5B-2D56-413B-8AE7-0F74DF76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LA RETE PUÒ FALLIRE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FAEAB-98A5-4CA2-A7DD-83AB3E3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In un sistema distribuito, P non è un lusso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0F7CB-2D4E-4FC7-888F-7234D8A1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0B618-C525-4857-ACB7-051BE2E6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B8D9"/>
                </a:solidFill>
              </a:defRPr>
            </a:pPr>
            <a:r>
              <a:rPr sz="1875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0CC7A-DA45-4141-B0A3-3ABE98E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link interrotto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0CC79-BA06-4C45-8244-29778B9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621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fibra, switch,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C7831-AF02-4363-AF32-3062829C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8A4C"/>
                </a:solidFill>
              </a:defRPr>
            </a:pPr>
            <a:r>
              <a:rPr sz="1875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7F2B6-D8DA-4EC2-A499-43BBCEC7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latenza estrema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6B13B-661B-4AF4-BBB0-05A97233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765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messaggio vivo ma inutile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06625-F20D-49CD-87C8-0CABE4C3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E34B"/>
                </a:solidFill>
              </a:defRPr>
            </a:pPr>
            <a:r>
              <a:rPr sz="1875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15C87-E292-4590-A94E-92B7AC28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909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datacenter isolato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752AF-D356-42F7-92C5-55E2840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909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servizi locali ancora attivi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A1537-F946-4900-8190-B57D257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6EE6"/>
                </a:solidFill>
              </a:defRPr>
            </a:pPr>
            <a:r>
              <a:rPr sz="1875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777FF-1BBD-4B43-9563-73A7234A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05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split brain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C2E91-F89A-4D3D-8B57-AE2E531B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053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due parti credono di comandare</a:t>
            </a:r>
          </a:p>
        </p:txBody>
      </p:sp>
    </p:spTree>
    <p:extLst>
      <p:ext uri="{BB962C8B-B14F-4D97-AF65-F5344CB8AC3E}">
        <p14:creationId xmlns:p14="http://schemas.microsoft.com/office/powerpoint/2010/main" val="9581897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26AEE-E86B-4DFB-B17A-7F5D0A0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IL NODO ISOLATO DEVE DECIDERE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326B2-2C4D-47DC-9AEC-95CBC0A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Il teorema appare soltanto durante la partition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68C17-E1A7-448D-944F-A27B534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88F5C-00F1-4E6F-B80B-81DF106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MESSAGGI PERSI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FAB4F-2B43-492B-AF72-55A588A8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90DD9-CB36-4CD9-8815-70EF746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aspetto</a:t>
            </a:r>
          </a:p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la replica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93E40-4A4A-4945-ACFE-7E2EA6A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4C"/>
                </a:solidFill>
              </a:defRPr>
            </a:pPr>
            <a:r>
              <a:rPr sz="1950" b="1">
                <a:solidFill>
                  <a:srgbClr val="FF8A4C"/>
                </a:solidFill>
              </a:rPr>
              <a:t>= perdo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C245-58F2-4BD1-A6E1-44FAB4E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D4DE"/>
                </a:solidFill>
              </a:defRPr>
            </a:pPr>
            <a:r>
              <a:rPr sz="2025" b="1">
                <a:solidFill>
                  <a:srgbClr val="C8D4DE"/>
                </a:solidFill>
              </a:rPr>
              <a:t>OPPURE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DC194-04FE-4F69-8197-22D3346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3619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42FE2-9389-453B-A05A-661587C3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rispondo con</a:t>
            </a:r>
          </a:p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lo stato locale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253F4-3CB8-4632-A0AB-1DAA4C0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B8D9"/>
                </a:solidFill>
              </a:defRPr>
            </a:pPr>
            <a:r>
              <a:rPr sz="1950" b="1">
                <a:solidFill>
                  <a:srgbClr val="00B8D9"/>
                </a:solidFill>
              </a:rPr>
              <a:t>= rischio C</a:t>
            </a:r>
          </a:p>
        </p:txBody>
      </p:sp>
    </p:spTree>
    <p:extLst>
      <p:ext uri="{BB962C8B-B14F-4D97-AF65-F5344CB8AC3E}">
        <p14:creationId xmlns:p14="http://schemas.microsoft.com/office/powerpoint/2010/main" val="1917468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5FE98-0A1A-45BE-B74A-57271B19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3EB51-5225-4D73-B552-C3E33D2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“Scegli due su tre” è una scorciatoia incompleta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32601-F07C-45ED-BB28-D25A1736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FFA36-0E54-43FE-93C9-30E766F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NON 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1DA6A-7388-4B9B-8F5F-CB75421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un menu statico da configurare una volta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53B47-D2B8-4B52-84A3-DCE4819C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A36A"/>
                </a:solidFill>
              </a:defRPr>
            </a:pPr>
            <a:r>
              <a:rPr sz="1725" b="1">
                <a:solidFill>
                  <a:srgbClr val="27A36A"/>
                </a:solidFill>
              </a:rPr>
              <a:t>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245D0-9BD6-45B3-A647-47A4497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una decisione sul comportamento durante una partition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0607A-434A-4573-97C2-DE1ED32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La scelta può cambiare per operazione, dato e momento.</a:t>
            </a:r>
          </a:p>
        </p:txBody>
      </p:sp>
    </p:spTree>
    <p:extLst>
      <p:ext uri="{BB962C8B-B14F-4D97-AF65-F5344CB8AC3E}">
        <p14:creationId xmlns:p14="http://schemas.microsoft.com/office/powerpoint/2010/main" val="1314473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1DEC-8EDF-4374-9B46-C1DAC45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RETE 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80743-1BE4-452F-B183-ABB58AEE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Senza partition, il conflitto CAP non si manifesta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271E9-A5C0-410C-AC49-2B2B91B7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034A7-F487-48D3-9283-65690605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DBE0B-E14C-488C-8622-5D4A1CF4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9E58E-31FE-47A7-87DC-8551EFC7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00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scrive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BA3C3-B798-45BD-98C2-655EBC00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7E34B"/>
                </a:solidFill>
              </a:defRPr>
            </a:pPr>
            <a:r>
              <a:rPr sz="2850" b="1">
                <a:solidFill>
                  <a:srgbClr val="B7E34B"/>
                </a:solidFill>
              </a:rPr>
              <a:t>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90CC3-E46E-4CE2-B442-EA988A49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418BA-0559-418B-825E-FCD56ABE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A74AC-0B62-4DA7-9159-EE68B228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00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coordina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2C430-3EA8-4403-9961-7B9B7F49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7E34B"/>
                </a:solidFill>
              </a:defRPr>
            </a:pPr>
            <a:r>
              <a:rPr sz="2850" b="1">
                <a:solidFill>
                  <a:srgbClr val="B7E34B"/>
                </a:solidFill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5C3CF-3347-4B9F-A599-A6C0B54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F20D5-17E9-4C92-AC33-6A44972E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LONDRA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BDBE1-AE60-41DF-BABC-E64E30F9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0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legge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FEF47-CF93-49A9-95C6-754DB20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05375"/>
            <a:ext cx="790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Possiamo coordinare le copie e rispondere normalmente.</a:t>
            </a:r>
          </a:p>
        </p:txBody>
      </p:sp>
    </p:spTree>
    <p:extLst>
      <p:ext uri="{BB962C8B-B14F-4D97-AF65-F5344CB8AC3E}">
        <p14:creationId xmlns:p14="http://schemas.microsoft.com/office/powerpoint/2010/main" val="18555514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3114E-9A5A-49C3-8676-A7B26DA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CONSISTENCY + PARTITION TOLERANCE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09F2A-695D-42C1-B601-F9BDD18F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CP: durante la partition proteggiamo la vista unica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3E714-E762-42DE-855A-CA579CB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48C83-931B-46CD-BA1C-8076A14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BCD45-BD16-4B09-B228-53386EA8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785A6-BD0F-4AD4-AC7F-C466A7E2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051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minoranza isolata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C926A-673E-4F29-82CB-2B4BC46C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</a:defRPr>
            </a:pPr>
            <a:r>
              <a:rPr sz="1650" b="1">
                <a:solidFill>
                  <a:srgbClr val="52606D"/>
                </a:solidFill>
              </a:rPr>
              <a:t>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B55E5-A788-4E14-B064-75CEBFA4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5A5A"/>
                </a:solidFill>
              </a:defRPr>
            </a:pPr>
            <a:r>
              <a:rPr sz="2100" b="1">
                <a:solidFill>
                  <a:srgbClr val="EF5A5A"/>
                </a:solidFill>
              </a:rPr>
              <a:t>RIFIUTATA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D3F4E-B53B-4772-8377-71BE8780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C0CB-1FD8-41FE-A948-8D567C1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145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725F2-0497-45FB-BD51-D025445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maggioranza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A187B-0D18-4582-AE78-A1BF21D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9C4DB-0ED9-4643-9308-F667F6F5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86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LONDRA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F4294-5127-4D4D-9213-D251E67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248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maggioranza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6131E-3D64-4422-86FD-8100BF1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91125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La parte senza autorità non conferma operazioni rischiose.</a:t>
            </a:r>
          </a:p>
        </p:txBody>
      </p:sp>
    </p:spTree>
    <p:extLst>
      <p:ext uri="{BB962C8B-B14F-4D97-AF65-F5344CB8AC3E}">
        <p14:creationId xmlns:p14="http://schemas.microsoft.com/office/powerpoint/2010/main" val="6333449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C3895-9841-456E-A1C8-E916F03B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AVAILABILITY + PARTITION TOLERANCE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1969-9BCA-4394-BE57-CD6535A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AP: continuiamo a rispondere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7AC2B-0A41-426E-B4FF-19F8588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C7EAB-4736-4710-AF5C-4FDBF51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DBBD7-F515-4F57-A8BE-681C9CE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F9981-632F-41DB-A32B-0F1AC5C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051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like = 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5753F-A4FA-4785-8C86-72584941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48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WRITE 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1C8DB-FB64-444D-AFA5-CE59B47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2B672-2E25-479B-9963-34C2821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145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05408-B5D5-4422-8128-CB1C451B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like =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7AB77-3F50-4F7B-A5C2-0AD44B9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D1FAA-7C66-4166-A287-3258BFC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86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LONDRA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11D54-E5A6-4D1E-8894-28DF08F6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2481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like = 102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1C57B-9358-4F1D-9478-1979360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Le versioni possono divergere e dovranno essere riconciliate.</a:t>
            </a:r>
          </a:p>
        </p:txBody>
      </p:sp>
    </p:spTree>
    <p:extLst>
      <p:ext uri="{BB962C8B-B14F-4D97-AF65-F5344CB8AC3E}">
        <p14:creationId xmlns:p14="http://schemas.microsoft.com/office/powerpoint/2010/main" val="7603980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C8DEE-9080-4914-95EF-4221C7D2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65745-D322-4A3A-BE32-DE50FAA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CA richiede di non tollerare la partition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7A47-B885-4D8F-8AF0-BFE0028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6C742-5120-45F4-A4A6-46B874B0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86264-247C-4886-8660-A5BEE569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81FFC-5040-4BC8-B531-90E6740A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F201-1B84-4983-9B64-0CACA966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B7135-B2D7-4EFB-BF9F-1285EFB1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 +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E70D-00D5-43F0-BB30-73E6F4D9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28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Possibili insieme quando la comunicazione necessaria è disponibile.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6E472-8A92-472E-8DF1-A3BC7293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NON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2B9EE-CBEF-4995-99E6-B0636F1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28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Una partition può rendere il sistema incoerente o non disponibile: il comportamento non è garantito.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1103D-CA5A-47E6-A5C0-25DBA03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6EE6"/>
                </a:solidFill>
              </a:defRPr>
            </a:pPr>
            <a:r>
              <a:rPr sz="1500" b="1">
                <a:solidFill>
                  <a:srgbClr val="7C6EE6"/>
                </a:solidFill>
              </a:rPr>
              <a:t>Per un datastore realmente distribuito, ignorare P è un’assunzione.</a:t>
            </a:r>
          </a:p>
        </p:txBody>
      </p:sp>
    </p:spTree>
    <p:extLst>
      <p:ext uri="{BB962C8B-B14F-4D97-AF65-F5344CB8AC3E}">
        <p14:creationId xmlns:p14="http://schemas.microsoft.com/office/powerpoint/2010/main" val="1445802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C1D55-7356-45F3-AB85-6493B4B2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SCENARIO 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BC801-FE47-4623-A16D-4BDF0899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Saldo e pagamenti: meglio rifiutare che inventare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B12A6-8D53-45F0-B5E2-8C2EB73D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41C16-E6A3-4620-A7C4-9AC0FC98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DE"/>
                </a:solidFill>
              </a:defRPr>
            </a:pPr>
            <a:r>
              <a:rPr sz="1650" b="1">
                <a:solidFill>
                  <a:srgbClr val="C8D4DE"/>
                </a:solidFill>
              </a:rPr>
              <a:t>saldo noto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2C48D-6C72-44FD-AA09-0F51590E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100 €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0F38D-5FC6-4053-8EB5-156DD54A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partition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A42DF-81B7-47AA-BC96-28C09849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DE"/>
                </a:solidFill>
              </a:defRPr>
            </a:pPr>
            <a:r>
              <a:rPr sz="1650" b="1">
                <a:solidFill>
                  <a:srgbClr val="C8D4DE"/>
                </a:solidFill>
              </a:rPr>
              <a:t>prelievo 80 €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0C16B-1738-422F-AA28-6591B266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ATTENDI / RIFIUTA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DBE27-444F-4A62-A951-904A4B35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Un doppio prelievo costa più di una risposta non disponibile.</a:t>
            </a:r>
          </a:p>
        </p:txBody>
      </p:sp>
    </p:spTree>
    <p:extLst>
      <p:ext uri="{BB962C8B-B14F-4D97-AF65-F5344CB8AC3E}">
        <p14:creationId xmlns:p14="http://schemas.microsoft.com/office/powerpoint/2010/main" val="6035363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59DE1-1078-4F69-A5A1-F97684A2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SCENARIO 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4A264-E14B-4EBC-91EF-B5FD06EE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Like e visualizzazioni: possiamo continuare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824A6-B512-48F4-870B-65874CAB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98CD6-F56E-48B1-83DC-9F2B9BB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B8D9"/>
                </a:solidFill>
              </a:defRPr>
            </a:pPr>
            <a:r>
              <a:rPr sz="1500" b="1">
                <a:solidFill>
                  <a:srgbClr val="00B8D9"/>
                </a:solidFill>
              </a:rPr>
              <a:t>ROMA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94074-D927-4403-932F-221232A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+ 3 like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D36D3-ADBE-4E03-A1C9-1FDDDE5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A4C"/>
                </a:solidFill>
              </a:defRPr>
            </a:pPr>
            <a:r>
              <a:rPr sz="1500" b="1">
                <a:solidFill>
                  <a:srgbClr val="FF8A4C"/>
                </a:solidFill>
              </a:rPr>
              <a:t>MILANO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EB3D9-C61E-48D0-9598-A3F8CEE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+ 2 like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0B40F-59A8-4580-B753-51EE3DB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7E34B"/>
                </a:solidFill>
              </a:defRPr>
            </a:pPr>
            <a:r>
              <a:rPr sz="1500" b="1">
                <a:solidFill>
                  <a:srgbClr val="B7E34B"/>
                </a:solidFill>
              </a:rPr>
              <a:t>LONDRA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2017-5A17-4952-90A3-BF85AAE3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+ 1 like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74580-B630-4256-A70A-2C04679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672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7A36A"/>
                </a:solidFill>
              </a:defRPr>
            </a:pPr>
            <a:r>
              <a:rPr sz="2400" b="1">
                <a:solidFill>
                  <a:srgbClr val="27A36A"/>
                </a:solidFill>
              </a:rPr>
              <a:t>Dopo il ripristino: merge → + 6</a:t>
            </a:r>
          </a:p>
        </p:txBody>
      </p:sp>
    </p:spTree>
    <p:extLst>
      <p:ext uri="{BB962C8B-B14F-4D97-AF65-F5344CB8AC3E}">
        <p14:creationId xmlns:p14="http://schemas.microsoft.com/office/powerpoint/2010/main" val="2759387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2B76B-9B69-4760-8282-79E79528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SCENARIO 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555F4-78E9-46E9-9D54-3F7AA9D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Un posto unico non può essere venduto due volte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82879-D661-4869-98A8-76E67A7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30F6A-50BE-4B0A-892F-CAF5233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A696E-D026-4312-8E45-A70630CA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479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D7F53-34BD-43D9-AFA1-8152BB7C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099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prenota A7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32271-F97B-4D7B-B0C7-AF940546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C42B9-0CA2-4A86-8227-4E775085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479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40B24-0560-421C-9325-97BB63E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099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prenota A7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465F3-B92D-4E32-B224-BEE78B43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EF5A5A"/>
                </a:solidFill>
              </a:defRPr>
            </a:pPr>
            <a:r>
              <a:rPr sz="6300" b="1">
                <a:solidFill>
                  <a:srgbClr val="EF5A5A"/>
                </a:solidFill>
              </a:rPr>
              <a:t>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B1D7C-75EE-44DC-A597-F5ECC96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Una sola componente deve avere l’autorità di confermare.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82A27-8610-48EE-BD7B-E908F3DE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06D"/>
                </a:solidFill>
              </a:defRPr>
            </a:pPr>
            <a:r>
              <a:rPr sz="1575" b="1">
                <a:solidFill>
                  <a:srgbClr val="52606D"/>
                </a:solidFill>
              </a:rPr>
              <a:t>Disponibilità ridotta • integrità preservata</a:t>
            </a:r>
          </a:p>
        </p:txBody>
      </p:sp>
    </p:spTree>
    <p:extLst>
      <p:ext uri="{BB962C8B-B14F-4D97-AF65-F5344CB8AC3E}">
        <p14:creationId xmlns:p14="http://schemas.microsoft.com/office/powerpoint/2010/main" val="18019790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F565C-4BDB-4416-87FD-48CFC25A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3AD9E-C424-42A8-A7CF-AE75918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Quando la rete guarisce, il lavoro non è finito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D3FB8-68CA-4CB7-93C7-2BEAE19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9103C-D846-4C58-8BC0-4FFC6D7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1023B-F981-4786-A191-555FFFC2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VERSIONE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2B722-388C-404C-B2A0-A269C796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profile.bio = “Data”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B6AEB-6B2D-4BF8-8EDB-85CA5424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03EC8-A17C-40B5-9FF0-BA1C342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VERSIONE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384E7-7FA9-4563-AF44-11F28926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profile.bio = “Cloud”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4F900-F9CD-4448-B24D-0B27D163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14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8A4C"/>
                </a:solidFill>
              </a:defRPr>
            </a:pPr>
            <a:r>
              <a:rPr sz="30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5170E-D419-4605-A9A5-D60BC80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6CE60-F10F-4480-A273-087557A1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24125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RILEVA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CONFLITTO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9E41D-ECA1-4468-8BE0-96FD28C4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8A4C"/>
                </a:solidFill>
              </a:defRPr>
            </a:pPr>
            <a:r>
              <a:rPr sz="30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33255-BFC4-485D-A7E8-F2D1DD03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6EE6"/>
                </a:solidFill>
              </a:defRPr>
            </a:pPr>
            <a:r>
              <a:rPr sz="1875" b="1">
                <a:solidFill>
                  <a:srgbClr val="7C6EE6"/>
                </a:solidFill>
              </a:rPr>
              <a:t>regola • merge • intervento</a:t>
            </a:r>
          </a:p>
        </p:txBody>
      </p:sp>
    </p:spTree>
    <p:extLst>
      <p:ext uri="{BB962C8B-B14F-4D97-AF65-F5344CB8AC3E}">
        <p14:creationId xmlns:p14="http://schemas.microsoft.com/office/powerpoint/2010/main" val="21308643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7630A-BBD3-4C0A-A82F-82DA288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BCEE0-0935-4A99-9085-AD14D7F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Non tutti i conflitti sono uguali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CE2E8-FFA2-48D8-A4F1-C7CB4345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232A0-CCE1-4B07-BAE2-C3E3EC6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E531-2A32-48C6-ACC3-C5DDAADE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CONTATORE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D43A6-C7AE-44D7-8D5D-91520EF5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incrementi concorrenti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1AD93-6F43-4E56-9959-3A2EC93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1A9C7-15B7-4AFD-99D1-26111B95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TESTO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B3CBF-78D4-4857-B4D7-EC03F33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due modifiche incompatibili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94380-3299-4186-A280-5377050D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C4AF3-31D8-44D7-ADE5-AA01FEB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INVENTARIO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258A3-FBE1-488A-86C6-3B7630AF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vendite oltre disponibilità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8965C-E9A0-464D-A486-FEF75C1C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F3090-5C88-408D-99D5-F737A70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FCB85-EAF3-4B35-A805-535E115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aggiunte e rimozioni concorrenti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F1252-18FC-46BC-B4BA-106A6A65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06D"/>
                </a:solidFill>
              </a:defRPr>
            </a:pPr>
            <a:r>
              <a:rPr sz="1800" b="1">
                <a:solidFill>
                  <a:srgbClr val="52606D"/>
                </a:solidFill>
              </a:rPr>
              <a:t>La strategia dipende dal significato del dato.</a:t>
            </a:r>
          </a:p>
        </p:txBody>
      </p:sp>
    </p:spTree>
    <p:extLst>
      <p:ext uri="{BB962C8B-B14F-4D97-AF65-F5344CB8AC3E}">
        <p14:creationId xmlns:p14="http://schemas.microsoft.com/office/powerpoint/2010/main" val="15167141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AB0B0-FD6C-4D2D-AF8E-24D35F8A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2C39B-999F-44D1-8CB5-A098311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Le strategie di riconciliazione hanno costi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F6823-1FEB-42E8-BFA8-61417F5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A2D32-0154-4994-B3F3-5360F6C0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LAST WRITE 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7B47-A59D-4A7C-AF4A-4C9BA396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semplice, può perdere modifiche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A5A44-BB1D-44ED-B68F-6D5DAE6E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7E609-D79B-4947-95A3-48C0255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MERGE DI 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77EEE-3D3A-41BC-A44C-4D01A4D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908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corretto se esiste una regola semantica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A375B-943D-47EB-A71A-B6AAD472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2950A-6122-401A-91B9-8CAC23D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CRDT / STRUTTURE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18B79-9B5F-42BF-B665-13FFF033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671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convergenza progettata per operazioni compatibili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2D8A7-EF3A-4304-AC3A-59C54AB8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2C809-DF81-4BFF-B03E-E229BB1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INTERVENTO UMANO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36D8D-FEF8-4811-99C1-5C7514B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434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necessario per conflitti ad alto impatto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8B7F9-A825-4633-A2C6-4063A90F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80558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2608C-E07F-4723-8216-726B4728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 = 3 REPLICHE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AE542-E666-4E10-BD79-3AB1C2F2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I quorum cercano un’intersezione tra letture e scritture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6E599-846A-42A1-BA1B-ED8CD18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EE2F8-FA98-40E0-8A36-FE4C82B3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8A4C"/>
                </a:solidFill>
              </a:defRPr>
            </a:pPr>
            <a:r>
              <a:rPr sz="4350" b="1">
                <a:solidFill>
                  <a:srgbClr val="FF8A4C"/>
                </a:solidFill>
              </a:rPr>
              <a:t>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F73EA-6441-43F5-BD27-170914BC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052E0-6F80-4F14-A27D-BBC453A9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2606D"/>
                </a:solidFill>
              </a:defRPr>
            </a:pPr>
            <a:r>
              <a:rPr sz="3900" b="1">
                <a:solidFill>
                  <a:srgbClr val="52606D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99D99-FD79-4BE2-BEF5-3F41B012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B8D9"/>
                </a:solidFill>
              </a:defRPr>
            </a:pPr>
            <a:r>
              <a:rPr sz="4350" b="1">
                <a:solidFill>
                  <a:srgbClr val="00B8D9"/>
                </a:solidFill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F7F2D-B8F2-49E1-B8D0-3753A1CD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11FA4-15C9-48C5-B1BA-7E66312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2606D"/>
                </a:solidFill>
              </a:defRPr>
            </a:pPr>
            <a:r>
              <a:rPr sz="3900" b="1">
                <a:solidFill>
                  <a:srgbClr val="52606D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82C8E-F95B-4C8E-9169-A1218D49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7C6EE6"/>
                </a:solidFill>
              </a:defRPr>
            </a:pPr>
            <a:r>
              <a:rPr sz="4350" b="1">
                <a:solidFill>
                  <a:srgbClr val="7C6EE6"/>
                </a:solidFill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D8634-CBB0-4CD8-8B0E-9A85E4D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DD639-8162-4BE0-9541-74A320E7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FBA9A-1955-4A64-9965-A59D20B3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almeno</a:t>
            </a:r>
          </a:p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1 replica</a:t>
            </a:r>
          </a:p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in comune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E57E3-10C9-4803-91A2-46D98A7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 + W &gt; N favorisce la visibilità della scrittura successiva.</a:t>
            </a:r>
          </a:p>
        </p:txBody>
      </p:sp>
    </p:spTree>
    <p:extLst>
      <p:ext uri="{BB962C8B-B14F-4D97-AF65-F5344CB8AC3E}">
        <p14:creationId xmlns:p14="http://schemas.microsoft.com/office/powerpoint/2010/main" val="3877122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FF2B6-8458-4182-BAB6-110B2E5D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TUNABLE CONSISTENCY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4499D-59CB-4D39-9786-EC3E1FEF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La consistenza può essere scelta per operazione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EDDDB-84CC-44B4-B0A4-E2DA4DB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CB41E-051D-43D0-9B7F-512F1C5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31CC3-558F-4DB0-9B9F-3B6874C6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8A4C"/>
                </a:solidFill>
              </a:defRPr>
            </a:pPr>
            <a:r>
              <a:rPr sz="1875" b="1">
                <a:solidFill>
                  <a:srgbClr val="FF8A4C"/>
                </a:solidFill>
              </a:rPr>
              <a:t>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E0B8C-6500-47CA-AE12-4C4BED0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1 replica risponde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E8443-F797-4883-8E81-8D9B0C98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più disponibilità / latenza bassa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8ACCA-F9DF-4D12-A14A-34C0A49A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B3C53-4DE1-426F-BE5D-3ADC0D8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2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B8D9"/>
                </a:solidFill>
              </a:defRPr>
            </a:pPr>
            <a:r>
              <a:rPr sz="1875" b="1">
                <a:solidFill>
                  <a:srgbClr val="00B8D9"/>
                </a:solidFill>
              </a:rPr>
              <a:t>QUORUM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67478-DB51-4438-AFCA-B1683A42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90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maggioranza risponde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2DD0C-C25F-4E6A-845F-CC03692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intersezione tra insiemi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5CCCB-509D-4A6C-B41A-2706DF6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D53E6-9DE5-4E25-AC78-282F557F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6EE6"/>
                </a:solidFill>
              </a:defRPr>
            </a:pPr>
            <a:r>
              <a:rPr sz="1875" b="1">
                <a:solidFill>
                  <a:srgbClr val="7C6EE6"/>
                </a:solidFill>
              </a:rPr>
              <a:t>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70733-38C5-4679-A13E-3DD7E602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tutte le repliche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D36C6-B4D0-4030-B1F7-986008D5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garanzia più forte / meno disponibilità</a:t>
            </a:r>
          </a:p>
        </p:txBody>
      </p:sp>
    </p:spTree>
    <p:extLst>
      <p:ext uri="{BB962C8B-B14F-4D97-AF65-F5344CB8AC3E}">
        <p14:creationId xmlns:p14="http://schemas.microsoft.com/office/powerpoint/2010/main" val="12384284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5831E-B7B3-4593-A891-F2AFBFB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OLTRE 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7F2F5-9DFF-492A-88B7-F3DF194B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PACELC completa la domanda nei periodi normali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7B9C4-02D6-4989-8F66-7E0EC29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965FF-A3FA-420F-9EDE-AC38CD1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SE C’È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B2FAC-DA63-464C-9487-83AAEF81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 ↔ 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54D39-0FD3-4F69-9231-0C2DCF7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ALTRIMENTI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546E5-8EE4-447E-BCEF-61586255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  ↔ 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C14D0-F340-441B-8BCF-9458173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8D4DE"/>
                </a:solidFill>
              </a:defRPr>
            </a:pPr>
            <a:r>
              <a:rPr sz="1425" b="0">
                <a:solidFill>
                  <a:srgbClr val="C8D4DE"/>
                </a:solidFill>
              </a:rPr>
              <a:t>partition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304D9-8125-4ABF-8F95-ED76D8FC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8D4DE"/>
                </a:solidFill>
              </a:defRPr>
            </a:pPr>
            <a:r>
              <a:rPr sz="1425" b="0">
                <a:solidFill>
                  <a:srgbClr val="C8D4DE"/>
                </a:solidFill>
              </a:rPr>
              <a:t>latency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12694-B27F-4015-BE5E-778BEFFC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Anche con rete sana, coordinare più repliche può aumentare la latenza.</a:t>
            </a:r>
          </a:p>
        </p:txBody>
      </p:sp>
    </p:spTree>
    <p:extLst>
      <p:ext uri="{BB962C8B-B14F-4D97-AF65-F5344CB8AC3E}">
        <p14:creationId xmlns:p14="http://schemas.microsoft.com/office/powerpoint/2010/main" val="7543433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CABC7-934B-4617-B685-EC88D13E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TEOREMA CAP • LEZIONE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8880A-1CD0-4B1B-941E-45434E59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La scelta CAP parte dal danno possibile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3E8C7-6E01-4326-9F74-FBAE8815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0B3BD-5480-4C8B-A33F-9C122F50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E3B05-8473-4D9B-90CD-6F14167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Quale operazione avviene durante la partition?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C6CD2-548E-4AA3-A94A-880EE3CD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4C"/>
                </a:solidFill>
              </a:defRPr>
            </a:pPr>
            <a:r>
              <a:rPr sz="2100" b="1">
                <a:solidFill>
                  <a:srgbClr val="FF8A4C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9A821-E0CE-4897-A164-467C0DBD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Che danno produce una lettura obsoleta?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5277A-5D8B-469A-B156-828AA612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7E34B"/>
                </a:solidFill>
              </a:defRPr>
            </a:pPr>
            <a:r>
              <a:rPr sz="2100" b="1">
                <a:solidFill>
                  <a:srgbClr val="B7E34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D964-FB18-451F-A1CE-718B508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Che danno produce un rifiuto o un timeout?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38F5B-C9AD-4F1C-9600-5FDD66B1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6EE6"/>
                </a:solidFill>
              </a:defRPr>
            </a:pPr>
            <a:r>
              <a:rPr sz="2100" b="1">
                <a:solidFill>
                  <a:srgbClr val="7C6EE6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485C3-A75E-455D-ACE8-5101C97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862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Il conflitto può essere risolto dopo?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8C2E9-E283-43D3-8A3D-9F602AC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7A36A"/>
                </a:solidFill>
              </a:defRPr>
            </a:pPr>
            <a:r>
              <a:rPr sz="2100" b="1">
                <a:solidFill>
                  <a:srgbClr val="27A36A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D6971-F5CE-48A7-91BA-840CD60B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Quale componente può avere autorità?</a:t>
            </a:r>
          </a:p>
        </p:txBody>
      </p:sp>
    </p:spTree>
    <p:extLst>
      <p:ext uri="{BB962C8B-B14F-4D97-AF65-F5344CB8AC3E}">
        <p14:creationId xmlns:p14="http://schemas.microsoft.com/office/powerpoint/2010/main" val="10982021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A7B65-669C-46BE-941B-588FF9F9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CONFIGURAZIONE E OPERAZIONE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71B77-5F05-4578-8097-4517E011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I prodotti non sono etichette CAP immutabili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D9D65-DE87-448C-985B-D3207F20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A48AA-708B-4122-BB43-C1BBB8A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READ CONCERN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B6F96-7C06-4347-ADC7-C37D035C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quale versione può essere letta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94E3C-0218-4E9F-8539-47FCF24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9864B-AF49-400C-A857-271BF4AD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WRITE CONCERN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4C458-1972-4FA2-A7FB-A8ACDE46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908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quante conferme attendere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0D1D4-B108-4056-97AE-D48911B2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69C75-CF0F-4403-B655-2BDEEDC7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CONSISTENCY 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B2640-19F8-4D0E-A761-DAD45BBD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671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quante repliche coinvolgere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7F00-8B30-4CF9-967F-CE25DEE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C1126-63EB-4B11-9329-34A26D04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TOPOLOGIA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5E071-C49D-478C-B414-FBAEA364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43400"/>
            <a:ext cx="766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quali failure domain separare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9C47A-E0E8-40EB-AE7F-FEA9E8DB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51270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2662F-39EA-464B-927D-FFF9E8B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SIMULAZIONE • 3 NODI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ED062-B404-4CDF-878A-75B93478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Laboratorio — CAP umano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1B925-7409-40A4-B45B-40200745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19BAA-8914-4E5E-8564-DAE2EC1C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ROMA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F206A-E69D-4D03-936B-437F853E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MILANO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B16FF-7E18-4280-B267-9E145130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LONDRA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8CCC5-3F95-46B2-B98E-28E3EAE2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71F08-CC04-4519-AC93-16B5E2D8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Il controller interrompe la rete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38441-6670-4E70-93D6-7F0537B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55BAA-9BAD-4A41-A74B-E8230B6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I client inviano richieste locali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A76BA-E9BD-4C79-8063-392379E3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56F7B-56D5-4145-847E-F08FC394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Ogni nodo applica la politica scelta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464AB-604C-4BCE-BD83-D3A8531D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B074C-6AF8-4364-8FC0-A58703EB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4DE"/>
                </a:solidFill>
              </a:defRPr>
            </a:pPr>
            <a:r>
              <a:rPr sz="1725" b="0">
                <a:solidFill>
                  <a:srgbClr val="C8D4DE"/>
                </a:solidFill>
              </a:rPr>
              <a:t>La rete torna e si riconciliano i dati</a:t>
            </a:r>
          </a:p>
        </p:txBody>
      </p:sp>
    </p:spTree>
    <p:extLst>
      <p:ext uri="{BB962C8B-B14F-4D97-AF65-F5344CB8AC3E}">
        <p14:creationId xmlns:p14="http://schemas.microsoft.com/office/powerpoint/2010/main" val="12393683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B92D5-B5AD-4B2C-8E35-69D02C4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CARTE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1D0F5-A780-43A0-804F-A8313272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Quattro round, quattro rischi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4549A-12C4-481B-8B36-E746E9C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0998B-9E56-457A-BC5C-D94F3227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F7E4-39D4-4D31-BBAD-689B4023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63FF5-3D13-460C-BA93-DB9103F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saldo bancario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32F3F-F390-4926-8C7F-4B8D7FC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evitare doppio prelievo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58398-30AB-4B42-8AAF-9761EEA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C3A63-F3C5-4D5F-BD71-22BAC69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ROUND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13624-711B-46B2-8AC0-95DAB172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contatore like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8392D-DE00-4F13-B2C2-913185E8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convergere senza bloccare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4A003-4D84-4DD2-85FB-46536EF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AEC19-D6A4-4E8B-A82F-56D59C66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5A5A"/>
                </a:solidFill>
              </a:defRPr>
            </a:pPr>
            <a:r>
              <a:rPr sz="1425" b="1">
                <a:solidFill>
                  <a:srgbClr val="EF5A5A"/>
                </a:solidFill>
              </a:rPr>
              <a:t>ROUND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37157-1072-49CC-A884-F9948D8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posto A7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001BF-1CF6-48FB-B3B8-F144CAB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una sola conferma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A01B2-C372-4FBF-B062-B06C21FD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D11F2-28E5-4274-B655-61BF99C4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6EE6"/>
                </a:solidFill>
              </a:defRPr>
            </a:pPr>
            <a:r>
              <a:rPr sz="1425" b="1">
                <a:solidFill>
                  <a:srgbClr val="7C6EE6"/>
                </a:solidFill>
              </a:rPr>
              <a:t>ROUND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01002-12B9-4AAF-98BE-A4817EA0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profilo utente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779BB-A485-423B-9C7F-FBD6513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risolvere due modifiche</a:t>
            </a:r>
          </a:p>
        </p:txBody>
      </p:sp>
    </p:spTree>
    <p:extLst>
      <p:ext uri="{BB962C8B-B14F-4D97-AF65-F5344CB8AC3E}">
        <p14:creationId xmlns:p14="http://schemas.microsoft.com/office/powerpoint/2010/main" val="2551381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8BD30-CF6D-4EAD-91F4-99A10E9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VERIFICA • INDIVIDUALE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C580-E706-4F57-95A2-DA624ABE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Quiz finale — scegli e motiva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61173-8765-445F-8528-2B160203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B078F-8FA0-407E-A86D-5DD400F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1. Perché la C di CAP non coincide con la C di ACID?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A9B2-8B90-441C-A0A6-CF53154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2. Che cosa promette Availability nella definizione CAP?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7FFD2-A4F4-4F91-B8C7-C85538C1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3. Perché “scegli due su tre” può essere fuorviante?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54FAB-F3E0-4EBE-B44D-FF0EB51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4. Che cosa fa tipicamente una componente CP senza quorum?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05D61-3A45-431D-AE2D-0E7C24F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5. Quando un comportamento AP può essere ragionevole?</a:t>
            </a:r>
          </a:p>
        </p:txBody>
      </p:sp>
    </p:spTree>
    <p:extLst>
      <p:ext uri="{BB962C8B-B14F-4D97-AF65-F5344CB8AC3E}">
        <p14:creationId xmlns:p14="http://schemas.microsoft.com/office/powerpoint/2010/main" val="12746178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C2F38-C3BB-4701-8F9F-ADF5A53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9D9E9-2AAB-453E-8B86-DA258858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CAP in cinque frasi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CDEC5-8145-4494-A9F2-460FBA06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6C0F1-B135-4DDF-BDF5-C54E9927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D7A31-070C-450A-966A-C0C7DA71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CAP riguarda sistemi distribuiti e partition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D9E49-6EFA-4956-BF09-3D37E242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53595-9102-497F-B39E-A91CFC5A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76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 significa una sola sequenza logica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4474D-729B-485B-B24C-8BCB29C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070FC-20AF-49A7-8D84-4B895DA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significa risposta da ogni nodo sano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512EF-7D4F-48EA-A194-B25A68F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C77BE-95CE-4F4F-AB8A-1254E714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0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 P, non possiamo garantire insieme C e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8D7AB-A170-4A47-99BC-02A16386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1010A-83DD-4E6C-8201-D556F11E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la scelta dipende da dato, operazione e rischio</a:t>
            </a:r>
          </a:p>
        </p:txBody>
      </p:sp>
    </p:spTree>
    <p:extLst>
      <p:ext uri="{BB962C8B-B14F-4D97-AF65-F5344CB8AC3E}">
        <p14:creationId xmlns:p14="http://schemas.microsoft.com/office/powerpoint/2010/main" val="19099349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950B2-21CC-4FFD-A47A-6D1D883A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SISTEMI DISTRIBUITI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96B12-4932-4B45-96E1-DC32D02A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prossima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E4F06-70F4-4522-808E-3A99DB89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4160D-FA67-45AB-8157-BCF8636F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CC694-39C8-4252-BC90-06579AA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885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 privilegiamo velocità e accesso diretto per chiave, quale modello usiamo?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F9271-44D8-443F-8CE9-56F5E7C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9D360-449E-482C-B43E-4C97E00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00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KEY-VALUE E REDIS</a:t>
            </a:r>
          </a:p>
        </p:txBody>
      </p:sp>
    </p:spTree>
    <p:extLst>
      <p:ext uri="{BB962C8B-B14F-4D97-AF65-F5344CB8AC3E}">
        <p14:creationId xmlns:p14="http://schemas.microsoft.com/office/powerpoint/2010/main" val="160024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2026-09-02T19:31:31.2410000Z</dcterms:created>
  <dcterms:modified xsi:type="dcterms:W3CDTF">2026-09-02T19:31:31.2410000Z</dcterms:modified>
</coreProperties>
</file>