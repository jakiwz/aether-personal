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1facc900e4a5a" /><Relationship Type="http://schemas.openxmlformats.org/officeDocument/2006/relationships/extended-properties" Target="/docProps/app.xml" Id="Rd2f8b16aaa2d49b0" /><Relationship Type="http://schemas.openxmlformats.org/officeDocument/2006/relationships/officeDocument" Target="/ppt/presentation.xml" Id="R94090fc7dd804d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b601c504b3470b"/>
  </p:sldMasterIdLst>
  <p:notesMasterIdLst>
    <p:notesMasterId xmlns:r="http://schemas.openxmlformats.org/officeDocument/2006/relationships" r:id="R5b0246fe9c95427a"/>
  </p:notesMasterIdLst>
  <p:sldIdLst>
    <p:sldId xmlns:r="http://schemas.openxmlformats.org/officeDocument/2006/relationships" id="256" r:id="Re62ab777d2b44976"/>
    <p:sldId xmlns:r="http://schemas.openxmlformats.org/officeDocument/2006/relationships" id="257" r:id="Ra0a732dc69b34b95"/>
    <p:sldId xmlns:r="http://schemas.openxmlformats.org/officeDocument/2006/relationships" id="258" r:id="Rf5b1f593fc1348b4"/>
    <p:sldId xmlns:r="http://schemas.openxmlformats.org/officeDocument/2006/relationships" id="259" r:id="Rc794c0eedc4c4acc"/>
    <p:sldId xmlns:r="http://schemas.openxmlformats.org/officeDocument/2006/relationships" id="260" r:id="Rf1c8b881e3344cd4"/>
    <p:sldId xmlns:r="http://schemas.openxmlformats.org/officeDocument/2006/relationships" id="261" r:id="R9e880cfa8b6b4634"/>
    <p:sldId xmlns:r="http://schemas.openxmlformats.org/officeDocument/2006/relationships" id="262" r:id="R9f48387c5267404b"/>
    <p:sldId xmlns:r="http://schemas.openxmlformats.org/officeDocument/2006/relationships" id="263" r:id="R288fe62c83db416e"/>
    <p:sldId xmlns:r="http://schemas.openxmlformats.org/officeDocument/2006/relationships" id="264" r:id="Rd902e7df99e44fa4"/>
    <p:sldId xmlns:r="http://schemas.openxmlformats.org/officeDocument/2006/relationships" id="265" r:id="Rb37b7eb8c4454b3b"/>
    <p:sldId xmlns:r="http://schemas.openxmlformats.org/officeDocument/2006/relationships" id="266" r:id="Ra73cfc8cb683441e"/>
    <p:sldId xmlns:r="http://schemas.openxmlformats.org/officeDocument/2006/relationships" id="267" r:id="R10eebf3e192f4512"/>
    <p:sldId xmlns:r="http://schemas.openxmlformats.org/officeDocument/2006/relationships" id="268" r:id="R2b784fb1dfa04480"/>
    <p:sldId xmlns:r="http://schemas.openxmlformats.org/officeDocument/2006/relationships" id="269" r:id="R6aaa6d2efe3843ec"/>
    <p:sldId xmlns:r="http://schemas.openxmlformats.org/officeDocument/2006/relationships" id="270" r:id="R237feb14c7d54006"/>
    <p:sldId xmlns:r="http://schemas.openxmlformats.org/officeDocument/2006/relationships" id="271" r:id="Re91446db07ea4d95"/>
    <p:sldId xmlns:r="http://schemas.openxmlformats.org/officeDocument/2006/relationships" id="272" r:id="Rbc51ef7007b64d22"/>
    <p:sldId xmlns:r="http://schemas.openxmlformats.org/officeDocument/2006/relationships" id="273" r:id="R82832654d4cb4baf"/>
    <p:sldId xmlns:r="http://schemas.openxmlformats.org/officeDocument/2006/relationships" id="274" r:id="R438e91ede96946df"/>
    <p:sldId xmlns:r="http://schemas.openxmlformats.org/officeDocument/2006/relationships" id="275" r:id="Rc23e630d75d746fc"/>
    <p:sldId xmlns:r="http://schemas.openxmlformats.org/officeDocument/2006/relationships" id="276" r:id="R4875b11058bb4899"/>
    <p:sldId xmlns:r="http://schemas.openxmlformats.org/officeDocument/2006/relationships" id="277" r:id="R73aa64223b854f79"/>
    <p:sldId xmlns:r="http://schemas.openxmlformats.org/officeDocument/2006/relationships" id="278" r:id="Rf0746fad079f4a0d"/>
    <p:sldId xmlns:r="http://schemas.openxmlformats.org/officeDocument/2006/relationships" id="279" r:id="R113351a3723d4c3f"/>
    <p:sldId xmlns:r="http://schemas.openxmlformats.org/officeDocument/2006/relationships" id="280" r:id="R28392486f52b4bbb"/>
    <p:sldId xmlns:r="http://schemas.openxmlformats.org/officeDocument/2006/relationships" id="281" r:id="Re8ed0cd83b984192"/>
    <p:sldId xmlns:r="http://schemas.openxmlformats.org/officeDocument/2006/relationships" id="282" r:id="R9ed77d2b422f4953"/>
    <p:sldId xmlns:r="http://schemas.openxmlformats.org/officeDocument/2006/relationships" id="283" r:id="R2d8920db51584cb2"/>
    <p:sldId xmlns:r="http://schemas.openxmlformats.org/officeDocument/2006/relationships" id="284" r:id="R3f1f8d0de10f4827"/>
    <p:sldId xmlns:r="http://schemas.openxmlformats.org/officeDocument/2006/relationships" id="285" r:id="Rf8fa82d6ab574127"/>
    <p:sldId xmlns:r="http://schemas.openxmlformats.org/officeDocument/2006/relationships" id="286" r:id="R75b54da98f9f411b"/>
    <p:sldId xmlns:r="http://schemas.openxmlformats.org/officeDocument/2006/relationships" id="287" r:id="R244eb257f7d448b2"/>
    <p:sldId xmlns:r="http://schemas.openxmlformats.org/officeDocument/2006/relationships" id="288" r:id="R6f48ad35f59e497a"/>
    <p:sldId xmlns:r="http://schemas.openxmlformats.org/officeDocument/2006/relationships" id="289" r:id="R5c372fa4d22e49fa"/>
    <p:sldId xmlns:r="http://schemas.openxmlformats.org/officeDocument/2006/relationships" id="290" r:id="R8e61d2e0410b48e9"/>
    <p:sldId xmlns:r="http://schemas.openxmlformats.org/officeDocument/2006/relationships" id="291" r:id="R195792a3a3b54af3"/>
    <p:sldId xmlns:r="http://schemas.openxmlformats.org/officeDocument/2006/relationships" id="292" r:id="Rb5657f99adfd46ce"/>
    <p:sldId xmlns:r="http://schemas.openxmlformats.org/officeDocument/2006/relationships" id="293" r:id="R16d25643f63645a0"/>
    <p:sldId xmlns:r="http://schemas.openxmlformats.org/officeDocument/2006/relationships" id="294" r:id="R9546616943d3469f"/>
    <p:sldId xmlns:r="http://schemas.openxmlformats.org/officeDocument/2006/relationships" id="295" r:id="Rd261d9840ae443ac"/>
    <p:sldId xmlns:r="http://schemas.openxmlformats.org/officeDocument/2006/relationships" id="296" r:id="Rde9112aaa6aa47d3"/>
    <p:sldId xmlns:r="http://schemas.openxmlformats.org/officeDocument/2006/relationships" id="297" r:id="R24cef1e686334f41"/>
    <p:sldId xmlns:r="http://schemas.openxmlformats.org/officeDocument/2006/relationships" id="298" r:id="R0dce8ff14f0f4f39"/>
    <p:sldId xmlns:r="http://schemas.openxmlformats.org/officeDocument/2006/relationships" id="299" r:id="Rd1c82a39bb434f14"/>
    <p:sldId xmlns:r="http://schemas.openxmlformats.org/officeDocument/2006/relationships" id="300" r:id="Rbaab7fae52314a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840c29e15b44be" /><Relationship Type="http://schemas.openxmlformats.org/officeDocument/2006/relationships/slideMaster" Target="/ppt/slideMasters/slideMaster1.xml" Id="R36b601c504b3470b" /><Relationship Type="http://schemas.openxmlformats.org/officeDocument/2006/relationships/notesMaster" Target="/ppt/notesMasters/notesMaster1.xml" Id="R5b0246fe9c95427a" /><Relationship Type="http://schemas.openxmlformats.org/officeDocument/2006/relationships/presProps" Target="/ppt/presProps.xml" Id="R12162bef86ac4da6" /><Relationship Type="http://schemas.openxmlformats.org/officeDocument/2006/relationships/tableStyles" Target="/ppt/tableStyles.xml" Id="R1bcaf78fe0da4604" /><Relationship Type="http://schemas.openxmlformats.org/officeDocument/2006/relationships/slide" Target="/ppt/slides/slide1.xml" Id="Re62ab777d2b44976" /><Relationship Type="http://schemas.openxmlformats.org/officeDocument/2006/relationships/slide" Target="/ppt/slides/slide2.xml" Id="Ra0a732dc69b34b95" /><Relationship Type="http://schemas.openxmlformats.org/officeDocument/2006/relationships/slide" Target="/ppt/slides/slide3.xml" Id="Rf5b1f593fc1348b4" /><Relationship Type="http://schemas.openxmlformats.org/officeDocument/2006/relationships/slide" Target="/ppt/slides/slide4.xml" Id="Rc794c0eedc4c4acc" /><Relationship Type="http://schemas.openxmlformats.org/officeDocument/2006/relationships/slide" Target="/ppt/slides/slide5.xml" Id="Rf1c8b881e3344cd4" /><Relationship Type="http://schemas.openxmlformats.org/officeDocument/2006/relationships/slide" Target="/ppt/slides/slide6.xml" Id="R9e880cfa8b6b4634" /><Relationship Type="http://schemas.openxmlformats.org/officeDocument/2006/relationships/slide" Target="/ppt/slides/slide7.xml" Id="R9f48387c5267404b" /><Relationship Type="http://schemas.openxmlformats.org/officeDocument/2006/relationships/slide" Target="/ppt/slides/slide8.xml" Id="R288fe62c83db416e" /><Relationship Type="http://schemas.openxmlformats.org/officeDocument/2006/relationships/slide" Target="/ppt/slides/slide9.xml" Id="Rd902e7df99e44fa4" /><Relationship Type="http://schemas.openxmlformats.org/officeDocument/2006/relationships/slide" Target="/ppt/slides/slide10.xml" Id="Rb37b7eb8c4454b3b" /><Relationship Type="http://schemas.openxmlformats.org/officeDocument/2006/relationships/slide" Target="/ppt/slides/slide11.xml" Id="Ra73cfc8cb683441e" /><Relationship Type="http://schemas.openxmlformats.org/officeDocument/2006/relationships/slide" Target="/ppt/slides/slide12.xml" Id="R10eebf3e192f4512" /><Relationship Type="http://schemas.openxmlformats.org/officeDocument/2006/relationships/slide" Target="/ppt/slides/slide13.xml" Id="R2b784fb1dfa04480" /><Relationship Type="http://schemas.openxmlformats.org/officeDocument/2006/relationships/slide" Target="/ppt/slides/slide14.xml" Id="R6aaa6d2efe3843ec" /><Relationship Type="http://schemas.openxmlformats.org/officeDocument/2006/relationships/slide" Target="/ppt/slides/slide15.xml" Id="R237feb14c7d54006" /><Relationship Type="http://schemas.openxmlformats.org/officeDocument/2006/relationships/slide" Target="/ppt/slides/slide16.xml" Id="Re91446db07ea4d95" /><Relationship Type="http://schemas.openxmlformats.org/officeDocument/2006/relationships/slide" Target="/ppt/slides/slide17.xml" Id="Rbc51ef7007b64d22" /><Relationship Type="http://schemas.openxmlformats.org/officeDocument/2006/relationships/slide" Target="/ppt/slides/slide18.xml" Id="R82832654d4cb4baf" /><Relationship Type="http://schemas.openxmlformats.org/officeDocument/2006/relationships/slide" Target="/ppt/slides/slide19.xml" Id="R438e91ede96946df" /><Relationship Type="http://schemas.openxmlformats.org/officeDocument/2006/relationships/slide" Target="/ppt/slides/slide20.xml" Id="Rc23e630d75d746fc" /><Relationship Type="http://schemas.openxmlformats.org/officeDocument/2006/relationships/slide" Target="/ppt/slides/slide21.xml" Id="R4875b11058bb4899" /><Relationship Type="http://schemas.openxmlformats.org/officeDocument/2006/relationships/slide" Target="/ppt/slides/slide22.xml" Id="R73aa64223b854f79" /><Relationship Type="http://schemas.openxmlformats.org/officeDocument/2006/relationships/slide" Target="/ppt/slides/slide23.xml" Id="Rf0746fad079f4a0d" /><Relationship Type="http://schemas.openxmlformats.org/officeDocument/2006/relationships/slide" Target="/ppt/slides/slide24.xml" Id="R113351a3723d4c3f" /><Relationship Type="http://schemas.openxmlformats.org/officeDocument/2006/relationships/slide" Target="/ppt/slides/slide25.xml" Id="R28392486f52b4bbb" /><Relationship Type="http://schemas.openxmlformats.org/officeDocument/2006/relationships/slide" Target="/ppt/slides/slide26.xml" Id="Re8ed0cd83b984192" /><Relationship Type="http://schemas.openxmlformats.org/officeDocument/2006/relationships/slide" Target="/ppt/slides/slide27.xml" Id="R9ed77d2b422f4953" /><Relationship Type="http://schemas.openxmlformats.org/officeDocument/2006/relationships/slide" Target="/ppt/slides/slide28.xml" Id="R2d8920db51584cb2" /><Relationship Type="http://schemas.openxmlformats.org/officeDocument/2006/relationships/slide" Target="/ppt/slides/slide29.xml" Id="R3f1f8d0de10f4827" /><Relationship Type="http://schemas.openxmlformats.org/officeDocument/2006/relationships/slide" Target="/ppt/slides/slide30.xml" Id="Rf8fa82d6ab574127" /><Relationship Type="http://schemas.openxmlformats.org/officeDocument/2006/relationships/slide" Target="/ppt/slides/slide31.xml" Id="R75b54da98f9f411b" /><Relationship Type="http://schemas.openxmlformats.org/officeDocument/2006/relationships/slide" Target="/ppt/slides/slide32.xml" Id="R244eb257f7d448b2" /><Relationship Type="http://schemas.openxmlformats.org/officeDocument/2006/relationships/slide" Target="/ppt/slides/slide33.xml" Id="R6f48ad35f59e497a" /><Relationship Type="http://schemas.openxmlformats.org/officeDocument/2006/relationships/slide" Target="/ppt/slides/slide34.xml" Id="R5c372fa4d22e49fa" /><Relationship Type="http://schemas.openxmlformats.org/officeDocument/2006/relationships/slide" Target="/ppt/slides/slide35.xml" Id="R8e61d2e0410b48e9" /><Relationship Type="http://schemas.openxmlformats.org/officeDocument/2006/relationships/slide" Target="/ppt/slides/slide36.xml" Id="R195792a3a3b54af3" /><Relationship Type="http://schemas.openxmlformats.org/officeDocument/2006/relationships/slide" Target="/ppt/slides/slide37.xml" Id="Rb5657f99adfd46ce" /><Relationship Type="http://schemas.openxmlformats.org/officeDocument/2006/relationships/slide" Target="/ppt/slides/slide38.xml" Id="R16d25643f63645a0" /><Relationship Type="http://schemas.openxmlformats.org/officeDocument/2006/relationships/slide" Target="/ppt/slides/slide39.xml" Id="R9546616943d3469f" /><Relationship Type="http://schemas.openxmlformats.org/officeDocument/2006/relationships/slide" Target="/ppt/slides/slide40.xml" Id="Rd261d9840ae443ac" /><Relationship Type="http://schemas.openxmlformats.org/officeDocument/2006/relationships/slide" Target="/ppt/slides/slide41.xml" Id="Rde9112aaa6aa47d3" /><Relationship Type="http://schemas.openxmlformats.org/officeDocument/2006/relationships/slide" Target="/ppt/slides/slide42.xml" Id="R24cef1e686334f41" /><Relationship Type="http://schemas.openxmlformats.org/officeDocument/2006/relationships/slide" Target="/ppt/slides/slide43.xml" Id="R0dce8ff14f0f4f39" /><Relationship Type="http://schemas.openxmlformats.org/officeDocument/2006/relationships/slide" Target="/ppt/slides/slide44.xml" Id="Rd1c82a39bb434f14" /><Relationship Type="http://schemas.openxmlformats.org/officeDocument/2006/relationships/slide" Target="/ppt/slides/slide45.xml" Id="Rbaab7fae52314a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001aed860147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2a50e7e31a4557" /><Relationship Type="http://schemas.openxmlformats.org/officeDocument/2006/relationships/notesMaster" Target="/ppt/notesMasters/notesMaster1.xml" Id="R2f57d5accdd14f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9f9e3c561444a9" /><Relationship Type="http://schemas.openxmlformats.org/officeDocument/2006/relationships/notesMaster" Target="/ppt/notesMasters/notesMaster1.xml" Id="Rc7848eb9467748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3e6cf52e1b4948" /><Relationship Type="http://schemas.openxmlformats.org/officeDocument/2006/relationships/notesMaster" Target="/ppt/notesMasters/notesMaster1.xml" Id="R6147cfba358f42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40499271084bc2" /><Relationship Type="http://schemas.openxmlformats.org/officeDocument/2006/relationships/notesMaster" Target="/ppt/notesMasters/notesMaster1.xml" Id="R3cccc06e059248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50bb6ada654b10" /><Relationship Type="http://schemas.openxmlformats.org/officeDocument/2006/relationships/notesMaster" Target="/ppt/notesMasters/notesMaster1.xml" Id="Rd40bab7d7fea44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5e61e7b1e5474d" /><Relationship Type="http://schemas.openxmlformats.org/officeDocument/2006/relationships/notesMaster" Target="/ppt/notesMasters/notesMaster1.xml" Id="R253ae3230e294c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2debd7d7e34df4" /><Relationship Type="http://schemas.openxmlformats.org/officeDocument/2006/relationships/notesMaster" Target="/ppt/notesMasters/notesMaster1.xml" Id="R724fc238e86745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bb7f8d51b14e68" /><Relationship Type="http://schemas.openxmlformats.org/officeDocument/2006/relationships/notesMaster" Target="/ppt/notesMasters/notesMaster1.xml" Id="R5821d5fc725b45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1abb6ed77146b4" /><Relationship Type="http://schemas.openxmlformats.org/officeDocument/2006/relationships/notesMaster" Target="/ppt/notesMasters/notesMaster1.xml" Id="R9ebb5532601e4d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0a67b9acbc4c31" /><Relationship Type="http://schemas.openxmlformats.org/officeDocument/2006/relationships/notesMaster" Target="/ppt/notesMasters/notesMaster1.xml" Id="R66eb2829631f4f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f37b86f9f04658" /><Relationship Type="http://schemas.openxmlformats.org/officeDocument/2006/relationships/notesMaster" Target="/ppt/notesMasters/notesMaster1.xml" Id="R95446269c76e40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4bdccaa5f34027" /><Relationship Type="http://schemas.openxmlformats.org/officeDocument/2006/relationships/notesMaster" Target="/ppt/notesMasters/notesMaster1.xml" Id="Rf9a7737a61a245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1ee384c86948e9" /><Relationship Type="http://schemas.openxmlformats.org/officeDocument/2006/relationships/notesMaster" Target="/ppt/notesMasters/notesMaster1.xml" Id="R76fd4780460a49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54352586d1422c" /><Relationship Type="http://schemas.openxmlformats.org/officeDocument/2006/relationships/notesMaster" Target="/ppt/notesMasters/notesMaster1.xml" Id="Ra6a103f4393b48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465d6b9e064538" /><Relationship Type="http://schemas.openxmlformats.org/officeDocument/2006/relationships/notesMaster" Target="/ppt/notesMasters/notesMaster1.xml" Id="R209cfa8826cf4e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57f97ff7844451" /><Relationship Type="http://schemas.openxmlformats.org/officeDocument/2006/relationships/notesMaster" Target="/ppt/notesMasters/notesMaster1.xml" Id="R689f3434201342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50f0c8162942b9" /><Relationship Type="http://schemas.openxmlformats.org/officeDocument/2006/relationships/notesMaster" Target="/ppt/notesMasters/notesMaster1.xml" Id="R6dbb07a422d841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b0a69312a984db2" /><Relationship Type="http://schemas.openxmlformats.org/officeDocument/2006/relationships/notesMaster" Target="/ppt/notesMasters/notesMaster1.xml" Id="R95c440077ef848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50b49311c945f8" /><Relationship Type="http://schemas.openxmlformats.org/officeDocument/2006/relationships/notesMaster" Target="/ppt/notesMasters/notesMaster1.xml" Id="Rb4ac8a50d1834e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2d0d622d8147b7" /><Relationship Type="http://schemas.openxmlformats.org/officeDocument/2006/relationships/notesMaster" Target="/ppt/notesMasters/notesMaster1.xml" Id="R4a83d404977b467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4f8c8d8cb14ce9" /><Relationship Type="http://schemas.openxmlformats.org/officeDocument/2006/relationships/notesMaster" Target="/ppt/notesMasters/notesMaster1.xml" Id="R7f6aed6ed31c42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fc8ea32f2a34228" /><Relationship Type="http://schemas.openxmlformats.org/officeDocument/2006/relationships/notesMaster" Target="/ppt/notesMasters/notesMaster1.xml" Id="R9ac29118c954490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4358c01ddec45ea" /><Relationship Type="http://schemas.openxmlformats.org/officeDocument/2006/relationships/notesMaster" Target="/ppt/notesMasters/notesMaster1.xml" Id="R246979afead149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d31c4b871c54468" /><Relationship Type="http://schemas.openxmlformats.org/officeDocument/2006/relationships/notesMaster" Target="/ppt/notesMasters/notesMaster1.xml" Id="R6d68316426674b1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199313025b94ba1" /><Relationship Type="http://schemas.openxmlformats.org/officeDocument/2006/relationships/notesMaster" Target="/ppt/notesMasters/notesMaster1.xml" Id="Rc08a750e70614f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b97afc973f349c9" /><Relationship Type="http://schemas.openxmlformats.org/officeDocument/2006/relationships/notesMaster" Target="/ppt/notesMasters/notesMaster1.xml" Id="Rd7c953f7c2a242b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48df8e32cf948aa" /><Relationship Type="http://schemas.openxmlformats.org/officeDocument/2006/relationships/notesMaster" Target="/ppt/notesMasters/notesMaster1.xml" Id="R515d5e23536a470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3b7e70cea1416a" /><Relationship Type="http://schemas.openxmlformats.org/officeDocument/2006/relationships/notesMaster" Target="/ppt/notesMasters/notesMaster1.xml" Id="R89efdf3b4e9d493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761e02c55844a13" /><Relationship Type="http://schemas.openxmlformats.org/officeDocument/2006/relationships/notesMaster" Target="/ppt/notesMasters/notesMaster1.xml" Id="Rf8a3b7bbb9614ee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1790f372b9a4f52" /><Relationship Type="http://schemas.openxmlformats.org/officeDocument/2006/relationships/notesMaster" Target="/ppt/notesMasters/notesMaster1.xml" Id="R0aab401afd25433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f13177c008a4ec3" /><Relationship Type="http://schemas.openxmlformats.org/officeDocument/2006/relationships/notesMaster" Target="/ppt/notesMasters/notesMaster1.xml" Id="R57a45fc09731455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13b53cbfeeb44ed" /><Relationship Type="http://schemas.openxmlformats.org/officeDocument/2006/relationships/notesMaster" Target="/ppt/notesMasters/notesMaster1.xml" Id="R69d90331bbf54da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4d63e0e557341ad" /><Relationship Type="http://schemas.openxmlformats.org/officeDocument/2006/relationships/notesMaster" Target="/ppt/notesMasters/notesMaster1.xml" Id="R1d8a98e164574c4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7083e5d75994503" /><Relationship Type="http://schemas.openxmlformats.org/officeDocument/2006/relationships/notesMaster" Target="/ppt/notesMasters/notesMaster1.xml" Id="R18485e3adbd0482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bb0403e0eb54284" /><Relationship Type="http://schemas.openxmlformats.org/officeDocument/2006/relationships/notesMaster" Target="/ppt/notesMasters/notesMaster1.xml" Id="Rd04789e2e9fd47a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363f1ac82ab4110" /><Relationship Type="http://schemas.openxmlformats.org/officeDocument/2006/relationships/notesMaster" Target="/ppt/notesMasters/notesMaster1.xml" Id="R9f491d36ab794a7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4941b8251f74073" /><Relationship Type="http://schemas.openxmlformats.org/officeDocument/2006/relationships/notesMaster" Target="/ppt/notesMasters/notesMaster1.xml" Id="R34be5e355034480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ff5b8a6bb4743ad" /><Relationship Type="http://schemas.openxmlformats.org/officeDocument/2006/relationships/notesMaster" Target="/ppt/notesMasters/notesMaster1.xml" Id="Re7134ccf3f26442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703f0a0efaa465c" /><Relationship Type="http://schemas.openxmlformats.org/officeDocument/2006/relationships/notesMaster" Target="/ppt/notesMasters/notesMaster1.xml" Id="R7fdd0cab2f654c3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059604292624506" /><Relationship Type="http://schemas.openxmlformats.org/officeDocument/2006/relationships/notesMaster" Target="/ppt/notesMasters/notesMaster1.xml" Id="Rb21aef6adff64a1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e827fe3c3b8469d" /><Relationship Type="http://schemas.openxmlformats.org/officeDocument/2006/relationships/notesMaster" Target="/ppt/notesMasters/notesMaster1.xml" Id="R395a49e1ddec44f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542a28706c64a72" /><Relationship Type="http://schemas.openxmlformats.org/officeDocument/2006/relationships/notesMaster" Target="/ppt/notesMasters/notesMaster1.xml" Id="R28299388294143f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d9aea032d1b40c6" /><Relationship Type="http://schemas.openxmlformats.org/officeDocument/2006/relationships/notesMaster" Target="/ppt/notesMasters/notesMaster1.xml" Id="Ra1e04ce23099406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3d39c1519cf4ed1" /><Relationship Type="http://schemas.openxmlformats.org/officeDocument/2006/relationships/notesMaster" Target="/ppt/notesMasters/notesMaster1.xml" Id="R2aa0b7115e6d4ee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a7dad8f064f4367" /><Relationship Type="http://schemas.openxmlformats.org/officeDocument/2006/relationships/notesMaster" Target="/ppt/notesMasters/notesMaster1.xml" Id="R50cd65bdde364c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Apri dal limite emerso con Redis: una chiave è perfetta per una sessione, ma il catalogo di un film è un oggetto ricco. Oggi progetteremo il documento, poi lo interrogheremo e lo renderemo operativo.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Chiedi alla classe quali campi distinguono un film, una serie e un evento live. L’obiettivo non è produrre la lista completa, ma far emergere variabilità e strutture annidate.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Non presentare le tabelle come errore. Sono una rappresentazione normalizzata coerente. Il punto è il costo cognitivo e operativo quando l’applicazione legge quasi sempre l’oggetto intero.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Definisci il documento come unità che contiene campi, documenti annidati e array. Collega la forma al payload che l’applicazione vuole restituire.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Documents: https://www.mongodb.com/docs/manual/core/document/</a:t>
            </a:r>
          </a:p>
          <a:p xmlns:a="http://schemas.openxmlformats.org/drawingml/2006/main">
            <a:r>
              <a:t>- MongoDB Database Manual — Data Modeling Best Practices: https://www.mongodb.com/docs/manual/data-modeling/best-practices/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Costruisci il vocabolario senza traduzioni rigide: collection non equivale esattamente a tabella e documento non equivale semplicemente a riga, perché può contenere strutture annidate e array.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Documents: https://www.mongodb.com/docs/manual/core/document/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classificare ogni valore: stringa, numero, boolean, array, data e documento annidato. Sottolinea che mongosh mostra una sintassi simile a JavaScript, mentre MongoDB memorizza BSON.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Documents: https://www.mongodb.com/docs/manual/core/document/</a:t>
            </a:r>
          </a:p>
          <a:p xmlns:a="http://schemas.openxmlformats.org/drawingml/2006/main">
            <a:r>
              <a:t>- MongoDB Database Manual — BSON Types: https://www.mongodb.com/docs/manual/reference/bson-types/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di dire che BSON è “JSON binario” come definizione completa. È una serializzazione binaria con tipi aggiuntivi e regole proprie.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BSON Types: https://www.mongodb.com/docs/manual/reference/bson-types/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ogni documento in una collection standard ha _id. Se omesso, viene normalmente generato un ObjectId. _id è unico e non può essere modificato.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Documents: https://www.mongodb.com/docs/manual/core/document/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 che director è un documento annidato e che la dot notation consente di raggiungere un campo interno senza confrontare tutto l’oggetto.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Documents: https://www.mongodb.com/docs/manual/core/document/</a:t>
            </a:r>
          </a:p>
          <a:p xmlns:a="http://schemas.openxmlformats.org/drawingml/2006/main">
            <a:r>
              <a:t>- MongoDB Database Manual — Query on Embedded/Nested Documents: https://www.mongodb.com/docs/manual/tutorial/query-embedded-documents/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 array di scalari e array di documenti. Anticipa che le query su più condizioni nello stesso elemento useranno $elemMatch.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Documents: https://www.mongodb.com/docs/manual/core/document/</a:t>
            </a:r>
          </a:p>
          <a:p xmlns:a="http://schemas.openxmlformats.org/drawingml/2006/main">
            <a:r>
              <a:t>- MongoDB Database Manual — Query an Array: https://www.mongodb.com/docs/manual/tutorial/query-arrays/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Correggi l’equivoco “schemaless”. MongoDB non impone di default la stessa forma, ma l’applicazione dipende comunque da un contratto. La validazione può renderne eseguibile una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Schema Validation: https://www.mongodb.com/docs/manual/core/schema-validation/</a:t>
            </a:r>
          </a:p>
          <a:p xmlns:a="http://schemas.openxmlformats.org/drawingml/2006/main">
            <a:r>
              <a:t>- MongoDB Database Manual — Data Modeling Best Practices: https://www.mongodb.com/docs/manual/data-modeling/best-practices/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Cita il limite massimo di 16 MiB e concentra la discussione sulla crescita: un cast è normalmente limitato, una cronologia di eventi può crescere senza limite e non deve vivere nello stesso documento.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Documents: https://www.mongodb.com/docs/manual/core/document/</a:t>
            </a:r>
          </a:p>
          <a:p xmlns:a="http://schemas.openxmlformats.org/drawingml/2006/main">
            <a:r>
              <a:t>- MongoDB Database Manual — Data Modeling Best Practices: https://www.mongodb.com/docs/manual/data-modeling/best-practices/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 nella lezione Redis, parti dalle operazioni. Il documento ottimale serve le letture e le scritture dominanti, non cerca di rappresentare ogni possibile futuro.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Data Modeling Best Practices: https://www.mongodb.com/docs/manual/data-modeling/best-practices/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Embedding è naturale quando i dati appartengono all’oggetto, sono letti insieme e hanno una crescita limitata. Evidenzia beneficio di locality e atomicità sul singolo documento.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Data Modeling Best Practices: https://www.mongodb.com/docs/manual/data-modeling/best-practices/</a:t>
            </a:r>
          </a:p>
          <a:p xmlns:a="http://schemas.openxmlformats.org/drawingml/2006/main">
            <a:r>
              <a:t>- MongoDB Database Manual — Atomicity and Transactions: https://www.mongodb.com/docs/manual/core/write-operations-atomicity/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 riferimenti quando l’entità ha identità autonoma, alta cardinalità, crescita indipendente o viene aggiornata separatamente. MongoDB non applica foreign key: l’integrità va progettata.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Data Modeling Best Practices: https://www.mongodb.com/docs/manual/data-modeling/best-practices/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decidere per director, cast, recensioni e visualizzazioni. Accetta più soluzioni se gli studenti dichiarano access pattern, crescita e responsabilità dell’aggiornamento.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Data Modeling Best Practices: https://www.mongodb.com/docs/manual/data-modeling/best-practices/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Rifiuta l’idea “denormalizzare sempre”. La duplicazione è utile quando riduce letture frequenti e il dato cambia raramente; diventa un rischio quando cambia spesso o richiede coerenza immediata.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Data Modeling Best Practices: https://www.mongodb.com/docs/manual/data-modeling/best-practices/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MongoDB garantisce atomicità al livello del singolo documento. Mostra come inserire il valore atteso nel filtro possa proteggere da aggiornamenti concorrenti.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Atomicity and Transactions: https://www.mongodb.com/docs/manual/core/write-operations-atomicity/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 il falso mito “MongoDB non ha transazioni”. Le supporta su replica set e cluster sharded; la documentazione raccomanda comunque un modello efficace per evitare transazioni distribuite inutili.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Transactions: https://www.mongodb.com/docs/manual/core/transactions/</a:t>
            </a:r>
          </a:p>
          <a:p xmlns:a="http://schemas.openxmlformats.org/drawingml/2006/main">
            <a:r>
              <a:t>- MongoDB Database Manual — Data Modeling Best Practices: https://www.mongodb.com/docs/manual/data-modeling/best-practices/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che mongosh è un client. Il processo mongod conserva i dati. use seleziona un database; la collection può essere creata al primo inserimento o esplicitamente.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prevedere la risposta acknowledged e insertedId. Con insertMany caricheremo il dataset del laboratorio. Ricorda che _id viene aggiunto se manca.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CRUD Operations: https://www.mongodb.com/docs/manual/crud/</a:t>
            </a:r>
          </a:p>
          <a:p xmlns:a="http://schemas.openxmlformats.org/drawingml/2006/main">
            <a:r>
              <a:t>- MongoDB Database Manual — Documents: https://www.mongodb.com/docs/manual/core/document/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filtro usa la stessa forma chiave-valore dei documenti. find restituisce un cursore, findOne un singolo documento o null. Evita find({}) su collezioni enormi senza limite.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CRUD Operations: https://www.mongodb.com/docs/manual/crud/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Costruisci il filtro come una domanda: rating almeno otto e contenuto attivo dal 2010. Precisa che molte condizioni su campi diversi sono già in AND implicito.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CRUD Operations: https://www.mongodb.com/docs/manual/crud/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 filtro e projection. La proiezione riduce payload e rende esplicita la vista richiesta. _id è incluso per default e va escluso esplicitamente.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CRUD Operations: https://www.mongodb.com/docs/manual/crud/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dot notation raggiunge campi annidati. Non confrontare l’intero embedded document se vuoi filtrare un singolo campo, perché il confronto completo dipende anche dalla struttura e dall’ordine.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Query on Embedded/Nested Documents: https://www.mongodb.com/docs/manual/tutorial/query-embedded-documents/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condizione scalare su genres verifica se l’array contiene quel valore. $all richiede tutti i valori. $elemMatch è fondamentale quando più condizioni devono valere sul medesimo documento interno.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Query an Array: https://www.mongodb.com/docs/manual/tutorial/query-arrays/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Costruisci la top tre come concatenazione leggibile: trova, proietta, ordina, limita. Anticipa che l’indice può evitare scansione e ordinamento costosi.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CRUD Operations: https://www.mongodb.com/docs/manual/crud/</a:t>
            </a:r>
          </a:p>
          <a:p xmlns:a="http://schemas.openxmlformats.org/drawingml/2006/main">
            <a:r>
              <a:t>- MongoDB Database Manual — Indexes: https://www.mongodb.com/docs/manual/indexes/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$set e $inc. In updateOne il secondo documento descrive la modifica. Distingui questa operazione da replaceOne, che sostituisce l’intero documento.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Update Operators: https://www.mongodb.com/docs/manual/reference/mql/update/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eseguire due volte $push e due volte $addToSet sullo stesso valore: l’output rende visibile la differenza. $pull elimina gli elementi che soddisfano la condizione.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Update Operators: https://www.mongodb.com/docs/manual/reference/mql/update/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Upsert combina ricerca e possibile inserimento. Il filtro deve rappresentare una chiave naturale o essere protetto da indice unico; altrimenti retry e concorrenza possono creare dati indesiderati.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CRUD Operations: https://www.mongodb.com/docs/manual/crud/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Tratta la cancellazione come operazione operativa: prima verificare il filtro e il conteggio, poi eseguire. Nel laboratorio useremo dati ricreabili, ma la disciplina è quella di produzione.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CRUD Operations: https://www.mongodb.com/docs/manual/crud/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indice è una struttura ordinata su uno o più campi. Accelera equality, range e sort compatibili, ma ogni indice va mantenuto durante le scritture e consuma spazio.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Indexes: https://www.mongodb.com/docs/manual/indexes/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Spiega il prefisso dell’indice composto in modo intuitivo. Per la query “paese uguale, rating decrescente” questo ordine può sostenere filtro e sort. Gli indici su array diventano multikey e richiedono attenzioni aggiuntive.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Indexes: https://www.mongodb.com/docs/manual/indexes/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confrontare prima e dopo un indice. Non trasformare explain in una caccia a un singolo campo: serve a osservare piano, documenti esaminati e risultati.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Explain Results: https://www.mongodb.com/docs/manual/reference/explain-results/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validazione controlla tipi e intervalli e può essere parziale. Presentala come contratto evolutivo: abbastanza forte da bloccare errori, abbastanza flessibile da non congelare il catalogo.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Schema Validation: https://www.mongodb.com/docs/manual/core/schema-validation/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Definisci la pipeline come sequenza. Ogni stage filtra, rimodella, espande o raggruppa e passa il risultato avanti. Di default aggregate non modifica la collection.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Aggregation Pipeline: https://www.mongodb.com/docs/manual/core/aggregation-pipeline/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Segui un singolo film attraverso gli stage. $unwind espande genres; $group conta; $sort ordina; $limit produce la top cinque.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Aggregation Pipeline: https://www.mongodb.com/docs/manual/core/aggregation-pipeline/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primary riceve le scritture; i secondary applicano l’oplog in modo asincrono e possono eleggere un nuovo primary. Read concern e write concern rendono esplicito il compromesso tra latenza, disponibilità e garanzie.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Replication: https://www.mongodb.com/docs/manual/replication/</a:t>
            </a:r>
          </a:p>
          <a:p xmlns:a="http://schemas.openxmlformats.org/drawingml/2006/main">
            <a:r>
              <a:t>- MongoDB Database Manual — Read Concern: https://www.mongodb.com/docs/manual/reference/read-concern/</a:t>
            </a:r>
          </a:p>
          <a:p xmlns:a="http://schemas.openxmlformats.org/drawingml/2006/main">
            <a:r>
              <a:t>- MongoDB Database Manual — Write Concern: https://www.mongodb.com/docs/manual/reference/write-concern/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MongoDB distribuisce una collection attraverso shard. mongos instrada le query e i config server conservano metadata. Una shard key deve distribuire bene e sostenere le query comuni.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Sharding: https://www.mongodb.com/docs/manual/sharding/</a:t>
            </a:r>
          </a:p>
          <a:p xmlns:a="http://schemas.openxmlformats.org/drawingml/2006/main">
            <a:r>
              <a:t>- MongoDB Database Manual — Shard Keys: https://www.mongodb.com/docs/manual/core/sharding-shard-key/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checklist ufficiale parte da access control, autenticazione e ruoli. Aggiungi rete, TLS, auditing/monitoraggio e backup verificati. Il container d’aula è locale e non è una configurazione di produzione.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MongoDB Database Manual — Security Checklist for Self-Managed Deployments: https://www.mongodb.com/docs/manual/administration/security-checklist/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Precarica l’immagine mongo:8.0 se la rete è lenta. La password è sintetica e solo didattica. Il bind a 127.0.0.1 evita l’esposizione su tutte le interfacce.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Ogni coppia consegna comandi, output essenziale e una motivazione del modello. La guida contiene dataset completo, consegne, soluzioni, risultati attesi e casi limite.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Concedi dodici minuti. Valuta il ragionamento su confini, crescita, atomicità e costo operativo più della memoria sintattica.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 associare a ogni frase un documento, un comando o una decisione del laboratorio. Se manca l’esempio, torna alla slide corrispondente.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Chiudi senza svalutare MongoDB: i documenti sono ottimi aggregati. Quando la domanda principale diventa attraversare relazioni variabili e percorsi, un graph database rende esplicito quel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Programma ufficiale “Basi di dati relazionali e non relazionali”, file fornito dal docente.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0fdae721d47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e5b997e5514fdf" /><Relationship Type="http://schemas.openxmlformats.org/officeDocument/2006/relationships/slideLayout" Target="/ppt/slideLayouts/slideLayout1.xml" Id="R049597a748174e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9597a748174e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74538cf3e45e8" /><Relationship Type="http://schemas.openxmlformats.org/officeDocument/2006/relationships/notesSlide" Target="/ppt/notesSlides/notesSlide1.xml" Id="R164ae9d9341942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2a114df4b4b08" /><Relationship Type="http://schemas.openxmlformats.org/officeDocument/2006/relationships/notesSlide" Target="/ppt/notesSlides/notesSlide2.xml" Id="Rb044950f46ea41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043a1e96046cf" /><Relationship Type="http://schemas.openxmlformats.org/officeDocument/2006/relationships/notesSlide" Target="/ppt/notesSlides/notesSlide3.xml" Id="R941dc6f59bae47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4111a13594634" /><Relationship Type="http://schemas.openxmlformats.org/officeDocument/2006/relationships/notesSlide" Target="/ppt/notesSlides/notesSlide4.xml" Id="R71cbddda41e347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3cc2d3b884efd" /><Relationship Type="http://schemas.openxmlformats.org/officeDocument/2006/relationships/notesSlide" Target="/ppt/notesSlides/notesSlide5.xml" Id="Ra1b0260960964d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e773d7ae046ec" /><Relationship Type="http://schemas.openxmlformats.org/officeDocument/2006/relationships/notesSlide" Target="/ppt/notesSlides/notesSlide6.xml" Id="Rb9076939589e4f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4223349a74b7d" /><Relationship Type="http://schemas.openxmlformats.org/officeDocument/2006/relationships/notesSlide" Target="/ppt/notesSlides/notesSlide7.xml" Id="R4f40b50744464d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0cece3ee240ec" /><Relationship Type="http://schemas.openxmlformats.org/officeDocument/2006/relationships/notesSlide" Target="/ppt/notesSlides/notesSlide8.xml" Id="R623cce9f08d542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d6549d6e4443e" /><Relationship Type="http://schemas.openxmlformats.org/officeDocument/2006/relationships/notesSlide" Target="/ppt/notesSlides/notesSlide9.xml" Id="Race17cac094e4f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f659cd01a4dd2" /><Relationship Type="http://schemas.openxmlformats.org/officeDocument/2006/relationships/notesSlide" Target="/ppt/notesSlides/notesSlide10.xml" Id="R6cc257e0ddca49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241a9e5ed4464" /><Relationship Type="http://schemas.openxmlformats.org/officeDocument/2006/relationships/notesSlide" Target="/ppt/notesSlides/notesSlide11.xml" Id="R8ad0452b8b9c4a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4d4f445e1485f" /><Relationship Type="http://schemas.openxmlformats.org/officeDocument/2006/relationships/notesSlide" Target="/ppt/notesSlides/notesSlide12.xml" Id="Rcf387649145e40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f0f89b7184281" /><Relationship Type="http://schemas.openxmlformats.org/officeDocument/2006/relationships/notesSlide" Target="/ppt/notesSlides/notesSlide13.xml" Id="R658dec3e6acc4a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f6e60e5914ad8" /><Relationship Type="http://schemas.openxmlformats.org/officeDocument/2006/relationships/notesSlide" Target="/ppt/notesSlides/notesSlide14.xml" Id="R16ed78f1fa7947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2f1fdb62f4848" /><Relationship Type="http://schemas.openxmlformats.org/officeDocument/2006/relationships/notesSlide" Target="/ppt/notesSlides/notesSlide15.xml" Id="R1d6f847e810244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81da6b3ad4171" /><Relationship Type="http://schemas.openxmlformats.org/officeDocument/2006/relationships/notesSlide" Target="/ppt/notesSlides/notesSlide16.xml" Id="R831d82a6fe6f49b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cd32e20c74795" /><Relationship Type="http://schemas.openxmlformats.org/officeDocument/2006/relationships/notesSlide" Target="/ppt/notesSlides/notesSlide17.xml" Id="Rc6c7bd810cae4e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035ba31a14f65" /><Relationship Type="http://schemas.openxmlformats.org/officeDocument/2006/relationships/notesSlide" Target="/ppt/notesSlides/notesSlide18.xml" Id="R6a299a7db5354c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7079768a14601" /><Relationship Type="http://schemas.openxmlformats.org/officeDocument/2006/relationships/notesSlide" Target="/ppt/notesSlides/notesSlide19.xml" Id="R186ebc79d4b141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4392ce1ef4676" /><Relationship Type="http://schemas.openxmlformats.org/officeDocument/2006/relationships/notesSlide" Target="/ppt/notesSlides/notesSlide20.xml" Id="Rac291cf8ce064e0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df07f92b14f09" /><Relationship Type="http://schemas.openxmlformats.org/officeDocument/2006/relationships/notesSlide" Target="/ppt/notesSlides/notesSlide21.xml" Id="Rd314cddcbdd9498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969b7adc54815" /><Relationship Type="http://schemas.openxmlformats.org/officeDocument/2006/relationships/notesSlide" Target="/ppt/notesSlides/notesSlide22.xml" Id="R37a43a16a3a4467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fe2faac934b33" /><Relationship Type="http://schemas.openxmlformats.org/officeDocument/2006/relationships/notesSlide" Target="/ppt/notesSlides/notesSlide23.xml" Id="R247c620be3064ce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4d6639ece415e" /><Relationship Type="http://schemas.openxmlformats.org/officeDocument/2006/relationships/notesSlide" Target="/ppt/notesSlides/notesSlide24.xml" Id="Raafc4f85c82d442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9693052424db3" /><Relationship Type="http://schemas.openxmlformats.org/officeDocument/2006/relationships/notesSlide" Target="/ppt/notesSlides/notesSlide25.xml" Id="R2e4b396c25424d3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bc2f70f7f43b5" /><Relationship Type="http://schemas.openxmlformats.org/officeDocument/2006/relationships/notesSlide" Target="/ppt/notesSlides/notesSlide26.xml" Id="R9a763e32774b4c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bbad1345b4eef" /><Relationship Type="http://schemas.openxmlformats.org/officeDocument/2006/relationships/notesSlide" Target="/ppt/notesSlides/notesSlide27.xml" Id="Rfe00ea83c51f4d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a1fe026bf4465" /><Relationship Type="http://schemas.openxmlformats.org/officeDocument/2006/relationships/notesSlide" Target="/ppt/notesSlides/notesSlide28.xml" Id="Rffe0466ba547479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a745a0f7e4567" /><Relationship Type="http://schemas.openxmlformats.org/officeDocument/2006/relationships/notesSlide" Target="/ppt/notesSlides/notesSlide29.xml" Id="R58bd2e47a1a5473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e182ddcb845ff" /><Relationship Type="http://schemas.openxmlformats.org/officeDocument/2006/relationships/notesSlide" Target="/ppt/notesSlides/notesSlide30.xml" Id="R267098048ac3466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eb8ea69fd486c" /><Relationship Type="http://schemas.openxmlformats.org/officeDocument/2006/relationships/notesSlide" Target="/ppt/notesSlides/notesSlide31.xml" Id="R136ad312e979438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917c02aa54eff" /><Relationship Type="http://schemas.openxmlformats.org/officeDocument/2006/relationships/notesSlide" Target="/ppt/notesSlides/notesSlide32.xml" Id="R1e4525395bd14c0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d1fa0921f4c88" /><Relationship Type="http://schemas.openxmlformats.org/officeDocument/2006/relationships/notesSlide" Target="/ppt/notesSlides/notesSlide33.xml" Id="R11b08fd1779348b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16b4f3daa401d" /><Relationship Type="http://schemas.openxmlformats.org/officeDocument/2006/relationships/notesSlide" Target="/ppt/notesSlides/notesSlide34.xml" Id="Rc95854b4852443a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820b619f8483e" /><Relationship Type="http://schemas.openxmlformats.org/officeDocument/2006/relationships/notesSlide" Target="/ppt/notesSlides/notesSlide35.xml" Id="Rb574701518674ab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f9c3ec2f34090" /><Relationship Type="http://schemas.openxmlformats.org/officeDocument/2006/relationships/notesSlide" Target="/ppt/notesSlides/notesSlide36.xml" Id="R638b5e195267428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f0fd5ab984ad5" /><Relationship Type="http://schemas.openxmlformats.org/officeDocument/2006/relationships/notesSlide" Target="/ppt/notesSlides/notesSlide37.xml" Id="R592959963ab6444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c6aca4bc9480a" /><Relationship Type="http://schemas.openxmlformats.org/officeDocument/2006/relationships/notesSlide" Target="/ppt/notesSlides/notesSlide38.xml" Id="R0acbb2225902413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15d95159a422d" /><Relationship Type="http://schemas.openxmlformats.org/officeDocument/2006/relationships/notesSlide" Target="/ppt/notesSlides/notesSlide39.xml" Id="Rc37ea6e6436a47f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a496227e843bb" /><Relationship Type="http://schemas.openxmlformats.org/officeDocument/2006/relationships/notesSlide" Target="/ppt/notesSlides/notesSlide40.xml" Id="R847a59fff0804af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960153dd8467c" /><Relationship Type="http://schemas.openxmlformats.org/officeDocument/2006/relationships/notesSlide" Target="/ppt/notesSlides/notesSlide41.xml" Id="R5da6e00bd2cf4fa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30bfa30ff441d" /><Relationship Type="http://schemas.openxmlformats.org/officeDocument/2006/relationships/notesSlide" Target="/ppt/notesSlides/notesSlide42.xml" Id="R7d1440f09fe84a3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05e24712b421e" /><Relationship Type="http://schemas.openxmlformats.org/officeDocument/2006/relationships/notesSlide" Target="/ppt/notesSlides/notesSlide43.xml" Id="R668121d477b043d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3f11190804eed" /><Relationship Type="http://schemas.openxmlformats.org/officeDocument/2006/relationships/notesSlide" Target="/ppt/notesSlides/notesSlide44.xml" Id="Ra816496e1cf1439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b5999541e425b" /><Relationship Type="http://schemas.openxmlformats.org/officeDocument/2006/relationships/notesSlide" Target="/ppt/notesSlides/notesSlide45.xml" Id="R3692c730924d4f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C3C26-E01C-46AE-BA66-B7088670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8D9"/>
                </a:solidFill>
              </a:defRPr>
            </a:pPr>
            <a:r>
              <a:rPr sz="1125" b="1">
                <a:solidFill>
                  <a:srgbClr val="00B8D9"/>
                </a:solidFill>
              </a:rPr>
              <a:t>BIG DATA &amp; CLOUD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62035-EE02-4926-B65C-8B079CAB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Database documentali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5E6C4-B105-454D-9595-DF6E7E24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8D4DE"/>
                </a:solidFill>
              </a:defRPr>
            </a:pPr>
            <a:r>
              <a:rPr sz="2175" b="0">
                <a:solidFill>
                  <a:srgbClr val="C8D4DE"/>
                </a:solidFill>
              </a:rPr>
              <a:t>MongoDB modella oggetti ricchi, annidati e variabili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037A8-F02A-4644-857F-3D1F630E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3950"/>
            <a:ext cx="2286000" cy="2381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44DAB-0BCC-4140-AF00-1B3152B0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180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0B1F33"/>
                </a:solidFill>
              </a:defRPr>
            </a:pPr>
            <a:r>
              <a:rPr sz="7050" b="1">
                <a:solidFill>
                  <a:srgbClr val="0B1F33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86442-81BC-4B21-B80C-D124AD8C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BF"/>
                </a:solidFill>
              </a:defRPr>
            </a:pPr>
            <a:r>
              <a:rPr sz="1125" b="0">
                <a:solidFill>
                  <a:srgbClr val="9FB0BF"/>
                </a:solidFill>
              </a:rPr>
              <a:t>Lezione 06 • DATAFLIX</a:t>
            </a:r>
          </a:p>
        </p:txBody>
      </p:sp>
    </p:spTree>
    <p:extLst>
      <p:ext uri="{BB962C8B-B14F-4D97-AF65-F5344CB8AC3E}">
        <p14:creationId xmlns:p14="http://schemas.microsoft.com/office/powerpoint/2010/main" val="17217659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44458-CFD8-4B58-B715-9E145C8E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78209-F1E1-4429-B6DA-2C8DFA11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Ogni film ha la stessa forma?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E8F5E-E46A-4E0A-8750-7811C0AB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94068-4D5F-46F8-9D7E-0271661E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FF8A4C"/>
                </a:solidFill>
              </a:defRPr>
            </a:pPr>
            <a:r>
              <a:rPr sz="8250" b="1">
                <a:solidFill>
                  <a:srgbClr val="FF8A4C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BA3CC-9F48-4650-8FBB-1342725A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Un film può avere più lingue, cast, sottotitoli, premi, disponibilità regionali e metadati che cambiano nel tempo.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20C34-DD9E-421F-BBB5-00FE2A19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65862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19295-EB65-44A5-A772-4DACBF2B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UN FILM • MOLTE TABELLE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96792-FF14-4B57-8AF8-6025F79F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Il modello relazionale resta valido, ma il catalogo si frammenta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0C527-9CBD-453B-9E6C-6508D229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93DA2-D30F-44A2-94D2-B618B5BA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A44C5-4E5E-4EC6-A2DF-45044743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AC5AE-CC2E-48B9-AF6E-AFAFFCD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4787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FILM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0E356-B559-4D68-B076-83B8FF66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titolo, anno, rating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19134-1369-4AFF-93A9-6C5802CD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D9F3E-4F8E-4D8C-8A9E-E33934CD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5958C-97FC-4996-802F-988D07BE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4787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FILM_GENRE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D6683-A290-4208-90DE-80DB1F88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molti generi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90668-0E0C-4162-830A-19F53107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5D70B-2E85-4822-A3E9-E494E6FC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24D51-3257-482D-8B76-11048C97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4787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FILM_CAST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FB333-30DB-446F-BD28-931D0343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molti attori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16F15-0AF6-484E-A0E1-B73A96BE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F7547-50A8-4984-BF79-3B97F76E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D82DB-7291-4BB4-A2AB-0DB7F3E3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671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AUDIO_TRACK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08F5E-BF4F-4699-869C-8D6F5859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lingue e codec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5F5BC-3CDA-412C-97C6-3A455301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2E579-7751-4892-9D5A-771A2D4F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BCC16-C136-41AD-AC3A-DF3D4F58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671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AVAILABILITY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891675-1299-4F6E-878D-79FF7BF2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91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paese e finestra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8EB42-7F15-4F54-B23B-3AC3C68E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Leggere il catalogo richiede ricomporre un aggregato.</a:t>
            </a:r>
          </a:p>
        </p:txBody>
      </p:sp>
    </p:spTree>
    <p:extLst>
      <p:ext uri="{BB962C8B-B14F-4D97-AF65-F5344CB8AC3E}">
        <p14:creationId xmlns:p14="http://schemas.microsoft.com/office/powerpoint/2010/main" val="488298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51583-BEDF-4853-B543-289A291F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DOCUMENTO = AGGREGATO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639D1-9200-47B8-B7F8-F3F27C42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Il documento conserva insieme ciò che l’applicazione usa insieme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2E9D1-A49A-47CB-AC14-D71CD2BC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4DF5E-E53C-4B86-A0C9-4C16050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9334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C9ABE-06C5-4D17-9898-6B9663CA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4379D-961D-475A-A5A2-7CB257D4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62150"/>
            <a:ext cx="866775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title: "Interstellar",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genres: ["Sci-Fi", "Drama"],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audio: [{ language: "it", codec: "5.1" }],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availability: { country: "IT", plan: "premium" }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32467-33DD-436C-9EA9-D63F77A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Una lettura restituisce una vista coerente del film.</a:t>
            </a:r>
          </a:p>
        </p:txBody>
      </p:sp>
    </p:spTree>
    <p:extLst>
      <p:ext uri="{BB962C8B-B14F-4D97-AF65-F5344CB8AC3E}">
        <p14:creationId xmlns:p14="http://schemas.microsoft.com/office/powerpoint/2010/main" val="1400450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36080-40F0-4CB3-A5AC-9E9E4EE3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VOCABOLARIO MINIMO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5F07B-E2C2-4344-B5BA-8702755B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Database, collection, document, field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84FEE-F811-4DD5-B9C5-1F2CA0F0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4D7FF-02B7-4A6A-9A16-CAA48094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865D5-5BB8-48B9-936D-45D15235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645D3-DD2D-41A1-AE75-ECC37637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4DE"/>
                </a:solidFill>
              </a:defRPr>
            </a:pPr>
            <a:r>
              <a:rPr sz="1200" b="0">
                <a:solidFill>
                  <a:srgbClr val="C8D4DE"/>
                </a:solidFill>
              </a:rPr>
              <a:t>dataflix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4ABDA-62DC-45BD-ADD8-F608272E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575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8A4C"/>
                </a:solidFill>
              </a:defRPr>
            </a:pPr>
            <a:r>
              <a:rPr sz="25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53111-F39A-44F9-B9A8-32818737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68E5D-7BA2-425C-ADEC-687EC215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432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COLLECTION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68695-C83D-4B82-A015-61531BED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051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movies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B1B29-AB55-414E-85E4-97034D2B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575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8A4C"/>
                </a:solidFill>
              </a:defRPr>
            </a:pPr>
            <a:r>
              <a:rPr sz="25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07922-12F0-43BB-B6C4-7A872B7A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BD0EC-374B-4C1F-A3AC-58F81365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432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DOCUMENT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E7A9E-52F2-4F7D-9A28-0AC4BD72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051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un film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E5AD4-1A27-459F-89FE-FDBFD44E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575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8A4C"/>
                </a:solidFill>
              </a:defRPr>
            </a:pPr>
            <a:r>
              <a:rPr sz="25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B7E4D-5C25-4EB6-B4C0-CC2FEC4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7175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45E74-A6EF-45EC-BA8D-D8071A6F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432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FIELD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78FD3-C8E9-46DE-9006-A1287EB6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05150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title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57DB5-CF2C-47A8-99BB-EE6EF39F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953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La collection raggruppa documenti; non impone di default una forma identica.</a:t>
            </a:r>
          </a:p>
        </p:txBody>
      </p:sp>
    </p:spTree>
    <p:extLst>
      <p:ext uri="{BB962C8B-B14F-4D97-AF65-F5344CB8AC3E}">
        <p14:creationId xmlns:p14="http://schemas.microsoft.com/office/powerpoint/2010/main" val="563276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CE34E-ECF2-4BB0-9830-7FC0F038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JSON-LIKE, MA CON TIPI PIÙ RICCHI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886D5-1E5D-444D-B455-33BB79E0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film DATAFLIX come documento BSON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0489B-2D11-41ED-BC42-9DE16984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6DA21-2461-43BB-B2CF-FAEFA0A6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102870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0B88B-FCE3-4FDA-B46D-FAADDE0C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952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6F1B7-309E-454A-B2FA-0CAB4C85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4525"/>
            <a:ext cx="96202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_id: ObjectId("..."),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title: "Interstellar", year: 2014,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rating: 8.7, active: true,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genres: ["Sci-Fi", "Drama"],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releaseAt: ISODate("2014-11-07"),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director: { name: "Christopher Nolan", country: "UK" }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2562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0E333-1015-4B54-8EBC-3DC3F156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DOCUMENT DATABASE &amp; MONGODB • LEZIONE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7B3A8-B650-41BD-BC07-93807CC1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JSON e BSON non sono sinonimi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29AA1-5678-476F-9760-8DBA33BA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27F84-C35C-4DF4-87AB-49C5F663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661AC-75F1-47AF-95D3-2E1AF244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66D80-2F6E-4417-9360-1B5410A9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35B10-2223-4EAC-A33A-00CC54DA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86C27C-B6E6-4ABC-B3D7-81D2F435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F925C-147B-4B5D-BE5B-7B7513C2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Formato testuale e interoperabile. Tipi essenziali: stringhe, numeri, boolean, null, array e oggetti.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A59BE-BF07-4B07-B8C0-ADEEB1AD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BSON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4F15E-F1C0-4547-8CBB-DBAB8E1B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Serializzazione binaria usata da MongoDB. Aggiunge tipi come ObjectId, Date, Decimal128 e dati binari.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B0616-2B61-47C3-AC87-935843DB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81025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6EE6"/>
                </a:solidFill>
              </a:defRPr>
            </a:pPr>
            <a:r>
              <a:rPr sz="1575" b="1">
                <a:solidFill>
                  <a:srgbClr val="7C6EE6"/>
                </a:solidFill>
              </a:rPr>
              <a:t>La forma è familiare; il sistema dei tipi è più ricco.</a:t>
            </a:r>
          </a:p>
        </p:txBody>
      </p:sp>
    </p:spTree>
    <p:extLst>
      <p:ext uri="{BB962C8B-B14F-4D97-AF65-F5344CB8AC3E}">
        <p14:creationId xmlns:p14="http://schemas.microsoft.com/office/powerpoint/2010/main" val="154741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DBE7C-C59E-473E-A201-4DB69F06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PRIMARY KEY DEL DOCUMENTO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E9D5C-6C6C-4E70-BC35-97E6A417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_id identifica in modo univoco ogni documento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35C50-C4E7-4047-86C7-D0192400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74A40-A5C8-4BF5-87A9-3B652F46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906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A1652-2324-42C0-9DBC-F577B40E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DB823-B5C0-43A6-9F5C-18ADAD95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47900"/>
            <a:ext cx="9239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{ _id: ObjectId("66b8..."), title: "Interstellar"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// se _id manca, il driver o MongoDB può generare un ObjectId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C82BE-361F-4110-ACB7-6A29B92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7E34B"/>
                </a:solidFill>
              </a:defRPr>
            </a:pPr>
            <a:r>
              <a:rPr sz="1950" b="1">
                <a:solidFill>
                  <a:srgbClr val="B7E34B"/>
                </a:solidFill>
              </a:rPr>
              <a:t>Unico • immutabile • indicizzato automaticamente</a:t>
            </a:r>
          </a:p>
        </p:txBody>
      </p:sp>
    </p:spTree>
    <p:extLst>
      <p:ext uri="{BB962C8B-B14F-4D97-AF65-F5344CB8AC3E}">
        <p14:creationId xmlns:p14="http://schemas.microsoft.com/office/powerpoint/2010/main" val="1328859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0FAE9-3B85-4C07-BDBA-29349E8F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DOT NOTATION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BC15F-A0EC-42CC-B773-05A724A4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Documenti annidati: la struttura riflette il dominio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DE46F-AC37-41FC-B2D6-D0C52986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8D571-F72D-42BC-8E02-9A64C5D2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BF52B-63C5-4CE1-8E0E-0409566F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5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CE931-3A59-467F-8DC2-EC36EF4B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57400"/>
            <a:ext cx="94297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director: {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name: "Christopher Nolan",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country: "UK"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{ "director.country": "UK" 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1BFF4-1315-440B-B367-F32BBF37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Il punto attraversa i livelli del documento.</a:t>
            </a:r>
          </a:p>
        </p:txBody>
      </p:sp>
    </p:spTree>
    <p:extLst>
      <p:ext uri="{BB962C8B-B14F-4D97-AF65-F5344CB8AC3E}">
        <p14:creationId xmlns:p14="http://schemas.microsoft.com/office/powerpoint/2010/main" val="1839365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DF560-0C05-4BE6-9513-CD92590C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GENERI, CAST, AUDIO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7A745-A9DE-4C22-8DF6-A2CF2FB8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Array: più valori senza tabella ponte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3AD8C-0464-433F-84E2-759368FD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4BEF4-6888-4A80-A1BC-D8D620CA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41FB3-A1E6-4D7F-B954-5D76C6F3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5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5271D-38C6-4FA3-9AF4-3B09206B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57400"/>
            <a:ext cx="94297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genres: ["Sci-Fi", "Drama"],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cast: [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{ name: "Matthew McConaughey", role: "Cooper" },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{ name: "Anne Hathaway", role: "Brand" }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EA0D2-0B44-4B0B-B412-F6B00AC1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863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Gli array possono contenere valori o documenti.</a:t>
            </a:r>
          </a:p>
        </p:txBody>
      </p:sp>
    </p:spTree>
    <p:extLst>
      <p:ext uri="{BB962C8B-B14F-4D97-AF65-F5344CB8AC3E}">
        <p14:creationId xmlns:p14="http://schemas.microsoft.com/office/powerpoint/2010/main" val="18973147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8A6C3-A37B-4EBA-A752-F9E4E0C3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A3099-955F-4D7A-A46D-89226587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Schema flessibile non significa assenza di progetto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84798-0853-4E90-9259-E0FE3B99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9FD68-88D0-49D9-8086-1AE18DFC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EF5A5A"/>
                </a:solidFill>
              </a:defRPr>
            </a:pPr>
            <a:r>
              <a:rPr sz="8250" b="1">
                <a:solidFill>
                  <a:srgbClr val="EF5A5A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400E3-5984-4280-9F71-B8CE4C07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Documenti diversi possono avere campi diversi. Il team deve comunque definire forma, tipi, vincoli e migrazioni.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B8B8B-E47B-43C7-B494-F9BF2D46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89434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32422-35E1-4CE4-9E74-8AE40361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CONFINI E CRESCITA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5E8FD-127D-4327-B390-57D4C437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Un documento deve restare un’unità gestibile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F23C5-E8B8-4084-9C48-43016C3A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98763-E3A4-4427-9979-461E2285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5BCA2-393A-4004-B480-536FD568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A621E-C363-45C6-8A36-F0A93540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676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16 MiB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E2D61-61E9-4621-A77F-61558F8F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38425"/>
            <a:ext cx="4676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dimensione massima BSON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168F3-7467-4FD8-959D-31695F77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09BC0-0FF9-4275-B32D-12F139CA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621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3146C-89C9-488B-8236-18F64062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4676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ARRAY LIMITATO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9976D-F2F0-4CA0-8D6D-63221014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38425"/>
            <a:ext cx="4676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cast o lingue: crescita finita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CB2E9-2F81-4FDC-83C4-DFAF349C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B442A-CA9C-44D1-BC06-1AB19D5F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F334B-2BFE-46AD-AFE0-8F955B5C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4676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ARRAY ILLIMITATO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3D630-3DF9-43A4-9518-061D4978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52925"/>
            <a:ext cx="4676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eventi o commenti: separare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521A0-2C31-457F-BED5-875D8441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509587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E92E80-AD40-4C23-8237-19EA3595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7DF10-7EBC-41E2-83B7-34022BC3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4676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CICLO DI VITA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7F689-B5A1-4656-B6F1-DF3D8164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52925"/>
            <a:ext cx="46767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archiviare insieme o separatamente?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D5623-2B18-4476-A6AB-8327CBD7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5245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Il confine del documento è una decisione, non una comodità.</a:t>
            </a:r>
          </a:p>
        </p:txBody>
      </p:sp>
    </p:spTree>
    <p:extLst>
      <p:ext uri="{BB962C8B-B14F-4D97-AF65-F5344CB8AC3E}">
        <p14:creationId xmlns:p14="http://schemas.microsoft.com/office/powerpoint/2010/main" val="18334567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43D17-3401-4767-8145-558DE5F7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ACCESS PATTERNS FIRST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75DE6-EDB0-4FCD-AB37-A1E63ACD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Prima le operazioni, poi il documento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0538E-C751-483F-BDE2-FB67B42D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E8E85-6526-469C-8039-8EDE2CBA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2DEB2-65CA-4207-BAC8-E3C24FD0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62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LEGGERE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E6D0E-FE3A-4E22-B11E-88727FB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8D4DE"/>
                </a:solidFill>
              </a:defRPr>
            </a:pPr>
            <a:r>
              <a:rPr sz="1800" b="0">
                <a:solidFill>
                  <a:srgbClr val="C8D4DE"/>
                </a:solidFill>
              </a:rPr>
              <a:t>scheda completa del film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C91B3-442B-4BE1-961E-A574A939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38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B0580-7A12-4731-8531-A99009CF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384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AGGIORNARE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C65BF-23A3-4B3B-91A3-13D41E4D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384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8D4DE"/>
                </a:solidFill>
              </a:defRPr>
            </a:pPr>
            <a:r>
              <a:rPr sz="1800" b="0">
                <a:solidFill>
                  <a:srgbClr val="C8D4DE"/>
                </a:solidFill>
              </a:rPr>
              <a:t>rating e disponibilità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29375-5FC4-4FB5-8D62-21BC76E1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147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5F3E8-14A1-43EB-812B-372C42B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5147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CERCARE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E7118-AFCA-440C-81C6-9367B46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147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8D4DE"/>
                </a:solidFill>
              </a:defRPr>
            </a:pPr>
            <a:r>
              <a:rPr sz="1800" b="0">
                <a:solidFill>
                  <a:srgbClr val="C8D4DE"/>
                </a:solidFill>
              </a:rPr>
              <a:t>genere, paese, anno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6BA02-B363-4568-A451-71470039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910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FB6CC-71E8-494B-B4FA-B622C0AB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3910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ANALIZZARE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5CE02-90EA-4148-89FA-AF976507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910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8D4DE"/>
                </a:solidFill>
              </a:defRPr>
            </a:pPr>
            <a:r>
              <a:rPr sz="1800" b="0">
                <a:solidFill>
                  <a:srgbClr val="C8D4DE"/>
                </a:solidFill>
              </a:rPr>
              <a:t>top generi e rating medio</a:t>
            </a:r>
          </a:p>
        </p:txBody>
      </p:sp>
    </p:spTree>
    <p:extLst>
      <p:ext uri="{BB962C8B-B14F-4D97-AF65-F5344CB8AC3E}">
        <p14:creationId xmlns:p14="http://schemas.microsoft.com/office/powerpoint/2010/main" val="15299357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8589B-DD28-437D-9435-05A2D2A2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CONTENERE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B0637-C421-485A-A9D6-88278DFC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Embedding: dati letti e aggiornati insieme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0B392-F474-4679-B2B5-3D23559E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31E65-D5D5-4847-8E61-6B9C7B50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A0554-0E98-4DA2-92B0-5FA5DA90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6DEE1-C1EB-4A83-B90C-9F093CA4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57400"/>
            <a:ext cx="9429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title: "Interstellar",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director: { name: "Christopher Nolan" },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audio: [{ language: "it", codec: "5.1" }]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DBC56-9DB3-4C26-8398-AAA44585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Una lettura • un confine atomico • possibile duplicazione</a:t>
            </a:r>
          </a:p>
        </p:txBody>
      </p:sp>
    </p:spTree>
    <p:extLst>
      <p:ext uri="{BB962C8B-B14F-4D97-AF65-F5344CB8AC3E}">
        <p14:creationId xmlns:p14="http://schemas.microsoft.com/office/powerpoint/2010/main" val="14980367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14CB3-2420-484C-92F0-A86187D1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COLLEGARE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8AEB3-B220-4C9F-BA4A-2D98888B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References: identità e ciclo di vita separati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CDAC5-C36B-477A-92EF-9725B58E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54A45-CF96-439C-9D96-CBEB7DD6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117D8-204E-401E-B2C1-9810B4CF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5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598F0-2F13-4997-B8AD-93EDE07B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57400"/>
            <a:ext cx="94297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// movies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{ title: "Interstellar", directorId: ObjectId("d1")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// people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{ _id: ObjectId("d1"), name: "Christopher Nolan" 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FC379-60B9-4309-A38B-46B55037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006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Meno duplicazione • letture multiple o $lookup • confini distinti</a:t>
            </a:r>
          </a:p>
        </p:txBody>
      </p:sp>
    </p:spTree>
    <p:extLst>
      <p:ext uri="{BB962C8B-B14F-4D97-AF65-F5344CB8AC3E}">
        <p14:creationId xmlns:p14="http://schemas.microsoft.com/office/powerpoint/2010/main" val="15790765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BD24C-2A83-4394-A704-F6F90B16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DOCUMENT DATABASE &amp; MONGODB • LEZIONE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B12C7-8458-456C-B64A-F492D426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Embed o reference? Quattro domande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58062-30E7-4B11-9402-1BC9E4A3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53B9D-62BA-420A-8074-549CFF37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92492-F0B3-4F44-9264-1925D37B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F7F03-5101-4675-8E13-63E5235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058A2-79E4-4F4A-B50E-EADD3258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DE4B5-6D92-45CC-A771-1D1ED16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EMBED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25815-A16B-4547-B640-E9DB9B4C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Si legge insieme? Crescita limitata? Relazione “contiene”? Serve aggiornamento atomico nello stesso documento?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7237A-2D36-4188-AF5D-18941A3B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B1608-BF89-468E-90F9-45DE0C7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Alta cardinalità? Crescita non limitata? Ciclo di vita separato? Duplicazione costosa da sincronizzare?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D6FE5-447B-4870-8998-4CDECA96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0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C6EE6"/>
                </a:solidFill>
              </a:defRPr>
            </a:pPr>
            <a:r>
              <a:rPr sz="1575" b="1">
                <a:solidFill>
                  <a:srgbClr val="7C6EE6"/>
                </a:solidFill>
              </a:rPr>
              <a:t>Non esiste una regola universale: esiste un carico di lavoro.</a:t>
            </a:r>
          </a:p>
        </p:txBody>
      </p:sp>
    </p:spTree>
    <p:extLst>
      <p:ext uri="{BB962C8B-B14F-4D97-AF65-F5344CB8AC3E}">
        <p14:creationId xmlns:p14="http://schemas.microsoft.com/office/powerpoint/2010/main" val="9422747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947FD-9679-42D0-AB3B-8EC3D9CC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READ FAST ↔ UPDATE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A382D-22E0-46FC-B65F-4A8CA46D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La duplicazione è un trade-off intenzionale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03146-48DF-43BF-8E0A-0F1831D4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52320-9459-41CC-8354-E812E297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B8D9"/>
                </a:solidFill>
              </a:defRPr>
            </a:pPr>
            <a:r>
              <a:rPr sz="1875" b="1">
                <a:solidFill>
                  <a:srgbClr val="00B8D9"/>
                </a:solidFill>
              </a:rPr>
              <a:t>DIRECTOR NAME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E504E-7322-4100-A0CB-30D19CEB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copiato in 200 film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EEDC6-E264-4C02-966D-739C1F1F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8A4C"/>
                </a:solidFill>
              </a:defRPr>
            </a:pPr>
            <a:r>
              <a:rPr sz="3450" b="1">
                <a:solidFill>
                  <a:srgbClr val="FF8A4C"/>
                </a:solidFill>
              </a:rPr>
              <a:t>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2C953-ABC0-483A-A966-D8F0F376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F5A5A"/>
                </a:solidFill>
              </a:defRPr>
            </a:pPr>
            <a:r>
              <a:rPr sz="1875" b="1">
                <a:solidFill>
                  <a:srgbClr val="EF5A5A"/>
                </a:solidFill>
              </a:rPr>
              <a:t>CAMBIO NOME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D97B2-A72F-4525-B9A9-A680DE32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quanti documenti aggiornare?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5AE1F-63C8-44AC-B1D7-1A13243F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717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8A4C"/>
                </a:solidFill>
              </a:defRPr>
            </a:pPr>
            <a:r>
              <a:rPr sz="34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F1CDD-F51D-4BFC-8869-AA60A4C1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095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E34B"/>
                </a:solidFill>
              </a:defRPr>
            </a:pPr>
            <a:r>
              <a:rPr sz="1875" b="1">
                <a:solidFill>
                  <a:srgbClr val="B7E34B"/>
                </a:solidFill>
              </a:rPr>
              <a:t>LETTURA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DAB94-3768-4155-A6E0-651DB7CA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senza join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8E395-A9F7-41CE-AA8A-6EF74C33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Duplicare riduce alcune letture, ma crea lavoro di sincronizzazione.</a:t>
            </a:r>
          </a:p>
        </p:txBody>
      </p:sp>
    </p:spTree>
    <p:extLst>
      <p:ext uri="{BB962C8B-B14F-4D97-AF65-F5344CB8AC3E}">
        <p14:creationId xmlns:p14="http://schemas.microsoft.com/office/powerpoint/2010/main" val="21108508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CB702-27AE-4CD6-84EC-777197F3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CONFINI DI CONSISTENZA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4FABF-7497-4371-A144-86627310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Una scrittura su un singolo documento è atomica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4541E-476E-42EB-8EA9-52335C67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4528D-5B6D-4EC9-BD88-6601D792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0250"/>
            <a:ext cx="9144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EF76E-F439-410B-B4DB-2F3FDC93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0250"/>
            <a:ext cx="95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9347A-95BB-47A0-91F5-96F1C22E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47900"/>
            <a:ext cx="8477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db.movies.updateOne(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{ _id: id, views: 1200 },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{ $inc: { views: 1 } }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DF216-A1BE-4184-9235-6F41C887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5775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Filtro + modifica sul documento = operazione indivisibile</a:t>
            </a:r>
          </a:p>
        </p:txBody>
      </p:sp>
    </p:spTree>
    <p:extLst>
      <p:ext uri="{BB962C8B-B14F-4D97-AF65-F5344CB8AC3E}">
        <p14:creationId xmlns:p14="http://schemas.microsoft.com/office/powerpoint/2010/main" val="8941703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08CB1-8756-4A6A-8FF6-09258E20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DOCUMENT DATABASE &amp; MONGODB • LEZIONE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A81D2-B332-41D4-9FA6-34399C58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Le transazioni multi-documento esistono, ma hanno un costo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887A7-6322-43AE-96DD-68AE16C8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DA8B7-89B3-4F91-81B5-C48E8618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76697-3943-4A92-8C65-C3E3C812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19AAB-44F6-4D67-885B-F66D35DE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8FA50-62FB-4C0A-B487-FFDEEA4B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514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61D8B-7743-4814-BBB4-168C79D2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SINGOLO DOCUMENTO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FEE9A-38CD-43D5-A04A-5CE536F3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Modellare insieme i dati aggiornati insieme semplifica atomicità e prestazioni.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22FCC-03DD-4898-AEF0-57C528B1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</a:defRPr>
            </a:pPr>
            <a:r>
              <a:rPr sz="1950" b="1">
                <a:solidFill>
                  <a:srgbClr val="0B1F33"/>
                </a:solidFill>
              </a:rPr>
              <a:t>PIÙ DOCUMENTI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34868-38CA-4BB9-9E1F-05338DA7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333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</a:defRPr>
            </a:pPr>
            <a:r>
              <a:rPr sz="1725" b="0">
                <a:solidFill>
                  <a:srgbClr val="52606D"/>
                </a:solidFill>
              </a:rPr>
              <a:t>Le transazioni ACID sono disponibili, ma aumentano coordinamento e costo; non sostituiscono un buon modello.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46A2B-0BEA-4CF9-BFC5-48D6041D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102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6EE6"/>
                </a:solidFill>
              </a:defRPr>
            </a:pPr>
            <a:r>
              <a:rPr sz="1500" b="1">
                <a:solidFill>
                  <a:srgbClr val="7C6EE6"/>
                </a:solidFill>
              </a:rPr>
              <a:t>Prima riduci i confini; poi usa la transazione quando il requisito la impone.</a:t>
            </a:r>
          </a:p>
        </p:txBody>
      </p:sp>
    </p:spTree>
    <p:extLst>
      <p:ext uri="{BB962C8B-B14F-4D97-AF65-F5344CB8AC3E}">
        <p14:creationId xmlns:p14="http://schemas.microsoft.com/office/powerpoint/2010/main" val="4736554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8CC1E0-6F6F-4AF3-B05D-AF3BC17A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CLIENT → SERVER →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ED530-A24E-4089-B020-FD292140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mongosh: il nostro banco di prova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A0B7F-2B62-44F5-B80D-4A34D652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0A317-1876-49F7-A693-92BD47E7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57979-3CA7-4B12-A2E5-56E52562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MONGOSH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2CD00-F14A-4AC0-9A67-D5B9C6C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comandi MQL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9E1A2-08FA-4B85-AE94-AB7F3770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05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AF59F-B9BD-4030-AB80-F6FC97E9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3362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B4670-3D95-4BEE-9518-A7E968A6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50507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MONGOD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84767-B392-4C88-B4E1-DA606C66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8670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4DE"/>
                </a:solidFill>
              </a:defRPr>
            </a:pPr>
            <a:r>
              <a:rPr sz="1200" b="0">
                <a:solidFill>
                  <a:srgbClr val="C8D4DE"/>
                </a:solidFill>
              </a:rPr>
              <a:t>server MongoDB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59C68-B06D-41DA-8A88-82DB5017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051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8A4C"/>
                </a:solidFill>
              </a:defRPr>
            </a:pPr>
            <a:r>
              <a:rPr sz="2625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CD3F8-4440-49C7-8CBC-A1784EAE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14625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0069D-F67C-4F40-B23F-BCC24F7E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860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DATAFLIX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2791B6-6562-4E63-AEC9-F20EDDFA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48025"/>
            <a:ext cx="236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movies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8E472-5ED7-4A4F-A1AA-8FC5ADCD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72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B8D9"/>
                </a:solidFill>
              </a:defRPr>
            </a:pPr>
            <a:r>
              <a:rPr sz="2025" b="1">
                <a:solidFill>
                  <a:srgbClr val="00B8D9"/>
                </a:solidFill>
              </a:rPr>
              <a:t>use dataflix</a:t>
            </a:r>
          </a:p>
        </p:txBody>
      </p:sp>
    </p:spTree>
    <p:extLst>
      <p:ext uri="{BB962C8B-B14F-4D97-AF65-F5344CB8AC3E}">
        <p14:creationId xmlns:p14="http://schemas.microsoft.com/office/powerpoint/2010/main" val="20795019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0F30C-9676-44F0-843B-D5BD245A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INSERTONE / INSERTMANY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642A9-889F-4589-9871-30097C9D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CREATE — inserire un documento o un gruppo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436C8-3368-4D9C-A9F1-5F176F87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E6427-90C9-4CAF-A566-FB56A6A4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93345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07C9B-547C-4BCB-8BAB-D6983A92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6875"/>
            <a:ext cx="952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4702F-1055-4C4D-8468-B653C74D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14525"/>
            <a:ext cx="8667750" cy="301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use dataflix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db.movies.insertOne({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title: "Interstellar",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year: 2014,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genres: ["Sci-Fi", "Drama"]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8353533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F3818-D643-4FFD-8BE3-0C4FF055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62745-44BE-4E58-AA1F-C090B56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READ — il filtro è un documento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F016C-4A03-4D6F-84E3-C4CC5F53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DD0F1-C55E-4359-8F98-08C85E29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90600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65993-4972-4A5C-8170-127848FD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52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AD00C-0EE6-4AFB-8FE1-A85AE0D7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00275"/>
            <a:ext cx="923925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db.movies.find({ title: "Interstellar"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db.movies.find({ year: 2014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db.movies.findOne({ _id: ObjectId("...") 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BCB07-8A7F-4D68-97FE-98638E1A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00625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{} significa: nessuna condizione, restituisci tutti i documenti.</a:t>
            </a:r>
          </a:p>
        </p:txBody>
      </p:sp>
    </p:spTree>
    <p:extLst>
      <p:ext uri="{BB962C8B-B14F-4D97-AF65-F5344CB8AC3E}">
        <p14:creationId xmlns:p14="http://schemas.microsoft.com/office/powerpoint/2010/main" val="19042157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D5002-B1A1-4C4E-BF33-7435C911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FILTRI ESPRESSIVI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562BB-A0D8-4EAC-8C41-6CA91010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Operatori di confronto e logici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A95F5-B667-4810-B554-B0AD8F63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4A8BE-1B32-4673-B3E2-DAC1EF0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14500"/>
            <a:ext cx="98107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67CEF-33FC-4389-95CF-A4A6F121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14500"/>
            <a:ext cx="952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BCA1B-392F-4794-BBB8-8BC8A495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962150"/>
            <a:ext cx="9144000" cy="292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db.movies.find({ rating: { $gte: 8 }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db.movies.find({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$and: [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  { year: { $gte: 2010 } },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  { active: true }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]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B58BFF-4F35-45B1-B023-D441B994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$gt • $gte • $lt • $lte • $in • $and • $or</a:t>
            </a:r>
          </a:p>
        </p:txBody>
      </p:sp>
    </p:spTree>
    <p:extLst>
      <p:ext uri="{BB962C8B-B14F-4D97-AF65-F5344CB8AC3E}">
        <p14:creationId xmlns:p14="http://schemas.microsoft.com/office/powerpoint/2010/main" val="20500128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3C566-276E-4543-A17E-2DBF5851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MENO DATI, CONTRATTO PIÙ CHIARO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6CD2E-7A00-470E-9A8F-405082A7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Projection: restituisci soltanto ciò che serve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097B4-7FAC-4AAA-9789-E59D9201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CEC33-03C3-44D8-8F49-4B7A655C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33450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ADC33-DF0F-4C60-9619-40E58942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952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01572-AE8D-44B2-AC38-63B4A25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47900"/>
            <a:ext cx="86677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db.movies.find(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{ rating: { $gte: 8 } },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{ _id: 0, title: 1, rating: 1 }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46341-6F87-41A0-85EF-EAA7C1A4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Filtro sceglie i documenti • projection sceglie i campi</a:t>
            </a:r>
          </a:p>
        </p:txBody>
      </p:sp>
    </p:spTree>
    <p:extLst>
      <p:ext uri="{BB962C8B-B14F-4D97-AF65-F5344CB8AC3E}">
        <p14:creationId xmlns:p14="http://schemas.microsoft.com/office/powerpoint/2010/main" val="83750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66629-BA65-47ED-8D33-D03D2B23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DOT NOTATION IN AZIONE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A2159-10A3-45BE-B58E-7CF01C04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Query su campi annidati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E2E43-1C03-4DD7-98F4-1E10FF1F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6ED50-A5B3-45D3-B97A-61898C6F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05000"/>
            <a:ext cx="9144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97AC7-3D88-4B01-83F5-C8DC3DE7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05000"/>
            <a:ext cx="9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D23B5-F4EB-4C17-9F07-AB22BC26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52650"/>
            <a:ext cx="8477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db.movies.find({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"director.country": "UK"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db.movies.find({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"availability.country": "IT"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A818E-F17A-4CA9-AC06-2D4D449F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86375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Usa le virgolette quando il nome del campo contiene un punto.</a:t>
            </a:r>
          </a:p>
        </p:txBody>
      </p:sp>
    </p:spTree>
    <p:extLst>
      <p:ext uri="{BB962C8B-B14F-4D97-AF65-F5344CB8AC3E}">
        <p14:creationId xmlns:p14="http://schemas.microsoft.com/office/powerpoint/2010/main" val="3229511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9C0F0-79CB-4105-8F6A-D27DE143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ARRAY OPERATORS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D6D44-FFB0-4D30-B5AA-4311A50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Query sugli array: valore, insieme, stesso elemento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55476-2A40-40F4-8686-B81EF32F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0AA5B-2A40-45DC-8284-AEB89CDF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10287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AD9FE-D38E-4819-B3F5-F2E1A83E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9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9A4F1-BCFE-4152-B46E-0DBDA5AC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00275"/>
            <a:ext cx="96202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{ genres: "Sci-Fi" }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{ genres: { $all: ["Sci-Fi", "Drama"] } }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{ cast: { $elemMatch: { name: "Anne Hathaway", role: "Brand" } } 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A4ACD-0826-4932-A85B-A90FF603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0958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$elemMatch lega più condizioni allo stesso elemento dell’array.</a:t>
            </a:r>
          </a:p>
        </p:txBody>
      </p:sp>
    </p:spTree>
    <p:extLst>
      <p:ext uri="{BB962C8B-B14F-4D97-AF65-F5344CB8AC3E}">
        <p14:creationId xmlns:p14="http://schemas.microsoft.com/office/powerpoint/2010/main" val="89488032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FF21B-B776-40F5-B966-C8F2C875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SORT + LIMIT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D516D-DD67-45B9-BBF6-9BB381E7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Ordinare e limitare il risultato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50739-D4FB-439A-94E2-3AE4430E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7F767-4680-4162-8563-5359551B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9429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4026C-2C97-45CA-A174-AFB4FC68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00250"/>
            <a:ext cx="95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1626D-144E-4DBA-A43F-828E230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247900"/>
            <a:ext cx="8763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db.movies.find(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{ genres: "Drama" },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{ title: 1, rating: 1 }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).sort({ rating: -1 }).limit(3)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9CDA4-955A-4A2E-8B96-0528DDB6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95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</a:defRPr>
            </a:pPr>
            <a:r>
              <a:rPr sz="1800" b="1">
                <a:solidFill>
                  <a:srgbClr val="0B1F33"/>
                </a:solidFill>
              </a:rPr>
              <a:t>-1 decrescente • 1 crescente</a:t>
            </a:r>
          </a:p>
        </p:txBody>
      </p:sp>
    </p:spTree>
    <p:extLst>
      <p:ext uri="{BB962C8B-B14F-4D97-AF65-F5344CB8AC3E}">
        <p14:creationId xmlns:p14="http://schemas.microsoft.com/office/powerpoint/2010/main" val="9242352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93659-99D1-42F7-9753-6BB63141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$SET + $INC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CF1EE-A5C3-4C33-BFB0-8AE0038B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UPDATE — modifica soltanto i campi necessari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FCD96-3F4B-4078-B2D0-15B0EC3B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3DC7D-1EB2-49D0-8486-CE6AF52C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9429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C088D-EDC9-469A-BB52-64873ED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96D47-ED1D-4E4E-B5C9-7E82184F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962150"/>
            <a:ext cx="8763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db.movies.updateOne(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{ title: "Interstellar" },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{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  $set: { featured: true },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  $inc: { views: 1 }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}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1F4B4-AFB4-4BD0-A0A9-695205B5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F5A5A"/>
                </a:solidFill>
              </a:defRPr>
            </a:pPr>
            <a:r>
              <a:rPr sz="1575" b="1">
                <a:solidFill>
                  <a:srgbClr val="EF5A5A"/>
                </a:solidFill>
              </a:rPr>
              <a:t>Senza operatori, rischi di sostituire il documento anziché aggiornarlo.</a:t>
            </a:r>
          </a:p>
        </p:txBody>
      </p:sp>
    </p:spTree>
    <p:extLst>
      <p:ext uri="{BB962C8B-B14F-4D97-AF65-F5344CB8AC3E}">
        <p14:creationId xmlns:p14="http://schemas.microsoft.com/office/powerpoint/2010/main" val="189534026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6C994-FDFB-400B-95E9-A38615DE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$PUSH • $ADDTOSET • $PULL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AB11C-2A70-4C5B-B927-5F05846F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Aggiornare gli array senza duplicati involontari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420F3-FA04-484B-9301-F3B49A3B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3C096-2FD3-4C01-9774-3FD05DEF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715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9E9AC-D62F-47B4-8C67-43640FE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5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68299-EDA0-4A17-B9A8-FF361F76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3150"/>
            <a:ext cx="9048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$push:     { genres: "Space" }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$addToSet: { genres: "Sci-Fi" }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$pull:     { genres: "Drama" 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D609F-A291-41BE-B8FC-278C80C5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push aggiunge • addToSet preserva unicità • pull rimuove</a:t>
            </a:r>
          </a:p>
        </p:txBody>
      </p:sp>
    </p:spTree>
    <p:extLst>
      <p:ext uri="{BB962C8B-B14F-4D97-AF65-F5344CB8AC3E}">
        <p14:creationId xmlns:p14="http://schemas.microsoft.com/office/powerpoint/2010/main" val="155175531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D5544-AF52-41DF-9BCE-4DD3781A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UPDATE + INSERT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54ABC-08E0-4E4E-9200-F23BAAE7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Upsert: aggiorna se esiste, inserisci se manca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88BBD-5768-47FD-94FE-316CDFB9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86567-5059-46FC-A5AD-4FD6663A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57375"/>
            <a:ext cx="9525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160DC-4891-406C-A0B0-D6314464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57375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97EEF-9099-4EAD-9D4F-596ACD90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05025"/>
            <a:ext cx="88582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db.movies.updateOne(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{ externalId: "tt0816692" },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{ $set: { title: "Interstellar", year: 2014 } },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  { upsert: true }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945D1-55F9-4B24-9DEE-15EAFEB1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863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Utile per import idempotenti, pericoloso con filtri ambigui.</a:t>
            </a:r>
          </a:p>
        </p:txBody>
      </p:sp>
    </p:spTree>
    <p:extLst>
      <p:ext uri="{BB962C8B-B14F-4D97-AF65-F5344CB8AC3E}">
        <p14:creationId xmlns:p14="http://schemas.microsoft.com/office/powerpoint/2010/main" val="12276108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5FC9F-26A4-4E85-A70B-136EEDEF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FIND → COUNT → DELETE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6F1AF-B69E-478F-8B98-C7122D05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DELETE — prima dimostra il bersaglio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D485B-87F2-4F9E-835C-2D7A91A4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BDFC1-0B7D-43CE-AFB4-8309F169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9060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999C1-163F-4FCF-BD4E-04752F57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52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A5A"/>
          </a:solidFill>
          <a:ln xmlns:a="http://schemas.openxmlformats.org/drawingml/2006/main" w="9525">
            <a:solidFill>
              <a:srgbClr val="EF5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AC11E-5BC0-44F7-B55D-1A5EBE2E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57400"/>
            <a:ext cx="9239250" cy="2543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db.movies.find({ status: "retired" }, { title: 1 })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db.movies.countDocuments({ status: "retired" 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// soltanto dopo la verifica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db.movies.deleteMany({ status: "retired" 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D033-A41A-4A6A-8E23-6D059935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863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F5A5A"/>
                </a:solidFill>
              </a:defRPr>
            </a:pPr>
            <a:r>
              <a:rPr sz="1725" b="1">
                <a:solidFill>
                  <a:srgbClr val="EF5A5A"/>
                </a:solidFill>
              </a:rPr>
              <a:t>Un filtro vuoto in deleteMany elimina tutti i documenti.</a:t>
            </a:r>
          </a:p>
        </p:txBody>
      </p:sp>
    </p:spTree>
    <p:extLst>
      <p:ext uri="{BB962C8B-B14F-4D97-AF65-F5344CB8AC3E}">
        <p14:creationId xmlns:p14="http://schemas.microsoft.com/office/powerpoint/2010/main" val="35876326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319DA-5474-417B-8861-D721EF82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COLLSCAN → IXSCAN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48905-2580-4720-8B7C-8CBEE17D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Un indice riduce il lavoro di ricerca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C058D-838F-401D-9CBB-7230F4A1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FA97F-ADCF-455A-9A49-D5EF2777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SENZA INDICE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4DEBA-D552-4B84-842D-258E92D8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1.000.000 documenti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letti per trovare 30 risultati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27FCB-78E2-4E1A-A739-27002980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57500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EF5A5A"/>
                </a:solidFill>
              </a:defRPr>
            </a:pPr>
            <a:r>
              <a:rPr sz="3375" b="1">
                <a:solidFill>
                  <a:srgbClr val="EF5A5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CD0ED-34AC-4394-9E7E-06EAA070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CON INDICE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8C8BC-B3D0-4561-97CA-ADB3863A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valori ordinati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percorso selettivo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50236-821F-46E2-BCFA-760FFBB9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9587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Le letture migliorano; scritture, memoria e storage pagano il costo.</a:t>
            </a:r>
          </a:p>
        </p:txBody>
      </p:sp>
    </p:spTree>
    <p:extLst>
      <p:ext uri="{BB962C8B-B14F-4D97-AF65-F5344CB8AC3E}">
        <p14:creationId xmlns:p14="http://schemas.microsoft.com/office/powerpoint/2010/main" val="12703834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85DEE-6004-4019-84F9-52BAC26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EQUALITY → SORT → RANGE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018C7-8482-477B-BBE1-B43B582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Indici composti: l’ordine dei campi conta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1BF86-44B2-407A-9664-E390374D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AD7B5-87D2-411A-9188-4EF8301B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57375"/>
            <a:ext cx="9144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2132F-7829-4858-A983-6C2B93EE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57375"/>
            <a:ext cx="95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9525">
            <a:solidFill>
              <a:srgbClr val="FF8A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F8022-C7CF-43C4-BE7C-FD4F671A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05025"/>
            <a:ext cx="84772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db.movies.createIndex({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"availability.country": 1,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  rating: -1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// supporta: paese + ordinamento per rating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F9099-BBB7-43B6-87D1-441BEA5D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8637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Progetta l’indice dalla query dominante, non dal documento intero.</a:t>
            </a:r>
          </a:p>
        </p:txBody>
      </p:sp>
    </p:spTree>
    <p:extLst>
      <p:ext uri="{BB962C8B-B14F-4D97-AF65-F5344CB8AC3E}">
        <p14:creationId xmlns:p14="http://schemas.microsoft.com/office/powerpoint/2010/main" val="11374916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9D147-C458-431D-82F0-F6A925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EXECUTION STATS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48DBE-EA2E-475B-BDCC-836E8ADE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explain misura il piano, non la nostra intuizione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7A244-5DBB-4372-AA54-8C0C1F9B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F74DF-30DE-492F-B0B4-C9BD6C21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10191750" cy="3190875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AB8A7-33DE-4CF4-BE84-C9FE8F9B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952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4F196-2326-405E-8178-D2613551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009775"/>
            <a:ext cx="9525000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db.movies.find({ year: { $gte: 2010 } })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.sort({ rating: -1 })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.explain("executionStats")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// osserva: winningPlan, nReturned, totalDocsExamined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85160-18B7-41CC-9951-2708EF5C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Buon segnale: pochi documenti esaminati rispetto a quelli restituiti.</a:t>
            </a:r>
          </a:p>
        </p:txBody>
      </p:sp>
    </p:spTree>
    <p:extLst>
      <p:ext uri="{BB962C8B-B14F-4D97-AF65-F5344CB8AC3E}">
        <p14:creationId xmlns:p14="http://schemas.microsoft.com/office/powerpoint/2010/main" val="96510052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E105B-C6AE-4980-A2D9-BE0EE91D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$JSONSCHEMA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18558-8B47-4B8D-85A5-88A2BCC9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Schema validation: flessibilità con guardrail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14E09-C6D7-4DF6-AD76-7A617969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099A3-3133-4E61-B560-0238EC66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9810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E702-C3AB-415B-BE50-21FF13AF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6687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6EE6"/>
          </a:solidFill>
          <a:ln xmlns:a="http://schemas.openxmlformats.org/drawingml/2006/main" w="9525">
            <a:solidFill>
              <a:srgbClr val="7C6E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88EAC-AAF8-41FB-8573-94AC8330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914525"/>
            <a:ext cx="91440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db.createCollection("movies", {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validator: { $jsonSchema: {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  bsonType: "object",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  required: ["title", "year"],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  properties: { year: { bsonType: "int", minimum: 1888 } }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  }}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})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7D163-30F7-4094-B0F3-0C7BC4C0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Il vincolo può coprire solo i campi che il dominio richiede.</a:t>
            </a:r>
          </a:p>
        </p:txBody>
      </p:sp>
    </p:spTree>
    <p:extLst>
      <p:ext uri="{BB962C8B-B14F-4D97-AF65-F5344CB8AC3E}">
        <p14:creationId xmlns:p14="http://schemas.microsoft.com/office/powerpoint/2010/main" val="725003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3979D-D74D-4BFA-8493-6BA32A98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INPUT → STAGE → STAGE →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B4E7F-EDE9-40F8-8A34-ADF33B00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Aggregation pipeline: ogni stage trasforma i documenti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40AAD-D777-4784-8687-2C43E840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42C66-3D3C-4622-9613-0CEE0AA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039BB-5F9B-4604-958C-2540B47A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DOCUMENTI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FAB66-E887-4D12-B4F3-11913476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movies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38ADD-CE5E-462C-955C-47B250EE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051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8A4C"/>
                </a:solidFill>
              </a:defRPr>
            </a:pPr>
            <a:r>
              <a:rPr sz="25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80453-242C-4D55-8350-4337E2A5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14625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0B0D6-60A6-4185-96AC-7F6AADE8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860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$MATCH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DE4910-14C1-4070-A1F5-DF0762F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4802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4DE"/>
                </a:solidFill>
              </a:defRPr>
            </a:pPr>
            <a:r>
              <a:rPr sz="1200" b="0">
                <a:solidFill>
                  <a:srgbClr val="C8D4DE"/>
                </a:solidFill>
              </a:rPr>
              <a:t>filtra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9BBCB-481C-4CDC-A951-767EAEF2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051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8A4C"/>
                </a:solidFill>
              </a:defRPr>
            </a:pPr>
            <a:r>
              <a:rPr sz="25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73CA0-2E95-403D-8705-7DEEE3D6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451F7-A854-4EA8-B3EC-C517045A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8607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$GROUP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19B81-F9D1-4E38-9B96-F34C5428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4802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4DE"/>
                </a:solidFill>
              </a:defRPr>
            </a:pPr>
            <a:r>
              <a:rPr sz="1200" b="0">
                <a:solidFill>
                  <a:srgbClr val="C8D4DE"/>
                </a:solidFill>
              </a:rPr>
              <a:t>aggrega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F5C5CE-15A6-4EE7-AB6C-8F1C44C0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051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8A4C"/>
                </a:solidFill>
              </a:defRPr>
            </a:pPr>
            <a:r>
              <a:rPr sz="25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FF287-AA37-4B62-A72F-C414BE9C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1462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4E245-FE86-4EDC-8122-A806D23A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86075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$SORT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35316-0667-4223-8C21-5AB7E8E5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48025"/>
            <a:ext cx="1123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ordina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C28DA-C628-4A01-9720-DEA3D5A7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L’output di uno stage diventa l’input del successivo.</a:t>
            </a:r>
          </a:p>
        </p:txBody>
      </p:sp>
    </p:spTree>
    <p:extLst>
      <p:ext uri="{BB962C8B-B14F-4D97-AF65-F5344CB8AC3E}">
        <p14:creationId xmlns:p14="http://schemas.microsoft.com/office/powerpoint/2010/main" val="21117466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6B16E-1A62-41C6-931E-E8E585A8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$UNWIND + $GROUP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DF8C0-1930-4F48-B48C-0139E3C3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Esempio: i generi più presenti nel catalogo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8FBBB-217F-4015-B54B-FFF2F80C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4A8AD-3ECF-43D6-9A2D-B8D2859E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9429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9EA55-845E-4055-B5C1-03BCB30D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95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12926-41D3-4F24-8F5C-2383CAC5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962150"/>
            <a:ext cx="87630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db.movies.aggregate([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{ $unwind: "$genres" },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{ $group: { _id: "$genres", total: { $sum: 1 } } },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{ $sort: { total: -1 } },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  { $limit: 5 }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2D21F-FEFA-451C-A85C-78FA222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572125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unwind crea una riga logica per ogni elemento dell’array.</a:t>
            </a:r>
          </a:p>
        </p:txBody>
      </p:sp>
    </p:spTree>
    <p:extLst>
      <p:ext uri="{BB962C8B-B14F-4D97-AF65-F5344CB8AC3E}">
        <p14:creationId xmlns:p14="http://schemas.microsoft.com/office/powerpoint/2010/main" val="4169668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8902B-1AFC-432B-AEF6-C81FEB8E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PRIMARY • SECONDARIES • 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B9773-54B7-4CC9-A27A-F10D597F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Replica set: disponibilità e scelte di consistenza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28A48-02CB-4597-9054-4A6D4F10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90697-8A2C-48D0-90B9-190051B0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285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8DF14-D013-4AEF-B17E-144EACEA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5527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DCF51-02D2-41B2-8EB2-B0252E81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1465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4DE"/>
                </a:solidFill>
              </a:defRPr>
            </a:pPr>
            <a:r>
              <a:rPr sz="1200" b="0">
                <a:solidFill>
                  <a:srgbClr val="C8D4DE"/>
                </a:solidFill>
              </a:rPr>
              <a:t>riceve le scritture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6688F-A3D5-4E72-A33C-CCDD7AB6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146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8A4C"/>
                </a:solidFill>
              </a:defRPr>
            </a:pPr>
            <a:r>
              <a:rPr sz="1875" b="1">
                <a:solidFill>
                  <a:srgbClr val="FF8A4C"/>
                </a:solidFill>
              </a:rPr>
              <a:t>oplog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4440A-C7C3-45D9-A5ED-379300EE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29A4A-A7A0-4D1D-9D0C-296BF2FF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717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SECONDARY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847F1-FCA7-4BFD-8379-DCA76E10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336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replica asincrona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D628C-B5B7-4012-99FB-442D9FAA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19500"/>
            <a:ext cx="2571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4A2A9-C72B-4F28-AC4C-10368325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90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SECONDARY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2BF3A-6B7A-4488-AC70-8DFAF696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529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eleggibile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8FC69-9BCC-4AE8-B160-D5F05422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7E34B"/>
                </a:solidFill>
              </a:defRPr>
            </a:pPr>
            <a:r>
              <a:rPr sz="2250" b="1">
                <a:solidFill>
                  <a:srgbClr val="B7E34B"/>
                </a:solidFill>
              </a:rPr>
              <a:t>ACK?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250B0-D794-484E-B41B-2C95F545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48000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read concern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write concern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633724-D48F-4DE1-9BFE-E94909CA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863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La replica protegge dai guasti; le concern definiscono ciò che una lettura o scrittura promette.</a:t>
            </a:r>
          </a:p>
        </p:txBody>
      </p:sp>
    </p:spTree>
    <p:extLst>
      <p:ext uri="{BB962C8B-B14F-4D97-AF65-F5344CB8AC3E}">
        <p14:creationId xmlns:p14="http://schemas.microsoft.com/office/powerpoint/2010/main" val="150396044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A5FBE-86AB-48F8-BE63-13B6D00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LO SHARD KEY DECIDE LA DISTRIBUZIONE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8F13A-2815-4557-AF65-9D007E9B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Sharding: distribuire dati e carico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E7A57-D28D-4CD1-BF69-41A03A8E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5706A-82DA-437A-9082-1A7BD6CE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E6BDF0-8C1B-4EBA-A4BD-447C488D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MONGOS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1D22D-499B-4D8F-820F-C3D19813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198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4DE"/>
                </a:solidFill>
              </a:defRPr>
            </a:pPr>
            <a:r>
              <a:rPr sz="1200" b="0">
                <a:solidFill>
                  <a:srgbClr val="C8D4DE"/>
                </a:solidFill>
              </a:rPr>
              <a:t>query router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730F9-E6BB-4CFB-A555-BDB89D2E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05125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8A4C"/>
                </a:solidFill>
              </a:defRPr>
            </a:pPr>
            <a:r>
              <a:rPr sz="2550" b="1">
                <a:solidFill>
                  <a:srgbClr val="FF8A4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AD307-8EA9-4B4B-8A0A-17DAF04C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95500"/>
            <a:ext cx="2238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65ABE-BE58-46AD-9F44-E5856872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26695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SHARD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9F816-609E-4EDF-B5A3-B0CAE399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628900"/>
            <a:ext cx="1933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subset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889AA-9E78-4054-9E9C-0D9ED114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619500"/>
            <a:ext cx="2238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BC47A-4058-44D6-8173-72DFD7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79095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SHARD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5DD30-E7EF-4D66-A137-B61BFDDF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152900"/>
            <a:ext cx="1933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subset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BD05A-016E-4241-8EE3-DC2AA86E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2238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38F39-9DAD-416F-84D8-3B21BD9E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6695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SHARD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CE6C09-0733-49B0-83A3-F8B7701D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1933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subset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110FF5-2581-4375-BD5C-E046CBE0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2238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07D0F6-1F8A-4198-92DD-FD5260B0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90950"/>
            <a:ext cx="1933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CONFIG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4BC005-F060-4C56-8C29-4B6370DF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52900"/>
            <a:ext cx="1933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06D"/>
                </a:solidFill>
              </a:defRPr>
            </a:pPr>
            <a:r>
              <a:rPr sz="1200" b="0">
                <a:solidFill>
                  <a:srgbClr val="52606D"/>
                </a:solidFill>
              </a:rPr>
              <a:t>metadata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94BF4-507A-4136-86ED-6B647FA5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6EE6"/>
                </a:solidFill>
              </a:defRPr>
            </a:pPr>
            <a:r>
              <a:rPr sz="1650" b="1">
                <a:solidFill>
                  <a:srgbClr val="7C6EE6"/>
                </a:solidFill>
              </a:rPr>
              <a:t>country? userId? hashed?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F36AC1-B920-4F37-956B-57F29A66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F5A5A"/>
                </a:solidFill>
              </a:defRPr>
            </a:pPr>
            <a:r>
              <a:rPr sz="1650" b="1">
                <a:solidFill>
                  <a:srgbClr val="EF5A5A"/>
                </a:solidFill>
              </a:rPr>
              <a:t>Chiave sbagliata → hotspot, scatter/gather, distribuzione irregolare.</a:t>
            </a:r>
          </a:p>
        </p:txBody>
      </p:sp>
    </p:spTree>
    <p:extLst>
      <p:ext uri="{BB962C8B-B14F-4D97-AF65-F5344CB8AC3E}">
        <p14:creationId xmlns:p14="http://schemas.microsoft.com/office/powerpoint/2010/main" val="179976328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D57FD-67C0-4AFF-8D6D-8B89CB33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SICUREZZA OPERATIVA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DD633-277C-4E5E-A09E-C5200C28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MongoDB non deve essere esposto senza protezioni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83BAB-6301-44B9-9AE4-0B9B8A94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CA0E9-E00E-46DD-B09C-298E0F58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B8D9"/>
                </a:solidFill>
              </a:defRPr>
            </a:pPr>
            <a:r>
              <a:rPr sz="1800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C21FE-02D0-410B-AF93-718A1D3B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192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AUTH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2878C-0635-4906-9C3D-8C8D91DC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19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abilita autenticazione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B26C3-B025-44A6-B7C9-E9231081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8A4C"/>
                </a:solidFill>
              </a:defRPr>
            </a:pPr>
            <a:r>
              <a:rPr sz="1800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280BA-8B10-416C-85F9-8C990E4F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00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RBAC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50090-E327-486A-A7FF-040DEE5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privilegio minimo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802C4-1EFA-420E-A5BB-D43B66FA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7E34B"/>
                </a:solidFill>
              </a:defRPr>
            </a:pPr>
            <a:r>
              <a:rPr sz="1800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CD3D69-0873-4D69-8080-A2CA0FF3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81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RETE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4C31C-99E2-4FF5-9ECE-10271C9C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81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bind e firewall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D92EE-70FC-4ED2-AAE2-79CB5E2D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6EE6"/>
                </a:solidFill>
              </a:defRPr>
            </a:pPr>
            <a:r>
              <a:rPr sz="1800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934E9-8F66-4A34-85B5-040ED4B7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624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TLS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F3518-35E5-4AA7-83AD-F41B803A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624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cifra il traffico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80F74-761F-4C57-A3AD-D55E0BD5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5A5A"/>
                </a:solidFill>
              </a:defRPr>
            </a:pPr>
            <a:r>
              <a:rPr sz="1800" b="1">
                <a:solidFill>
                  <a:srgbClr val="EF5A5A"/>
                </a:solidFill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AF606-2C1E-4A3B-A03C-67BB9427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BACKUP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2ED6B-5073-471E-8E97-1CA11493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743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prova il ripristino</a:t>
            </a:r>
          </a:p>
        </p:txBody>
      </p:sp>
    </p:spTree>
    <p:extLst>
      <p:ext uri="{BB962C8B-B14F-4D97-AF65-F5344CB8AC3E}">
        <p14:creationId xmlns:p14="http://schemas.microsoft.com/office/powerpoint/2010/main" val="186934572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4348F-88EB-47B1-9D60-DA1BB0F5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SETUP • 12 MINUTI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D2103-0C5D-44E3-B707-09630702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Laboratorio — avviamo MongoDB 8.0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934E4-F0C8-4547-8C45-B540BDF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1C5F1-E1FC-4BCC-9A9A-EB0C8EA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10572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4A696-90BA-4D66-A66C-6390A29D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95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8D9"/>
          </a:solidFill>
          <a:ln xmlns:a="http://schemas.openxmlformats.org/drawingml/2006/main" w="9525">
            <a:solidFill>
              <a:srgbClr val="00B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DB64D-6F8B-4778-8E8E-A95AC59A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1819275"/>
            <a:ext cx="99060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docker run --name dataflix-mongo \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-p 127.0.0.1:27017:27017 \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-e MONGO_INITDB_ROOT_USERNAME=admin \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-e MONGO_INITDB_ROOT_PASSWORD=DataflixLab2026X \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-d mongo:8.0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docker exec -it dataflix-mongo mongosh \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  -u admin -p DataflixLab2026X --authenticationDatabase 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A3F0C-8CB3-4C94-8FC1-57BB1C58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572125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7E34B"/>
                </a:solidFill>
              </a:defRPr>
            </a:pPr>
            <a:r>
              <a:rPr sz="1575" b="1">
                <a:solidFill>
                  <a:srgbClr val="B7E34B"/>
                </a:solidFill>
              </a:rPr>
              <a:t>Credenziali sintetiche: soltanto per il laboratorio locale.</a:t>
            </a:r>
          </a:p>
        </p:txBody>
      </p:sp>
    </p:spTree>
    <p:extLst>
      <p:ext uri="{BB962C8B-B14F-4D97-AF65-F5344CB8AC3E}">
        <p14:creationId xmlns:p14="http://schemas.microsoft.com/office/powerpoint/2010/main" val="148181010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5BE8F-3C44-432A-921F-B9B19FFB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LAB • 100 MINUTI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751DD-8BA2-4E71-8832-A002B43D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Quattro missioni per costruire il catalogo DATAFLIX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B1A76-A663-4182-A92B-9560DFBE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3170B-6392-4676-9B3B-4844A530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6E3FE-3B0E-41C2-BE73-D47EE05F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85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B8D9"/>
                </a:solidFill>
              </a:defRPr>
            </a:pPr>
            <a:r>
              <a:rPr sz="1425" b="1">
                <a:solidFill>
                  <a:srgbClr val="00B8D9"/>
                </a:solidFill>
              </a:rPr>
              <a:t>MISSIONE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05992-452D-440B-9C7B-0EA0AFA6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85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carica il catalogo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42577-15B1-4E5A-A028-AF686A0B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85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insertMany + verifica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2CF24-0A35-437D-8897-49240F38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46710-88EB-4DFC-9FFE-335AB089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8A4C"/>
                </a:solidFill>
              </a:defRPr>
            </a:pPr>
            <a:r>
              <a:rPr sz="1425" b="1">
                <a:solidFill>
                  <a:srgbClr val="FF8A4C"/>
                </a:solidFill>
              </a:rPr>
              <a:t>MISSIONE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78B3C-F2E1-4983-B507-BDC5E892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194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interroga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5E64C-9834-4173-9E9D-F833B27A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194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nested, array, sort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48FB0-32D8-4DC5-A90C-4400DC2A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848E4B-006A-483A-9553-8C3E7C6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52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C6EE6"/>
                </a:solidFill>
              </a:defRPr>
            </a:pPr>
            <a:r>
              <a:rPr sz="1425" b="1">
                <a:solidFill>
                  <a:srgbClr val="7C6EE6"/>
                </a:solidFill>
              </a:rPr>
              <a:t>MISSIONE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74E92-B909-45B4-8E5D-8FBCC3AD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52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evolve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1BF56-A7C9-4E35-AB9D-2DA930A6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528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update + upsert +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B0CFB-DB54-406D-87A9-CDBC7C5E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429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B5E99-6223-4B89-8CA4-BCED1EDA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E34B"/>
                </a:solidFill>
              </a:defRPr>
            </a:pPr>
            <a:r>
              <a:rPr sz="1425" b="1">
                <a:solidFill>
                  <a:srgbClr val="B7E34B"/>
                </a:solidFill>
              </a:rPr>
              <a:t>MISSIONE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A32E5-3771-465D-B11D-456976CF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8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misura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D174E-C353-479A-A8F6-BA309EE4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86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aggregation + index + explain</a:t>
            </a:r>
          </a:p>
        </p:txBody>
      </p:sp>
    </p:spTree>
    <p:extLst>
      <p:ext uri="{BB962C8B-B14F-4D97-AF65-F5344CB8AC3E}">
        <p14:creationId xmlns:p14="http://schemas.microsoft.com/office/powerpoint/2010/main" val="72715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5BAFD-D16B-4AA1-A741-136386A0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VERIFICA • INDIVIDUALE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A7AAB-B502-4101-A753-7049EF18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Quiz finale: modello, comando e conseguenza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F9589-58F0-41E7-9D4C-A46B9334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06D"/>
                </a:solidFill>
              </a:defRPr>
            </a:pPr>
            <a:r>
              <a:rPr sz="975" b="1">
                <a:solidFill>
                  <a:srgbClr val="52606D"/>
                </a:solidFill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008AF-C34F-4D2C-9BB8-CA67A9B2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1. Perché schema flessibile non significa “nessuno schema”?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83291-1600-49F1-8110-CB25B9E1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2. Quando preferiresti reference a embedding?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5F781-7183-402A-8302-CDAA0C24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3. Quale garanzia offre una scrittura sul singolo documento?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7CEB8D-3AE7-4587-891B-70BFA4E1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4. Quando serve $elemMatch?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12212-1440-4F69-9067-A86C962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5. Perché un indice non è gratuito?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D1806-3F7C-4C17-A92D-8923AA1E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1033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6. Che cosa rende rischiosa una shard key monotona?</a:t>
            </a:r>
          </a:p>
        </p:txBody>
      </p:sp>
    </p:spTree>
    <p:extLst>
      <p:ext uri="{BB962C8B-B14F-4D97-AF65-F5344CB8AC3E}">
        <p14:creationId xmlns:p14="http://schemas.microsoft.com/office/powerpoint/2010/main" val="92291017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55213-8621-4682-97DB-356195AE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RECAP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58611-7C1B-4C91-841B-FA6A6DCE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MongoDB in sette frasi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519AB-5CB8-4284-BA48-46FE2F7D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C4121-AE68-4047-94CA-76255880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B8D9"/>
                </a:solidFill>
              </a:defRPr>
            </a:pPr>
            <a:r>
              <a:rPr sz="1725" b="1">
                <a:solidFill>
                  <a:srgbClr val="00B8D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E4B0C-B6CC-4BE2-8CB3-CCB0862F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19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il documento rappresenta un aggregato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1F81F-A76C-4F51-88D7-F296754A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8A4C"/>
                </a:solidFill>
              </a:defRPr>
            </a:pPr>
            <a:r>
              <a:rPr sz="1725" b="1">
                <a:solidFill>
                  <a:srgbClr val="FF8A4C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67669-983A-4AE9-B8CF-6B090D84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193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lo schema è flessibile, non assente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F32C7-3A79-4F4D-B7D2-84D32F2E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7E34B"/>
                </a:solidFill>
              </a:defRPr>
            </a:pPr>
            <a:r>
              <a:rPr sz="1725" b="1">
                <a:solidFill>
                  <a:srgbClr val="B7E34B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5E4EC-C6A7-4CB5-8E5C-93CFF0C0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embed e reference dipendono dagli accessi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EEDF7-98D7-47D6-B892-6ABFD32B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6EE6"/>
                </a:solidFill>
              </a:defRPr>
            </a:pPr>
            <a:r>
              <a:rPr sz="1725" b="1">
                <a:solidFill>
                  <a:srgbClr val="7C6EE6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50D50-CA6A-48AD-87A6-E14EB1B5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il singolo documento è un confine atomico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4BAE6-A9B4-4591-8E95-8F9FCF36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7A36A"/>
                </a:solidFill>
              </a:defRPr>
            </a:pPr>
            <a:r>
              <a:rPr sz="1725" b="1">
                <a:solidFill>
                  <a:srgbClr val="27A36A"/>
                </a:solidFill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F84EA-FA35-497F-BB1C-653999A3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gli indici scambiano letture con costo di scrittura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9B5A4-0696-4C6F-BABA-7638EC24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F5A5A"/>
                </a:solidFill>
              </a:defRPr>
            </a:pPr>
            <a:r>
              <a:rPr sz="1725" b="1">
                <a:solidFill>
                  <a:srgbClr val="EF5A5A"/>
                </a:solidFill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8D6C7-540E-4246-A2E3-8B91440F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la pipeline trasforma e aggrega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0C42B-0C59-4CE6-8B3A-57A61D81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C84A"/>
                </a:solidFill>
              </a:defRPr>
            </a:pPr>
            <a:r>
              <a:rPr sz="1725" b="1">
                <a:solidFill>
                  <a:srgbClr val="F4C84A"/>
                </a:solidFill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B321C-E7C5-4D5D-AD44-2B3D25E5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1950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replica e sharding risolvono problemi diversi</a:t>
            </a:r>
          </a:p>
        </p:txBody>
      </p:sp>
    </p:spTree>
    <p:extLst>
      <p:ext uri="{BB962C8B-B14F-4D97-AF65-F5344CB8AC3E}">
        <p14:creationId xmlns:p14="http://schemas.microsoft.com/office/powerpoint/2010/main" val="57494071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CAD2D-718F-4E45-84ED-6DE9F2BC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8D9"/>
                </a:solidFill>
              </a:defRPr>
            </a:pPr>
            <a:r>
              <a:rPr sz="975" b="1">
                <a:solidFill>
                  <a:srgbClr val="00B8D9"/>
                </a:solidFill>
              </a:rPr>
              <a:t>DATAFLIX • PROBLEMA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C7C8A-E21C-4B6F-ADE9-1FD6460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 prossima domanda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59648-DF47-4209-A489-E8A121EF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FB0BF"/>
                </a:solidFill>
              </a:defRPr>
            </a:pPr>
            <a:r>
              <a:rPr sz="975" b="1">
                <a:solidFill>
                  <a:srgbClr val="9FB0BF"/>
                </a:solidFill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AB8F6-87CE-4EA5-9E1F-5C81A523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85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B7E34B"/>
                </a:solidFill>
              </a:defRPr>
            </a:pPr>
            <a:r>
              <a:rPr sz="8250" b="1">
                <a:solidFill>
                  <a:srgbClr val="B7E34B"/>
                </a:solidFill>
              </a:rPr>
              <a:t>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B79F8-B025-46FB-80CE-CF37960B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43100"/>
            <a:ext cx="895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Il catalogo è un oggetto. Ma come rappresentiamo relazioni profonde tra utenti, film, attori, amici e raccomandazioni?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5E596-09CF-45D7-B17E-8169C7FF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E34B"/>
          </a:solidFill>
          <a:ln xmlns:a="http://schemas.openxmlformats.org/drawingml/2006/main" w="9525">
            <a:solidFill>
              <a:srgbClr val="B7E3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60533-6210-49D7-9030-DFC192E2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958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0BF"/>
                </a:solidFill>
              </a:defRPr>
            </a:pPr>
            <a:r>
              <a:rPr sz="1200" b="1">
                <a:solidFill>
                  <a:srgbClr val="9FB0BF"/>
                </a:solidFill>
              </a:rPr>
              <a:t>PROSSIMA LEZIONE • GRAPH DATABASE E NEO4J</a:t>
            </a:r>
          </a:p>
        </p:txBody>
      </p:sp>
    </p:spTree>
    <p:extLst>
      <p:ext uri="{BB962C8B-B14F-4D97-AF65-F5344CB8AC3E}">
        <p14:creationId xmlns:p14="http://schemas.microsoft.com/office/powerpoint/2010/main" val="1028811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2026-09-03T06:29:26.2800000Z</dcterms:created>
  <dcterms:modified xsi:type="dcterms:W3CDTF">2026-09-03T06:29:26.2800000Z</dcterms:modified>
</coreProperties>
</file>