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cxvL71D1UGbDUK1f24QEXZsB0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Apri chiarendo che non sarà una sfida ideologica. La domanda è quale modello dati soddisfa meglio requisiti, access pattern e trade-off.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Lascia che la classe proponga nomi. Poi sostituisci la domanda con: migliore per quale dato, quale operazione e quale rischio?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Mostra che il dato non è un blocco omogeneo. Ogni dominio privilegia proprietà differenti.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Richiama conoscenze già viste: tabella, riga, colonna, chiave primaria e chiave esterna.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Segui gli identificatori: un utente può avere più abbonamenti nel tempo e molte visualizzazioni; ogni visualizzazione collega un utente a un film. Sottolinea che il modello separa fatti per ridurre duplicazioni e rende esplicite le relazioni.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Mostra come i vincoli trasformano regole di business in garanzie del database. PostgreSQL documenta primary key, foreign key, unique, check e not-null come vincoli di integrità.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PostgreSQL Documentation — Constraints: https://www.postgresql.org/docs/current/ddl-constraints.html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Spiega che il join non è un difetto: è il meccanismo con cui ricostruiamo relazioni senza duplicare tutto. Il costo dipende da dati, indici e query.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Fai notare che validare solo nell’applicazione espone a percorsi alternativi e concorrenza. I vincoli sono una seconda linea di difesa.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PostgreSQL Documentation — Constraints: https://www.postgresql.org/docs/current/ddl-constraints.html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Usa il caso di addebito riuscito ma abbonamento non attivato. PostgreSQL descrive la transazione come più passi raggruppati in un’operazione tutto-o-niente.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PostgreSQL Documentation — Transactions: https://www.postgresql.org/docs/current/tutorial-transactions.html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55" name="Google Shape;15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 ACID come linguaggio per parlare di garanzie, non come bollino magico. Ogni lettera risponde a un rischio concreto.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PostgreSQL Documentation — Transactions: https://www.postgresql.org/docs/current/tutorial-transactions.html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Torna al pagamento. Un errore a metà deve riportare il database allo stato precedente.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PostgreSQL Documentation — Transactions: https://www.postgresql.org/docs/current/tutorial-transactions.html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93" name="Google Shape;19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Definisci la consistenza ACID come rispetto delle invarianti e anticipa che la C di CAP riguarda un altro concetto.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05" name="Google Shape;20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Usa una prenotazione simultanea. L’isolamento evita che entrambe le operazioni credano di aver ottenuto lo stesso posto.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25" name="Google Shape;22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Distingui commit da semplice risposta dell’app. PostgreSQL indica che gli aggiornamenti di una transazione vengono registrati su storage permanente prima di dichiararla completata.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PostgreSQL Documentation — Transactions: https://www.postgresql.org/docs/current/tutorial-transactions.html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46" name="Google Shape;24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Rifiuta la narrativa SQL uguale vecchio. Il modello relazionale resta eccellente per molti sistemi critici e analitici.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57" name="Google Shape;25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Spiega che NoSQL nasce da combinazioni di requisiti, non dalla semplice dimensione del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75" name="Google Shape;27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Sottolinea che “NoSQL” descrive famiglie con modelli, API e garanzie differenti. Le lezioni successive le approfondiranno.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98" name="Google Shape;29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Correggi le semplificazioni: alcuni database NoSQL offrono SQL-like query, validazione, transazioni o consistenza forte.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18" name="Google Shape;31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MongoDB descrive un modello flessibile che può evolvere e supporta validazione selettiva. Flessibilità non elimina progettazione e governance.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MongoDB Manual — Data Modeling: https://www.mongodb.com/docs/manual/data-modeling/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34" name="Google Shape;33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Mostra BSON/JSON come rappresentazione vicina agli oggetti applicativi. MongoDB consente documenti, array e sotto-documenti per modellare relazioni.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MongoDB Manual — Data Modeling: https://www.mongodb.com/docs/manual/data-modeling/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45" name="Google Shape;345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Spiega che la duplicazione può ridurre join e letture, ma aumenta il costo di aggiornamento e sincronizzazione. MongoDB raccomanda di modellare in base agli access pattern.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MongoDB Manual — Data Modeling: https://www.mongodb.com/docs/manual/data-modeling/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58" name="Google Shape;358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Cassandra documenta un modello guidato dalle query: dati necessari insieme vengono raggruppati e talvolta duplicati per letture rapide.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Cassandra Documentation — Data modeling introduction: https://cassandra.apache.org/doc/latest/cassandra/developing/data-modeling/intro.html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79" name="Google Shape;379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 BASE come linguaggio storico per sistemi che accettano convergenza nel tempo. Evita di opporlo rigidamente ad ACID.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93" name="Google Shape;393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DynamoDB documenta che una lettura eventualmente consistente può non riflettere una scrittura appena conclusa e che letture successive convergono al valore più recente.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DynamoDB Developer Guide — Read consistency: https://docs.aws.amazon.com/amazondynamodb/latest/developerguide/HowItWorks.ReadConsistency.html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14" name="Google Shape;414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6" name="Google Shape;436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Usa saldo e contatore like come esempi. DynamoDB offre opzioni di lettura eventuale e forte su determinate risorse, mostrando che il compromesso può essere configurabile.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DynamoDB Developer Guide — Read consistency: https://docs.aws.amazon.com/amazondynamodb/latest/developerguide/HowItWorks.ReadConsistency.html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37" name="Google Shape;437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2" name="Google Shape;452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Chiarisci che i prodotti moderni combinano proprietà. Una classificazione serve a orientarsi, non sostituisce la documentazione del motore scelto.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53" name="Google Shape;453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Spiega che sono strategie di gestione dei dati, non sinonimi rigidi delle due famiglie. Anche sistemi NoSQL possono validare in scrittura.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77" name="Google Shape;477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Chiedi quale operazione viene ottimizzata. Cassandra esplicita la denormalizzazione e la duplicazione per sostenere query e performance di lettura.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Cassandra Documentation — Data modeling introduction: https://cassandra.apache.org/doc/latest/cassandra/developing/data-modeling/intro.html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94" name="Google Shape;494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Leggi la tabella come tendenze, non regole assolute. Per ogni riga chiedi una possibile eccezione.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10" name="Google Shape;510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Usa questa slide per correggere le risposte troppo assolute emerse in aula.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41" name="Google Shape;541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4" name="Google Shape;564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Questo è il framework decisionale da riusare nel laboratorio. La tecnologia viene dopo requisiti e access pattern.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65" name="Google Shape;565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2" name="Google Shape;582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Anticipa la persistenza poliglotta senza trasformarla in raccomandazione definitiva. La lezione 9 affronterà sincronizzazione e ownership.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83" name="Google Shape;583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3" name="Google Shape;603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Dividi in gruppi. Scenari: banca, sessioni, catalogo, social graph, telemetria, contabilità, recommendation, carrello, audit log, ricerca. Ogni scelta deve dichiarare modello, garanzie, access pattern e trade-off.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04" name="Google Shape;604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5" name="Google Shape;625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Risposte attese: regole condivise e integrità; tutto o niente; no; dati non critici o tolleranza temporanea allo stale; dati richiesti insieme evitando join/round trip.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26" name="Google Shape;626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" name="Google Shape;638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Chiudi distinguendo ACID consistency dalla consistenza distribuita. La lezione 4 renderà visibile la network partition e il compromesso CAP.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39" name="Google Shape;639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4953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B8D9"/>
                </a:solidFill>
              </a:rPr>
              <a:t>BIG DATA &amp; CLOUD SERVICES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" y="1428750"/>
            <a:ext cx="7239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FFFFFF"/>
                </a:solidFill>
              </a:rPr>
              <a:t>SQL vs NoSQL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23900" y="2952750"/>
            <a:ext cx="7524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C8D4DE"/>
                </a:solidFill>
              </a:rPr>
              <a:t>Scegliere il modello giusto per ogni problema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477250" y="1123950"/>
            <a:ext cx="2381250" cy="2381250"/>
          </a:xfrm>
          <a:prstGeom prst="roundRect">
            <a:avLst>
              <a:gd fmla="val 3200" name="adj"/>
            </a:avLst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763000" y="1524000"/>
            <a:ext cx="1809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0B1F33"/>
                </a:solidFill>
              </a:rPr>
              <a:t>03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23900" y="600075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9FB0BF"/>
                </a:solidFill>
              </a:rPr>
              <a:t>Lezione 03 • DATAFLIX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SCELTA DEL DATABASE</a:t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La domanda sbagliata</a:t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02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742950" y="180975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EF5A5A"/>
                </a:solidFill>
              </a:rPr>
              <a:t>“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676400" y="1952625"/>
            <a:ext cx="8858250" cy="214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</a:rPr>
              <a:t>Qual è il database migliore in assoluto?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676400" y="4591050"/>
            <a:ext cx="2857500" cy="76200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UN SOLO DATABASE PER TUTTO?</a:t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DATAFLIX ha problemi molto diversi</a:t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03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66750" y="2190750"/>
            <a:ext cx="1952625" cy="2000250"/>
          </a:xfrm>
          <a:prstGeom prst="roundRect">
            <a:avLst>
              <a:gd fmla="val 3902" name="adj"/>
            </a:avLst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800100" y="2476500"/>
            <a:ext cx="16859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PAGAMENTI</a:t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800100" y="3286125"/>
            <a:ext cx="1685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correttezza</a:t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2933700" y="2190750"/>
            <a:ext cx="1952625" cy="200025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3067050" y="2476500"/>
            <a:ext cx="16859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CATALOGO</a:t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3067050" y="3286125"/>
            <a:ext cx="1685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11827"/>
                </a:solidFill>
              </a:rPr>
              <a:t>varietà</a:t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5200650" y="2190750"/>
            <a:ext cx="1952625" cy="200025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5334000" y="2476500"/>
            <a:ext cx="16859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SESSIONI</a:t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334000" y="3286125"/>
            <a:ext cx="1685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11827"/>
                </a:solidFill>
              </a:rPr>
              <a:t>velocità</a:t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467600" y="2190750"/>
            <a:ext cx="1952625" cy="200025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7600950" y="2476500"/>
            <a:ext cx="16859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SOCIAL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7600950" y="3286125"/>
            <a:ext cx="1685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11827"/>
                </a:solidFill>
              </a:rPr>
              <a:t>relazioni</a:t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9734550" y="2190750"/>
            <a:ext cx="1952625" cy="2000250"/>
          </a:xfrm>
          <a:prstGeom prst="roundRect">
            <a:avLst>
              <a:gd fmla="val 3902" name="adj"/>
            </a:avLst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9867900" y="2476500"/>
            <a:ext cx="16859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EVENTI</a:t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9867900" y="3286125"/>
            <a:ext cx="1685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volume</a:t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2095500" y="476250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FFFFFF"/>
                </a:solidFill>
              </a:rPr>
              <a:t>Stesso prodotto. Requisiti differenti.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Il modello relazionale organizza fatti e relazioni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04</a:t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8580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876300" y="23431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TABELLA</a:t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876300" y="3143250"/>
            <a:ext cx="2000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827"/>
                </a:solidFill>
              </a:rPr>
              <a:t>insieme di entità</a:t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337185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562350" y="23431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RIGA</a:t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3562350" y="3143250"/>
            <a:ext cx="2000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827"/>
                </a:solidFill>
              </a:rPr>
              <a:t>un’istanza</a:t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605790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6248400" y="23431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COLONNA</a:t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248400" y="3143250"/>
            <a:ext cx="2000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827"/>
                </a:solidFill>
              </a:rPr>
              <a:t>un attributo</a:t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74395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8934450" y="23431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CHIAVE</a:t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8934450" y="3143250"/>
            <a:ext cx="2000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827"/>
                </a:solidFill>
              </a:rPr>
              <a:t>identità e legami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MODELLO RELAZIONALE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DATAFLIX diventa un insieme di entità collegate</a:t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05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1000125" y="3143250"/>
            <a:ext cx="2238375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152525" y="3314700"/>
            <a:ext cx="1933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users</a:t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1152525" y="3676650"/>
            <a:ext cx="19335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user_id • email</a:t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476750" y="2000250"/>
            <a:ext cx="257175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629150" y="2171700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subscriptions</a:t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629150" y="2533650"/>
            <a:ext cx="2266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user_id • plan</a:t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476750" y="4238625"/>
            <a:ext cx="257175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629150" y="4410075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views</a:t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4629150" y="4772025"/>
            <a:ext cx="2266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user_id • movie_id</a:t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8096250" y="4238625"/>
            <a:ext cx="257175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8248650" y="4410075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movies</a:t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8248650" y="4772025"/>
            <a:ext cx="2266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movie_id • title</a:t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3190875" y="2381250"/>
            <a:ext cx="952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8A4C"/>
                </a:solidFill>
              </a:rPr>
              <a:t>1 : N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238500" y="2667000"/>
            <a:ext cx="762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8A4C"/>
                </a:solidFill>
              </a:rPr>
              <a:t>↗</a:t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3190875" y="4333875"/>
            <a:ext cx="952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8A4C"/>
                </a:solidFill>
              </a:rPr>
              <a:t>1 : N</a:t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3238500" y="3857625"/>
            <a:ext cx="762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8A4C"/>
                </a:solidFill>
              </a:rPr>
              <a:t>↘</a:t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7096125" y="4333875"/>
            <a:ext cx="952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8A4C"/>
                </a:solidFill>
              </a:rPr>
              <a:t>N : 1</a:t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191375" y="4667250"/>
            <a:ext cx="762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8A4C"/>
                </a:solidFill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Le chiavi proteggono identità e legami</a:t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06</a:t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876300" y="1809750"/>
            <a:ext cx="2238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PRIMARY KEY</a:t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3381375" y="1809750"/>
            <a:ext cx="7667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identifica una riga in modo univoco</a:t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85800" y="1828800"/>
            <a:ext cx="76200" cy="36195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876300" y="2714625"/>
            <a:ext cx="2238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FOREIGN KEY</a:t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381375" y="2714625"/>
            <a:ext cx="7667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collega una riga valida di un’altra tabella</a:t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85800" y="2733675"/>
            <a:ext cx="76200" cy="36195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876300" y="3619500"/>
            <a:ext cx="2238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UNIQUE</a:t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3381375" y="3619500"/>
            <a:ext cx="7667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impedisce duplicati dove non sono ammessi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85800" y="3638550"/>
            <a:ext cx="76200" cy="36195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876300" y="4524375"/>
            <a:ext cx="2238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CHECK / NOT NULL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381375" y="4524375"/>
            <a:ext cx="7667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impone regole sul contenuto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685800" y="4543425"/>
            <a:ext cx="76200" cy="361950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Il JOIN ricompone il significato</a:t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07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857250" y="1952625"/>
            <a:ext cx="5905500" cy="2857500"/>
          </a:xfrm>
          <a:prstGeom prst="roundRect">
            <a:avLst>
              <a:gd fmla="val 2667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857250" y="1952625"/>
            <a:ext cx="76200" cy="28575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123950" y="2162175"/>
            <a:ext cx="542925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SELECT u.email, m.title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FROM users 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JOIN views v ON v.user_id = u.user_id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JOIN movies m ON m.movie_id = v.movie_id;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7286625" y="2238375"/>
            <a:ext cx="3619500" cy="2333625"/>
          </a:xfrm>
          <a:prstGeom prst="roundRect">
            <a:avLst>
              <a:gd fmla="val 3265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7620000" y="2524125"/>
            <a:ext cx="2952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RISULTATO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7715250" y="3143250"/>
            <a:ext cx="2857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11827"/>
                </a:solidFill>
              </a:rPr>
              <a:t>mario@…   Matrix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11827"/>
                </a:solidFill>
              </a:rPr>
              <a:t>anna@…    Arrival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11827"/>
                </a:solidFill>
              </a:rPr>
              <a:t>luca@…    Dune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IL DATABASE NON È SOLO STORAGE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L’integrità vive vicino al dato</a:t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08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904875" y="2095500"/>
            <a:ext cx="3429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FFFFFF"/>
                </a:solidFill>
              </a:rPr>
              <a:t>email duplicata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4953000" y="2095500"/>
            <a:ext cx="3238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EF5A5A"/>
                </a:solidFill>
              </a:rPr>
              <a:t>→ BLOCCATA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904875" y="3143250"/>
            <a:ext cx="3429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FFFFFF"/>
                </a:solidFill>
              </a:rPr>
              <a:t>view senza film</a:t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953000" y="3143250"/>
            <a:ext cx="3238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EF5A5A"/>
                </a:solidFill>
              </a:rPr>
              <a:t>→ BLOCCATA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904875" y="4191000"/>
            <a:ext cx="3429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FFFFFF"/>
                </a:solidFill>
              </a:rPr>
              <a:t>prezzo negativo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953000" y="4191000"/>
            <a:ext cx="3238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EF5A5A"/>
                </a:solidFill>
              </a:rPr>
              <a:t>→ BLOCCATO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1809750" y="5381625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B8D9"/>
                </a:solidFill>
              </a:rPr>
              <a:t>I vincoli impediscono stati impossibili.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TRANSAZIONE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Un pagamento è una sola operazione logica</a:t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09</a:t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904875" y="1905000"/>
            <a:ext cx="4953000" cy="3238500"/>
          </a:xfrm>
          <a:prstGeom prst="roundRect">
            <a:avLst>
              <a:gd fmla="val 2353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904875" y="1905000"/>
            <a:ext cx="76200" cy="32385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1171575" y="2114550"/>
            <a:ext cx="447675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BEGIN;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  addebita il cliente;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  registra l’abbonamento;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  emetti la fattura;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COMMIT;</a:t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6858000" y="233362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27A36A"/>
                </a:solidFill>
              </a:rPr>
              <a:t>TUTTO</a:t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6858000" y="32385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2606D"/>
                </a:solidFill>
              </a:rPr>
              <a:t>oppure</a:t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6858000" y="385762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EF5A5A"/>
                </a:solidFill>
              </a:rPr>
              <a:t>NIENTE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ACID è un insieme di garanzie</a:t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10</a:t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685800" y="2000250"/>
            <a:ext cx="2381250" cy="2952750"/>
          </a:xfrm>
          <a:prstGeom prst="roundRect">
            <a:avLst>
              <a:gd fmla="val 32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876300" y="2238375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FF8A4C"/>
                </a:solidFill>
              </a:rPr>
              <a:t>A</a:t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876300" y="31432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ATOMICITY</a:t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876300" y="3857625"/>
            <a:ext cx="2000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11827"/>
                </a:solidFill>
              </a:rPr>
              <a:t>tutto o niente</a:t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3371850" y="2000250"/>
            <a:ext cx="2381250" cy="295275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3562350" y="2238375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00B8D9"/>
                </a:solidFill>
              </a:rPr>
              <a:t>C</a:t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3562350" y="31432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CONSISTENCY</a:t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3562350" y="3857625"/>
            <a:ext cx="2000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11827"/>
                </a:solidFill>
              </a:rPr>
              <a:t>regole preservate</a:t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6057900" y="2000250"/>
            <a:ext cx="2381250" cy="295275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6248400" y="2238375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7C6EE6"/>
                </a:solidFill>
              </a:rPr>
              <a:t>I</a:t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6248400" y="31432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ISOLATION</a:t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6248400" y="3857625"/>
            <a:ext cx="2000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11827"/>
                </a:solidFill>
              </a:rPr>
              <a:t>concorrenza controllata</a:t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8743950" y="2000250"/>
            <a:ext cx="2381250" cy="295275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8934450" y="2238375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27A36A"/>
                </a:solidFill>
              </a:rPr>
              <a:t>D</a:t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8934450" y="31432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DURABILITY</a:t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8934450" y="3857625"/>
            <a:ext cx="2000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11827"/>
                </a:solidFill>
              </a:rPr>
              <a:t>commit persistente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SCELTA DEL DATABASE</a:t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Atomicity</a:t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11</a:t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742950" y="180975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FF8A4C"/>
                </a:solidFill>
              </a:rPr>
              <a:t>“</a:t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1676400" y="1952625"/>
            <a:ext cx="8858250" cy="214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</a:rPr>
              <a:t>Se un passaggio fallisce, nessun passaggio deve restare applicato.</a:t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1676400" y="4591050"/>
            <a:ext cx="2857500" cy="762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1676400" y="5000625"/>
            <a:ext cx="2952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FB0BF"/>
                </a:solidFill>
              </a:rPr>
              <a:t>ROLLBACK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Consistency: ogni transazione lascia uno stato valido</a:t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12</a:t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1000125" y="2047875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2606D"/>
                </a:solidFill>
              </a:rPr>
              <a:t>PRIMA</a:t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1000125" y="2714625"/>
            <a:ext cx="2095500" cy="1238250"/>
          </a:xfrm>
          <a:prstGeom prst="roundRect">
            <a:avLst>
              <a:gd fmla="val 6154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1190625" y="3143250"/>
            <a:ext cx="171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saldo ≥ 0</a:t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3524250" y="3048000"/>
            <a:ext cx="762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4524375" y="2047875"/>
            <a:ext cx="266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2606D"/>
                </a:solidFill>
              </a:rPr>
              <a:t>TRANSAZIONE</a:t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4524375" y="2714625"/>
            <a:ext cx="2667000" cy="1238250"/>
          </a:xfrm>
          <a:prstGeom prst="roundRect">
            <a:avLst>
              <a:gd fmla="val 6154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4762500" y="3000375"/>
            <a:ext cx="219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</a:rPr>
              <a:t>regole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</a:rPr>
              <a:t>rispettate</a:t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7620000" y="3048000"/>
            <a:ext cx="762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8620125" y="2047875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2606D"/>
                </a:solidFill>
              </a:rPr>
              <a:t>DOPO</a:t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8620125" y="2714625"/>
            <a:ext cx="2095500" cy="1238250"/>
          </a:xfrm>
          <a:prstGeom prst="roundRect">
            <a:avLst>
              <a:gd fmla="val 6154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8810625" y="3143250"/>
            <a:ext cx="171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saldo ≥ 0</a:t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2381250" y="49053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EF5A5A"/>
                </a:solidFill>
              </a:rPr>
              <a:t>Non confonderla con la C del teorema CAP.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Isolation: le operazioni concorrenti non si calpestano</a:t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13</a:t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952500" y="2476500"/>
            <a:ext cx="2476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1104900" y="2647950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UTENTE A</a:t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1104900" y="3009900"/>
            <a:ext cx="2171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prenota posto 7</a:t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952500" y="3905250"/>
            <a:ext cx="2476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1104900" y="4076700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UTENTE B</a:t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1104900" y="4438650"/>
            <a:ext cx="2171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prenota posto 7</a:t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3857625" y="3000375"/>
            <a:ext cx="762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4810125" y="2809875"/>
            <a:ext cx="2571750" cy="952500"/>
          </a:xfrm>
          <a:prstGeom prst="roundRect">
            <a:avLst>
              <a:gd fmla="val 8000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4962525" y="2981325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</a:rPr>
              <a:t>DATABASE</a:t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4962525" y="3343275"/>
            <a:ext cx="2266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8D4DE"/>
                </a:solidFill>
              </a:rPr>
              <a:t>coordina</a:t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7810500" y="3000375"/>
            <a:ext cx="762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8763000" y="2476500"/>
            <a:ext cx="2190750" cy="200025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9001125" y="3000375"/>
            <a:ext cx="1714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B1F33"/>
                </a:solidFill>
              </a:rPr>
              <a:t>1 successo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B1F33"/>
                </a:solidFill>
              </a:rPr>
              <a:t>1 rifiuto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SCELTA DEL DATABASE</a:t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Durability</a:t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14</a:t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742950" y="180975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27A36A"/>
                </a:solidFill>
              </a:rPr>
              <a:t>“</a:t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1676400" y="1952625"/>
            <a:ext cx="8858250" cy="214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</a:rPr>
              <a:t>Dopo il COMMIT, il risultato deve sopravvivere a un crash.</a:t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1676400" y="4591050"/>
            <a:ext cx="2857500" cy="76200"/>
          </a:xfrm>
          <a:prstGeom prst="rect">
            <a:avLst/>
          </a:prstGeom>
          <a:solidFill>
            <a:srgbClr val="27A36A"/>
          </a:solidFill>
          <a:ln cap="flat" cmpd="sng" w="9525">
            <a:solidFill>
              <a:srgbClr val="27A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260" name="Google Shape;260;p15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Il relazionale resta la scelta naturale quando…</a:t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15</a:t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904875" y="1762125"/>
            <a:ext cx="57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8D9"/>
                </a:solidFill>
              </a:rPr>
              <a:t>01</a:t>
            </a:r>
            <a:endParaRPr/>
          </a:p>
        </p:txBody>
      </p:sp>
      <p:sp>
        <p:nvSpPr>
          <p:cNvPr id="263" name="Google Shape;263;p15"/>
          <p:cNvSpPr/>
          <p:nvPr/>
        </p:nvSpPr>
        <p:spPr>
          <a:xfrm>
            <a:off x="1762125" y="1762125"/>
            <a:ext cx="8858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relazioni e join sono centrali</a:t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904875" y="2524125"/>
            <a:ext cx="57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02</a:t>
            </a: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1762125" y="2524125"/>
            <a:ext cx="8858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integrità referenziale è essenziale</a:t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904875" y="3286125"/>
            <a:ext cx="57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7E34B"/>
                </a:solidFill>
              </a:rPr>
              <a:t>03</a:t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1762125" y="3286125"/>
            <a:ext cx="8858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servono transazioni multi-step</a:t>
            </a: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904875" y="4048125"/>
            <a:ext cx="57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6EE6"/>
                </a:solidFill>
              </a:rPr>
              <a:t>04</a:t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1762125" y="4048125"/>
            <a:ext cx="8858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query ad hoc devono restare flessibili</a:t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904875" y="4810125"/>
            <a:ext cx="57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7A36A"/>
                </a:solidFill>
              </a:rPr>
              <a:t>05</a:t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1762125" y="4810125"/>
            <a:ext cx="8858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il modello è stabile e ben compreso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278" name="Google Shape;278;p16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La pressione nasce da requisiti specifici</a:t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16</a:t>
            </a:r>
            <a:endParaRPr/>
          </a:p>
        </p:txBody>
      </p:sp>
      <p:sp>
        <p:nvSpPr>
          <p:cNvPr id="280" name="Google Shape;280;p16"/>
          <p:cNvSpPr/>
          <p:nvPr/>
        </p:nvSpPr>
        <p:spPr>
          <a:xfrm>
            <a:off x="876300" y="1714500"/>
            <a:ext cx="2238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VARIETÀ</a:t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3381375" y="1714500"/>
            <a:ext cx="7667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record con attributi diversi</a:t>
            </a:r>
            <a:endParaRPr/>
          </a:p>
        </p:txBody>
      </p:sp>
      <p:sp>
        <p:nvSpPr>
          <p:cNvPr id="282" name="Google Shape;282;p16"/>
          <p:cNvSpPr/>
          <p:nvPr/>
        </p:nvSpPr>
        <p:spPr>
          <a:xfrm>
            <a:off x="685800" y="1733550"/>
            <a:ext cx="76200" cy="36195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/>
          <p:nvPr/>
        </p:nvSpPr>
        <p:spPr>
          <a:xfrm>
            <a:off x="876300" y="2505075"/>
            <a:ext cx="2238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ACCESSO</a:t>
            </a:r>
            <a:endParaRPr/>
          </a:p>
        </p:txBody>
      </p:sp>
      <p:sp>
        <p:nvSpPr>
          <p:cNvPr id="284" name="Google Shape;284;p16"/>
          <p:cNvSpPr/>
          <p:nvPr/>
        </p:nvSpPr>
        <p:spPr>
          <a:xfrm>
            <a:off x="3381375" y="2505075"/>
            <a:ext cx="7667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letture per chiave o percorso</a:t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685800" y="2524125"/>
            <a:ext cx="76200" cy="36195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6"/>
          <p:cNvSpPr/>
          <p:nvPr/>
        </p:nvSpPr>
        <p:spPr>
          <a:xfrm>
            <a:off x="876300" y="3295650"/>
            <a:ext cx="2238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SCALA</a:t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3381375" y="3295650"/>
            <a:ext cx="7667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partizioni e distribuzione</a:t>
            </a: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685800" y="3314700"/>
            <a:ext cx="76200" cy="36195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876300" y="4086225"/>
            <a:ext cx="2238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VELOCITÀ</a:t>
            </a:r>
            <a:endParaRPr/>
          </a:p>
        </p:txBody>
      </p:sp>
      <p:sp>
        <p:nvSpPr>
          <p:cNvPr id="290" name="Google Shape;290;p16"/>
          <p:cNvSpPr/>
          <p:nvPr/>
        </p:nvSpPr>
        <p:spPr>
          <a:xfrm>
            <a:off x="3381375" y="4086225"/>
            <a:ext cx="7667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latenza prevedibile</a:t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685800" y="4105275"/>
            <a:ext cx="76200" cy="361950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876300" y="4876800"/>
            <a:ext cx="2238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EVOLUZIONE</a:t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3381375" y="4876800"/>
            <a:ext cx="7667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schema che cambia spesso</a:t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685800" y="4895850"/>
            <a:ext cx="76200" cy="361950"/>
          </a:xfrm>
          <a:prstGeom prst="rect">
            <a:avLst/>
          </a:prstGeom>
          <a:solidFill>
            <a:srgbClr val="27A36A"/>
          </a:solidFill>
          <a:ln cap="flat" cmpd="sng" w="9525">
            <a:solidFill>
              <a:srgbClr val="27A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FAMIGLIE</a:t>
            </a:r>
            <a:endParaRPr/>
          </a:p>
        </p:txBody>
      </p:sp>
      <p:sp>
        <p:nvSpPr>
          <p:cNvPr id="301" name="Google Shape;301;p17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NoSQL è un ombrello, non un singolo modello</a:t>
            </a: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17</a:t>
            </a:r>
            <a:endParaRPr/>
          </a:p>
        </p:txBody>
      </p:sp>
      <p:sp>
        <p:nvSpPr>
          <p:cNvPr id="303" name="Google Shape;303;p17"/>
          <p:cNvSpPr/>
          <p:nvPr/>
        </p:nvSpPr>
        <p:spPr>
          <a:xfrm>
            <a:off x="68580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"/>
          <p:cNvSpPr/>
          <p:nvPr/>
        </p:nvSpPr>
        <p:spPr>
          <a:xfrm>
            <a:off x="876300" y="236220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KEY-VALUE</a:t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876300" y="3286125"/>
            <a:ext cx="2000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chiave → valore</a:t>
            </a: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337185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3562350" y="236220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DOCUMENT</a:t>
            </a: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3562350" y="3286125"/>
            <a:ext cx="2000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JSON/BSON</a:t>
            </a:r>
            <a:endParaRPr/>
          </a:p>
        </p:txBody>
      </p:sp>
      <p:sp>
        <p:nvSpPr>
          <p:cNvPr id="309" name="Google Shape;309;p17"/>
          <p:cNvSpPr/>
          <p:nvPr/>
        </p:nvSpPr>
        <p:spPr>
          <a:xfrm>
            <a:off x="605790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6248400" y="236220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WIDE COLUMN</a:t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6248400" y="3286125"/>
            <a:ext cx="2000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righe distribuite</a:t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874395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8934450" y="236220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GRAPH</a:t>
            </a:r>
            <a:endParaRPr/>
          </a:p>
        </p:txBody>
      </p:sp>
      <p:sp>
        <p:nvSpPr>
          <p:cNvPr id="314" name="Google Shape;314;p17"/>
          <p:cNvSpPr/>
          <p:nvPr/>
        </p:nvSpPr>
        <p:spPr>
          <a:xfrm>
            <a:off x="8934450" y="3286125"/>
            <a:ext cx="2000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nodi e relazioni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321" name="Google Shape;321;p18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“Not Only SQL” evita due equivoci</a:t>
            </a:r>
            <a:endParaRPr/>
          </a:p>
        </p:txBody>
      </p:sp>
      <p:sp>
        <p:nvSpPr>
          <p:cNvPr id="322" name="Google Shape;322;p1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18</a:t>
            </a: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6858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63627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8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8"/>
          <p:cNvSpPr/>
          <p:nvPr/>
        </p:nvSpPr>
        <p:spPr>
          <a:xfrm>
            <a:off x="1028700" y="21336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NON SIGNIFICA</a:t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1028700" y="2781300"/>
            <a:ext cx="4286250" cy="223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niente schema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niente query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niente transazioni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niente consistenza</a:t>
            </a:r>
            <a:endParaRPr/>
          </a:p>
        </p:txBody>
      </p:sp>
      <p:sp>
        <p:nvSpPr>
          <p:cNvPr id="329" name="Google Shape;329;p18"/>
          <p:cNvSpPr/>
          <p:nvPr/>
        </p:nvSpPr>
        <p:spPr>
          <a:xfrm>
            <a:off x="6705600" y="21336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SIGNIFICA</a:t>
            </a:r>
            <a:endParaRPr/>
          </a:p>
        </p:txBody>
      </p:sp>
      <p:sp>
        <p:nvSpPr>
          <p:cNvPr id="330" name="Google Shape;330;p18"/>
          <p:cNvSpPr/>
          <p:nvPr/>
        </p:nvSpPr>
        <p:spPr>
          <a:xfrm>
            <a:off x="6705600" y="2781300"/>
            <a:ext cx="4286250" cy="223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modelli oltre le tabelle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access pattern espliciti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trade-off differenti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possibile coesistenza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SCELTA DEL DATABASE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Schema flessibile ≠ assenza di schema</a:t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19</a:t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742950" y="180975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7C6EE6"/>
                </a:solidFill>
              </a:rPr>
              <a:t>“</a:t>
            </a:r>
            <a:endParaRPr/>
          </a:p>
        </p:txBody>
      </p:sp>
      <p:sp>
        <p:nvSpPr>
          <p:cNvPr id="340" name="Google Shape;340;p19"/>
          <p:cNvSpPr/>
          <p:nvPr/>
        </p:nvSpPr>
        <p:spPr>
          <a:xfrm>
            <a:off x="1676400" y="1952625"/>
            <a:ext cx="8858250" cy="214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</a:rPr>
              <a:t>Se il database non impone tutto, l’applicazione deve conoscere ancora meglio la forma dei dati.</a:t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1676400" y="4591050"/>
            <a:ext cx="2857500" cy="76200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DOCUMENT MODEL</a:t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Un film può vivere come documento</a:t>
            </a:r>
            <a:endParaRPr/>
          </a:p>
        </p:txBody>
      </p:sp>
      <p:sp>
        <p:nvSpPr>
          <p:cNvPr id="349" name="Google Shape;349;p2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20</a:t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904875" y="1762125"/>
            <a:ext cx="5810250" cy="3810000"/>
          </a:xfrm>
          <a:prstGeom prst="roundRect">
            <a:avLst>
              <a:gd fmla="val 2000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904875" y="1762125"/>
            <a:ext cx="76200" cy="3810000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0"/>
          <p:cNvSpPr/>
          <p:nvPr/>
        </p:nvSpPr>
        <p:spPr>
          <a:xfrm>
            <a:off x="1171575" y="1971675"/>
            <a:ext cx="533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  "movie_id": 42,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  "title": "Interstellar",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  "genres": ["Sci-Fi", "Drama"],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  "audio": ["IT", "EN"],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  "rating": {"avg": 8.7, "count": 9150}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}</a:t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7429500" y="2333625"/>
            <a:ext cx="3143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B1F33"/>
                </a:solidFill>
              </a:rPr>
              <a:t>Un oggetto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B1F33"/>
                </a:solidFill>
              </a:rPr>
              <a:t>letto insieme</a:t>
            </a: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7239000" y="3810000"/>
            <a:ext cx="3524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2606D"/>
                </a:solidFill>
              </a:rPr>
              <a:t>campi • array • sotto-documenti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Denormalizzare significa duplicare con uno scopo</a:t>
            </a:r>
            <a:endParaRPr/>
          </a:p>
        </p:txBody>
      </p:sp>
      <p:sp>
        <p:nvSpPr>
          <p:cNvPr id="362" name="Google Shape;362;p2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21</a:t>
            </a: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809625" y="1857375"/>
            <a:ext cx="4286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52606D"/>
                </a:solidFill>
              </a:rPr>
              <a:t>CATALOGO NORMALIZZATO</a:t>
            </a:r>
            <a:endParaRPr/>
          </a:p>
        </p:txBody>
      </p:sp>
      <p:sp>
        <p:nvSpPr>
          <p:cNvPr id="364" name="Google Shape;364;p21"/>
          <p:cNvSpPr/>
          <p:nvPr/>
        </p:nvSpPr>
        <p:spPr>
          <a:xfrm>
            <a:off x="1047750" y="2524125"/>
            <a:ext cx="1714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1"/>
          <p:cNvSpPr/>
          <p:nvPr/>
        </p:nvSpPr>
        <p:spPr>
          <a:xfrm>
            <a:off x="1200150" y="2695575"/>
            <a:ext cx="140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movie</a:t>
            </a: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1200150" y="3057525"/>
            <a:ext cx="1409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title</a:t>
            </a:r>
            <a:endParaRPr/>
          </a:p>
        </p:txBody>
      </p:sp>
      <p:sp>
        <p:nvSpPr>
          <p:cNvPr id="367" name="Google Shape;367;p21"/>
          <p:cNvSpPr/>
          <p:nvPr/>
        </p:nvSpPr>
        <p:spPr>
          <a:xfrm>
            <a:off x="3095625" y="2524125"/>
            <a:ext cx="1714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1"/>
          <p:cNvSpPr/>
          <p:nvPr/>
        </p:nvSpPr>
        <p:spPr>
          <a:xfrm>
            <a:off x="3248025" y="2695575"/>
            <a:ext cx="140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genres</a:t>
            </a:r>
            <a:endParaRPr/>
          </a:p>
        </p:txBody>
      </p:sp>
      <p:sp>
        <p:nvSpPr>
          <p:cNvPr id="369" name="Google Shape;369;p21"/>
          <p:cNvSpPr/>
          <p:nvPr/>
        </p:nvSpPr>
        <p:spPr>
          <a:xfrm>
            <a:off x="3248025" y="3057525"/>
            <a:ext cx="1409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genre</a:t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2095500" y="3714750"/>
            <a:ext cx="171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8A4C"/>
                </a:solidFill>
              </a:rPr>
              <a:t>JOIN</a:t>
            </a:r>
            <a:endParaRPr/>
          </a:p>
        </p:txBody>
      </p:sp>
      <p:sp>
        <p:nvSpPr>
          <p:cNvPr id="371" name="Google Shape;371;p21"/>
          <p:cNvSpPr/>
          <p:nvPr/>
        </p:nvSpPr>
        <p:spPr>
          <a:xfrm>
            <a:off x="5334000" y="3000375"/>
            <a:ext cx="762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6715125" y="1857375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52606D"/>
                </a:solidFill>
              </a:rPr>
              <a:t>DOCUMENTO</a:t>
            </a:r>
            <a:endParaRPr/>
          </a:p>
        </p:txBody>
      </p:sp>
      <p:sp>
        <p:nvSpPr>
          <p:cNvPr id="373" name="Google Shape;373;p21"/>
          <p:cNvSpPr/>
          <p:nvPr/>
        </p:nvSpPr>
        <p:spPr>
          <a:xfrm>
            <a:off x="6858000" y="2476500"/>
            <a:ext cx="3619500" cy="2000250"/>
          </a:xfrm>
          <a:prstGeom prst="roundRect">
            <a:avLst>
              <a:gd fmla="val 3810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7143750" y="3000375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</a:rPr>
              <a:t>film + generi + audio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</a:rPr>
              <a:t>insieme per la pagina</a:t>
            </a:r>
            <a:endParaRPr/>
          </a:p>
        </p:txBody>
      </p:sp>
      <p:sp>
        <p:nvSpPr>
          <p:cNvPr id="375" name="Google Shape;375;p21"/>
          <p:cNvSpPr/>
          <p:nvPr/>
        </p:nvSpPr>
        <p:spPr>
          <a:xfrm>
            <a:off x="2190750" y="5095875"/>
            <a:ext cx="7810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Obiettivo: una lettura coerente con l’access pattern.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ACCESS PATTERN FIRST</a:t>
            </a: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Nei modelli query-driven si parte dalle domande</a:t>
            </a:r>
            <a:endParaRPr/>
          </a:p>
        </p:txBody>
      </p:sp>
      <p:sp>
        <p:nvSpPr>
          <p:cNvPr id="383" name="Google Shape;383;p2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22</a:t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>
            <a:off x="952500" y="2000250"/>
            <a:ext cx="666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00B8D9"/>
                </a:solidFill>
              </a:rPr>
              <a:t>1</a:t>
            </a:r>
            <a:endParaRPr/>
          </a:p>
        </p:txBody>
      </p:sp>
      <p:sp>
        <p:nvSpPr>
          <p:cNvPr id="385" name="Google Shape;385;p22"/>
          <p:cNvSpPr/>
          <p:nvPr/>
        </p:nvSpPr>
        <p:spPr>
          <a:xfrm>
            <a:off x="1905000" y="2095500"/>
            <a:ext cx="8096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FFFFFF"/>
                </a:solidFill>
              </a:rPr>
              <a:t>Quale query devo servire?</a:t>
            </a:r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952500" y="3095625"/>
            <a:ext cx="666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FF8A4C"/>
                </a:solidFill>
              </a:rPr>
              <a:t>2</a:t>
            </a: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1905000" y="3190875"/>
            <a:ext cx="8096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FFFFFF"/>
                </a:solidFill>
              </a:rPr>
              <a:t>Quale chiave la rende locale?</a:t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952500" y="4191000"/>
            <a:ext cx="666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B7E34B"/>
                </a:solidFill>
              </a:rPr>
              <a:t>3</a:t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1905000" y="4286250"/>
            <a:ext cx="8096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FFFFFF"/>
                </a:solidFill>
              </a:rPr>
              <a:t>Quale duplicazione accetto?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396" name="Google Shape;396;p23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BASE privilegia disponibilità ed evoluzione</a:t>
            </a: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23</a:t>
            </a:r>
            <a:endParaRPr/>
          </a:p>
        </p:txBody>
      </p:sp>
      <p:sp>
        <p:nvSpPr>
          <p:cNvPr id="398" name="Google Shape;398;p23"/>
          <p:cNvSpPr/>
          <p:nvPr/>
        </p:nvSpPr>
        <p:spPr>
          <a:xfrm>
            <a:off x="904875" y="2047875"/>
            <a:ext cx="3333750" cy="295275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>
            <a:off x="1114425" y="2286000"/>
            <a:ext cx="762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B8D9"/>
                </a:solidFill>
              </a:rPr>
              <a:t>B</a:t>
            </a: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1114425" y="3190875"/>
            <a:ext cx="2905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BASICALLY AVAILABLE</a:t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1114425" y="3905250"/>
            <a:ext cx="29051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11827"/>
                </a:solidFill>
              </a:rPr>
              <a:t>il servizio risponde</a:t>
            </a:r>
            <a:endParaRPr/>
          </a:p>
        </p:txBody>
      </p:sp>
      <p:sp>
        <p:nvSpPr>
          <p:cNvPr id="402" name="Google Shape;402;p23"/>
          <p:cNvSpPr/>
          <p:nvPr/>
        </p:nvSpPr>
        <p:spPr>
          <a:xfrm>
            <a:off x="4619625" y="2047875"/>
            <a:ext cx="3333750" cy="295275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4829175" y="2286000"/>
            <a:ext cx="762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8A4C"/>
                </a:solidFill>
              </a:rPr>
              <a:t>S</a:t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4829175" y="3190875"/>
            <a:ext cx="2905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SOFT STATE</a:t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4829175" y="3905250"/>
            <a:ext cx="29051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11827"/>
                </a:solidFill>
              </a:rPr>
              <a:t>lo stato può cambiare</a:t>
            </a: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8334375" y="2047875"/>
            <a:ext cx="3333750" cy="2952750"/>
          </a:xfrm>
          <a:prstGeom prst="roundRect">
            <a:avLst>
              <a:gd fmla="val 2581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8543925" y="2286000"/>
            <a:ext cx="762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7C6EE6"/>
                </a:solidFill>
              </a:rPr>
              <a:t>E</a:t>
            </a:r>
            <a:endParaRPr/>
          </a:p>
        </p:txBody>
      </p:sp>
      <p:sp>
        <p:nvSpPr>
          <p:cNvPr id="408" name="Google Shape;408;p23"/>
          <p:cNvSpPr/>
          <p:nvPr/>
        </p:nvSpPr>
        <p:spPr>
          <a:xfrm>
            <a:off x="8543925" y="3190875"/>
            <a:ext cx="2905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EVENTUAL CONSISTENCY</a:t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8543925" y="3905250"/>
            <a:ext cx="29051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11827"/>
                </a:solidFill>
              </a:rPr>
              <a:t>le copie convergono</a:t>
            </a:r>
            <a:endParaRPr/>
          </a:p>
        </p:txBody>
      </p:sp>
      <p:sp>
        <p:nvSpPr>
          <p:cNvPr id="410" name="Google Shape;410;p23"/>
          <p:cNvSpPr/>
          <p:nvPr/>
        </p:nvSpPr>
        <p:spPr>
          <a:xfrm>
            <a:off x="1428750" y="5334000"/>
            <a:ext cx="933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52606D"/>
                </a:solidFill>
              </a:rPr>
              <a:t>È un orientamento progettuale, non una patente universale “NoSQL”.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4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TIMELINE</a:t>
            </a:r>
            <a:endParaRPr/>
          </a:p>
        </p:txBody>
      </p:sp>
      <p:sp>
        <p:nvSpPr>
          <p:cNvPr id="417" name="Google Shape;417;p24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Eventual consistency: le copie convergono nel tempo</a:t>
            </a: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24</a:t>
            </a:r>
            <a:endParaRPr/>
          </a:p>
        </p:txBody>
      </p:sp>
      <p:sp>
        <p:nvSpPr>
          <p:cNvPr id="419" name="Google Shape;419;p24"/>
          <p:cNvSpPr/>
          <p:nvPr/>
        </p:nvSpPr>
        <p:spPr>
          <a:xfrm>
            <a:off x="857250" y="2428875"/>
            <a:ext cx="2190750" cy="952500"/>
          </a:xfrm>
          <a:prstGeom prst="roundRect">
            <a:avLst>
              <a:gd fmla="val 8000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1009650" y="2600325"/>
            <a:ext cx="1885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</a:rPr>
              <a:t>WRITE</a:t>
            </a:r>
            <a:endParaRPr/>
          </a:p>
        </p:txBody>
      </p:sp>
      <p:sp>
        <p:nvSpPr>
          <p:cNvPr id="421" name="Google Shape;421;p24"/>
          <p:cNvSpPr/>
          <p:nvPr/>
        </p:nvSpPr>
        <p:spPr>
          <a:xfrm>
            <a:off x="1009650" y="2962275"/>
            <a:ext cx="1885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8D4DE"/>
                </a:solidFill>
              </a:rPr>
              <a:t>rating = 5</a:t>
            </a: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3238500" y="2619375"/>
            <a:ext cx="6191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4095750" y="1952625"/>
            <a:ext cx="238125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4248150" y="2124075"/>
            <a:ext cx="2076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REPLICA A</a:t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4248150" y="2486025"/>
            <a:ext cx="20764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rating = 5</a:t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4095750" y="3381375"/>
            <a:ext cx="238125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4248150" y="3552825"/>
            <a:ext cx="2076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REPLICA B</a:t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4248150" y="3914775"/>
            <a:ext cx="20764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rating = 4</a:t>
            </a:r>
            <a:endParaRPr/>
          </a:p>
        </p:txBody>
      </p:sp>
      <p:sp>
        <p:nvSpPr>
          <p:cNvPr id="429" name="Google Shape;429;p24"/>
          <p:cNvSpPr/>
          <p:nvPr/>
        </p:nvSpPr>
        <p:spPr>
          <a:xfrm>
            <a:off x="7000875" y="2809875"/>
            <a:ext cx="76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52606D"/>
                </a:solidFill>
              </a:rPr>
              <a:t>…</a:t>
            </a:r>
            <a:endParaRPr/>
          </a:p>
        </p:txBody>
      </p:sp>
      <p:sp>
        <p:nvSpPr>
          <p:cNvPr id="430" name="Google Shape;430;p24"/>
          <p:cNvSpPr/>
          <p:nvPr/>
        </p:nvSpPr>
        <p:spPr>
          <a:xfrm>
            <a:off x="8048625" y="2667000"/>
            <a:ext cx="2857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"/>
          <p:cNvSpPr/>
          <p:nvPr/>
        </p:nvSpPr>
        <p:spPr>
          <a:xfrm>
            <a:off x="8201025" y="2838450"/>
            <a:ext cx="2552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CONVERGENZA</a:t>
            </a:r>
            <a:endParaRPr/>
          </a:p>
        </p:txBody>
      </p:sp>
      <p:sp>
        <p:nvSpPr>
          <p:cNvPr id="432" name="Google Shape;432;p24"/>
          <p:cNvSpPr/>
          <p:nvPr/>
        </p:nvSpPr>
        <p:spPr>
          <a:xfrm>
            <a:off x="8201025" y="3200400"/>
            <a:ext cx="2552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rating = 5</a:t>
            </a:r>
            <a:endParaRPr/>
          </a:p>
        </p:txBody>
      </p:sp>
      <p:sp>
        <p:nvSpPr>
          <p:cNvPr id="433" name="Google Shape;433;p24"/>
          <p:cNvSpPr/>
          <p:nvPr/>
        </p:nvSpPr>
        <p:spPr>
          <a:xfrm>
            <a:off x="2476500" y="5095875"/>
            <a:ext cx="723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EF5A5A"/>
                </a:solidFill>
              </a:rPr>
              <a:t>Una lettura immediata può vedere il valore precedente.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440" name="Google Shape;440;p25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Strong ed eventual rispondono a rischi diversi</a:t>
            </a: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25</a:t>
            </a: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6858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"/>
          <p:cNvSpPr/>
          <p:nvPr/>
        </p:nvSpPr>
        <p:spPr>
          <a:xfrm>
            <a:off x="63627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5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5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5"/>
          <p:cNvSpPr/>
          <p:nvPr/>
        </p:nvSpPr>
        <p:spPr>
          <a:xfrm>
            <a:off x="1028700" y="21336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STRONG CONSISTENCY</a:t>
            </a:r>
            <a:endParaRPr/>
          </a:p>
        </p:txBody>
      </p:sp>
      <p:sp>
        <p:nvSpPr>
          <p:cNvPr id="447" name="Google Shape;447;p25"/>
          <p:cNvSpPr/>
          <p:nvPr/>
        </p:nvSpPr>
        <p:spPr>
          <a:xfrm>
            <a:off x="1028700" y="2781300"/>
            <a:ext cx="4286250" cy="223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Leggo l’ultimo valore confermato.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52606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Utile quando una decisione dipende dal dato corrente.</a:t>
            </a:r>
            <a:endParaRPr/>
          </a:p>
        </p:txBody>
      </p:sp>
      <p:sp>
        <p:nvSpPr>
          <p:cNvPr id="448" name="Google Shape;448;p25"/>
          <p:cNvSpPr/>
          <p:nvPr/>
        </p:nvSpPr>
        <p:spPr>
          <a:xfrm>
            <a:off x="6705600" y="21336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EVENTUAL CONSISTENCY</a:t>
            </a:r>
            <a:endParaRPr/>
          </a:p>
        </p:txBody>
      </p:sp>
      <p:sp>
        <p:nvSpPr>
          <p:cNvPr id="449" name="Google Shape;449;p25"/>
          <p:cNvSpPr/>
          <p:nvPr/>
        </p:nvSpPr>
        <p:spPr>
          <a:xfrm>
            <a:off x="6705600" y="2781300"/>
            <a:ext cx="4286250" cy="223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Posso leggere temporaneamente una versione precedente.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52606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Utile quando latenza e disponibilità dominano.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6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EVITIAMO LE ETICHETTE</a:t>
            </a:r>
            <a:endParaRPr/>
          </a:p>
        </p:txBody>
      </p:sp>
      <p:sp>
        <p:nvSpPr>
          <p:cNvPr id="456" name="Google Shape;456;p26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Le garanzie sono uno spettro, non due scatole</a:t>
            </a:r>
            <a:endParaRPr/>
          </a:p>
        </p:txBody>
      </p:sp>
      <p:sp>
        <p:nvSpPr>
          <p:cNvPr id="457" name="Google Shape;457;p2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26</a:t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904875" y="1809750"/>
            <a:ext cx="2190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0B8D9"/>
                </a:solidFill>
              </a:rPr>
              <a:t>TRANSAZIONI</a:t>
            </a:r>
            <a:endParaRPr/>
          </a:p>
        </p:txBody>
      </p:sp>
      <p:sp>
        <p:nvSpPr>
          <p:cNvPr id="459" name="Google Shape;459;p26"/>
          <p:cNvSpPr/>
          <p:nvPr/>
        </p:nvSpPr>
        <p:spPr>
          <a:xfrm>
            <a:off x="3429000" y="1905000"/>
            <a:ext cx="6191250" cy="114300"/>
          </a:xfrm>
          <a:prstGeom prst="rect">
            <a:avLst/>
          </a:prstGeom>
          <a:solidFill>
            <a:srgbClr val="44566A"/>
          </a:solidFill>
          <a:ln cap="flat" cmpd="sng" w="9525">
            <a:solidFill>
              <a:srgbClr val="4456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6"/>
          <p:cNvSpPr/>
          <p:nvPr/>
        </p:nvSpPr>
        <p:spPr>
          <a:xfrm>
            <a:off x="5655175" y="173355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6"/>
          <p:cNvSpPr/>
          <p:nvPr/>
        </p:nvSpPr>
        <p:spPr>
          <a:xfrm>
            <a:off x="9906000" y="1809750"/>
            <a:ext cx="142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C8D4DE"/>
                </a:solidFill>
              </a:rPr>
              <a:t>singolo record ↔ multi-record</a:t>
            </a:r>
            <a:endParaRPr/>
          </a:p>
        </p:txBody>
      </p:sp>
      <p:sp>
        <p:nvSpPr>
          <p:cNvPr id="462" name="Google Shape;462;p26"/>
          <p:cNvSpPr/>
          <p:nvPr/>
        </p:nvSpPr>
        <p:spPr>
          <a:xfrm>
            <a:off x="904875" y="2714625"/>
            <a:ext cx="2190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0B8D9"/>
                </a:solidFill>
              </a:rPr>
              <a:t>CONSISTENZA</a:t>
            </a:r>
            <a:endParaRPr/>
          </a:p>
        </p:txBody>
      </p:sp>
      <p:sp>
        <p:nvSpPr>
          <p:cNvPr id="463" name="Google Shape;463;p26"/>
          <p:cNvSpPr/>
          <p:nvPr/>
        </p:nvSpPr>
        <p:spPr>
          <a:xfrm>
            <a:off x="3429000" y="2809875"/>
            <a:ext cx="6191250" cy="114300"/>
          </a:xfrm>
          <a:prstGeom prst="rect">
            <a:avLst/>
          </a:prstGeom>
          <a:solidFill>
            <a:srgbClr val="44566A"/>
          </a:solidFill>
          <a:ln cap="flat" cmpd="sng" w="9525">
            <a:solidFill>
              <a:srgbClr val="4456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6143625" y="2676525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9906000" y="2714625"/>
            <a:ext cx="142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C8D4DE"/>
                </a:solidFill>
              </a:rPr>
              <a:t>eventual ↔ strong</a:t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904875" y="3619500"/>
            <a:ext cx="2190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0B8D9"/>
                </a:solidFill>
              </a:rPr>
              <a:t>SCHEMA</a:t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3429000" y="3714750"/>
            <a:ext cx="6191250" cy="114300"/>
          </a:xfrm>
          <a:prstGeom prst="rect">
            <a:avLst/>
          </a:prstGeom>
          <a:solidFill>
            <a:srgbClr val="44566A"/>
          </a:solidFill>
          <a:ln cap="flat" cmpd="sng" w="9525">
            <a:solidFill>
              <a:srgbClr val="4456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7096125" y="358140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6"/>
          <p:cNvSpPr/>
          <p:nvPr/>
        </p:nvSpPr>
        <p:spPr>
          <a:xfrm>
            <a:off x="9906000" y="3619500"/>
            <a:ext cx="142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C8D4DE"/>
                </a:solidFill>
              </a:rPr>
              <a:t>flessibile ↔ vincolato</a:t>
            </a:r>
            <a:endParaRPr/>
          </a:p>
        </p:txBody>
      </p:sp>
      <p:sp>
        <p:nvSpPr>
          <p:cNvPr id="470" name="Google Shape;470;p26"/>
          <p:cNvSpPr/>
          <p:nvPr/>
        </p:nvSpPr>
        <p:spPr>
          <a:xfrm>
            <a:off x="904875" y="4524375"/>
            <a:ext cx="2190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0B8D9"/>
                </a:solidFill>
              </a:rPr>
              <a:t>SCALA</a:t>
            </a:r>
            <a:endParaRPr/>
          </a:p>
        </p:txBody>
      </p:sp>
      <p:sp>
        <p:nvSpPr>
          <p:cNvPr id="471" name="Google Shape;471;p26"/>
          <p:cNvSpPr/>
          <p:nvPr/>
        </p:nvSpPr>
        <p:spPr>
          <a:xfrm>
            <a:off x="3429000" y="4619625"/>
            <a:ext cx="6191250" cy="114300"/>
          </a:xfrm>
          <a:prstGeom prst="rect">
            <a:avLst/>
          </a:prstGeom>
          <a:solidFill>
            <a:srgbClr val="44566A"/>
          </a:solidFill>
          <a:ln cap="flat" cmpd="sng" w="9525">
            <a:solidFill>
              <a:srgbClr val="4456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6"/>
          <p:cNvSpPr/>
          <p:nvPr/>
        </p:nvSpPr>
        <p:spPr>
          <a:xfrm>
            <a:off x="8048625" y="4486275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6"/>
          <p:cNvSpPr/>
          <p:nvPr/>
        </p:nvSpPr>
        <p:spPr>
          <a:xfrm>
            <a:off x="9906000" y="4524375"/>
            <a:ext cx="142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C8D4DE"/>
                </a:solidFill>
              </a:rPr>
              <a:t>verticale ↔ distribuita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7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480" name="Google Shape;480;p27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Schema-on-write e schema-on-read</a:t>
            </a:r>
            <a:endParaRPr/>
          </a:p>
        </p:txBody>
      </p:sp>
      <p:sp>
        <p:nvSpPr>
          <p:cNvPr id="481" name="Google Shape;481;p2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27</a:t>
            </a:r>
            <a:endParaRPr/>
          </a:p>
        </p:txBody>
      </p:sp>
      <p:sp>
        <p:nvSpPr>
          <p:cNvPr id="482" name="Google Shape;482;p27"/>
          <p:cNvSpPr/>
          <p:nvPr/>
        </p:nvSpPr>
        <p:spPr>
          <a:xfrm>
            <a:off x="6858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63627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7"/>
          <p:cNvSpPr/>
          <p:nvPr/>
        </p:nvSpPr>
        <p:spPr>
          <a:xfrm>
            <a:off x="1028700" y="21336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SCHEMA-ON-WRITE</a:t>
            </a:r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1028700" y="2781300"/>
            <a:ext cx="4286250" cy="223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La struttura viene verificata prima o durante la scrittura.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52606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Qualità e prevedibilità a monte.</a:t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6705600" y="21336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SCHEMA-ON-READ</a:t>
            </a: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6705600" y="2781300"/>
            <a:ext cx="4286250" cy="223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La struttura viene interpretata quando il dato viene letto.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52606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Flessibilità e responsabilità a valle.</a:t>
            </a: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2952750" y="5810250"/>
            <a:ext cx="6286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F5A5A"/>
                </a:solidFill>
              </a:rPr>
              <a:t>Non coincidono perfettamente con SQL e NoSQL.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8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497" name="Google Shape;497;p28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Normalizzare o denormalizzare è una scelta di costo</a:t>
            </a:r>
            <a:endParaRPr/>
          </a:p>
        </p:txBody>
      </p:sp>
      <p:sp>
        <p:nvSpPr>
          <p:cNvPr id="498" name="Google Shape;498;p2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28</a:t>
            </a:r>
            <a:endParaRPr/>
          </a:p>
        </p:txBody>
      </p:sp>
      <p:sp>
        <p:nvSpPr>
          <p:cNvPr id="499" name="Google Shape;499;p28"/>
          <p:cNvSpPr/>
          <p:nvPr/>
        </p:nvSpPr>
        <p:spPr>
          <a:xfrm>
            <a:off x="6858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8"/>
          <p:cNvSpPr/>
          <p:nvPr/>
        </p:nvSpPr>
        <p:spPr>
          <a:xfrm>
            <a:off x="63627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8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8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8"/>
          <p:cNvSpPr/>
          <p:nvPr/>
        </p:nvSpPr>
        <p:spPr>
          <a:xfrm>
            <a:off x="1028700" y="21336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NORMALIZZAZIONE</a:t>
            </a:r>
            <a:endParaRPr/>
          </a:p>
        </p:txBody>
      </p:sp>
      <p:sp>
        <p:nvSpPr>
          <p:cNvPr id="504" name="Google Shape;504;p28"/>
          <p:cNvSpPr/>
          <p:nvPr/>
        </p:nvSpPr>
        <p:spPr>
          <a:xfrm>
            <a:off x="1028700" y="2781300"/>
            <a:ext cx="4286250" cy="223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Meno duplicazione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Aggiornamenti coerenti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Relazioni esplicite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Più join nelle letture</a:t>
            </a:r>
            <a:endParaRPr/>
          </a:p>
        </p:txBody>
      </p:sp>
      <p:sp>
        <p:nvSpPr>
          <p:cNvPr id="505" name="Google Shape;505;p28"/>
          <p:cNvSpPr/>
          <p:nvPr/>
        </p:nvSpPr>
        <p:spPr>
          <a:xfrm>
            <a:off x="6705600" y="21336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DENORMALIZZAZIONE</a:t>
            </a:r>
            <a:endParaRPr/>
          </a:p>
        </p:txBody>
      </p:sp>
      <p:sp>
        <p:nvSpPr>
          <p:cNvPr id="506" name="Google Shape;506;p28"/>
          <p:cNvSpPr/>
          <p:nvPr/>
        </p:nvSpPr>
        <p:spPr>
          <a:xfrm>
            <a:off x="6705600" y="2781300"/>
            <a:ext cx="4286250" cy="223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Letture più dirette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Dati vicini alla query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Duplicazione controllata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Aggiornamenti più complessi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9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513" name="Google Shape;513;p29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Confrontiamo requisiti, non slogan</a:t>
            </a:r>
            <a:endParaRPr/>
          </a:p>
        </p:txBody>
      </p:sp>
      <p:sp>
        <p:nvSpPr>
          <p:cNvPr id="514" name="Google Shape;514;p2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29</a:t>
            </a:r>
            <a:endParaRPr/>
          </a:p>
        </p:txBody>
      </p:sp>
      <p:sp>
        <p:nvSpPr>
          <p:cNvPr id="515" name="Google Shape;515;p29"/>
          <p:cNvSpPr/>
          <p:nvPr/>
        </p:nvSpPr>
        <p:spPr>
          <a:xfrm>
            <a:off x="762000" y="169545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52606D"/>
                </a:solidFill>
              </a:rPr>
              <a:t>DIMENSIONE</a:t>
            </a:r>
            <a:endParaRPr/>
          </a:p>
        </p:txBody>
      </p:sp>
      <p:sp>
        <p:nvSpPr>
          <p:cNvPr id="516" name="Google Shape;516;p29"/>
          <p:cNvSpPr/>
          <p:nvPr/>
        </p:nvSpPr>
        <p:spPr>
          <a:xfrm>
            <a:off x="3333750" y="1695450"/>
            <a:ext cx="3619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0B8D9"/>
                </a:solidFill>
              </a:rPr>
              <a:t>SQL / RELAZIONALE</a:t>
            </a:r>
            <a:endParaRPr/>
          </a:p>
        </p:txBody>
      </p:sp>
      <p:sp>
        <p:nvSpPr>
          <p:cNvPr id="517" name="Google Shape;517;p29"/>
          <p:cNvSpPr/>
          <p:nvPr/>
        </p:nvSpPr>
        <p:spPr>
          <a:xfrm>
            <a:off x="7667625" y="1695450"/>
            <a:ext cx="3143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7C6EE6"/>
                </a:solidFill>
              </a:rPr>
              <a:t>NoSQL</a:t>
            </a:r>
            <a:endParaRPr/>
          </a:p>
        </p:txBody>
      </p:sp>
      <p:sp>
        <p:nvSpPr>
          <p:cNvPr id="518" name="Google Shape;518;p29"/>
          <p:cNvSpPr/>
          <p:nvPr/>
        </p:nvSpPr>
        <p:spPr>
          <a:xfrm>
            <a:off x="685800" y="2143125"/>
            <a:ext cx="10820400" cy="5524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9"/>
          <p:cNvSpPr/>
          <p:nvPr/>
        </p:nvSpPr>
        <p:spPr>
          <a:xfrm>
            <a:off x="838200" y="22860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MODELLO</a:t>
            </a:r>
            <a:endParaRPr/>
          </a:p>
        </p:txBody>
      </p:sp>
      <p:sp>
        <p:nvSpPr>
          <p:cNvPr id="520" name="Google Shape;520;p29"/>
          <p:cNvSpPr/>
          <p:nvPr/>
        </p:nvSpPr>
        <p:spPr>
          <a:xfrm>
            <a:off x="3333750" y="22860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relazioni</a:t>
            </a:r>
            <a:endParaRPr/>
          </a:p>
        </p:txBody>
      </p:sp>
      <p:sp>
        <p:nvSpPr>
          <p:cNvPr id="521" name="Google Shape;521;p29"/>
          <p:cNvSpPr/>
          <p:nvPr/>
        </p:nvSpPr>
        <p:spPr>
          <a:xfrm>
            <a:off x="7667625" y="22860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access pattern</a:t>
            </a: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685800" y="2828925"/>
            <a:ext cx="10820400" cy="552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9"/>
          <p:cNvSpPr/>
          <p:nvPr/>
        </p:nvSpPr>
        <p:spPr>
          <a:xfrm>
            <a:off x="838200" y="29718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SCHEMA</a:t>
            </a:r>
            <a:endParaRPr/>
          </a:p>
        </p:txBody>
      </p:sp>
      <p:sp>
        <p:nvSpPr>
          <p:cNvPr id="524" name="Google Shape;524;p29"/>
          <p:cNvSpPr/>
          <p:nvPr/>
        </p:nvSpPr>
        <p:spPr>
          <a:xfrm>
            <a:off x="3333750" y="2971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definito e vincolato</a:t>
            </a:r>
            <a:endParaRPr/>
          </a:p>
        </p:txBody>
      </p:sp>
      <p:sp>
        <p:nvSpPr>
          <p:cNvPr id="525" name="Google Shape;525;p29"/>
          <p:cNvSpPr/>
          <p:nvPr/>
        </p:nvSpPr>
        <p:spPr>
          <a:xfrm>
            <a:off x="7667625" y="29718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spesso flessibile</a:t>
            </a:r>
            <a:endParaRPr/>
          </a:p>
        </p:txBody>
      </p:sp>
      <p:sp>
        <p:nvSpPr>
          <p:cNvPr id="526" name="Google Shape;526;p29"/>
          <p:cNvSpPr/>
          <p:nvPr/>
        </p:nvSpPr>
        <p:spPr>
          <a:xfrm>
            <a:off x="685800" y="3514725"/>
            <a:ext cx="10820400" cy="5524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9"/>
          <p:cNvSpPr/>
          <p:nvPr/>
        </p:nvSpPr>
        <p:spPr>
          <a:xfrm>
            <a:off x="838200" y="36576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TRANSAZIONI</a:t>
            </a:r>
            <a:endParaRPr/>
          </a:p>
        </p:txBody>
      </p:sp>
      <p:sp>
        <p:nvSpPr>
          <p:cNvPr id="528" name="Google Shape;528;p29"/>
          <p:cNvSpPr/>
          <p:nvPr/>
        </p:nvSpPr>
        <p:spPr>
          <a:xfrm>
            <a:off x="3333750" y="36576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tradizionalmente centrali</a:t>
            </a:r>
            <a:endParaRPr/>
          </a:p>
        </p:txBody>
      </p:sp>
      <p:sp>
        <p:nvSpPr>
          <p:cNvPr id="529" name="Google Shape;529;p29"/>
          <p:cNvSpPr/>
          <p:nvPr/>
        </p:nvSpPr>
        <p:spPr>
          <a:xfrm>
            <a:off x="7667625" y="36576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dipende dal motore</a:t>
            </a:r>
            <a:endParaRPr/>
          </a:p>
        </p:txBody>
      </p:sp>
      <p:sp>
        <p:nvSpPr>
          <p:cNvPr id="530" name="Google Shape;530;p29"/>
          <p:cNvSpPr/>
          <p:nvPr/>
        </p:nvSpPr>
        <p:spPr>
          <a:xfrm>
            <a:off x="685800" y="4200525"/>
            <a:ext cx="10820400" cy="552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9"/>
          <p:cNvSpPr/>
          <p:nvPr/>
        </p:nvSpPr>
        <p:spPr>
          <a:xfrm>
            <a:off x="838200" y="43434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JOIN</a:t>
            </a:r>
            <a:endParaRPr/>
          </a:p>
        </p:txBody>
      </p:sp>
      <p:sp>
        <p:nvSpPr>
          <p:cNvPr id="532" name="Google Shape;532;p29"/>
          <p:cNvSpPr/>
          <p:nvPr/>
        </p:nvSpPr>
        <p:spPr>
          <a:xfrm>
            <a:off x="3333750" y="43434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naturali</a:t>
            </a:r>
            <a:endParaRPr/>
          </a:p>
        </p:txBody>
      </p:sp>
      <p:sp>
        <p:nvSpPr>
          <p:cNvPr id="533" name="Google Shape;533;p29"/>
          <p:cNvSpPr/>
          <p:nvPr/>
        </p:nvSpPr>
        <p:spPr>
          <a:xfrm>
            <a:off x="7667625" y="43434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spesso evitati/locali</a:t>
            </a:r>
            <a:endParaRPr/>
          </a:p>
        </p:txBody>
      </p:sp>
      <p:sp>
        <p:nvSpPr>
          <p:cNvPr id="534" name="Google Shape;534;p29"/>
          <p:cNvSpPr/>
          <p:nvPr/>
        </p:nvSpPr>
        <p:spPr>
          <a:xfrm>
            <a:off x="685800" y="4886325"/>
            <a:ext cx="10820400" cy="5524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9"/>
          <p:cNvSpPr/>
          <p:nvPr/>
        </p:nvSpPr>
        <p:spPr>
          <a:xfrm>
            <a:off x="838200" y="50292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SCALA</a:t>
            </a:r>
            <a:endParaRPr/>
          </a:p>
        </p:txBody>
      </p:sp>
      <p:sp>
        <p:nvSpPr>
          <p:cNvPr id="536" name="Google Shape;536;p29"/>
          <p:cNvSpPr/>
          <p:nvPr/>
        </p:nvSpPr>
        <p:spPr>
          <a:xfrm>
            <a:off x="3333750" y="50292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anche distribuita</a:t>
            </a:r>
            <a:endParaRPr/>
          </a:p>
        </p:txBody>
      </p:sp>
      <p:sp>
        <p:nvSpPr>
          <p:cNvPr id="537" name="Google Shape;537;p29"/>
          <p:cNvSpPr/>
          <p:nvPr/>
        </p:nvSpPr>
        <p:spPr>
          <a:xfrm>
            <a:off x="7667625" y="50292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spesso progettata scale-out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0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FACT CHECK</a:t>
            </a:r>
            <a:endParaRPr/>
          </a:p>
        </p:txBody>
      </p:sp>
      <p:sp>
        <p:nvSpPr>
          <p:cNvPr id="544" name="Google Shape;544;p30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Quattro miti da eliminare</a:t>
            </a:r>
            <a:endParaRPr/>
          </a:p>
        </p:txBody>
      </p:sp>
      <p:sp>
        <p:nvSpPr>
          <p:cNvPr id="545" name="Google Shape;545;p3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30</a:t>
            </a:r>
            <a:endParaRPr/>
          </a:p>
        </p:txBody>
      </p:sp>
      <p:sp>
        <p:nvSpPr>
          <p:cNvPr id="546" name="Google Shape;546;p30"/>
          <p:cNvSpPr/>
          <p:nvPr/>
        </p:nvSpPr>
        <p:spPr>
          <a:xfrm>
            <a:off x="762000" y="1714500"/>
            <a:ext cx="10287000" cy="685800"/>
          </a:xfrm>
          <a:prstGeom prst="roundRect">
            <a:avLst>
              <a:gd fmla="val 11111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0"/>
          <p:cNvSpPr/>
          <p:nvPr/>
        </p:nvSpPr>
        <p:spPr>
          <a:xfrm>
            <a:off x="1000125" y="1847850"/>
            <a:ext cx="47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F5A5A"/>
                </a:solidFill>
              </a:rPr>
              <a:t>✕</a:t>
            </a:r>
            <a:endParaRPr/>
          </a:p>
        </p:txBody>
      </p:sp>
      <p:sp>
        <p:nvSpPr>
          <p:cNvPr id="548" name="Google Shape;548;p30"/>
          <p:cNvSpPr/>
          <p:nvPr/>
        </p:nvSpPr>
        <p:spPr>
          <a:xfrm>
            <a:off x="1762125" y="188595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SQL è vecchio</a:t>
            </a:r>
            <a:endParaRPr/>
          </a:p>
        </p:txBody>
      </p:sp>
      <p:sp>
        <p:nvSpPr>
          <p:cNvPr id="549" name="Google Shape;549;p30"/>
          <p:cNvSpPr/>
          <p:nvPr/>
        </p:nvSpPr>
        <p:spPr>
          <a:xfrm>
            <a:off x="5572125" y="1885950"/>
            <a:ext cx="495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827"/>
                </a:solidFill>
              </a:rPr>
              <a:t>FALSO: resta centrale</a:t>
            </a:r>
            <a:endParaRPr/>
          </a:p>
        </p:txBody>
      </p:sp>
      <p:sp>
        <p:nvSpPr>
          <p:cNvPr id="550" name="Google Shape;550;p30"/>
          <p:cNvSpPr/>
          <p:nvPr/>
        </p:nvSpPr>
        <p:spPr>
          <a:xfrm>
            <a:off x="762000" y="2647950"/>
            <a:ext cx="10287000" cy="685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0"/>
          <p:cNvSpPr/>
          <p:nvPr/>
        </p:nvSpPr>
        <p:spPr>
          <a:xfrm>
            <a:off x="1000125" y="2781300"/>
            <a:ext cx="47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F5A5A"/>
                </a:solidFill>
              </a:rPr>
              <a:t>✕</a:t>
            </a:r>
            <a:endParaRPr/>
          </a:p>
        </p:txBody>
      </p:sp>
      <p:sp>
        <p:nvSpPr>
          <p:cNvPr id="552" name="Google Shape;552;p30"/>
          <p:cNvSpPr/>
          <p:nvPr/>
        </p:nvSpPr>
        <p:spPr>
          <a:xfrm>
            <a:off x="1762125" y="28194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NoSQL non ha schema</a:t>
            </a:r>
            <a:endParaRPr/>
          </a:p>
        </p:txBody>
      </p:sp>
      <p:sp>
        <p:nvSpPr>
          <p:cNvPr id="553" name="Google Shape;553;p30"/>
          <p:cNvSpPr/>
          <p:nvPr/>
        </p:nvSpPr>
        <p:spPr>
          <a:xfrm>
            <a:off x="5572125" y="2819400"/>
            <a:ext cx="495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827"/>
                </a:solidFill>
              </a:rPr>
              <a:t>FALSO: lo schema esiste</a:t>
            </a:r>
            <a:endParaRPr/>
          </a:p>
        </p:txBody>
      </p:sp>
      <p:sp>
        <p:nvSpPr>
          <p:cNvPr id="554" name="Google Shape;554;p30"/>
          <p:cNvSpPr/>
          <p:nvPr/>
        </p:nvSpPr>
        <p:spPr>
          <a:xfrm>
            <a:off x="762000" y="3581400"/>
            <a:ext cx="10287000" cy="685800"/>
          </a:xfrm>
          <a:prstGeom prst="roundRect">
            <a:avLst>
              <a:gd fmla="val 11111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0"/>
          <p:cNvSpPr/>
          <p:nvPr/>
        </p:nvSpPr>
        <p:spPr>
          <a:xfrm>
            <a:off x="1000125" y="3714750"/>
            <a:ext cx="47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F5A5A"/>
                </a:solidFill>
              </a:rPr>
              <a:t>✕</a:t>
            </a:r>
            <a:endParaRPr/>
          </a:p>
        </p:txBody>
      </p:sp>
      <p:sp>
        <p:nvSpPr>
          <p:cNvPr id="556" name="Google Shape;556;p30"/>
          <p:cNvSpPr/>
          <p:nvPr/>
        </p:nvSpPr>
        <p:spPr>
          <a:xfrm>
            <a:off x="1762125" y="375285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NoSQL scala sempre</a:t>
            </a:r>
            <a:endParaRPr/>
          </a:p>
        </p:txBody>
      </p:sp>
      <p:sp>
        <p:nvSpPr>
          <p:cNvPr id="557" name="Google Shape;557;p30"/>
          <p:cNvSpPr/>
          <p:nvPr/>
        </p:nvSpPr>
        <p:spPr>
          <a:xfrm>
            <a:off x="5572125" y="3752850"/>
            <a:ext cx="495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827"/>
                </a:solidFill>
              </a:rPr>
              <a:t>FALSO: dipende dal design</a:t>
            </a:r>
            <a:endParaRPr/>
          </a:p>
        </p:txBody>
      </p:sp>
      <p:sp>
        <p:nvSpPr>
          <p:cNvPr id="558" name="Google Shape;558;p30"/>
          <p:cNvSpPr/>
          <p:nvPr/>
        </p:nvSpPr>
        <p:spPr>
          <a:xfrm>
            <a:off x="762000" y="4514850"/>
            <a:ext cx="10287000" cy="685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0"/>
          <p:cNvSpPr/>
          <p:nvPr/>
        </p:nvSpPr>
        <p:spPr>
          <a:xfrm>
            <a:off x="1000125" y="4648200"/>
            <a:ext cx="47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F5A5A"/>
                </a:solidFill>
              </a:rPr>
              <a:t>✕</a:t>
            </a:r>
            <a:endParaRPr/>
          </a:p>
        </p:txBody>
      </p:sp>
      <p:sp>
        <p:nvSpPr>
          <p:cNvPr id="560" name="Google Shape;560;p30"/>
          <p:cNvSpPr/>
          <p:nvPr/>
        </p:nvSpPr>
        <p:spPr>
          <a:xfrm>
            <a:off x="1762125" y="46863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NoSQL non ha transazioni</a:t>
            </a:r>
            <a:endParaRPr/>
          </a:p>
        </p:txBody>
      </p:sp>
      <p:sp>
        <p:nvSpPr>
          <p:cNvPr id="561" name="Google Shape;561;p30"/>
          <p:cNvSpPr/>
          <p:nvPr/>
        </p:nvSpPr>
        <p:spPr>
          <a:xfrm>
            <a:off x="5572125" y="4686300"/>
            <a:ext cx="495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827"/>
                </a:solidFill>
              </a:rPr>
              <a:t>FALSO: dipende dal motore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1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SQL vs NoSQL • LEZIONE 03</a:t>
            </a:r>
            <a:endParaRPr/>
          </a:p>
        </p:txBody>
      </p:sp>
      <p:sp>
        <p:nvSpPr>
          <p:cNvPr id="568" name="Google Shape;568;p31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La scelta parte da cinque domande</a:t>
            </a:r>
            <a:endParaRPr/>
          </a:p>
        </p:txBody>
      </p:sp>
      <p:sp>
        <p:nvSpPr>
          <p:cNvPr id="569" name="Google Shape;569;p3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31</a:t>
            </a:r>
            <a:endParaRPr/>
          </a:p>
        </p:txBody>
      </p:sp>
      <p:sp>
        <p:nvSpPr>
          <p:cNvPr id="570" name="Google Shape;570;p31"/>
          <p:cNvSpPr/>
          <p:nvPr/>
        </p:nvSpPr>
        <p:spPr>
          <a:xfrm>
            <a:off x="857250" y="1714500"/>
            <a:ext cx="5238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B8D9"/>
                </a:solidFill>
              </a:rPr>
              <a:t>1</a:t>
            </a:r>
            <a:endParaRPr/>
          </a:p>
        </p:txBody>
      </p:sp>
      <p:sp>
        <p:nvSpPr>
          <p:cNvPr id="571" name="Google Shape;571;p31"/>
          <p:cNvSpPr/>
          <p:nvPr/>
        </p:nvSpPr>
        <p:spPr>
          <a:xfrm>
            <a:off x="1714500" y="1714500"/>
            <a:ext cx="8953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Quali dati e relazioni?</a:t>
            </a:r>
            <a:endParaRPr/>
          </a:p>
        </p:txBody>
      </p:sp>
      <p:sp>
        <p:nvSpPr>
          <p:cNvPr id="572" name="Google Shape;572;p31"/>
          <p:cNvSpPr/>
          <p:nvPr/>
        </p:nvSpPr>
        <p:spPr>
          <a:xfrm>
            <a:off x="857250" y="2505075"/>
            <a:ext cx="5238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8A4C"/>
                </a:solidFill>
              </a:rPr>
              <a:t>2</a:t>
            </a:r>
            <a:endParaRPr/>
          </a:p>
        </p:txBody>
      </p:sp>
      <p:sp>
        <p:nvSpPr>
          <p:cNvPr id="573" name="Google Shape;573;p31"/>
          <p:cNvSpPr/>
          <p:nvPr/>
        </p:nvSpPr>
        <p:spPr>
          <a:xfrm>
            <a:off x="1714500" y="2505075"/>
            <a:ext cx="8953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Quali operazioni devono essere atomiche?</a:t>
            </a:r>
            <a:endParaRPr/>
          </a:p>
        </p:txBody>
      </p:sp>
      <p:sp>
        <p:nvSpPr>
          <p:cNvPr id="574" name="Google Shape;574;p31"/>
          <p:cNvSpPr/>
          <p:nvPr/>
        </p:nvSpPr>
        <p:spPr>
          <a:xfrm>
            <a:off x="857250" y="3295650"/>
            <a:ext cx="5238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B7E34B"/>
                </a:solidFill>
              </a:rPr>
              <a:t>3</a:t>
            </a:r>
            <a:endParaRPr/>
          </a:p>
        </p:txBody>
      </p:sp>
      <p:sp>
        <p:nvSpPr>
          <p:cNvPr id="575" name="Google Shape;575;p31"/>
          <p:cNvSpPr/>
          <p:nvPr/>
        </p:nvSpPr>
        <p:spPr>
          <a:xfrm>
            <a:off x="1714500" y="3295650"/>
            <a:ext cx="8953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Quali query dominano?</a:t>
            </a:r>
            <a:endParaRPr/>
          </a:p>
        </p:txBody>
      </p:sp>
      <p:sp>
        <p:nvSpPr>
          <p:cNvPr id="576" name="Google Shape;576;p31"/>
          <p:cNvSpPr/>
          <p:nvPr/>
        </p:nvSpPr>
        <p:spPr>
          <a:xfrm>
            <a:off x="857250" y="4086225"/>
            <a:ext cx="5238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7C6EE6"/>
                </a:solidFill>
              </a:rPr>
              <a:t>4</a:t>
            </a:r>
            <a:endParaRPr/>
          </a:p>
        </p:txBody>
      </p:sp>
      <p:sp>
        <p:nvSpPr>
          <p:cNvPr id="577" name="Google Shape;577;p31"/>
          <p:cNvSpPr/>
          <p:nvPr/>
        </p:nvSpPr>
        <p:spPr>
          <a:xfrm>
            <a:off x="1714500" y="4086225"/>
            <a:ext cx="8953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Quale consistenza è necessaria?</a:t>
            </a:r>
            <a:endParaRPr/>
          </a:p>
        </p:txBody>
      </p:sp>
      <p:sp>
        <p:nvSpPr>
          <p:cNvPr id="578" name="Google Shape;578;p31"/>
          <p:cNvSpPr/>
          <p:nvPr/>
        </p:nvSpPr>
        <p:spPr>
          <a:xfrm>
            <a:off x="857250" y="4876800"/>
            <a:ext cx="5238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7A36A"/>
                </a:solidFill>
              </a:rPr>
              <a:t>5</a:t>
            </a:r>
            <a:endParaRPr/>
          </a:p>
        </p:txBody>
      </p:sp>
      <p:sp>
        <p:nvSpPr>
          <p:cNvPr id="579" name="Google Shape;579;p31"/>
          <p:cNvSpPr/>
          <p:nvPr/>
        </p:nvSpPr>
        <p:spPr>
          <a:xfrm>
            <a:off x="1714500" y="4876800"/>
            <a:ext cx="8953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Come cresceranno volume e traffico?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2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POLYGLOT PERSISTENCE • ANTEPRIMA</a:t>
            </a:r>
            <a:endParaRPr/>
          </a:p>
        </p:txBody>
      </p:sp>
      <p:sp>
        <p:nvSpPr>
          <p:cNvPr id="586" name="Google Shape;586;p32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DATAFLIX userà più modelli, con responsabilità chiare</a:t>
            </a:r>
            <a:endParaRPr/>
          </a:p>
        </p:txBody>
      </p:sp>
      <p:sp>
        <p:nvSpPr>
          <p:cNvPr id="587" name="Google Shape;587;p3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32</a:t>
            </a:r>
            <a:endParaRPr/>
          </a:p>
        </p:txBody>
      </p:sp>
      <p:sp>
        <p:nvSpPr>
          <p:cNvPr id="588" name="Google Shape;588;p32"/>
          <p:cNvSpPr/>
          <p:nvPr/>
        </p:nvSpPr>
        <p:spPr>
          <a:xfrm>
            <a:off x="685800" y="2095500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2"/>
          <p:cNvSpPr/>
          <p:nvPr/>
        </p:nvSpPr>
        <p:spPr>
          <a:xfrm>
            <a:off x="857250" y="2381250"/>
            <a:ext cx="2038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F33"/>
                </a:solidFill>
              </a:rPr>
              <a:t>PostgreSQL</a:t>
            </a:r>
            <a:endParaRPr/>
          </a:p>
        </p:txBody>
      </p:sp>
      <p:sp>
        <p:nvSpPr>
          <p:cNvPr id="590" name="Google Shape;590;p32"/>
          <p:cNvSpPr/>
          <p:nvPr/>
        </p:nvSpPr>
        <p:spPr>
          <a:xfrm>
            <a:off x="857250" y="3333750"/>
            <a:ext cx="20383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F33"/>
                </a:solidFill>
              </a:rPr>
              <a:t>account e pagamenti</a:t>
            </a:r>
            <a:endParaRPr/>
          </a:p>
        </p:txBody>
      </p:sp>
      <p:sp>
        <p:nvSpPr>
          <p:cNvPr id="591" name="Google Shape;591;p32"/>
          <p:cNvSpPr/>
          <p:nvPr/>
        </p:nvSpPr>
        <p:spPr>
          <a:xfrm>
            <a:off x="3371850" y="2095500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2"/>
          <p:cNvSpPr/>
          <p:nvPr/>
        </p:nvSpPr>
        <p:spPr>
          <a:xfrm>
            <a:off x="3543300" y="2381250"/>
            <a:ext cx="2038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F33"/>
                </a:solidFill>
              </a:rPr>
              <a:t>Redis</a:t>
            </a:r>
            <a:endParaRPr/>
          </a:p>
        </p:txBody>
      </p:sp>
      <p:sp>
        <p:nvSpPr>
          <p:cNvPr id="593" name="Google Shape;593;p32"/>
          <p:cNvSpPr/>
          <p:nvPr/>
        </p:nvSpPr>
        <p:spPr>
          <a:xfrm>
            <a:off x="3543300" y="3333750"/>
            <a:ext cx="20383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F33"/>
                </a:solidFill>
              </a:rPr>
              <a:t>sessioni e cache</a:t>
            </a:r>
            <a:endParaRPr/>
          </a:p>
        </p:txBody>
      </p:sp>
      <p:sp>
        <p:nvSpPr>
          <p:cNvPr id="594" name="Google Shape;594;p32"/>
          <p:cNvSpPr/>
          <p:nvPr/>
        </p:nvSpPr>
        <p:spPr>
          <a:xfrm>
            <a:off x="6057900" y="2095500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2"/>
          <p:cNvSpPr/>
          <p:nvPr/>
        </p:nvSpPr>
        <p:spPr>
          <a:xfrm>
            <a:off x="6229350" y="2381250"/>
            <a:ext cx="2038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F33"/>
                </a:solidFill>
              </a:rPr>
              <a:t>MongoDB</a:t>
            </a:r>
            <a:endParaRPr/>
          </a:p>
        </p:txBody>
      </p:sp>
      <p:sp>
        <p:nvSpPr>
          <p:cNvPr id="596" name="Google Shape;596;p32"/>
          <p:cNvSpPr/>
          <p:nvPr/>
        </p:nvSpPr>
        <p:spPr>
          <a:xfrm>
            <a:off x="6229350" y="3333750"/>
            <a:ext cx="20383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F33"/>
                </a:solidFill>
              </a:rPr>
              <a:t>catalogo flessibile</a:t>
            </a:r>
            <a:endParaRPr/>
          </a:p>
        </p:txBody>
      </p:sp>
      <p:sp>
        <p:nvSpPr>
          <p:cNvPr id="597" name="Google Shape;597;p32"/>
          <p:cNvSpPr/>
          <p:nvPr/>
        </p:nvSpPr>
        <p:spPr>
          <a:xfrm>
            <a:off x="8743950" y="2095500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2"/>
          <p:cNvSpPr/>
          <p:nvPr/>
        </p:nvSpPr>
        <p:spPr>
          <a:xfrm>
            <a:off x="8915400" y="2381250"/>
            <a:ext cx="2038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F33"/>
                </a:solidFill>
              </a:rPr>
              <a:t>Neo4j</a:t>
            </a:r>
            <a:endParaRPr/>
          </a:p>
        </p:txBody>
      </p:sp>
      <p:sp>
        <p:nvSpPr>
          <p:cNvPr id="599" name="Google Shape;599;p32"/>
          <p:cNvSpPr/>
          <p:nvPr/>
        </p:nvSpPr>
        <p:spPr>
          <a:xfrm>
            <a:off x="8915400" y="3333750"/>
            <a:ext cx="20383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F33"/>
                </a:solidFill>
              </a:rPr>
              <a:t>recommendation</a:t>
            </a:r>
            <a:endParaRPr/>
          </a:p>
        </p:txBody>
      </p:sp>
      <p:sp>
        <p:nvSpPr>
          <p:cNvPr id="600" name="Google Shape;600;p32"/>
          <p:cNvSpPr/>
          <p:nvPr/>
        </p:nvSpPr>
        <p:spPr>
          <a:xfrm>
            <a:off x="1714500" y="5143500"/>
            <a:ext cx="8763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</a:rPr>
              <a:t>Una tecnologia per problema. Un’architettura da governare.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3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LAB • DECISIONE ARGOMENTATA</a:t>
            </a:r>
            <a:endParaRPr/>
          </a:p>
        </p:txBody>
      </p:sp>
      <p:sp>
        <p:nvSpPr>
          <p:cNvPr id="607" name="Google Shape;607;p33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Laboratorio — SQL, NoSQL o entrambi?</a:t>
            </a:r>
            <a:endParaRPr/>
          </a:p>
        </p:txBody>
      </p:sp>
      <p:sp>
        <p:nvSpPr>
          <p:cNvPr id="608" name="Google Shape;608;p3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33</a:t>
            </a:r>
            <a:endParaRPr/>
          </a:p>
        </p:txBody>
      </p:sp>
      <p:sp>
        <p:nvSpPr>
          <p:cNvPr id="609" name="Google Shape;609;p33"/>
          <p:cNvSpPr/>
          <p:nvPr/>
        </p:nvSpPr>
        <p:spPr>
          <a:xfrm>
            <a:off x="857250" y="1666875"/>
            <a:ext cx="8763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FFFF"/>
                </a:solidFill>
              </a:rPr>
              <a:t>20 scenari. Una scelta. Quattro prove.</a:t>
            </a:r>
            <a:endParaRPr/>
          </a:p>
        </p:txBody>
      </p:sp>
      <p:sp>
        <p:nvSpPr>
          <p:cNvPr id="610" name="Google Shape;610;p33"/>
          <p:cNvSpPr/>
          <p:nvPr/>
        </p:nvSpPr>
        <p:spPr>
          <a:xfrm>
            <a:off x="904875" y="2619375"/>
            <a:ext cx="523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0B8D9"/>
                </a:solidFill>
              </a:rPr>
              <a:t>01</a:t>
            </a:r>
            <a:endParaRPr/>
          </a:p>
        </p:txBody>
      </p:sp>
      <p:sp>
        <p:nvSpPr>
          <p:cNvPr id="611" name="Google Shape;611;p33"/>
          <p:cNvSpPr/>
          <p:nvPr/>
        </p:nvSpPr>
        <p:spPr>
          <a:xfrm>
            <a:off x="1714500" y="2619375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</a:rPr>
              <a:t>MODELLO</a:t>
            </a:r>
            <a:endParaRPr/>
          </a:p>
        </p:txBody>
      </p:sp>
      <p:sp>
        <p:nvSpPr>
          <p:cNvPr id="612" name="Google Shape;612;p33"/>
          <p:cNvSpPr/>
          <p:nvPr/>
        </p:nvSpPr>
        <p:spPr>
          <a:xfrm>
            <a:off x="3810000" y="2619375"/>
            <a:ext cx="6477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C8D4DE"/>
                </a:solidFill>
              </a:rPr>
              <a:t>tabelle, documenti, chiavi o grafo</a:t>
            </a:r>
            <a:endParaRPr/>
          </a:p>
        </p:txBody>
      </p:sp>
      <p:sp>
        <p:nvSpPr>
          <p:cNvPr id="613" name="Google Shape;613;p33"/>
          <p:cNvSpPr/>
          <p:nvPr/>
        </p:nvSpPr>
        <p:spPr>
          <a:xfrm>
            <a:off x="904875" y="3286125"/>
            <a:ext cx="523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0B8D9"/>
                </a:solidFill>
              </a:rPr>
              <a:t>02</a:t>
            </a:r>
            <a:endParaRPr/>
          </a:p>
        </p:txBody>
      </p:sp>
      <p:sp>
        <p:nvSpPr>
          <p:cNvPr id="614" name="Google Shape;614;p33"/>
          <p:cNvSpPr/>
          <p:nvPr/>
        </p:nvSpPr>
        <p:spPr>
          <a:xfrm>
            <a:off x="1714500" y="3286125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</a:rPr>
              <a:t>GARANZIE</a:t>
            </a:r>
            <a:endParaRPr/>
          </a:p>
        </p:txBody>
      </p:sp>
      <p:sp>
        <p:nvSpPr>
          <p:cNvPr id="615" name="Google Shape;615;p33"/>
          <p:cNvSpPr/>
          <p:nvPr/>
        </p:nvSpPr>
        <p:spPr>
          <a:xfrm>
            <a:off x="3810000" y="3286125"/>
            <a:ext cx="6477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C8D4DE"/>
                </a:solidFill>
              </a:rPr>
              <a:t>transazioni e consistenza</a:t>
            </a:r>
            <a:endParaRPr/>
          </a:p>
        </p:txBody>
      </p:sp>
      <p:sp>
        <p:nvSpPr>
          <p:cNvPr id="616" name="Google Shape;616;p33"/>
          <p:cNvSpPr/>
          <p:nvPr/>
        </p:nvSpPr>
        <p:spPr>
          <a:xfrm>
            <a:off x="904875" y="3952875"/>
            <a:ext cx="523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0B8D9"/>
                </a:solidFill>
              </a:rPr>
              <a:t>03</a:t>
            </a:r>
            <a:endParaRPr/>
          </a:p>
        </p:txBody>
      </p:sp>
      <p:sp>
        <p:nvSpPr>
          <p:cNvPr id="617" name="Google Shape;617;p33"/>
          <p:cNvSpPr/>
          <p:nvPr/>
        </p:nvSpPr>
        <p:spPr>
          <a:xfrm>
            <a:off x="1714500" y="3952875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</a:rPr>
              <a:t>ACCESSO</a:t>
            </a:r>
            <a:endParaRPr/>
          </a:p>
        </p:txBody>
      </p:sp>
      <p:sp>
        <p:nvSpPr>
          <p:cNvPr id="618" name="Google Shape;618;p33"/>
          <p:cNvSpPr/>
          <p:nvPr/>
        </p:nvSpPr>
        <p:spPr>
          <a:xfrm>
            <a:off x="3810000" y="3952875"/>
            <a:ext cx="6477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C8D4DE"/>
                </a:solidFill>
              </a:rPr>
              <a:t>query e frequenza</a:t>
            </a:r>
            <a:endParaRPr/>
          </a:p>
        </p:txBody>
      </p:sp>
      <p:sp>
        <p:nvSpPr>
          <p:cNvPr id="619" name="Google Shape;619;p33"/>
          <p:cNvSpPr/>
          <p:nvPr/>
        </p:nvSpPr>
        <p:spPr>
          <a:xfrm>
            <a:off x="904875" y="4619625"/>
            <a:ext cx="523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0B8D9"/>
                </a:solidFill>
              </a:rPr>
              <a:t>04</a:t>
            </a:r>
            <a:endParaRPr/>
          </a:p>
        </p:txBody>
      </p:sp>
      <p:sp>
        <p:nvSpPr>
          <p:cNvPr id="620" name="Google Shape;620;p33"/>
          <p:cNvSpPr/>
          <p:nvPr/>
        </p:nvSpPr>
        <p:spPr>
          <a:xfrm>
            <a:off x="1714500" y="4619625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</a:rPr>
              <a:t>TRADE-OFF</a:t>
            </a:r>
            <a:endParaRPr/>
          </a:p>
        </p:txBody>
      </p:sp>
      <p:sp>
        <p:nvSpPr>
          <p:cNvPr id="621" name="Google Shape;621;p33"/>
          <p:cNvSpPr/>
          <p:nvPr/>
        </p:nvSpPr>
        <p:spPr>
          <a:xfrm>
            <a:off x="3810000" y="4619625"/>
            <a:ext cx="6477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C8D4DE"/>
                </a:solidFill>
              </a:rPr>
              <a:t>rischio accettato</a:t>
            </a:r>
            <a:endParaRPr/>
          </a:p>
        </p:txBody>
      </p:sp>
      <p:sp>
        <p:nvSpPr>
          <p:cNvPr id="622" name="Google Shape;622;p33"/>
          <p:cNvSpPr/>
          <p:nvPr/>
        </p:nvSpPr>
        <p:spPr>
          <a:xfrm>
            <a:off x="1809750" y="5619750"/>
            <a:ext cx="857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Non basta indicare il prodotto: dovete difendere la decisione.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4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VERIFICA • INDIVIDUALE</a:t>
            </a:r>
            <a:endParaRPr/>
          </a:p>
        </p:txBody>
      </p:sp>
      <p:sp>
        <p:nvSpPr>
          <p:cNvPr id="629" name="Google Shape;629;p34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Quiz finale — scegli e motiva</a:t>
            </a:r>
            <a:endParaRPr/>
          </a:p>
        </p:txBody>
      </p:sp>
      <p:sp>
        <p:nvSpPr>
          <p:cNvPr id="630" name="Google Shape;630;p3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34</a:t>
            </a:r>
            <a:endParaRPr/>
          </a:p>
        </p:txBody>
      </p:sp>
      <p:sp>
        <p:nvSpPr>
          <p:cNvPr id="631" name="Google Shape;631;p34"/>
          <p:cNvSpPr/>
          <p:nvPr/>
        </p:nvSpPr>
        <p:spPr>
          <a:xfrm>
            <a:off x="904875" y="1714500"/>
            <a:ext cx="1028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1. Quando un vincolo è preferibile alla sola validazione applicativa?</a:t>
            </a:r>
            <a:endParaRPr/>
          </a:p>
        </p:txBody>
      </p:sp>
      <p:sp>
        <p:nvSpPr>
          <p:cNvPr id="632" name="Google Shape;632;p34"/>
          <p:cNvSpPr/>
          <p:nvPr/>
        </p:nvSpPr>
        <p:spPr>
          <a:xfrm>
            <a:off x="904875" y="2476500"/>
            <a:ext cx="1028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2. Che cosa garantisce l’atomicità?</a:t>
            </a:r>
            <a:endParaRPr/>
          </a:p>
        </p:txBody>
      </p:sp>
      <p:sp>
        <p:nvSpPr>
          <p:cNvPr id="633" name="Google Shape;633;p34"/>
          <p:cNvSpPr/>
          <p:nvPr/>
        </p:nvSpPr>
        <p:spPr>
          <a:xfrm>
            <a:off x="904875" y="3238500"/>
            <a:ext cx="1028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3. Schema flessibile significa assenza di schema?</a:t>
            </a:r>
            <a:endParaRPr/>
          </a:p>
        </p:txBody>
      </p:sp>
      <p:sp>
        <p:nvSpPr>
          <p:cNvPr id="634" name="Google Shape;634;p34"/>
          <p:cNvSpPr/>
          <p:nvPr/>
        </p:nvSpPr>
        <p:spPr>
          <a:xfrm>
            <a:off x="904875" y="4000500"/>
            <a:ext cx="1028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4. Quando l’eventual consistency può essere accettabile?</a:t>
            </a:r>
            <a:endParaRPr/>
          </a:p>
        </p:txBody>
      </p:sp>
      <p:sp>
        <p:nvSpPr>
          <p:cNvPr id="635" name="Google Shape;635;p34"/>
          <p:cNvSpPr/>
          <p:nvPr/>
        </p:nvSpPr>
        <p:spPr>
          <a:xfrm>
            <a:off x="904875" y="4762500"/>
            <a:ext cx="1028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5. Perché denormalizzare può migliorare una lettura?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5"/>
          <p:cNvSpPr/>
          <p:nvPr/>
        </p:nvSpPr>
        <p:spPr>
          <a:xfrm>
            <a:off x="685800" y="361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SCELTA DEL DATABASE</a:t>
            </a:r>
            <a:endParaRPr/>
          </a:p>
        </p:txBody>
      </p:sp>
      <p:sp>
        <p:nvSpPr>
          <p:cNvPr id="642" name="Google Shape;642;p35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La prossima domanda</a:t>
            </a:r>
            <a:endParaRPr/>
          </a:p>
        </p:txBody>
      </p:sp>
      <p:sp>
        <p:nvSpPr>
          <p:cNvPr id="643" name="Google Shape;643;p3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35</a:t>
            </a:r>
            <a:endParaRPr/>
          </a:p>
        </p:txBody>
      </p:sp>
      <p:sp>
        <p:nvSpPr>
          <p:cNvPr id="644" name="Google Shape;644;p35"/>
          <p:cNvSpPr/>
          <p:nvPr/>
        </p:nvSpPr>
        <p:spPr>
          <a:xfrm>
            <a:off x="742950" y="180975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B7E34B"/>
                </a:solidFill>
              </a:rPr>
              <a:t>“</a:t>
            </a:r>
            <a:endParaRPr/>
          </a:p>
        </p:txBody>
      </p:sp>
      <p:sp>
        <p:nvSpPr>
          <p:cNvPr id="645" name="Google Shape;645;p35"/>
          <p:cNvSpPr/>
          <p:nvPr/>
        </p:nvSpPr>
        <p:spPr>
          <a:xfrm>
            <a:off x="1676400" y="1952625"/>
            <a:ext cx="8858250" cy="214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</a:rPr>
              <a:t>Quando la rete si divide, scegliamo consistenza o disponibilità?</a:t>
            </a:r>
            <a:endParaRPr/>
          </a:p>
        </p:txBody>
      </p:sp>
      <p:sp>
        <p:nvSpPr>
          <p:cNvPr id="646" name="Google Shape;646;p35"/>
          <p:cNvSpPr/>
          <p:nvPr/>
        </p:nvSpPr>
        <p:spPr>
          <a:xfrm>
            <a:off x="1676400" y="4591050"/>
            <a:ext cx="28575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5"/>
          <p:cNvSpPr/>
          <p:nvPr/>
        </p:nvSpPr>
        <p:spPr>
          <a:xfrm>
            <a:off x="1676400" y="5000625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B0BF"/>
                </a:solidFill>
              </a:rPr>
              <a:t>PROSSIMA LEZIONE • TEOREMA CAP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