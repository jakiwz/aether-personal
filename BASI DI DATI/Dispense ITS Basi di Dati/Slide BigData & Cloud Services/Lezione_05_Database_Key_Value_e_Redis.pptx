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3eac71472944d1" /><Relationship Type="http://schemas.openxmlformats.org/officeDocument/2006/relationships/extended-properties" Target="/docProps/app.xml" Id="Re3079b586b8649a2" /><Relationship Type="http://schemas.openxmlformats.org/officeDocument/2006/relationships/officeDocument" Target="/ppt/presentation.xml" Id="Rf46fc6a50fe247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51937c784344cc"/>
  </p:sldMasterIdLst>
  <p:notesMasterIdLst>
    <p:notesMasterId xmlns:r="http://schemas.openxmlformats.org/officeDocument/2006/relationships" r:id="Rde29eecf391844ae"/>
  </p:notesMasterIdLst>
  <p:sldIdLst>
    <p:sldId xmlns:r="http://schemas.openxmlformats.org/officeDocument/2006/relationships" id="256" r:id="R8781e6c895bd462f"/>
    <p:sldId xmlns:r="http://schemas.openxmlformats.org/officeDocument/2006/relationships" id="257" r:id="Ra4eb216511b54419"/>
    <p:sldId xmlns:r="http://schemas.openxmlformats.org/officeDocument/2006/relationships" id="258" r:id="R92c4ab0ecdc54604"/>
    <p:sldId xmlns:r="http://schemas.openxmlformats.org/officeDocument/2006/relationships" id="259" r:id="R3e1bd0d275a542e5"/>
    <p:sldId xmlns:r="http://schemas.openxmlformats.org/officeDocument/2006/relationships" id="260" r:id="R37aad3961cb14077"/>
    <p:sldId xmlns:r="http://schemas.openxmlformats.org/officeDocument/2006/relationships" id="261" r:id="R06ca0af87472436f"/>
    <p:sldId xmlns:r="http://schemas.openxmlformats.org/officeDocument/2006/relationships" id="262" r:id="R320dd58056814fe4"/>
    <p:sldId xmlns:r="http://schemas.openxmlformats.org/officeDocument/2006/relationships" id="263" r:id="R39461ee171bb41a3"/>
    <p:sldId xmlns:r="http://schemas.openxmlformats.org/officeDocument/2006/relationships" id="264" r:id="Rbed36502a3434882"/>
    <p:sldId xmlns:r="http://schemas.openxmlformats.org/officeDocument/2006/relationships" id="265" r:id="R3fae2b980dfc4c1c"/>
    <p:sldId xmlns:r="http://schemas.openxmlformats.org/officeDocument/2006/relationships" id="266" r:id="Rf288a4c30f434e2e"/>
    <p:sldId xmlns:r="http://schemas.openxmlformats.org/officeDocument/2006/relationships" id="267" r:id="Rca35e92b44844d99"/>
    <p:sldId xmlns:r="http://schemas.openxmlformats.org/officeDocument/2006/relationships" id="268" r:id="Rc24a600302a5459d"/>
    <p:sldId xmlns:r="http://schemas.openxmlformats.org/officeDocument/2006/relationships" id="269" r:id="Re69625529c114d99"/>
    <p:sldId xmlns:r="http://schemas.openxmlformats.org/officeDocument/2006/relationships" id="270" r:id="Rb4ca6b424b0b4b24"/>
    <p:sldId xmlns:r="http://schemas.openxmlformats.org/officeDocument/2006/relationships" id="271" r:id="R331b611e51464d65"/>
    <p:sldId xmlns:r="http://schemas.openxmlformats.org/officeDocument/2006/relationships" id="272" r:id="Rb6a32c18fb824d13"/>
    <p:sldId xmlns:r="http://schemas.openxmlformats.org/officeDocument/2006/relationships" id="273" r:id="R410af31c1e5245cc"/>
    <p:sldId xmlns:r="http://schemas.openxmlformats.org/officeDocument/2006/relationships" id="274" r:id="Rb6193d7b15e44296"/>
    <p:sldId xmlns:r="http://schemas.openxmlformats.org/officeDocument/2006/relationships" id="275" r:id="Ra19017118e634407"/>
    <p:sldId xmlns:r="http://schemas.openxmlformats.org/officeDocument/2006/relationships" id="276" r:id="R05b37d5be5ba4e86"/>
    <p:sldId xmlns:r="http://schemas.openxmlformats.org/officeDocument/2006/relationships" id="277" r:id="R2eb5c30decf7480d"/>
    <p:sldId xmlns:r="http://schemas.openxmlformats.org/officeDocument/2006/relationships" id="278" r:id="Re3fcabfca8d14898"/>
    <p:sldId xmlns:r="http://schemas.openxmlformats.org/officeDocument/2006/relationships" id="279" r:id="Rba257cbf4d2148cf"/>
    <p:sldId xmlns:r="http://schemas.openxmlformats.org/officeDocument/2006/relationships" id="280" r:id="R3ab8778ef4e040dc"/>
    <p:sldId xmlns:r="http://schemas.openxmlformats.org/officeDocument/2006/relationships" id="281" r:id="R72e6f7ba9cb1427f"/>
    <p:sldId xmlns:r="http://schemas.openxmlformats.org/officeDocument/2006/relationships" id="282" r:id="R1060f68709f54974"/>
    <p:sldId xmlns:r="http://schemas.openxmlformats.org/officeDocument/2006/relationships" id="283" r:id="Re77a01e9c36645c7"/>
    <p:sldId xmlns:r="http://schemas.openxmlformats.org/officeDocument/2006/relationships" id="284" r:id="R134cd000448c4901"/>
    <p:sldId xmlns:r="http://schemas.openxmlformats.org/officeDocument/2006/relationships" id="285" r:id="Rb8507edae0854599"/>
    <p:sldId xmlns:r="http://schemas.openxmlformats.org/officeDocument/2006/relationships" id="286" r:id="R140872353d0645f1"/>
    <p:sldId xmlns:r="http://schemas.openxmlformats.org/officeDocument/2006/relationships" id="287" r:id="R50a45f4258644014"/>
    <p:sldId xmlns:r="http://schemas.openxmlformats.org/officeDocument/2006/relationships" id="288" r:id="R52628691686c4afc"/>
    <p:sldId xmlns:r="http://schemas.openxmlformats.org/officeDocument/2006/relationships" id="289" r:id="R281138ab551f4b30"/>
    <p:sldId xmlns:r="http://schemas.openxmlformats.org/officeDocument/2006/relationships" id="290" r:id="R953325756a2149da"/>
    <p:sldId xmlns:r="http://schemas.openxmlformats.org/officeDocument/2006/relationships" id="291" r:id="R6fd80cab8a0b4edc"/>
    <p:sldId xmlns:r="http://schemas.openxmlformats.org/officeDocument/2006/relationships" id="292" r:id="R9689ef26a3cc4e52"/>
    <p:sldId xmlns:r="http://schemas.openxmlformats.org/officeDocument/2006/relationships" id="293" r:id="Rc468c7bb53184784"/>
    <p:sldId xmlns:r="http://schemas.openxmlformats.org/officeDocument/2006/relationships" id="294" r:id="Rabc398c37e784a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10a2731e5942b7" /><Relationship Type="http://schemas.openxmlformats.org/officeDocument/2006/relationships/slideMaster" Target="/ppt/slideMasters/slideMaster1.xml" Id="R0051937c784344cc" /><Relationship Type="http://schemas.openxmlformats.org/officeDocument/2006/relationships/notesMaster" Target="/ppt/notesMasters/notesMaster1.xml" Id="Rde29eecf391844ae" /><Relationship Type="http://schemas.openxmlformats.org/officeDocument/2006/relationships/presProps" Target="/ppt/presProps.xml" Id="Rbb4abf1e4e8d44ac" /><Relationship Type="http://schemas.openxmlformats.org/officeDocument/2006/relationships/tableStyles" Target="/ppt/tableStyles.xml" Id="Re783356f65e2432f" /><Relationship Type="http://schemas.openxmlformats.org/officeDocument/2006/relationships/slide" Target="/ppt/slides/slide1.xml" Id="R8781e6c895bd462f" /><Relationship Type="http://schemas.openxmlformats.org/officeDocument/2006/relationships/slide" Target="/ppt/slides/slide2.xml" Id="Ra4eb216511b54419" /><Relationship Type="http://schemas.openxmlformats.org/officeDocument/2006/relationships/slide" Target="/ppt/slides/slide3.xml" Id="R92c4ab0ecdc54604" /><Relationship Type="http://schemas.openxmlformats.org/officeDocument/2006/relationships/slide" Target="/ppt/slides/slide4.xml" Id="R3e1bd0d275a542e5" /><Relationship Type="http://schemas.openxmlformats.org/officeDocument/2006/relationships/slide" Target="/ppt/slides/slide5.xml" Id="R37aad3961cb14077" /><Relationship Type="http://schemas.openxmlformats.org/officeDocument/2006/relationships/slide" Target="/ppt/slides/slide6.xml" Id="R06ca0af87472436f" /><Relationship Type="http://schemas.openxmlformats.org/officeDocument/2006/relationships/slide" Target="/ppt/slides/slide7.xml" Id="R320dd58056814fe4" /><Relationship Type="http://schemas.openxmlformats.org/officeDocument/2006/relationships/slide" Target="/ppt/slides/slide8.xml" Id="R39461ee171bb41a3" /><Relationship Type="http://schemas.openxmlformats.org/officeDocument/2006/relationships/slide" Target="/ppt/slides/slide9.xml" Id="Rbed36502a3434882" /><Relationship Type="http://schemas.openxmlformats.org/officeDocument/2006/relationships/slide" Target="/ppt/slides/slide10.xml" Id="R3fae2b980dfc4c1c" /><Relationship Type="http://schemas.openxmlformats.org/officeDocument/2006/relationships/slide" Target="/ppt/slides/slide11.xml" Id="Rf288a4c30f434e2e" /><Relationship Type="http://schemas.openxmlformats.org/officeDocument/2006/relationships/slide" Target="/ppt/slides/slide12.xml" Id="Rca35e92b44844d99" /><Relationship Type="http://schemas.openxmlformats.org/officeDocument/2006/relationships/slide" Target="/ppt/slides/slide13.xml" Id="Rc24a600302a5459d" /><Relationship Type="http://schemas.openxmlformats.org/officeDocument/2006/relationships/slide" Target="/ppt/slides/slide14.xml" Id="Re69625529c114d99" /><Relationship Type="http://schemas.openxmlformats.org/officeDocument/2006/relationships/slide" Target="/ppt/slides/slide15.xml" Id="Rb4ca6b424b0b4b24" /><Relationship Type="http://schemas.openxmlformats.org/officeDocument/2006/relationships/slide" Target="/ppt/slides/slide16.xml" Id="R331b611e51464d65" /><Relationship Type="http://schemas.openxmlformats.org/officeDocument/2006/relationships/slide" Target="/ppt/slides/slide17.xml" Id="Rb6a32c18fb824d13" /><Relationship Type="http://schemas.openxmlformats.org/officeDocument/2006/relationships/slide" Target="/ppt/slides/slide18.xml" Id="R410af31c1e5245cc" /><Relationship Type="http://schemas.openxmlformats.org/officeDocument/2006/relationships/slide" Target="/ppt/slides/slide19.xml" Id="Rb6193d7b15e44296" /><Relationship Type="http://schemas.openxmlformats.org/officeDocument/2006/relationships/slide" Target="/ppt/slides/slide20.xml" Id="Ra19017118e634407" /><Relationship Type="http://schemas.openxmlformats.org/officeDocument/2006/relationships/slide" Target="/ppt/slides/slide21.xml" Id="R05b37d5be5ba4e86" /><Relationship Type="http://schemas.openxmlformats.org/officeDocument/2006/relationships/slide" Target="/ppt/slides/slide22.xml" Id="R2eb5c30decf7480d" /><Relationship Type="http://schemas.openxmlformats.org/officeDocument/2006/relationships/slide" Target="/ppt/slides/slide23.xml" Id="Re3fcabfca8d14898" /><Relationship Type="http://schemas.openxmlformats.org/officeDocument/2006/relationships/slide" Target="/ppt/slides/slide24.xml" Id="Rba257cbf4d2148cf" /><Relationship Type="http://schemas.openxmlformats.org/officeDocument/2006/relationships/slide" Target="/ppt/slides/slide25.xml" Id="R3ab8778ef4e040dc" /><Relationship Type="http://schemas.openxmlformats.org/officeDocument/2006/relationships/slide" Target="/ppt/slides/slide26.xml" Id="R72e6f7ba9cb1427f" /><Relationship Type="http://schemas.openxmlformats.org/officeDocument/2006/relationships/slide" Target="/ppt/slides/slide27.xml" Id="R1060f68709f54974" /><Relationship Type="http://schemas.openxmlformats.org/officeDocument/2006/relationships/slide" Target="/ppt/slides/slide28.xml" Id="Re77a01e9c36645c7" /><Relationship Type="http://schemas.openxmlformats.org/officeDocument/2006/relationships/slide" Target="/ppt/slides/slide29.xml" Id="R134cd000448c4901" /><Relationship Type="http://schemas.openxmlformats.org/officeDocument/2006/relationships/slide" Target="/ppt/slides/slide30.xml" Id="Rb8507edae0854599" /><Relationship Type="http://schemas.openxmlformats.org/officeDocument/2006/relationships/slide" Target="/ppt/slides/slide31.xml" Id="R140872353d0645f1" /><Relationship Type="http://schemas.openxmlformats.org/officeDocument/2006/relationships/slide" Target="/ppt/slides/slide32.xml" Id="R50a45f4258644014" /><Relationship Type="http://schemas.openxmlformats.org/officeDocument/2006/relationships/slide" Target="/ppt/slides/slide33.xml" Id="R52628691686c4afc" /><Relationship Type="http://schemas.openxmlformats.org/officeDocument/2006/relationships/slide" Target="/ppt/slides/slide34.xml" Id="R281138ab551f4b30" /><Relationship Type="http://schemas.openxmlformats.org/officeDocument/2006/relationships/slide" Target="/ppt/slides/slide35.xml" Id="R953325756a2149da" /><Relationship Type="http://schemas.openxmlformats.org/officeDocument/2006/relationships/slide" Target="/ppt/slides/slide36.xml" Id="R6fd80cab8a0b4edc" /><Relationship Type="http://schemas.openxmlformats.org/officeDocument/2006/relationships/slide" Target="/ppt/slides/slide37.xml" Id="R9689ef26a3cc4e52" /><Relationship Type="http://schemas.openxmlformats.org/officeDocument/2006/relationships/slide" Target="/ppt/slides/slide38.xml" Id="Rc468c7bb53184784" /><Relationship Type="http://schemas.openxmlformats.org/officeDocument/2006/relationships/slide" Target="/ppt/slides/slide39.xml" Id="Rabc398c37e784a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1c2e6338d24f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a1e717e7884033" /><Relationship Type="http://schemas.openxmlformats.org/officeDocument/2006/relationships/notesMaster" Target="/ppt/notesMasters/notesMaster1.xml" Id="R6270dcce3ab041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4e94713ec54922" /><Relationship Type="http://schemas.openxmlformats.org/officeDocument/2006/relationships/notesMaster" Target="/ppt/notesMasters/notesMaster1.xml" Id="R5018a527995542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fd077459f24fc9" /><Relationship Type="http://schemas.openxmlformats.org/officeDocument/2006/relationships/notesMaster" Target="/ppt/notesMasters/notesMaster1.xml" Id="R6a2d66a2713743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fd47c580864a43" /><Relationship Type="http://schemas.openxmlformats.org/officeDocument/2006/relationships/notesMaster" Target="/ppt/notesMasters/notesMaster1.xml" Id="R8215ff033c0b45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aba12285a6445c" /><Relationship Type="http://schemas.openxmlformats.org/officeDocument/2006/relationships/notesMaster" Target="/ppt/notesMasters/notesMaster1.xml" Id="R34235d62e53347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0630db472c49ca" /><Relationship Type="http://schemas.openxmlformats.org/officeDocument/2006/relationships/notesMaster" Target="/ppt/notesMasters/notesMaster1.xml" Id="Rb3b69b66f6fb4f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9a56c192c7424e" /><Relationship Type="http://schemas.openxmlformats.org/officeDocument/2006/relationships/notesMaster" Target="/ppt/notesMasters/notesMaster1.xml" Id="Rd6ba030db2cf4d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5ff65be2534b8d" /><Relationship Type="http://schemas.openxmlformats.org/officeDocument/2006/relationships/notesMaster" Target="/ppt/notesMasters/notesMaster1.xml" Id="Rc76b80b74e0d41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c725fc297e43f8" /><Relationship Type="http://schemas.openxmlformats.org/officeDocument/2006/relationships/notesMaster" Target="/ppt/notesMasters/notesMaster1.xml" Id="R0ad9c84eddf044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bf200082254168" /><Relationship Type="http://schemas.openxmlformats.org/officeDocument/2006/relationships/notesMaster" Target="/ppt/notesMasters/notesMaster1.xml" Id="R4e80f4f668cb49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36c9a021d349ad" /><Relationship Type="http://schemas.openxmlformats.org/officeDocument/2006/relationships/notesMaster" Target="/ppt/notesMasters/notesMaster1.xml" Id="Rb1d8b55b779249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11fda43dfd943df" /><Relationship Type="http://schemas.openxmlformats.org/officeDocument/2006/relationships/notesMaster" Target="/ppt/notesMasters/notesMaster1.xml" Id="R7c0aca1cc28d49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51abe2aaaa47b9" /><Relationship Type="http://schemas.openxmlformats.org/officeDocument/2006/relationships/notesMaster" Target="/ppt/notesMasters/notesMaster1.xml" Id="Rcbc439f8181a43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9e3b7647ec40d9" /><Relationship Type="http://schemas.openxmlformats.org/officeDocument/2006/relationships/notesMaster" Target="/ppt/notesMasters/notesMaster1.xml" Id="R2f0a080da1704e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84ab18474644fa" /><Relationship Type="http://schemas.openxmlformats.org/officeDocument/2006/relationships/notesMaster" Target="/ppt/notesMasters/notesMaster1.xml" Id="R913bd9c2f273434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395190f716a45b8" /><Relationship Type="http://schemas.openxmlformats.org/officeDocument/2006/relationships/notesMaster" Target="/ppt/notesMasters/notesMaster1.xml" Id="R8f73c0496f7648f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aa5df56b339497c" /><Relationship Type="http://schemas.openxmlformats.org/officeDocument/2006/relationships/notesMaster" Target="/ppt/notesMasters/notesMaster1.xml" Id="Ra7232d126d9143a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cbfc6118a47463d" /><Relationship Type="http://schemas.openxmlformats.org/officeDocument/2006/relationships/notesMaster" Target="/ppt/notesMasters/notesMaster1.xml" Id="R6e6526b6aebe4bf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9c03b5ca42745d2" /><Relationship Type="http://schemas.openxmlformats.org/officeDocument/2006/relationships/notesMaster" Target="/ppt/notesMasters/notesMaster1.xml" Id="R7da6e18005054f3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6e878bb80b545de" /><Relationship Type="http://schemas.openxmlformats.org/officeDocument/2006/relationships/notesMaster" Target="/ppt/notesMasters/notesMaster1.xml" Id="R139eb7711e5842c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e6a1a3ae54844da" /><Relationship Type="http://schemas.openxmlformats.org/officeDocument/2006/relationships/notesMaster" Target="/ppt/notesMasters/notesMaster1.xml" Id="Rfcd4bb0a18fb4d3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c25d1cc48ca43f1" /><Relationship Type="http://schemas.openxmlformats.org/officeDocument/2006/relationships/notesMaster" Target="/ppt/notesMasters/notesMaster1.xml" Id="Rc55bbf74f321463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91a3e36280a4016" /><Relationship Type="http://schemas.openxmlformats.org/officeDocument/2006/relationships/notesMaster" Target="/ppt/notesMasters/notesMaster1.xml" Id="R188eaa33297b45a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71ef5a911b44e3c" /><Relationship Type="http://schemas.openxmlformats.org/officeDocument/2006/relationships/notesMaster" Target="/ppt/notesMasters/notesMaster1.xml" Id="R2f22e4bd121f4b5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38b744d600d4af8" /><Relationship Type="http://schemas.openxmlformats.org/officeDocument/2006/relationships/notesMaster" Target="/ppt/notesMasters/notesMaster1.xml" Id="R5f21cfb5615541c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bbb2c9a5a94461b" /><Relationship Type="http://schemas.openxmlformats.org/officeDocument/2006/relationships/notesMaster" Target="/ppt/notesMasters/notesMaster1.xml" Id="R30662b3a48c4437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6996b48dc384748" /><Relationship Type="http://schemas.openxmlformats.org/officeDocument/2006/relationships/notesMaster" Target="/ppt/notesMasters/notesMaster1.xml" Id="R3e99d926de1944a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605ee7c0f054b3a" /><Relationship Type="http://schemas.openxmlformats.org/officeDocument/2006/relationships/notesMaster" Target="/ppt/notesMasters/notesMaster1.xml" Id="R886d261ee3814e7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53aa6a3d7864520" /><Relationship Type="http://schemas.openxmlformats.org/officeDocument/2006/relationships/notesMaster" Target="/ppt/notesMasters/notesMaster1.xml" Id="Reba175551bf74ba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1b1ae2c9a614149" /><Relationship Type="http://schemas.openxmlformats.org/officeDocument/2006/relationships/notesMaster" Target="/ppt/notesMasters/notesMaster1.xml" Id="Raec1da0d626f47c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b98e76428ab4654" /><Relationship Type="http://schemas.openxmlformats.org/officeDocument/2006/relationships/notesMaster" Target="/ppt/notesMasters/notesMaster1.xml" Id="Rd83f8e898b2044b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379fb8cf30e475a" /><Relationship Type="http://schemas.openxmlformats.org/officeDocument/2006/relationships/notesMaster" Target="/ppt/notesMasters/notesMaster1.xml" Id="R0ea4b3d0ca35425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6bcba5861fb4f19" /><Relationship Type="http://schemas.openxmlformats.org/officeDocument/2006/relationships/notesMaster" Target="/ppt/notesMasters/notesMaster1.xml" Id="R339cb1abc285461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743305a06304b10" /><Relationship Type="http://schemas.openxmlformats.org/officeDocument/2006/relationships/notesMaster" Target="/ppt/notesMasters/notesMaster1.xml" Id="Rc6f19048b60a4e3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cc8bb6bb4b649c2" /><Relationship Type="http://schemas.openxmlformats.org/officeDocument/2006/relationships/notesMaster" Target="/ppt/notesMasters/notesMaster1.xml" Id="R6de6181d91d64fa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1e93997218b495b" /><Relationship Type="http://schemas.openxmlformats.org/officeDocument/2006/relationships/notesMaster" Target="/ppt/notesMasters/notesMaster1.xml" Id="Re150b44729fa49e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d4138ab333b4844" /><Relationship Type="http://schemas.openxmlformats.org/officeDocument/2006/relationships/notesMaster" Target="/ppt/notesMasters/notesMaster1.xml" Id="Ree5fa36d92454d5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4dea03688e046eb" /><Relationship Type="http://schemas.openxmlformats.org/officeDocument/2006/relationships/notesMaster" Target="/ppt/notesMasters/notesMaster1.xml" Id="Re47d11a1cfcc40b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7e27fb912624ca9" /><Relationship Type="http://schemas.openxmlformats.org/officeDocument/2006/relationships/notesMaster" Target="/ppt/notesMasters/notesMaster1.xml" Id="R664922d8997a48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collegandoti a CAP: abbiamo deciso quali promesse mantenere durante i guasti; ora scegliamo un modello che risponda rapidamente quando conosciamo già la chiave del dato.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stimare quante verifiche di sessione genera un singolo utente in dieci minuti. Non cercare un numero esatto: fai emergere la moltiplicazione richieste × utenti.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 che l’operazione è semplice ma frequente. Il valore della cache nasce dal togliere lavoro ripetitivo e prevedibile al database autorevole.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Evita la guerra SQL contro NoSQL. Redis risolve un percorso di accesso specifico; il database relazionale può restare la fonte autorevole per account e pagamenti.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che la chiave non descrive una query: identifica direttamente il valore. La semplicità è potente quando il pattern di accesso è noto in anticipo.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progettare tre chiavi alla classe. Sottolinea che prefissi e separatori sono convenzioni applicative: Redis non interpreta semanticamente i due punti.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Redis si definisce data structure server. Anticipa che sceglieremo il tipo in base all’operazione da eseguire, non in base al nome dell’oggetto.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Redis documentation — Redis data types: https://redis.io/docs/latest/develop/data-types/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Redis come data structure server. Può essere usato per cache, code ed elaborazione di eventi; il ruolo corretto dipende da durabilità, memoria e requisiti applicativi.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Redis documentation — Redis data types: https://redis.io/docs/latest/develop/data-types/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Evita lo slogan “Redis è veloce perché è in RAM” come spiegazione completa. La RAM impone budget, TTL, eviction e monitoraggio.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Redis documentation — Key eviction: https://redis.io/docs/latest/develop/reference/eviction/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Descrivi Redis come processo separato raggiunto via rete. L’applicazione usa una libreria client; redis-cli ci permette di osservare il protocollo in modo didattico.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Esegui davvero i tre comandi. Fai leggere ogni riga: prompt, comando, risposta. Questo diventa il vocabolario minimo del laboratorio.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Redis command reference — SET: https://redis.io/docs/latest/commands/set/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 che SET supporta opzioni condizionali ed expiration. Una singola operazione evita finestre tra “controlla se esiste” e “scrivi”.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Redis command reference — SET: https://redis.io/docs/latest/commands/set/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TTL come semantica del dominio: una sessione scaduta non è un dato da archiviare. Ricorda che TTL restituisce valori speciali per chiave senza scadenza e chiave inesistente.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Redis command reference — EXPIRE: https://redis.io/docs/latest/commands/expire/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Racconta un utente dall’accesso alla scadenza. Chiedi quando rinnovare il TTL e quali rischi nascono da un rinnovo infinito.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documentazione descrive le strings come sequenze di byte. Possono rappresentare testo, numeri serializzati, flag o payload compatti.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Redis documentation — Redis data types: https://redis.io/docs/latest/develop/data-types/</a:t>
            </a:r>
          </a:p>
          <a:p xmlns:a="http://schemas.openxmlformats.org/drawingml/2006/main">
            <a:r>
              <a:t>- Redis documentation — Redis strings: https://redis.io/docs/latest/develop/data-types/strings/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Evidenzia che INCR è atomico e inizializza da zero una chiave assente. Con due client, il comando evita la race condition del read-modify-write.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Redis documentation — Redis strings: https://redis.io/docs/latest/develop/data-types/strings/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hash rappresenta un record come coppie campo-valore. Confrontalo con un dizionario Python e con una riga, chiarendo che non offre join relazionali.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Redis documentation — Redis data types: https://redis.io/docs/latest/develop/data-types/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list mantengono l’ordine di inserimento. Mostra come LPUSH e RPOP costruiscono una coda FIFO; invertire un lato cambia la semantica.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Redis documentation — Redis data types: https://redis.io/docs/latest/develop/data-types/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i generi o i preferiti per spiegare unicità, appartenenza, intersezione e unione. Non promettere un ordine che il tipo set non definisce.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Redis documentation — Redis data types: https://redis.io/docs/latest/develop/data-types/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sorted set mantiene membri unici ordinati per score. È naturale per classifiche, priorità e ranking temporanei.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Redis documentation — Redis data types: https://redis.io/docs/latest/develop/data-types/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Streams come log append-only che registra eventi in ordine e può essere letto da consumer. Rimani introduttivo: consumer group e retry verranno solo citati.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Redis documentation — Redis data types: https://redis.io/docs/latest/develop/data-types/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coprire la colonna di destra e chiedi alla classe di scegliere il tipo. La risposta deve includere l’operazione dominante.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è la regola progettuale centrale: in un key-value store i pattern di accesso guidano chiavi e tipi. Uno stesso utente può comparire in chiavi diverse per viste diverse.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 due client che leggono 10 e scrivono entrambi 11. Poi sostituisci la sequenza con due INCR e ottieni 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Redis documentation — Redis strings: https://redis.io/docs/latest/develop/data-types/strings/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che MULTI mette i comandi in coda ed EXEC li esegue in sequenza isolata. Redis non offre rollback; WATCH permette un controllo ottimistico su chiavi modificate.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Redis documentation — Transactions: https://redis.io/docs/latest/develop/using-commands/transactions/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Redis documenta che il pipelining riduce il costo dei round trip; il server deve però accodare le risposte, quindi i batch devono restare ragionevoli.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Redis documentation — Pipelining: https://redis.io/docs/latest/develop/using-commands/pipelining/</a:t>
            </a:r>
          </a:p>
          <a:p xmlns:a="http://schemas.openxmlformats.org/drawingml/2006/main">
            <a:r>
              <a:t>- Redis documentation — Transactions: https://redis.io/docs/latest/develop/using-commands/transactions/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documentazione Redis dichiara per Pub/Sub semantica at-most-once e suggerisce Streams quando servono garanzie più forti e persistenza.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Redis documentation — Pub/Sub: https://redis.io/docs/latest/develop/pubsub/</a:t>
            </a:r>
          </a:p>
          <a:p xmlns:a="http://schemas.openxmlformats.org/drawingml/2006/main">
            <a:r>
              <a:t>- Redis documentation — Redis data types: https://redis.io/docs/latest/develop/data-types/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Racconta il flusso: cercare in cache; su miss leggere la fonte autorevole; inserire con TTL; rispondere. Chiedi chi è responsabile dell’invalidazione.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descrivere un incidente per ciascun rischio. Introduci jitter sul TTL, locking o request coalescing solo come possibili tecniche, non come ricette universali.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 scadenza ed eviction. maxmemory limita il dataset; la policy determina il comportamento oltre il limite. La scelta dipende dal ruolo cache o database.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Redis documentation — Key eviction: https://redis.io/docs/latest/develop/reference/eviction/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Redis offre snapshot RDB, log AOF, nessuna persistenza o combinazione. Collega la scelta al Recovery Point Objective e alla ricostruibilità del dato.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Redis documentation — Redis persistence: https://redis.io/docs/latest/operate/oss_and_stack/management/persistence/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Redis usa replica asincrona per default. Il primary non attende ogni volta le repliche; anche richiedendo repliche connesse resta una finestra di possibile perdita.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Redis documentation — Replication: https://redis.io/docs/latest/operate/oss_and_stack/management/replication/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Redis Cluster usa 16.384 hash slot, non consistent hashing. Rimani concettuale: la lezione deve far capire sharding, routing e conseguenza sulle operazioni multi-key.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Redis documentation — Scale with Redis Cluster: https://redis.io/docs/latest/operate/oss_and_stack/management/scaling/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documentazione raccomanda accesso da client fidati, rete protetta, ACL e TLS. Ricorda che Redis non deve essere esposto direttamente a utenti o Internet.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Redis documentation — Redis security: https://redis.io/docs/latest/operate/oss_and_stack/management/security/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predisporre l’immagine prima della lezione se la rete d’aula è lenta. Ogni studente deve arrivare a PONG; chi termina aiuta un compagno. Il container è solo didattico e non è una configurazione di produzione.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Ogni missione richiede comandi, prova del risultato, prova di un caso limite e spiegazione della struttura scelta. La guida docente contiene consegna e soluzione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Concedi dodici minuti. Valuta soprattutto il collegamento tra comando, comportamento osservabile e rischio applicativo.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leggere una frase a sette studenti. Per ciascuna chiedi un comando o un caso DATAFLIX che la dimostri.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Chiudi con il limite del key-value puro: quando l’applicazione vuole leggere e aggiornare un oggetto ricco e variabile, il modello documentale diventa più naturale.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6455b0a5e94d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dcd8fe53624cd0" /><Relationship Type="http://schemas.openxmlformats.org/officeDocument/2006/relationships/slideLayout" Target="/ppt/slideLayouts/slideLayout1.xml" Id="R71983f9add2941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983f9add2941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4a0776ea344e9" /><Relationship Type="http://schemas.openxmlformats.org/officeDocument/2006/relationships/notesSlide" Target="/ppt/notesSlides/notesSlide1.xml" Id="R990cb36a229d41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bf3a3040f4c69" /><Relationship Type="http://schemas.openxmlformats.org/officeDocument/2006/relationships/notesSlide" Target="/ppt/notesSlides/notesSlide2.xml" Id="R53c6353688984c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feb9f1c2f40bf" /><Relationship Type="http://schemas.openxmlformats.org/officeDocument/2006/relationships/notesSlide" Target="/ppt/notesSlides/notesSlide3.xml" Id="R8ea29f5cab6145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d0f06a2204aaa" /><Relationship Type="http://schemas.openxmlformats.org/officeDocument/2006/relationships/notesSlide" Target="/ppt/notesSlides/notesSlide4.xml" Id="Rd77bbdf280464e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6eb43c42e4c90" /><Relationship Type="http://schemas.openxmlformats.org/officeDocument/2006/relationships/notesSlide" Target="/ppt/notesSlides/notesSlide5.xml" Id="Re4b2c24ae3ae45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d4dfe0eed42ae" /><Relationship Type="http://schemas.openxmlformats.org/officeDocument/2006/relationships/notesSlide" Target="/ppt/notesSlides/notesSlide6.xml" Id="R46cc3493e4d844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7d95fc88e4442" /><Relationship Type="http://schemas.openxmlformats.org/officeDocument/2006/relationships/notesSlide" Target="/ppt/notesSlides/notesSlide7.xml" Id="R3cd6a1ba0d524e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4dd86abfc46bf" /><Relationship Type="http://schemas.openxmlformats.org/officeDocument/2006/relationships/notesSlide" Target="/ppt/notesSlides/notesSlide8.xml" Id="Re56b4b8e088d41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9c920052342af" /><Relationship Type="http://schemas.openxmlformats.org/officeDocument/2006/relationships/notesSlide" Target="/ppt/notesSlides/notesSlide9.xml" Id="R6cfa67ab8a6b44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3b705a7874d68" /><Relationship Type="http://schemas.openxmlformats.org/officeDocument/2006/relationships/notesSlide" Target="/ppt/notesSlides/notesSlide10.xml" Id="R13b77c4b339548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8ffa44917410d" /><Relationship Type="http://schemas.openxmlformats.org/officeDocument/2006/relationships/notesSlide" Target="/ppt/notesSlides/notesSlide11.xml" Id="Ra0864c365a9449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15481f5cc4a25" /><Relationship Type="http://schemas.openxmlformats.org/officeDocument/2006/relationships/notesSlide" Target="/ppt/notesSlides/notesSlide12.xml" Id="Re04ea18e5edf42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668e5a683443a" /><Relationship Type="http://schemas.openxmlformats.org/officeDocument/2006/relationships/notesSlide" Target="/ppt/notesSlides/notesSlide13.xml" Id="R84f3a468549940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f0487b0a643d0" /><Relationship Type="http://schemas.openxmlformats.org/officeDocument/2006/relationships/notesSlide" Target="/ppt/notesSlides/notesSlide14.xml" Id="Ree1b69174cd74e2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fb1559b624644" /><Relationship Type="http://schemas.openxmlformats.org/officeDocument/2006/relationships/notesSlide" Target="/ppt/notesSlides/notesSlide15.xml" Id="R8595d5a0c4ee400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6644cacba4d72" /><Relationship Type="http://schemas.openxmlformats.org/officeDocument/2006/relationships/notesSlide" Target="/ppt/notesSlides/notesSlide16.xml" Id="Rfbd462a49b80439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d8ae6a8a04741" /><Relationship Type="http://schemas.openxmlformats.org/officeDocument/2006/relationships/notesSlide" Target="/ppt/notesSlides/notesSlide17.xml" Id="R6e95034699174a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aa50acf784355" /><Relationship Type="http://schemas.openxmlformats.org/officeDocument/2006/relationships/notesSlide" Target="/ppt/notesSlides/notesSlide18.xml" Id="Rd3bf73f0691443a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e2d081ba84640" /><Relationship Type="http://schemas.openxmlformats.org/officeDocument/2006/relationships/notesSlide" Target="/ppt/notesSlides/notesSlide19.xml" Id="R9b9090c0ef68469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cc0ca0c16450b" /><Relationship Type="http://schemas.openxmlformats.org/officeDocument/2006/relationships/notesSlide" Target="/ppt/notesSlides/notesSlide20.xml" Id="R3118e13e505d4bd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f657ee5cb4393" /><Relationship Type="http://schemas.openxmlformats.org/officeDocument/2006/relationships/notesSlide" Target="/ppt/notesSlides/notesSlide21.xml" Id="R4409fa7093804e7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8c4ee84274f19" /><Relationship Type="http://schemas.openxmlformats.org/officeDocument/2006/relationships/notesSlide" Target="/ppt/notesSlides/notesSlide22.xml" Id="R164e247746f442b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f44e77db643b5" /><Relationship Type="http://schemas.openxmlformats.org/officeDocument/2006/relationships/notesSlide" Target="/ppt/notesSlides/notesSlide23.xml" Id="R0962b98cbd464b0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ab37a2350433a" /><Relationship Type="http://schemas.openxmlformats.org/officeDocument/2006/relationships/notesSlide" Target="/ppt/notesSlides/notesSlide24.xml" Id="Rae46cdbcd97747b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7089440604b36" /><Relationship Type="http://schemas.openxmlformats.org/officeDocument/2006/relationships/notesSlide" Target="/ppt/notesSlides/notesSlide25.xml" Id="R4866619eb64548e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b5bd2cb234d6c" /><Relationship Type="http://schemas.openxmlformats.org/officeDocument/2006/relationships/notesSlide" Target="/ppt/notesSlides/notesSlide26.xml" Id="Ra7807f27c0e0409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9190140034d33" /><Relationship Type="http://schemas.openxmlformats.org/officeDocument/2006/relationships/notesSlide" Target="/ppt/notesSlides/notesSlide27.xml" Id="Rf348e4a451ee4ec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de033bbe5409b" /><Relationship Type="http://schemas.openxmlformats.org/officeDocument/2006/relationships/notesSlide" Target="/ppt/notesSlides/notesSlide28.xml" Id="Rab4acef8f581491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9c21d4e3a4128" /><Relationship Type="http://schemas.openxmlformats.org/officeDocument/2006/relationships/notesSlide" Target="/ppt/notesSlides/notesSlide29.xml" Id="Rf4c66a00484f4a7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f33ec301e4ff7" /><Relationship Type="http://schemas.openxmlformats.org/officeDocument/2006/relationships/notesSlide" Target="/ppt/notesSlides/notesSlide30.xml" Id="R667d513470854be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7f67fe00048a5" /><Relationship Type="http://schemas.openxmlformats.org/officeDocument/2006/relationships/notesSlide" Target="/ppt/notesSlides/notesSlide31.xml" Id="R399e5ca0901b4b1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f63e8348449b1" /><Relationship Type="http://schemas.openxmlformats.org/officeDocument/2006/relationships/notesSlide" Target="/ppt/notesSlides/notesSlide32.xml" Id="Recbbad061fa145f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77fa735024452" /><Relationship Type="http://schemas.openxmlformats.org/officeDocument/2006/relationships/notesSlide" Target="/ppt/notesSlides/notesSlide33.xml" Id="R855b97784f56462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402a1a5b7454e" /><Relationship Type="http://schemas.openxmlformats.org/officeDocument/2006/relationships/notesSlide" Target="/ppt/notesSlides/notesSlide34.xml" Id="R477de86d96ac4f4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4527c54784041" /><Relationship Type="http://schemas.openxmlformats.org/officeDocument/2006/relationships/notesSlide" Target="/ppt/notesSlides/notesSlide35.xml" Id="Reddeb2295b8747c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ae69ff07a403a" /><Relationship Type="http://schemas.openxmlformats.org/officeDocument/2006/relationships/notesSlide" Target="/ppt/notesSlides/notesSlide36.xml" Id="Re9227325eb23451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8fa726fff44af" /><Relationship Type="http://schemas.openxmlformats.org/officeDocument/2006/relationships/notesSlide" Target="/ppt/notesSlides/notesSlide37.xml" Id="Rf3eabd3bd96a427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6d00b86874892" /><Relationship Type="http://schemas.openxmlformats.org/officeDocument/2006/relationships/notesSlide" Target="/ppt/notesSlides/notesSlide38.xml" Id="R837ae644b7ce42d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0ba3c97a04b33" /><Relationship Type="http://schemas.openxmlformats.org/officeDocument/2006/relationships/notesSlide" Target="/ppt/notesSlides/notesSlide39.xml" Id="R4fd8f9a67b8740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B2F1D-AA99-4050-8E03-AF04A790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BIG DATA &amp; CLOUD 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07D88-BCD8-438A-BD41-E959AB49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Database Key-Value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E658D-5503-49FE-8371-F199B02A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809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8D4DE"/>
                </a:solidFill>
              </a:defRPr>
            </a:pPr>
            <a:r>
              <a:rPr sz="2175" b="0">
                <a:solidFill>
                  <a:srgbClr val="C8D4DE"/>
                </a:solidFill>
              </a:rPr>
              <a:t>Redis rende operative chiavi, scadenze, contatori e classifiche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CF0D8-52D2-4105-9532-64DC2A57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23950"/>
            <a:ext cx="2286000" cy="2381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0EE1C-8478-4DA7-83EF-8EA42077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24000"/>
            <a:ext cx="1809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050" b="1">
                <a:solidFill>
                  <a:srgbClr val="0B1F33"/>
                </a:solidFill>
              </a:defRPr>
            </a:pPr>
            <a:r>
              <a:rPr sz="7050" b="1">
                <a:solidFill>
                  <a:srgbClr val="0B1F33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DEDC2-00C0-4FCA-B069-89EDF054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BF"/>
                </a:solidFill>
              </a:defRPr>
            </a:pPr>
            <a:r>
              <a:rPr sz="1125" b="0">
                <a:solidFill>
                  <a:srgbClr val="9FB0BF"/>
                </a:solidFill>
              </a:rPr>
              <a:t>Lezione 05 • DATAFLIX</a:t>
            </a:r>
          </a:p>
        </p:txBody>
      </p:sp>
    </p:spTree>
    <p:extLst>
      <p:ext uri="{BB962C8B-B14F-4D97-AF65-F5344CB8AC3E}">
        <p14:creationId xmlns:p14="http://schemas.microsoft.com/office/powerpoint/2010/main" val="17197052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BE293-3F12-4F99-83C7-70039852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PROBLEMA REALE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584EC-948F-4995-A40A-811CDCCF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Ogni richiesta deve riconoscere l’utente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518D0-B1A8-46F7-8972-DE183810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E539E-0755-47D2-B214-9FE934B3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FF8A4C"/>
                </a:solidFill>
              </a:defRPr>
            </a:pPr>
            <a:r>
              <a:rPr sz="8250" b="1">
                <a:solidFill>
                  <a:srgbClr val="FF8A4C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01916-4CC8-41C4-828A-7111DFF3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43100"/>
            <a:ext cx="895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DATAFLIX ha milioni di sessioni attive. Interroghiamo il database relazionale per ogni play, pausa e ricerca?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02F67-7F9C-49FC-8D76-C1F7F3AF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726178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D6D1B-AD81-4B1E-9FFA-ACE5CCA6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20 MILIONI DI SESSIONI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68864-DA01-4753-803E-E13BFFDE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Il problema non è una query: è ripeterla milioni di volte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CEB58-A211-4BB5-BBD9-13E5ACAC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D64F5-912C-47EE-9895-048E5828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ED494-452F-429F-9425-C0143656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PAUSA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C7620-DE86-4243-B2F0-6497953D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002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CERCA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80D92-C3B4-42CF-A30E-BC39E59F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EE6"/>
                </a:solidFill>
              </a:defRPr>
            </a:pPr>
            <a:r>
              <a:rPr sz="1800" b="1">
                <a:solidFill>
                  <a:srgbClr val="7C6EE6"/>
                </a:solidFill>
              </a:rPr>
              <a:t>PROFILO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23925-7DCB-4254-A282-73A35CAD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002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LIKE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A1250-04F4-4805-9888-A567F6B1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552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↓  verifica sessione  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30ED0-8C26-4F2E-8E43-1F750914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476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A9A1B-CFE6-472B-B19B-22E20233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624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utente autenticato?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ECE30-4FFB-4B91-A289-5A65B80E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76875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7E34B"/>
                </a:solidFill>
              </a:defRPr>
            </a:pPr>
            <a:r>
              <a:rPr sz="1875" b="1">
                <a:solidFill>
                  <a:srgbClr val="B7E34B"/>
                </a:solidFill>
              </a:rPr>
              <a:t>Una chiave nota deve portare direttamente a una risposta.</a:t>
            </a:r>
          </a:p>
        </p:txBody>
      </p:sp>
    </p:spTree>
    <p:extLst>
      <p:ext uri="{BB962C8B-B14F-4D97-AF65-F5344CB8AC3E}">
        <p14:creationId xmlns:p14="http://schemas.microsoft.com/office/powerpoint/2010/main" val="3976426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7BBDA-81E3-4430-866A-AE9D85C5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KEY-VALUE &amp; REDIS • LEZIONE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ACF99-9D20-4D5F-9AC5-5DDA5BA7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Una tabella può farlo, ma con un costo diverso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8EF1C-943F-4AB2-8927-87CD59F9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9B04C-4308-4115-8410-1321D37E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4DEC5-97BC-4233-991D-05869654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C68F7-5BA1-4A38-BC0E-8F87BBA3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9E371-941C-4A27-91D9-7A5436E2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D6BF5-E917-4BC8-B382-62D1EB27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SOLO DATABASE RELAZIONALE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7B20F-7BDF-4250-B8B3-A71BC5F5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Ogni richiesta attraversa rete, pool di connessioni, parser, indici e concorrenza sul sistema autorevole.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CA3EF-1A87-46E5-80BD-19BABE90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LIVELLO KEY-VALUE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F5169-6780-44AF-AD65-D7C7056E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L’applicazione calcola una chiave, legge un valore compatto e applica una scadenza naturale.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5EA28-F335-45B2-8E5E-653B47BC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102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C6EE6"/>
                </a:solidFill>
              </a:defRPr>
            </a:pPr>
            <a:r>
              <a:rPr sz="1500" b="1">
                <a:solidFill>
                  <a:srgbClr val="7C6EE6"/>
                </a:solidFill>
              </a:rPr>
              <a:t>Non sostituiamo SQL: proteggiamo il suo lavoro più prezioso.</a:t>
            </a:r>
          </a:p>
        </p:txBody>
      </p:sp>
    </p:spTree>
    <p:extLst>
      <p:ext uri="{BB962C8B-B14F-4D97-AF65-F5344CB8AC3E}">
        <p14:creationId xmlns:p14="http://schemas.microsoft.com/office/powerpoint/2010/main" val="1242482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52859-76E7-46F0-ADC9-9F886034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ACCESSO PER CHIAVE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BE7BC-8282-4D57-B861-31F3D3E2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Il modello più diretto: KEY →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303E4-0951-495E-A746-2B1664E8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8B1E8-FE43-4CD3-ADB9-57383BFC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3714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B2ACA-E41C-4401-905A-08990537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622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session:AB123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F2061-E57A-4E66-9016-C8299730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622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8A4C"/>
                </a:solidFill>
              </a:defRPr>
            </a:pPr>
            <a:r>
              <a:rPr sz="390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77EB8-462F-42F1-8766-E14E304C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47875"/>
            <a:ext cx="4000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BF0C4-DA10-48FD-A4A0-900E9B78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28875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user_id = 42</a:t>
            </a:r>
          </a:p>
          <a:p xmlns:a="http://schemas.openxmlformats.org/drawingml/2006/main">
            <a:pPr algn="l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role = premium</a:t>
            </a:r>
          </a:p>
          <a:p xmlns:a="http://schemas.openxmlformats.org/drawingml/2006/main">
            <a:pPr algn="l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last_seen = 10:32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DAB7C-F7D7-455F-9791-4A7F7EE0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95875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Niente join. La chiave contiene già il percorso.</a:t>
            </a:r>
          </a:p>
        </p:txBody>
      </p:sp>
    </p:spTree>
    <p:extLst>
      <p:ext uri="{BB962C8B-B14F-4D97-AF65-F5344CB8AC3E}">
        <p14:creationId xmlns:p14="http://schemas.microsoft.com/office/powerpoint/2010/main" val="8606892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C5023D-0F65-4462-8A4E-1D778518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NAMING CONVENTION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D6163-F7B0-4BAC-9D43-FC2B4EF4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Le chiavi sono parte del modello dati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53613-B0DC-4189-A477-DCDDE937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33204-2074-4CC2-8E5C-1F02F3F1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7610E-A66B-439C-8118-C47CBFDD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14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session:AB123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ED817-4D62-461E-A1C4-F3111278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tipo + identificatore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B25FE-A86C-4F38-B527-99A9A04B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07E2E-4A34-4D7D-9664-CAF573B4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user:42:profile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83777-1000-4764-9E9E-2A436FD7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908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entità + id + vista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DA758-F68D-44AC-B77A-F1723685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EDD81-2BBC-4088-957D-74A03CA4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movie:81:views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141DF-C9B2-4704-8A37-09727958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671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risorsa + contatore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63CD9D-6B30-4A24-ABF6-EC69068E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DF847-BA39-48BF-B610-F8E627FE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434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rank:weekly:IT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E7991-A05A-4D19-81FE-E5F0EDFC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dominio + periodo + paese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B23CD-B7E2-4DFE-9F5D-19048879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292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2606D"/>
                </a:solidFill>
              </a:defRPr>
            </a:pPr>
            <a:r>
              <a:rPr sz="1725" b="1">
                <a:solidFill>
                  <a:srgbClr val="52606D"/>
                </a:solidFill>
              </a:rPr>
              <a:t>Una convenzione leggibile riduce collisioni e ambiguità.</a:t>
            </a:r>
          </a:p>
        </p:txBody>
      </p:sp>
    </p:spTree>
    <p:extLst>
      <p:ext uri="{BB962C8B-B14F-4D97-AF65-F5344CB8AC3E}">
        <p14:creationId xmlns:p14="http://schemas.microsoft.com/office/powerpoint/2010/main" val="1584029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C7B622-E247-4CB8-B843-596ACD9E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KEY-VALUE &amp; REDIS • LEZIONE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348E8-1147-4DB8-971E-AE44BFAE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valore non è soltanto una stringa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068D6-F7B0-40F9-A260-23FE8902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91B76-B59E-4C38-85D8-F74BC300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428875" cy="247650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EB2DA-B9BC-4461-A530-06155388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C2A64-EB55-49DA-AE07-1AC9A242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2009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STRING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6EC6E-C941-45EC-9BB2-206C4FAB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B8D9"/>
                </a:solidFill>
              </a:defRPr>
            </a:pPr>
            <a:r>
              <a:rPr sz="1425" b="1">
                <a:solidFill>
                  <a:srgbClr val="00B8D9"/>
                </a:solidFill>
              </a:rPr>
              <a:t>GET / 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E914F-2A6D-48DD-82A5-7842618B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2009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token, flag, cache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299FE-8971-484E-BE63-45AE104E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52625"/>
            <a:ext cx="2428875" cy="247650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B47EB-87F3-4A98-9475-33993099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52625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F6683-AC1E-48B9-8FEF-8809D461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90750"/>
            <a:ext cx="2009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HASH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D6EF7-A059-4187-9FFE-173958E1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9557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8A4C"/>
                </a:solidFill>
              </a:defRPr>
            </a:pPr>
            <a:r>
              <a:rPr sz="1425" b="1">
                <a:solidFill>
                  <a:srgbClr val="FF8A4C"/>
                </a:solidFill>
              </a:rPr>
              <a:t>HGET / HSET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04802-E779-45C1-9F90-97D9C892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57550"/>
            <a:ext cx="2009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record compatto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BFACD-1366-42D2-8E9E-9901C2C5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52625"/>
            <a:ext cx="2428875" cy="247650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27CE26-F3C0-4F90-9748-13434217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52625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BF2B30-1B1A-4DDE-886B-B1AFD3CD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009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F28053-A657-404D-A10A-927A8735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9557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7E34B"/>
                </a:solidFill>
              </a:defRPr>
            </a:pPr>
            <a:r>
              <a:rPr sz="1425" b="1">
                <a:solidFill>
                  <a:srgbClr val="B7E34B"/>
                </a:solidFill>
              </a:rPr>
              <a:t>SADD / SISMEMBER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781C92-551F-48FE-B573-52E74557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57550"/>
            <a:ext cx="2009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insieme unico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C87C67-55F6-4980-9FE1-08259C74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52625"/>
            <a:ext cx="2762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5271D-3D06-45F2-B412-E4E22EE0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52625"/>
            <a:ext cx="2762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6D81BE-075C-4C5C-86FF-4AFF612C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SORTED 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9AF002-BD59-487B-BFC2-8B25AF22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95575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C6EE6"/>
                </a:solidFill>
              </a:defRPr>
            </a:pPr>
            <a:r>
              <a:rPr sz="1425" b="1">
                <a:solidFill>
                  <a:srgbClr val="7C6EE6"/>
                </a:solidFill>
              </a:rPr>
              <a:t>ZADD / ZRANGE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F952F9-F271-485B-8105-CC90D40D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57550"/>
            <a:ext cx="234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classifica ordinata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CE40C4-7B89-42A9-B9F0-2DB0A883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143500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Redis espone strutture dati native, non soltanto blob.</a:t>
            </a:r>
          </a:p>
        </p:txBody>
      </p:sp>
    </p:spTree>
    <p:extLst>
      <p:ext uri="{BB962C8B-B14F-4D97-AF65-F5344CB8AC3E}">
        <p14:creationId xmlns:p14="http://schemas.microsoft.com/office/powerpoint/2010/main" val="111213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6E524-34E2-432B-9AAE-642A779F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PROBLEMA REALE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23C80-D4ED-4812-90F3-1C3F0BC2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Che cos’è Redis?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AB26D-48CE-4858-A572-BCED15C5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FE6ED-4B38-464D-9DBA-3C893A27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00B8D9"/>
                </a:solidFill>
              </a:defRPr>
            </a:pPr>
            <a:r>
              <a:rPr sz="8250" b="1">
                <a:solidFill>
                  <a:srgbClr val="00B8D9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5BF02-89DF-4B4D-8EF6-86516CC5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43100"/>
            <a:ext cx="895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Un server di strutture dati accessibile in rete, ottimizzato per operazioni rapide su chiavi e valori.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3077C-91BD-499D-94EA-2750ADE4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CA61B-E8E2-460D-B2CA-E3AC2CFD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482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0BF"/>
                </a:solidFill>
              </a:defRPr>
            </a:pPr>
            <a:r>
              <a:rPr sz="1200" b="1">
                <a:solidFill>
                  <a:srgbClr val="9FB0BF"/>
                </a:solidFill>
              </a:rPr>
              <a:t>CACHE • DATABASE • MESSAGING • EVENT PROCESSING</a:t>
            </a:r>
          </a:p>
        </p:txBody>
      </p:sp>
    </p:spTree>
    <p:extLst>
      <p:ext uri="{BB962C8B-B14F-4D97-AF65-F5344CB8AC3E}">
        <p14:creationId xmlns:p14="http://schemas.microsoft.com/office/powerpoint/2010/main" val="19952479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E94CD-1EBC-4752-9FFB-A14B0D17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RAM È VELOCE E FINITA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72F32-4DE2-4C85-A88E-AD42CB0F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La memoria riduce la latenza, ma introduce un limite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B961C-3D36-48FA-9D30-E3E09339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37775-574B-46FE-A744-1048D6D2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B7E34B"/>
                </a:solidFill>
              </a:defRPr>
            </a:pPr>
            <a:r>
              <a:rPr sz="3600" b="1">
                <a:solidFill>
                  <a:srgbClr val="B7E34B"/>
                </a:solidFill>
              </a:rPr>
              <a:t>RAM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A57D6-E140-4B4C-9CF6-0F93C7B1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→ accesso rapido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FB003-9A40-4A00-ADE6-3EAB7DFB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8A4C"/>
                </a:solidFill>
              </a:defRPr>
            </a:pPr>
            <a:r>
              <a:rPr sz="3150" b="1">
                <a:solidFill>
                  <a:srgbClr val="FF8A4C"/>
                </a:solidFill>
              </a:rPr>
              <a:t>CAPACITÀ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B1DA7-7921-4E63-ACA6-A1D3AC3C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33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→ maxmemory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1154C-01F4-440B-8B4D-69450E11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0B8D9"/>
                </a:solidFill>
              </a:defRPr>
            </a:pPr>
            <a:r>
              <a:rPr sz="3150" b="1">
                <a:solidFill>
                  <a:srgbClr val="00B8D9"/>
                </a:solidFill>
              </a:rPr>
              <a:t>POLITICA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E1B74-66F3-4A16-BAAC-FEE823C5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→ scadenza / eviction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31512-21DD-4EC1-B9A5-8E5F83E4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95875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F5A5A"/>
                </a:solidFill>
              </a:defRPr>
            </a:pPr>
            <a:r>
              <a:rPr sz="2025" b="1">
                <a:solidFill>
                  <a:srgbClr val="EF5A5A"/>
                </a:solidFill>
              </a:rPr>
              <a:t>Velocità senza una politica di memoria diventa un incidente.</a:t>
            </a:r>
          </a:p>
        </p:txBody>
      </p:sp>
    </p:spTree>
    <p:extLst>
      <p:ext uri="{BB962C8B-B14F-4D97-AF65-F5344CB8AC3E}">
        <p14:creationId xmlns:p14="http://schemas.microsoft.com/office/powerpoint/2010/main" val="14553037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1A3AE-AA9A-42A3-B9B5-95EF670D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CLIENT → COMMAND →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A2B14-B695-444E-9589-8749EC70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L’applicazione invia comandi a un server Redis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41F92-5EB6-486F-91C4-65C61882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B0FE6-FAB6-4FEF-9C4C-3F461D0C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667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1D84B-3CA3-4678-99AA-3D0956AE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APP DATAFLIX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6A8BB-E7EA-4379-A40E-42F5F67D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calcola la chiave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ED477-2451-458E-B0F3-171104FD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813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8A4C"/>
                </a:solidFill>
              </a:defRPr>
            </a:pPr>
            <a:r>
              <a:rPr sz="2100" b="1">
                <a:solidFill>
                  <a:srgbClr val="FF8A4C"/>
                </a:solidFill>
              </a:rPr>
              <a:t>SET / GET 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0CF32-97C6-41F5-A906-2CF341A8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BE402-475B-4004-87F0-9221A4F2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0507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REDIS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BBD72-B555-4798-B660-6C1781C2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6702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8D4DE"/>
                </a:solidFill>
              </a:defRPr>
            </a:pPr>
            <a:r>
              <a:rPr sz="1200" b="0">
                <a:solidFill>
                  <a:srgbClr val="C8D4DE"/>
                </a:solidFill>
              </a:rPr>
              <a:t>esegue il comando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5040A-E0A5-4D7C-B14E-97944098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813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B8D9"/>
                </a:solidFill>
              </a:defRPr>
            </a:pPr>
            <a:r>
              <a:rPr sz="2100" b="1">
                <a:solidFill>
                  <a:srgbClr val="00B8D9"/>
                </a:solidFill>
              </a:rPr>
              <a:t>→ OK /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953854-872E-460F-98F1-9600EBC6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482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Il protocollo trasporta comandi; il client traduce le risposte.</a:t>
            </a:r>
          </a:p>
        </p:txBody>
      </p:sp>
    </p:spTree>
    <p:extLst>
      <p:ext uri="{BB962C8B-B14F-4D97-AF65-F5344CB8AC3E}">
        <p14:creationId xmlns:p14="http://schemas.microsoft.com/office/powerpoint/2010/main" val="6225193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0101A-FB81-40AC-820E-E74A5194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REDIS-CLI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8163C-EE5A-4919-B24D-121665BB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Primo dialogo con Redis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C3EB5-DFA1-45B0-9A44-6EBE5BEA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22C1D-7A0E-4C21-89F5-EFAE40A8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856DA-0F50-4F26-9C7C-19E6F329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FE903-9664-4283-82A0-5509A79B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76450"/>
            <a:ext cx="94297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127.0.0.1:6379&gt; PING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PONG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127.0.0.1:6379&gt; SET course redis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127.0.0.1:6379&gt; GET course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"redis"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63CD9-6733-4F2B-9C3C-C1C0D572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72125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06D"/>
                </a:solidFill>
              </a:defRPr>
            </a:pPr>
            <a:r>
              <a:rPr sz="1650" b="1">
                <a:solidFill>
                  <a:srgbClr val="52606D"/>
                </a:solidFill>
              </a:rPr>
              <a:t>Scrivo una chiave. Leggo il valore. Osservo la risposta.</a:t>
            </a:r>
          </a:p>
        </p:txBody>
      </p:sp>
    </p:spTree>
    <p:extLst>
      <p:ext uri="{BB962C8B-B14F-4D97-AF65-F5344CB8AC3E}">
        <p14:creationId xmlns:p14="http://schemas.microsoft.com/office/powerpoint/2010/main" val="4205334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7F25C-B7DE-4432-8A7C-79981AAE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CREA, AGGIORNA O RIFIUTA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30E2D-0D11-4D93-BF46-AC60A63D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SET può dichiarare una condizione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C3255-CF3D-4703-9EBE-199EDDF1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206C0-6521-4DB1-9F40-391B10BD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57375"/>
            <a:ext cx="10096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968F0-BA1F-4AE3-BBF0-F7260632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57375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8D491-A0FD-4515-8340-08CD9125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24075"/>
            <a:ext cx="94297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SET session:AB123 user:42 NX EX 1800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NX  → crea soltanto se la chiave non esiste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XX  → aggiorna soltanto se la chiave esiste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EX  → assegna la durata in secondi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F2979-74AF-424B-9F67-24A1BD22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292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Condizione e scadenza avvengono nello stesso comando.</a:t>
            </a:r>
          </a:p>
        </p:txBody>
      </p:sp>
    </p:spTree>
    <p:extLst>
      <p:ext uri="{BB962C8B-B14F-4D97-AF65-F5344CB8AC3E}">
        <p14:creationId xmlns:p14="http://schemas.microsoft.com/office/powerpoint/2010/main" val="9899742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2CF88-E47A-4261-9AC1-C05B06BF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TIME TO LIVE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6A89D-C9AA-4115-81E2-1959D4A7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TTL trasforma il tempo in una regola del dato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A916E-364D-4084-B835-AD2B0032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45097-FDC8-4E98-AE97-44BD9753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session:AB123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B4D2A-3F65-425E-99BE-54EC421B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381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13395-F324-4A68-8188-3D652565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B8D9"/>
                </a:solidFill>
              </a:defRPr>
            </a:pPr>
            <a:r>
              <a:rPr sz="2025" b="1">
                <a:solidFill>
                  <a:srgbClr val="00B8D9"/>
                </a:solidFill>
              </a:rPr>
              <a:t>1800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529AE-9581-41D5-8B9F-FD68E1C4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05125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8A4C"/>
                </a:solidFill>
              </a:defRPr>
            </a:pPr>
            <a:r>
              <a:rPr sz="3375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22442-F4EE-4F99-92EE-6ED950E6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3714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chiave assente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BCB7F2-FACA-4A42-9C85-AA31F258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D4DE"/>
                </a:solidFill>
              </a:defRPr>
            </a:pPr>
            <a:r>
              <a:rPr sz="1650" b="1">
                <a:solidFill>
                  <a:srgbClr val="C8D4DE"/>
                </a:solidFill>
              </a:rPr>
              <a:t>TTL = -2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C34C3-C767-43F3-B2AC-95161E5B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91125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7E34B"/>
                </a:solidFill>
              </a:defRPr>
            </a:pPr>
            <a:r>
              <a:rPr sz="1875" b="1">
                <a:solidFill>
                  <a:srgbClr val="B7E34B"/>
                </a:solidFill>
              </a:rPr>
              <a:t>La scadenza automatica elimina stato che non deve vivere per sempre.</a:t>
            </a:r>
          </a:p>
        </p:txBody>
      </p:sp>
    </p:spTree>
    <p:extLst>
      <p:ext uri="{BB962C8B-B14F-4D97-AF65-F5344CB8AC3E}">
        <p14:creationId xmlns:p14="http://schemas.microsoft.com/office/powerpoint/2010/main" val="13584550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157C23-BF19-43F5-8F4B-1D26D5E8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KEY-VALUE &amp; REDIS • LEZIONE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CFDCA-E7BC-4349-A061-D3EFAF9D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sessione ha un ciclo di vita esplicito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8060F-8BB7-4E29-B6FC-43779C05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2CECE-E49D-4B21-8FB3-D7262E32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B8D9"/>
                </a:solidFill>
              </a:defRPr>
            </a:pPr>
            <a:r>
              <a:rPr sz="1875" b="1">
                <a:solidFill>
                  <a:srgbClr val="00B8D9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56C0B-B779-419C-A5CF-51DF6E7F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668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LOGIN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0188D-AA60-47B3-BC69-75C590B2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668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SET ... EX 1800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1EC3D-E8B4-4B80-AA82-1935FCA5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479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8A4C"/>
                </a:solidFill>
              </a:defRPr>
            </a:pPr>
            <a:r>
              <a:rPr sz="1875" b="1">
                <a:solidFill>
                  <a:srgbClr val="FF8A4C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C4BED-6A26-4C93-84D4-4B21FF74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479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RICHIESTA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BFC8A-D3CB-46ED-93C6-48E6CF14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479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GET session:AB123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6D002-B506-4780-AD7E-4CDF0E50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7E34B"/>
                </a:solidFill>
              </a:defRPr>
            </a:pPr>
            <a:r>
              <a:rPr sz="1875" b="1">
                <a:solidFill>
                  <a:srgbClr val="B7E34B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2573B-5DB8-43BB-9009-231DA654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289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ATTIVITÀ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2CB8D6-114B-4C97-BFB0-5604D192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289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EXPIRE ... 1800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3D197-015E-45EF-8C68-86109AA2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C6EE6"/>
                </a:solidFill>
              </a:defRPr>
            </a:pPr>
            <a:r>
              <a:rPr sz="1875" b="1">
                <a:solidFill>
                  <a:srgbClr val="7C6EE6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9570D8-AB7A-4A4D-8D2E-E3F3D0F3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100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LOGOUT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A8023-B845-4D67-842E-773460E6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00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DEL session:AB123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002078-2B2D-4489-A20E-49C38C7A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9107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F5A5A"/>
                </a:solidFill>
              </a:defRPr>
            </a:pPr>
            <a:r>
              <a:rPr sz="1875" b="1">
                <a:solidFill>
                  <a:srgbClr val="EF5A5A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DD495C-57DF-43F1-80E4-EE95D343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910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TIMEOUT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F78392-154B-44DB-8DB1-27A4C65A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910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Redis elimina la chiave</a:t>
            </a:r>
          </a:p>
        </p:txBody>
      </p:sp>
    </p:spTree>
    <p:extLst>
      <p:ext uri="{BB962C8B-B14F-4D97-AF65-F5344CB8AC3E}">
        <p14:creationId xmlns:p14="http://schemas.microsoft.com/office/powerpoint/2010/main" val="20105126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450260-E60C-4530-B169-DCCFA3A2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KEY-VALUE &amp; REDIS • LEZIONE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7092C-7CED-4173-9D6F-E2A43C3C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Strings: il tipo base, non solo testo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2F3B3-51BE-463A-9ED0-B6F2754D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81759-65D2-4BB3-8B64-F7C3F8EC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A767E-6DB6-4B40-887E-F4BDA38F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5B418-8D3F-4A5E-969B-2A9DAB67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3837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TOKEN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45A0E-C9F6-4597-80C6-5877CA11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7432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B8D9"/>
                </a:solidFill>
              </a:defRPr>
            </a:pPr>
            <a:r>
              <a:rPr sz="1425" b="1">
                <a:solidFill>
                  <a:srgbClr val="00B8D9"/>
                </a:solidFill>
              </a:rPr>
              <a:t>SET auth:token 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2A1D2-D38D-4F9B-86C5-094BDEC9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305175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valore binario o testuale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8E651-B178-4932-B992-EE0AA932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FEA05-D85C-4943-B080-B2C229E2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15AF6-DBF9-4979-9A29-58DF946D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23837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FLAG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FE0B88-89BC-42E4-AC28-EF41DDB2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432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8A4C"/>
                </a:solidFill>
              </a:defRPr>
            </a:pPr>
            <a:r>
              <a:rPr sz="1425" b="1">
                <a:solidFill>
                  <a:srgbClr val="FF8A4C"/>
                </a:solidFill>
              </a:rPr>
              <a:t>SET feature:new-ui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B4A18-CF30-419E-B92D-BE0B99F2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305175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configurazione veloce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0C96E-C111-450D-801D-0CE0D27F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B1E02-0874-4107-9255-E1230DF4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F785B-C214-457E-910E-33A865BD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23837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CACHE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04908A-7219-42A4-A4A5-4EB3BF60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7432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7E34B"/>
                </a:solidFill>
              </a:defRPr>
            </a:pPr>
            <a:r>
              <a:rPr sz="1425" b="1">
                <a:solidFill>
                  <a:srgbClr val="B7E34B"/>
                </a:solidFill>
              </a:rPr>
              <a:t>SET movie:81:title 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B0889C-EB16-4A1E-936B-8C970DF9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305175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risposta precomputata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4EACE-7F97-42C6-B1B9-45E9EEA1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435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Una stringa Redis è una sequenza di byte.</a:t>
            </a:r>
          </a:p>
        </p:txBody>
      </p:sp>
    </p:spTree>
    <p:extLst>
      <p:ext uri="{BB962C8B-B14F-4D97-AF65-F5344CB8AC3E}">
        <p14:creationId xmlns:p14="http://schemas.microsoft.com/office/powerpoint/2010/main" val="1551015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F7CDC-C858-4711-9752-96BE18CC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CONTATORE ATOMICO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EB80D-7C26-4EF8-B416-E5C283E8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INCR evita di perdere aggiornamenti concorrenti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A16BC-C71A-4599-A4D4-FB510627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68D7E-E8D2-4B47-9169-F188F0C4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9906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96586-DD90-441D-81EC-A16508B2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95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7A477-EDBE-4086-897A-05391F78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66950"/>
            <a:ext cx="9239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INCR movie:81:views      # +1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INCRBY user:42:minutes 45 # +45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GET movie:81:views        # "12001"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679C7-C067-4A39-81D6-0AC7D957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1012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INCR sostituisce GET → calcolo → SET.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8842A-17C7-44DF-8D76-23E044F5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292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D4DE"/>
                </a:solidFill>
              </a:defRPr>
            </a:pPr>
            <a:r>
              <a:rPr sz="1575" b="1">
                <a:solidFill>
                  <a:srgbClr val="C8D4DE"/>
                </a:solidFill>
              </a:rPr>
              <a:t>Visualizzazioni • tentativi login • rate limiting</a:t>
            </a:r>
          </a:p>
        </p:txBody>
      </p:sp>
    </p:spTree>
    <p:extLst>
      <p:ext uri="{BB962C8B-B14F-4D97-AF65-F5344CB8AC3E}">
        <p14:creationId xmlns:p14="http://schemas.microsoft.com/office/powerpoint/2010/main" val="20154916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39330-D0A1-4156-833B-140ABDE4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PROFILO DI SESSIONE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C54C3-9292-44BF-B56A-E040408E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Hashes: più campi sotto una sola chiave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26410-6D41-42E3-B560-40104DAE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FF0A1-517D-490E-AF8D-58C8F877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10382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AE0CF-8BDC-4B6B-83E4-30FA69F4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95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0E0E7-685D-4BD5-B887-76B346CB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124075"/>
            <a:ext cx="9715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HSET session:AB123 user_id 42 role premium device tv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HGET session:AB123 role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HGETALL session:AB123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E41D1-285E-4FBB-A66D-205B29EB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67250"/>
            <a:ext cx="10382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24F16-F101-4C72-99E6-DB5841D6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05375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session:AB123  →  { user_id: 42, role: premium, device: tv }</a:t>
            </a:r>
          </a:p>
        </p:txBody>
      </p:sp>
    </p:spTree>
    <p:extLst>
      <p:ext uri="{BB962C8B-B14F-4D97-AF65-F5344CB8AC3E}">
        <p14:creationId xmlns:p14="http://schemas.microsoft.com/office/powerpoint/2010/main" val="16686287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DDEE4-FA68-4BAF-A327-6488E103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KEY-VALUE &amp; REDIS • LEZIONE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06C7B-EF25-44F2-A87F-FFB44D45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Lists: ordine di inserimento e lavoro in coda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AA0A5-CFE0-4082-90BD-80255EE6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73975-7EC9-43A9-87DE-7BAAA132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10382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014D8-35EC-4A52-A3D7-B21013CA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95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1F907-EEA3-44CA-A170-B112B357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219325"/>
            <a:ext cx="971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LPUSH jobs:thumbnails movie:81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LPUSH jobs:thumbnails movie:82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RPOP  jobs:thumbnails     # movie:81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45CDB-8AE8-4FF1-9DB3-E9A65531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1487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B8D9"/>
                </a:solidFill>
              </a:defRPr>
            </a:pPr>
            <a:r>
              <a:rPr sz="1425" b="1">
                <a:solidFill>
                  <a:srgbClr val="00B8D9"/>
                </a:solidFill>
              </a:rPr>
              <a:t>SINISTRA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E154D-2635-4430-B42D-CC02B8EF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1962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movie:82  |  movie:81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CC73C-82C2-4D6A-9150-D0C61C94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1487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8A4C"/>
                </a:solidFill>
              </a:defRPr>
            </a:pPr>
            <a:r>
              <a:rPr sz="1425" b="1">
                <a:solidFill>
                  <a:srgbClr val="FF8A4C"/>
                </a:solidFill>
              </a:rPr>
              <a:t>DESTRA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EA882-DE76-4CFE-9CBB-0FEF687B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42925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06D"/>
                </a:solidFill>
              </a:defRPr>
            </a:pPr>
            <a:r>
              <a:rPr sz="1650" b="1">
                <a:solidFill>
                  <a:srgbClr val="52606D"/>
                </a:solidFill>
              </a:rPr>
              <a:t>Definisci sempre da quale lato inserisci e da quale estrai.</a:t>
            </a:r>
          </a:p>
        </p:txBody>
      </p:sp>
    </p:spTree>
    <p:extLst>
      <p:ext uri="{BB962C8B-B14F-4D97-AF65-F5344CB8AC3E}">
        <p14:creationId xmlns:p14="http://schemas.microsoft.com/office/powerpoint/2010/main" val="15619337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E5B4F-D12E-4A15-848D-62A12C48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KEY-VALUE &amp; REDIS • LEZIONE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D37D3-B865-40C4-BECA-7DE317EF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Sets: unicità e appartenenza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8191A-D5CB-4188-9AEA-EAA1FD2B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5D4E2-B48D-43BD-B2F3-D584E224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103822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C3511-A24F-4510-82C3-1CF09029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95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A8A1F-0041-4C0D-AEE3-434B32AF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171700"/>
            <a:ext cx="971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SADD movie:81:genres sci-fi drama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SISMEMBER movie:81:genres drama   # 1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SADD user:42:favorites movie:81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SINTER user:42:favorites user:77:favorites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F4461-A7C4-4223-93B5-047C26FF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911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Ordine non garantito • elementi unici • operazioni insiemistiche</a:t>
            </a:r>
          </a:p>
        </p:txBody>
      </p:sp>
    </p:spTree>
    <p:extLst>
      <p:ext uri="{BB962C8B-B14F-4D97-AF65-F5344CB8AC3E}">
        <p14:creationId xmlns:p14="http://schemas.microsoft.com/office/powerpoint/2010/main" val="20021513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D1CAE-083F-4B0C-971D-163DB789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MEMBRO UNICO + SCORE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A7BD0-8190-43F1-8CCD-BE986FE1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Sorted sets: una classifica aggiornata in tempo reale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0F3D8-6E4F-4AD7-9D5D-4764A50F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3DED8-1C99-416E-BEB1-80F05DD9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103822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41A9D-0910-4812-9652-D073995D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95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89337-EAFD-4779-8350-1A5919D0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076450"/>
            <a:ext cx="971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ZADD rank:weekly 980 user:42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ZADD rank:weekly 1120 user:77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ZINCRBY rank:weekly 45 user:42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ZREVRANGE rank:weekly 0 9 WITHSCORES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6491E-CF69-4425-931F-B5B7464C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006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1° user:77   1120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C0355-98EE-446E-A211-D8D28E50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006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2° user:42   1025</a:t>
            </a:r>
          </a:p>
        </p:txBody>
      </p:sp>
    </p:spTree>
    <p:extLst>
      <p:ext uri="{BB962C8B-B14F-4D97-AF65-F5344CB8AC3E}">
        <p14:creationId xmlns:p14="http://schemas.microsoft.com/office/powerpoint/2010/main" val="180247846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A5672-1064-4B41-943E-5AE19B36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ORDINE + ID + CONSUMO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B7873-2E5F-4804-B1CD-AED6BD7C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Streams: un log append-only per gli eventi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586D5-C06E-415D-A7FF-ABA25631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79B36-CBC1-43B9-99E3-5B7D4E46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10382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3B340-A0E9-4B1F-B037-48AB690A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95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C89F3-CD32-45FF-B50F-631AD828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17170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XADD stream:views * user 42 movie 81 action play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XADD stream:views * user 42 movie 81 action pause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XRANGE stream:views - 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03788-737A-44C7-B9A5-A83A7EFC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B8D9"/>
                </a:solidFill>
              </a:defRPr>
            </a:pPr>
            <a:r>
              <a:rPr sz="1650" b="1">
                <a:solidFill>
                  <a:srgbClr val="00B8D9"/>
                </a:solidFill>
              </a:rPr>
              <a:t>evento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F52BC-7D19-4619-A22F-C43E9A6D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1012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06D"/>
                </a:solidFill>
              </a:defRPr>
            </a:pPr>
            <a:r>
              <a:rPr sz="2100" b="1">
                <a:solidFill>
                  <a:srgbClr val="52606D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7E1E0-DAD5-458E-96B7-5551F3B8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101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8A4C"/>
                </a:solidFill>
              </a:defRPr>
            </a:pPr>
            <a:r>
              <a:rPr sz="1650" b="1">
                <a:solidFill>
                  <a:srgbClr val="FF8A4C"/>
                </a:solidFill>
              </a:rPr>
              <a:t>evento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3E033C-10D8-423E-8C98-BE61129E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81012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06D"/>
                </a:solidFill>
              </a:defRPr>
            </a:pPr>
            <a:r>
              <a:rPr sz="2100" b="1">
                <a:solidFill>
                  <a:srgbClr val="52606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0DCB7-D18A-4C71-B099-CE88F339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101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7E34B"/>
                </a:solidFill>
              </a:defRPr>
            </a:pPr>
            <a:r>
              <a:rPr sz="1650" b="1">
                <a:solidFill>
                  <a:srgbClr val="B7E34B"/>
                </a:solidFill>
              </a:rPr>
              <a:t>evento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0FAAD-B434-4B67-80E2-A9BBD6AA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2450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Persistito e rileggibile: diverso da un messaggio effimero.</a:t>
            </a:r>
          </a:p>
        </p:txBody>
      </p:sp>
    </p:spTree>
    <p:extLst>
      <p:ext uri="{BB962C8B-B14F-4D97-AF65-F5344CB8AC3E}">
        <p14:creationId xmlns:p14="http://schemas.microsoft.com/office/powerpoint/2010/main" val="80794095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D482E2-8632-40F1-8D3A-A264049C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KEY-VALUE &amp; REDIS • LEZIONE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6E568-078B-4B2F-9E5A-3A9C8C52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Scegli il tipo dalla domanda che devi risolvere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45DB3-36B3-4358-9D40-88D44B95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874164-9EEE-4C63-AC34-B5979218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10572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9FCDC-3D08-409D-9F87-E7ED534B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526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sessione con scadenza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32B62-AD66-4EEC-B5BE-271C87B4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526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B8D9"/>
                </a:solidFill>
              </a:defRPr>
            </a:pPr>
            <a:r>
              <a:rPr sz="1650" b="1">
                <a:solidFill>
                  <a:srgbClr val="00B8D9"/>
                </a:solidFill>
              </a:rPr>
              <a:t>STRING / HASH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AA8B7-FF4A-4F33-B227-618182CB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0300"/>
            <a:ext cx="10572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63082-8922-420F-82EE-3B9BFBB2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336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coda miniature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2CE90-5D76-4D19-ABA0-39D2C0FA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336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C6EE6"/>
                </a:solidFill>
              </a:defRPr>
            </a:pPr>
            <a:r>
              <a:rPr sz="1650" b="1">
                <a:solidFill>
                  <a:srgbClr val="7C6EE6"/>
                </a:solidFill>
              </a:rPr>
              <a:t>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D6E7B-614D-4FCB-A55B-062CDF02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81350"/>
            <a:ext cx="10572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48DA8-0928-4B41-8C28-DFAEAD1C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generi unici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9C9FC-0791-4F0C-8C9C-EE39821C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14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B7E34B"/>
                </a:solidFill>
              </a:defRPr>
            </a:pPr>
            <a:r>
              <a:rPr sz="1650" b="1">
                <a:solidFill>
                  <a:srgbClr val="B7E34B"/>
                </a:solidFill>
              </a:rPr>
              <a:t>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9E278-9416-42CA-A605-A12DFB74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62400"/>
            <a:ext cx="10572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FEF32-C21F-47FB-9CF9-6D5EEDFC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classifica settimanale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84D5B1-C5BE-4869-980D-57AD4CC9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95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A4C"/>
                </a:solidFill>
              </a:defRPr>
            </a:pPr>
            <a:r>
              <a:rPr sz="1650" b="1">
                <a:solidFill>
                  <a:srgbClr val="FF8A4C"/>
                </a:solidFill>
              </a:rPr>
              <a:t>SORTED 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BF3619-FE71-44C8-86A4-63BD7DFB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43450"/>
            <a:ext cx="10572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67F7FC-5323-43A7-8FC7-908694A4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768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eventi di visione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F16E1A-9125-4230-9D26-56B42A8A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87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7A36A"/>
                </a:solidFill>
              </a:defRPr>
            </a:pPr>
            <a:r>
              <a:rPr sz="1650" b="1">
                <a:solidFill>
                  <a:srgbClr val="27A36A"/>
                </a:solidFill>
              </a:rPr>
              <a:t>STREAM</a:t>
            </a:r>
          </a:p>
        </p:txBody>
      </p:sp>
    </p:spTree>
    <p:extLst>
      <p:ext uri="{BB962C8B-B14F-4D97-AF65-F5344CB8AC3E}">
        <p14:creationId xmlns:p14="http://schemas.microsoft.com/office/powerpoint/2010/main" val="38112297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C9053-EFFD-404C-8C35-30488363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PROBLEMA REALE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51C84-6863-470D-B864-C9F4BA70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Prima l’operazione, poi la struttura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7070D-C060-445D-8AC6-05504F51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62D37-6864-4E27-A842-048463DD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7C6EE6"/>
                </a:solidFill>
              </a:defRPr>
            </a:pPr>
            <a:r>
              <a:rPr sz="8250" b="1">
                <a:solidFill>
                  <a:srgbClr val="7C6EE6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76103-B458-482A-B2FB-AC296716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43100"/>
            <a:ext cx="895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Non modellare “un utente”. Modella: leggere la sessione, incrementare i minuti, verificare un preferito, ordinare una classifica.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72EFA-39F9-4B67-8611-0AE9AE4C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841149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D0360-1D99-402D-9ABF-C87B7CCF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KEY-VALUE &amp; REDIS • LEZIONE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CE531-12A3-4DE1-9A8C-78715337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 comando atomico elimina una finestra di gara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412E6-10C1-4047-8A65-DB0B7A6E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A744B-F5F7-47BF-B095-6EBBC887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C6BFF-0F7F-4A7E-BE06-671F6D84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ED4CB-89D5-4124-BE17-DECB161B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0788D-762F-423D-8E24-FD9E31A2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F6F65-AA02-4C3D-B257-DB4FF575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READ–MODIFY–WRITE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E878E-DABB-4B31-BDA1-47503AF9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GET counter → calcolo locale → SET counter. Due client possono leggere lo stesso valore e perdere un incremento.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024A0-DCA3-4C94-A4A8-FCABB775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COMANDO ATOMICO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55EE4-1D74-4BEF-B3B4-85CBF519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INCR counter viene eseguito come singola operazione indivisibile dal server.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A28EE0-919B-4EA4-8BC7-77BF84E1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81025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C6EE6"/>
                </a:solidFill>
              </a:defRPr>
            </a:pPr>
            <a:r>
              <a:rPr sz="1500" b="1">
                <a:solidFill>
                  <a:srgbClr val="7C6EE6"/>
                </a:solidFill>
              </a:rPr>
              <a:t>La concorrenza cambia il risultato anche se ogni singolo client “funziona”.</a:t>
            </a:r>
          </a:p>
        </p:txBody>
      </p:sp>
    </p:spTree>
    <p:extLst>
      <p:ext uri="{BB962C8B-B14F-4D97-AF65-F5344CB8AC3E}">
        <p14:creationId xmlns:p14="http://schemas.microsoft.com/office/powerpoint/2010/main" val="107872116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FC511-DB41-457C-802A-C07E062B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TRANSAZIONI REDIS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C11E7-9CBA-40C6-91AA-3CB25D9D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MULTI ed EXEC raggruppano più comandi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9D391-CCB8-40B2-A873-8F092289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9BA64-DD74-4A39-A445-594C4DEC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5715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8E0BF-E0F0-45C0-8140-570886BA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95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E7E2D-60AB-4B2A-9C97-D2E880DE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124075"/>
            <a:ext cx="5048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MULTI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INCR user:42:points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ZINCRBY rank:weekly 1 user:42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EXEC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DCC5C-F16B-4EBD-ACC9-D680F5BF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serializzati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863FB-6ACF-4656-B2AD-4D334978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622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nessun comando esterno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si inserisce nel mezzo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FB626-27E4-4512-8710-0EAF50C0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957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F5A5A"/>
                </a:solidFill>
              </a:defRPr>
            </a:pPr>
            <a:r>
              <a:rPr sz="1875" b="1">
                <a:solidFill>
                  <a:srgbClr val="EF5A5A"/>
                </a:solidFill>
              </a:rPr>
              <a:t>NO ROLLBACK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6C4D0-1B78-4F06-A9E4-1A7A1536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1012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6EE6"/>
                </a:solidFill>
              </a:defRPr>
            </a:pPr>
            <a:r>
              <a:rPr sz="1650" b="1">
                <a:solidFill>
                  <a:srgbClr val="7C6EE6"/>
                </a:solidFill>
              </a:rPr>
              <a:t>WATCH = locking ottimistico</a:t>
            </a:r>
          </a:p>
        </p:txBody>
      </p:sp>
    </p:spTree>
    <p:extLst>
      <p:ext uri="{BB962C8B-B14F-4D97-AF65-F5344CB8AC3E}">
        <p14:creationId xmlns:p14="http://schemas.microsoft.com/office/powerpoint/2010/main" val="173127127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8CCBA9-C3A0-4241-9315-ACB10B38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KEY-VALUE &amp; REDIS • LEZIONE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4C2B6-9758-4252-BB56-43D8FA3D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Pipelining e transazione risolvono problemi diversi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40B7C-34D0-4258-B72D-D8046D94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89268-7508-4A3A-B2A6-8F34C1E6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FAC1C-661D-41AD-9BB6-7AFA1B7A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56478-2868-417B-98A7-B85D4710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0265B-47EE-4326-BFD9-76745F42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6F66C-A52A-4CA4-86F4-B52E1721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C11E9-0925-439C-8914-165FD622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Invia molti comandi senza pagare un round trip per ciascuno. Migliora throughput e latenza di rete.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F1864-4B3B-4B12-9D82-4FA9428D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TRANSAZIONE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9A90F-1603-4644-B999-45D0FBD1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Raggruppa l’esecuzione logica dei comandi. Protegge l’ordine, non riduce da sola tutti i costi di rete.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E256E-3D4B-431A-8DFD-99613243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10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F5A5A"/>
                </a:solidFill>
              </a:defRPr>
            </a:pPr>
            <a:r>
              <a:rPr sz="1650" b="1">
                <a:solidFill>
                  <a:srgbClr val="EF5A5A"/>
                </a:solidFill>
              </a:rPr>
              <a:t>Velocità di trasporto ≠ atomicità.</a:t>
            </a:r>
          </a:p>
        </p:txBody>
      </p:sp>
    </p:spTree>
    <p:extLst>
      <p:ext uri="{BB962C8B-B14F-4D97-AF65-F5344CB8AC3E}">
        <p14:creationId xmlns:p14="http://schemas.microsoft.com/office/powerpoint/2010/main" val="42557682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FE53E-5531-44B2-84F6-95503529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KEY-VALUE &amp; REDIS • LEZIONE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8749C-7E05-48C3-A3BB-CD625002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Pub/Sub o Streams? Dipende dalla consegna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2816B-CDA6-4A6B-AC84-2D4D7CF4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E9B69-464E-4441-8FD7-BD2FC3F9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15ECB-E9B4-466B-9D60-F1C6CC3F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38C5B-8EF6-4B12-9F49-DC224607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FF9A5-8470-4ACC-910B-83B1358B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3E921-C0A9-4864-ACCB-63E77F14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PUB/SUB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084B9-C59F-4A41-B4C9-17AAC2F9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Messaggio effimero, consegna at-most-once. Se il subscriber è disconnesso, il messaggio può andare perso.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3EFC9-85F9-4F60-B3BD-F5BCEA2A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STREAMS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F9F02-F531-462C-84D0-DDD41F92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Eventi persistiti e rileggibili; adatti quando servono cronologia, consumer e garanzie più forti.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24E883-60EE-47D0-99F1-3B0FD13A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81025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C6EE6"/>
                </a:solidFill>
              </a:defRPr>
            </a:pPr>
            <a:r>
              <a:rPr sz="1575" b="1">
                <a:solidFill>
                  <a:srgbClr val="7C6EE6"/>
                </a:solidFill>
              </a:rPr>
              <a:t>Notifica live e processo affidabile non sono la stessa cosa.</a:t>
            </a:r>
          </a:p>
        </p:txBody>
      </p:sp>
    </p:spTree>
    <p:extLst>
      <p:ext uri="{BB962C8B-B14F-4D97-AF65-F5344CB8AC3E}">
        <p14:creationId xmlns:p14="http://schemas.microsoft.com/office/powerpoint/2010/main" val="180634577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7D5A72-87FD-430C-85A1-5447C7E7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CACHE HIT / CACHE MISS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535AB-AD30-4352-996C-02185F8D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Cache-aside: l’applicazione controlla il percorso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5FC1E-F5E4-4F8C-B262-5A29C771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A6274-C134-452A-B245-17EE9490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07542-3D0C-4508-B47A-7C940417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8607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APPLICAZIONE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BAD49-360B-4E99-A08E-F035535F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4802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GET movie:81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02AB1-CFA6-4483-8FA3-9FB57438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051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5B48B-FCF9-4504-96BA-F2957CAA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11B43-E313-4744-858B-F096976E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193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REDIS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29E32-54A2-40B0-ADCF-341A742B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81275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8D4DE"/>
                </a:solidFill>
              </a:defRPr>
            </a:pPr>
            <a:r>
              <a:rPr sz="1200" b="0">
                <a:solidFill>
                  <a:srgbClr val="C8D4DE"/>
                </a:solidFill>
              </a:rPr>
              <a:t>cache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B256B-0EEA-4029-9449-4A0AEF18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337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F5A5A"/>
                </a:solidFill>
              </a:defRPr>
            </a:pPr>
            <a:r>
              <a:rPr sz="1650" b="1">
                <a:solidFill>
                  <a:srgbClr val="EF5A5A"/>
                </a:solidFill>
              </a:rPr>
              <a:t>MISS 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D9C3A-8B8E-48FF-ABC9-97D8041F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2762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6BD98-0B76-4A45-94D3-F0A0CFA9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POSTGRESQL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0CC1A-A313-4EEE-94BF-0EE689AE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57650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fonte autorevole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1AEDF-8CAC-45ED-8CBE-5F0C12E6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23862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7E34B"/>
                </a:solidFill>
              </a:defRPr>
            </a:pPr>
            <a:r>
              <a:rPr sz="1650" b="1">
                <a:solidFill>
                  <a:srgbClr val="B7E34B"/>
                </a:solidFill>
              </a:rPr>
              <a:t>← SET + TTL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5BB9E-8E2A-4263-850F-A3BC9DAB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340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HIT: risposta immediata • MISS: carica, memorizza, rispondi</a:t>
            </a:r>
          </a:p>
        </p:txBody>
      </p:sp>
    </p:spTree>
    <p:extLst>
      <p:ext uri="{BB962C8B-B14F-4D97-AF65-F5344CB8AC3E}">
        <p14:creationId xmlns:p14="http://schemas.microsoft.com/office/powerpoint/2010/main" val="109942359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904DB4-40B4-4960-B1FD-B079E90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KEY-VALUE &amp; REDIS • LEZIONE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90072-D0F7-4889-AECB-33E8A1C2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cache fallisce quando la trattiamo come magia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6836B-C615-42D9-B1B1-33A0B5FC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2316D-0E2C-4DB2-8D49-578C3364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B07BE-63E0-4389-90F8-250BB42B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F5A5A"/>
                </a:solidFill>
              </a:defRPr>
            </a:pPr>
            <a:r>
              <a:rPr sz="1500" b="1">
                <a:solidFill>
                  <a:srgbClr val="EF5A5A"/>
                </a:solidFill>
              </a:rPr>
              <a:t>STALE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0858C-AA22-42FE-911B-A55AAA4F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1924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la fonte cambia, la cache 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2A68B-922D-4D76-AF4E-1A549B1A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47875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61C48-A027-4ED0-B1D7-6D66DB39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622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8A4C"/>
                </a:solidFill>
              </a:defRPr>
            </a:pPr>
            <a:r>
              <a:rPr sz="1500" b="1">
                <a:solidFill>
                  <a:srgbClr val="FF8A4C"/>
                </a:solidFill>
              </a:rPr>
              <a:t>STAMPede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40A4D-2403-499B-AC39-0A28DDAD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86125"/>
            <a:ext cx="1924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molti miss colpiscono insieme il database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F1C2C-BF36-455B-B0DF-6DC37A99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47875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3BB49-F685-499D-96C7-08B39B22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C6EE6"/>
                </a:solidFill>
              </a:defRPr>
            </a:pPr>
            <a:r>
              <a:rPr sz="1500" b="1">
                <a:solidFill>
                  <a:srgbClr val="7C6EE6"/>
                </a:solidFill>
              </a:rPr>
              <a:t>HOT KEY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704CB-1A25-4F06-8900-F664C411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1924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una chiave concentra troppo traffico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86F42-1C1C-40EB-B8A9-39C6602E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47875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6FA67A-0DF1-4A9E-B447-B24DFCBA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622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B8D9"/>
                </a:solidFill>
              </a:defRPr>
            </a:pPr>
            <a:r>
              <a:rPr sz="1500" b="1">
                <a:solidFill>
                  <a:srgbClr val="00B8D9"/>
                </a:solidFill>
              </a:rPr>
              <a:t>INVALIDAZIONE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3031D-A8D7-4989-A9A6-0C0F6FC6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86125"/>
            <a:ext cx="1924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TTL e update non riflettono il dominio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E6BB90-19DA-45B8-BC45-26BDA304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86375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Ogni cache deve avere un piano di coerenza e degradazione.</a:t>
            </a:r>
          </a:p>
        </p:txBody>
      </p:sp>
    </p:spTree>
    <p:extLst>
      <p:ext uri="{BB962C8B-B14F-4D97-AF65-F5344CB8AC3E}">
        <p14:creationId xmlns:p14="http://schemas.microsoft.com/office/powerpoint/2010/main" val="57027944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A6C9DD-86B1-4C1F-99ED-92060A06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MAXMEMORY + EVICTION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F93EC-C872-4DA8-AAD0-B6402EE8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Quando la memoria finisce, serve una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45AD3-166E-482A-8527-1F743056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37A1A-61D7-4B46-893F-695CF8CC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8E204-0BA7-4AC6-8765-62A73934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14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NOEVICTION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52DC0-8804-40FA-A731-D53C9597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rifiuta nuove scritture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0DC7B-611A-4D62-9BEF-0359B050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6FEA0-5736-411E-9E92-0B2F92B8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ALLKEYS-LRU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3F6E0-7028-4755-85B7-BF2D5F01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908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rimuove chiavi meno recenti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80FF7-A8A4-4D3F-B9E8-179653BB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2CF0C6-C88D-429C-B7BD-4149CCC6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ALLKEYS-LFU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E87A8D-79CB-4FF6-B8F7-72A13D45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671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rimuove chiavi meno frequenti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157AD-4E36-4695-B3DB-1942BA37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8347F-F20E-4C0B-8BD0-36593CC1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434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VOLATILE-*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F8CA26-63CF-40D7-8BCB-198980FF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considera chiavi con TTL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2B4C3-13F2-4B66-9EB2-1EF9C3CA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52450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Eviction è pressione di memoria. Expiration è tempo del dato.</a:t>
            </a:r>
          </a:p>
        </p:txBody>
      </p:sp>
    </p:spTree>
    <p:extLst>
      <p:ext uri="{BB962C8B-B14F-4D97-AF65-F5344CB8AC3E}">
        <p14:creationId xmlns:p14="http://schemas.microsoft.com/office/powerpoint/2010/main" val="54289292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6D81DB-CFF7-4744-BC7D-B8E3DDB2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RDB • AOF • NESSUNA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5C57A-ABE1-420F-B9F2-69C8F7FE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Persistenza: scegliere quanto rischio accettare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27BCB-D544-41E9-BB36-6760FC22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CD16D-DE37-4838-8316-5ACD4DDF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3286125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B16C7-DF18-4061-9FE4-EA00A796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32861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F7FFC-DBEE-48D6-A513-DE3FEAEA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190750"/>
            <a:ext cx="2867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RDB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01AA4-74A2-4CBA-B6BE-BFB26A28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695575"/>
            <a:ext cx="2867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B8D9"/>
                </a:solidFill>
              </a:defRPr>
            </a:pPr>
            <a:r>
              <a:rPr sz="1425" b="1">
                <a:solidFill>
                  <a:srgbClr val="00B8D9"/>
                </a:solidFill>
              </a:rPr>
              <a:t>snapshot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B73F2-0AAE-4FC4-B2AC-EF9FC841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257550"/>
            <a:ext cx="2867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compatto, recovery per punti nel tempo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C05CC-BCCB-4986-8C6E-186097A9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52625"/>
            <a:ext cx="3286125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A9EF8-4E7E-48E1-A749-E6E7577E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52625"/>
            <a:ext cx="32861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518BA-2606-486B-8FAB-D9416098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2867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AOF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AF7E3-69AE-40CE-8980-60708E5D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95575"/>
            <a:ext cx="2867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8A4C"/>
                </a:solidFill>
              </a:defRPr>
            </a:pPr>
            <a:r>
              <a:rPr sz="1425" b="1">
                <a:solidFill>
                  <a:srgbClr val="FF8A4C"/>
                </a:solidFill>
              </a:rPr>
              <a:t>log scritture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84EF3-FD02-4D50-980B-FA1C6960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2867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più durabile, file più grande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AD13A-39D7-4008-AC7D-D71DBA76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952625"/>
            <a:ext cx="3286125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195736-DF94-4710-B444-283F8BB9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952625"/>
            <a:ext cx="32861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214FBA-D973-4A08-8161-547CDB0F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90750"/>
            <a:ext cx="2867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NO PERSISTENCE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64898-1404-4D86-AB59-E715F2D5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95575"/>
            <a:ext cx="2867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F5A5A"/>
                </a:solidFill>
              </a:defRPr>
            </a:pPr>
            <a:r>
              <a:rPr sz="1425" b="1">
                <a:solidFill>
                  <a:srgbClr val="EF5A5A"/>
                </a:solidFill>
              </a:rPr>
              <a:t>solo memoria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7315C3-19B3-481A-9B3B-79345ED7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257550"/>
            <a:ext cx="2867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coerente per cache ricostruibile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030C38-E618-43AD-8734-8772422B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34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Si possono combinare RDB e AOF.</a:t>
            </a:r>
          </a:p>
        </p:txBody>
      </p:sp>
    </p:spTree>
    <p:extLst>
      <p:ext uri="{BB962C8B-B14F-4D97-AF65-F5344CB8AC3E}">
        <p14:creationId xmlns:p14="http://schemas.microsoft.com/office/powerpoint/2010/main" val="132927759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F9224-7ECE-4C27-8F06-E8BCEE7E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RITORNO AL CAP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D8871-37AD-47E3-B1B6-F792E128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La replica è asincrona per impostazione predefinita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3D944-E355-433C-8C2A-3588FB4A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433EE-2069-4382-A1E5-85B5DCE9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2952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F9248-6206-4234-94F1-16765ED3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032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PRIMARY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698B8-9CC5-4BE7-980B-4E5BE058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62275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8D4DE"/>
                </a:solidFill>
              </a:defRPr>
            </a:pPr>
            <a:r>
              <a:rPr sz="1200" b="0">
                <a:solidFill>
                  <a:srgbClr val="C8D4DE"/>
                </a:solidFill>
              </a:rPr>
              <a:t>SET session:AB123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B998A-24DC-4038-97E5-5EFAC6C4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622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8A4C"/>
                </a:solidFill>
              </a:defRPr>
            </a:pPr>
            <a:r>
              <a:rPr sz="1950" b="1">
                <a:solidFill>
                  <a:srgbClr val="FF8A4C"/>
                </a:solidFill>
              </a:rPr>
              <a:t>replica 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260BD-963D-46E5-923C-A196C895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2952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75950-04F6-4603-8BDD-B93ED7C4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032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REPLICA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8D0BC-CA59-46C9-BAE8-4C989AAD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62275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copia in ritardo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E9D9A-3ED6-4CE4-BA2F-3AC93568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ACK al client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prima della replica?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D5F6B-A48C-452B-86FE-FD4F8B99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381625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F5A5A"/>
                </a:solidFill>
              </a:defRPr>
            </a:pPr>
            <a:r>
              <a:rPr sz="1725" b="1">
                <a:solidFill>
                  <a:srgbClr val="EF5A5A"/>
                </a:solidFill>
              </a:rPr>
              <a:t>Prestazioni elevate, ma esiste una finestra di perdita.</a:t>
            </a:r>
          </a:p>
        </p:txBody>
      </p:sp>
    </p:spTree>
    <p:extLst>
      <p:ext uri="{BB962C8B-B14F-4D97-AF65-F5344CB8AC3E}">
        <p14:creationId xmlns:p14="http://schemas.microsoft.com/office/powerpoint/2010/main" val="124249325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81D9A-3583-4E8D-B4DC-C3468948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SHARDING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74882-4976-47A6-A963-34B9A6F9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Redis Cluster distribuisce le chiavi in 16.384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DE998-9B0F-47C4-BB1B-D68E49E6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720DD-81D2-401E-9757-8D08BA7C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145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7C6EE6"/>
                </a:solidFill>
              </a:defRPr>
            </a:pPr>
            <a:r>
              <a:rPr sz="2325" b="1">
                <a:solidFill>
                  <a:srgbClr val="7C6EE6"/>
                </a:solidFill>
              </a:rPr>
              <a:t>CRC16(key) mod 16384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FCFDC-6A12-467E-AF91-EACECFF8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AECF3-16B9-4EE4-9CF9-EC0C964D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4F1C7-5674-4550-B94D-429A7E7A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slot 0–5460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77889-9CF7-4260-84F0-49A4EEB7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DBE81-E61A-4347-91CC-68C83D28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147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NODE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FE6C8-BB83-4E33-9B10-0DD5BE82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7665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slot 5461–10922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134660-FCAD-4FD3-8AC3-B3080151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C4104-F965-40B8-AC60-CD2D6E41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147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NODE 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255AD-F93A-42F3-8590-CA5109DC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7665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slot 10923–16383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BB13A-11D0-4A48-B5A9-863F853D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86375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La chiave decide lo slot; lo slot decide il nodo.</a:t>
            </a:r>
          </a:p>
        </p:txBody>
      </p:sp>
    </p:spTree>
    <p:extLst>
      <p:ext uri="{BB962C8B-B14F-4D97-AF65-F5344CB8AC3E}">
        <p14:creationId xmlns:p14="http://schemas.microsoft.com/office/powerpoint/2010/main" val="157041886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CE77B-08C0-43B1-8767-80FBED44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SICUREZZA OPERATIVA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C936C-89C3-41CD-8205-12ADD70C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Redis deve vivere in un ambiente fidato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BB3B1-EB9A-4668-A3DD-EFE1CC71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D27D5-B779-4690-83F5-821AEA51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74389-6BE9-49D8-83F3-37D11D5C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192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RETE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93E9D-E1CF-4D6F-908A-1B33BBF6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192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non esporre la porta a Internet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F8C4A-FA82-4AF8-B913-FB251FB7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59B89-4203-41B4-9092-F51A7AA3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003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ACL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37335-ABF3-4F51-A7F2-FDA8BA72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00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utenti e permessi minimi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F5D54-1517-4C5B-98F2-B4A5F3D7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2483C-C9F2-464A-8FFC-2E93A3D4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813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TLS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1353F2-3274-42FD-A712-AD04D7C5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81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cifra client, replica e cluster bus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0D34D-80B3-4550-B8F9-600110F3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EE6"/>
                </a:solidFill>
              </a:defRPr>
            </a:pPr>
            <a:r>
              <a:rPr sz="1800" b="1">
                <a:solidFill>
                  <a:srgbClr val="7C6EE6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80F194-113F-43AB-9691-297C30D1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624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DATI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81E6B-19D1-4398-B6FF-9C7EF1D7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9624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non memorizzare segreti in chiaro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2F031F-1B7B-497E-A527-1152303D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DF7DDB-6B41-4DD9-8A1C-5A1B8BCF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MONITOR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0141B7-BFFA-479A-84F1-43EFC3E2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7434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memoria, latency, hit rate, eviction</a:t>
            </a:r>
          </a:p>
        </p:txBody>
      </p:sp>
    </p:spTree>
    <p:extLst>
      <p:ext uri="{BB962C8B-B14F-4D97-AF65-F5344CB8AC3E}">
        <p14:creationId xmlns:p14="http://schemas.microsoft.com/office/powerpoint/2010/main" val="152139048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35ECD-3EC8-4EA4-9421-FF177504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SETUP • 10 MINUTI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06C7A-AFE0-4B3C-9DDA-B3B0EDFF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Laboratorio — avviamo Redis in un container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1604E-A4ED-41D2-AC91-76DB08ED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196E0-B397-4BAE-A695-5A7EA0C7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62125"/>
            <a:ext cx="10096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B929B-2645-4C00-857B-42987D31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62125"/>
            <a:ext cx="95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FE0A3-4F6F-4A2B-8949-B39CD834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28825"/>
            <a:ext cx="9429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docker run --name dataflix-redis \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-p 127.0.0.1:6379:6379 -d redis:8-alpine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docker exec -it dataflix-redis redis-cli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PING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014F5-B12A-492A-8F50-287F9C06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863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7E34B"/>
                </a:solidFill>
              </a:defRPr>
            </a:pPr>
            <a:r>
              <a:rPr sz="2025" b="1">
                <a:solidFill>
                  <a:srgbClr val="B7E34B"/>
                </a:solidFill>
              </a:rPr>
              <a:t>Atteso: PONG</a:t>
            </a:r>
          </a:p>
        </p:txBody>
      </p:sp>
    </p:spTree>
    <p:extLst>
      <p:ext uri="{BB962C8B-B14F-4D97-AF65-F5344CB8AC3E}">
        <p14:creationId xmlns:p14="http://schemas.microsoft.com/office/powerpoint/2010/main" val="91385328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658339-2BE0-4693-9CB8-47A75254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LAB • 100 MINUTI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2FF48-36C7-4EF3-AB6C-CCBEED21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Quattro missioni per salvare DATAFLIX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1970F-5F36-4D5C-9C59-46F0E590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1F579-A8CF-4503-9FA5-08019A0B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0429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09680-81B9-460D-BB10-FDF6CC67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85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B8D9"/>
                </a:solidFill>
              </a:defRPr>
            </a:pPr>
            <a:r>
              <a:rPr sz="1425" b="1">
                <a:solidFill>
                  <a:srgbClr val="00B8D9"/>
                </a:solidFill>
              </a:rPr>
              <a:t>MISSIONE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18443-AFD5-45CC-8940-8E793BC6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85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sessioni + TTL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6A7B4-E930-4217-934F-45F7DB34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859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login, rinnovo, logout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278BB-77FD-4504-B9FE-B122A6C2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0429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1F2F0-86F2-4216-9A38-DE5A945D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194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8A4C"/>
                </a:solidFill>
              </a:defRPr>
            </a:pPr>
            <a:r>
              <a:rPr sz="1425" b="1">
                <a:solidFill>
                  <a:srgbClr val="FF8A4C"/>
                </a:solidFill>
              </a:rPr>
              <a:t>MISSIONE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B09B9-AA50-4C42-A394-B3236148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19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contatori atomici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D12E34-75AE-44E3-B7A8-B959928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194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views e minuti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AF0FE-0A78-4E58-953A-ACD0B9F1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10429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48236-51FD-408E-A83D-C9735F22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52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C6EE6"/>
                </a:solidFill>
              </a:defRPr>
            </a:pPr>
            <a:r>
              <a:rPr sz="1425" b="1">
                <a:solidFill>
                  <a:srgbClr val="7C6EE6"/>
                </a:solidFill>
              </a:rPr>
              <a:t>MISSIONE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53BBF-67A6-424B-ABE9-20C9140E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52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classifica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CB8261-FC8B-4F4C-BDF7-65EB77A8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528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sorted set settimanale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344F8-97F9-46ED-ADF8-51ACF6F2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10429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EB791D-45BA-4663-A9D5-E1035AD6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86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F5A5A"/>
                </a:solidFill>
              </a:defRPr>
            </a:pPr>
            <a:r>
              <a:rPr sz="1425" b="1">
                <a:solidFill>
                  <a:srgbClr val="EF5A5A"/>
                </a:solidFill>
              </a:rPr>
              <a:t>MISSIONE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75AE6-99AD-4710-AB94-33A79818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86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rate limiter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F9EDE1-89C2-4792-9C14-74DA1891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86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INCR + EXPIRE</a:t>
            </a:r>
          </a:p>
        </p:txBody>
      </p:sp>
    </p:spTree>
    <p:extLst>
      <p:ext uri="{BB962C8B-B14F-4D97-AF65-F5344CB8AC3E}">
        <p14:creationId xmlns:p14="http://schemas.microsoft.com/office/powerpoint/2010/main" val="177236020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CEB58-6795-4FF1-8794-420F627F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VERIFICA • INDIVIDUALE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4BD22-489E-4A94-A9B3-8FDF4F5C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Quiz finale: comando, effetto e rischio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7EAD3-41CC-496F-ABE2-376E0745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FF471-A3A7-4E2E-9446-F8B8F92F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1033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1. Perché una chiave ben progettata è parte del modello dati?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44A2D-7B35-488C-8E8B-67ADF57E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1033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2. Qual è la differenza tra expiration ed eviction?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C6E36-7DA7-4E9C-9FF4-B006C178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05125"/>
            <a:ext cx="1033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3. Perché INCR è preferibile a GET + SET per un contatore?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B8F87-682B-44E5-8565-05C59AA1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1033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4. Quando useresti un sorted set invece di una list?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C1F5C-6447-45AE-82A0-69BADC7E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38625"/>
            <a:ext cx="1033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5. Perché pipeline e transazione non sono sinonimi?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7714-1567-4974-A744-CC5F6C78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05375"/>
            <a:ext cx="1033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6. Quale rischio introduce la replica asincrona?</a:t>
            </a:r>
          </a:p>
        </p:txBody>
      </p:sp>
    </p:spTree>
    <p:extLst>
      <p:ext uri="{BB962C8B-B14F-4D97-AF65-F5344CB8AC3E}">
        <p14:creationId xmlns:p14="http://schemas.microsoft.com/office/powerpoint/2010/main" val="47800435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396F31-05D0-41F8-A9AF-ADC08D74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RECAP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3CBFF-4023-4151-A41C-F6F1E56E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Redis in sette frasi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C17EE-DBD5-44D6-9F1F-441DC7E8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DCE8B-25C4-41F8-8E2B-40F1E517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B8D9"/>
                </a:solidFill>
              </a:defRPr>
            </a:pPr>
            <a:r>
              <a:rPr sz="1725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DBB7C-DE7A-4977-BD5B-CB49F20C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192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la chiave determina il percorso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9F6A2-31DA-4C72-8C9B-6531D71F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8A4C"/>
                </a:solidFill>
              </a:defRPr>
            </a:pPr>
            <a:r>
              <a:rPr sz="1725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2999D-6228-483B-8F9E-1FC99CE2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193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il tipo nasce dall’operazione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8E357-C5C5-499B-A2FE-B000726E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7E34B"/>
                </a:solidFill>
              </a:defRPr>
            </a:pPr>
            <a:r>
              <a:rPr sz="1725" b="1">
                <a:solidFill>
                  <a:srgbClr val="B7E34B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3783A-AA06-43EE-873C-72E1575B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195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TTL esprime la durata del dato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C6266-858A-49EE-A28C-02E60632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C6EE6"/>
                </a:solidFill>
              </a:defRPr>
            </a:pPr>
            <a:r>
              <a:rPr sz="1725" b="1">
                <a:solidFill>
                  <a:srgbClr val="7C6EE6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F0E34-89C3-499D-84C6-57AC59D5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comandi atomici proteggono dalla concorrenza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996CD-658A-42C9-BD36-79D06F76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7A36A"/>
                </a:solidFill>
              </a:defRPr>
            </a:pPr>
            <a:r>
              <a:rPr sz="1725" b="1">
                <a:solidFill>
                  <a:srgbClr val="27A36A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A50139-9099-4AB0-AC45-0031F761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192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cache richiede invalidazione e fallback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EFF8E-D683-4331-9261-A55A0EED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193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F5A5A"/>
                </a:solidFill>
              </a:defRPr>
            </a:pPr>
            <a:r>
              <a:rPr sz="1725" b="1">
                <a:solidFill>
                  <a:srgbClr val="EF5A5A"/>
                </a:solidFill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73FB0-755C-401F-8D53-96B01848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193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persistenza e replica hanno trade-off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ADBE71-C13F-47B9-AAE3-EB8C4544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C84A"/>
                </a:solidFill>
              </a:defRPr>
            </a:pPr>
            <a:r>
              <a:rPr sz="1725" b="1">
                <a:solidFill>
                  <a:srgbClr val="F4C84A"/>
                </a:solidFill>
              </a:rPr>
              <a:t>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449BE7-C728-4ED5-B2BF-ACBA6212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195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sicurezza e memoria sono parte del design</a:t>
            </a:r>
          </a:p>
        </p:txBody>
      </p:sp>
    </p:spTree>
    <p:extLst>
      <p:ext uri="{BB962C8B-B14F-4D97-AF65-F5344CB8AC3E}">
        <p14:creationId xmlns:p14="http://schemas.microsoft.com/office/powerpoint/2010/main" val="1200228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09A5C-7825-42D4-AA67-7D1D12B2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PROBLEMA REALE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FE665-6BF8-46AE-BFB7-75B950A0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La prossima domanda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078AA-3F5F-4610-B0D9-8D728E42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611E5-BC1F-43C4-9784-5940E315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B7E34B"/>
                </a:solidFill>
              </a:defRPr>
            </a:pPr>
            <a:r>
              <a:rPr sz="8250" b="1">
                <a:solidFill>
                  <a:srgbClr val="B7E34B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22B96-F5E7-49B1-944B-1ADA96D7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43100"/>
            <a:ext cx="895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Se ogni film ha campi diversi, array, lingue e metadati variabili, vogliamo davvero trasformare tutto in chiavi separate?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75720-9C03-4B27-9531-40DD60C5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92FB5-884D-4A62-A12F-A73A4022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958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0BF"/>
                </a:solidFill>
              </a:defRPr>
            </a:pPr>
            <a:r>
              <a:rPr sz="1200" b="1">
                <a:solidFill>
                  <a:srgbClr val="9FB0BF"/>
                </a:solidFill>
              </a:rPr>
              <a:t>PROSSIMA LEZIONE • DATABASE DOCUMENTALI E MONGODB</a:t>
            </a:r>
          </a:p>
        </p:txBody>
      </p:sp>
    </p:spTree>
    <p:extLst>
      <p:ext uri="{BB962C8B-B14F-4D97-AF65-F5344CB8AC3E}">
        <p14:creationId xmlns:p14="http://schemas.microsoft.com/office/powerpoint/2010/main" val="19637992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2026-09-03T06:08:00.8170000Z</dcterms:created>
  <dcterms:modified xsi:type="dcterms:W3CDTF">2026-09-03T06:08:00.8170000Z</dcterms:modified>
</coreProperties>
</file>