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d115bab084c32" /><Relationship Type="http://schemas.openxmlformats.org/officeDocument/2006/relationships/extended-properties" Target="/docProps/app.xml" Id="R9288733f18e24f5b" /><Relationship Type="http://schemas.openxmlformats.org/officeDocument/2006/relationships/officeDocument" Target="/ppt/presentation.xml" Id="R6e1a67f8053a40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134dcf5489427d"/>
  </p:sldMasterIdLst>
  <p:notesMasterIdLst>
    <p:notesMasterId xmlns:r="http://schemas.openxmlformats.org/officeDocument/2006/relationships" r:id="Raed624972d5242f6"/>
  </p:notesMasterIdLst>
  <p:sldIdLst>
    <p:sldId xmlns:r="http://schemas.openxmlformats.org/officeDocument/2006/relationships" id="256" r:id="Reeacb33370e74d00"/>
    <p:sldId xmlns:r="http://schemas.openxmlformats.org/officeDocument/2006/relationships" id="257" r:id="Ra2770515fddc4500"/>
    <p:sldId xmlns:r="http://schemas.openxmlformats.org/officeDocument/2006/relationships" id="258" r:id="Rb5852573b15a4b16"/>
    <p:sldId xmlns:r="http://schemas.openxmlformats.org/officeDocument/2006/relationships" id="259" r:id="Rf211405704b34d95"/>
    <p:sldId xmlns:r="http://schemas.openxmlformats.org/officeDocument/2006/relationships" id="260" r:id="R6979cd38ed5543ec"/>
    <p:sldId xmlns:r="http://schemas.openxmlformats.org/officeDocument/2006/relationships" id="261" r:id="R36d24ed0aaf64aaa"/>
    <p:sldId xmlns:r="http://schemas.openxmlformats.org/officeDocument/2006/relationships" id="262" r:id="R8b8af3a6565b4a43"/>
    <p:sldId xmlns:r="http://schemas.openxmlformats.org/officeDocument/2006/relationships" id="263" r:id="R4ccb15d4f9804364"/>
    <p:sldId xmlns:r="http://schemas.openxmlformats.org/officeDocument/2006/relationships" id="264" r:id="R96dc475f1dc84b1a"/>
    <p:sldId xmlns:r="http://schemas.openxmlformats.org/officeDocument/2006/relationships" id="265" r:id="Rbf9b76c83adf44c6"/>
    <p:sldId xmlns:r="http://schemas.openxmlformats.org/officeDocument/2006/relationships" id="266" r:id="R8a8680e38cbc4402"/>
    <p:sldId xmlns:r="http://schemas.openxmlformats.org/officeDocument/2006/relationships" id="267" r:id="R916e58cafe6440c5"/>
    <p:sldId xmlns:r="http://schemas.openxmlformats.org/officeDocument/2006/relationships" id="268" r:id="Rc383783c32584f19"/>
    <p:sldId xmlns:r="http://schemas.openxmlformats.org/officeDocument/2006/relationships" id="269" r:id="Rd0512bc15c2143d5"/>
    <p:sldId xmlns:r="http://schemas.openxmlformats.org/officeDocument/2006/relationships" id="270" r:id="R5e9103410daf497a"/>
    <p:sldId xmlns:r="http://schemas.openxmlformats.org/officeDocument/2006/relationships" id="271" r:id="R9fb4014c66614edb"/>
    <p:sldId xmlns:r="http://schemas.openxmlformats.org/officeDocument/2006/relationships" id="272" r:id="Rdea12ca1b18d4b10"/>
    <p:sldId xmlns:r="http://schemas.openxmlformats.org/officeDocument/2006/relationships" id="273" r:id="Rb43db7be1c2540c5"/>
    <p:sldId xmlns:r="http://schemas.openxmlformats.org/officeDocument/2006/relationships" id="274" r:id="R8872224c59304b96"/>
    <p:sldId xmlns:r="http://schemas.openxmlformats.org/officeDocument/2006/relationships" id="275" r:id="R7820639b7aa94c41"/>
    <p:sldId xmlns:r="http://schemas.openxmlformats.org/officeDocument/2006/relationships" id="276" r:id="Rd98901a8f8d14ee5"/>
    <p:sldId xmlns:r="http://schemas.openxmlformats.org/officeDocument/2006/relationships" id="277" r:id="Ra7efb908f1fa4e99"/>
    <p:sldId xmlns:r="http://schemas.openxmlformats.org/officeDocument/2006/relationships" id="278" r:id="Ref326f0388c94910"/>
    <p:sldId xmlns:r="http://schemas.openxmlformats.org/officeDocument/2006/relationships" id="279" r:id="Ra945d0af0679465a"/>
    <p:sldId xmlns:r="http://schemas.openxmlformats.org/officeDocument/2006/relationships" id="280" r:id="R2ec9b142bddf4544"/>
    <p:sldId xmlns:r="http://schemas.openxmlformats.org/officeDocument/2006/relationships" id="281" r:id="R2458fb58a95c4550"/>
    <p:sldId xmlns:r="http://schemas.openxmlformats.org/officeDocument/2006/relationships" id="282" r:id="Rcc67da8362194482"/>
    <p:sldId xmlns:r="http://schemas.openxmlformats.org/officeDocument/2006/relationships" id="283" r:id="Ra2a3f2e8a6be42fd"/>
    <p:sldId xmlns:r="http://schemas.openxmlformats.org/officeDocument/2006/relationships" id="284" r:id="R9edad63bb8404b89"/>
    <p:sldId xmlns:r="http://schemas.openxmlformats.org/officeDocument/2006/relationships" id="285" r:id="R1baead16a36c4da1"/>
    <p:sldId xmlns:r="http://schemas.openxmlformats.org/officeDocument/2006/relationships" id="286" r:id="R3a3a702cb7844778"/>
    <p:sldId xmlns:r="http://schemas.openxmlformats.org/officeDocument/2006/relationships" id="287" r:id="R790ef43bd5014684"/>
    <p:sldId xmlns:r="http://schemas.openxmlformats.org/officeDocument/2006/relationships" id="288" r:id="R2c2c16bfe1e84497"/>
    <p:sldId xmlns:r="http://schemas.openxmlformats.org/officeDocument/2006/relationships" id="289" r:id="R087a94d591ac4378"/>
    <p:sldId xmlns:r="http://schemas.openxmlformats.org/officeDocument/2006/relationships" id="290" r:id="Rfbb0de9c6b204205"/>
    <p:sldId xmlns:r="http://schemas.openxmlformats.org/officeDocument/2006/relationships" id="291" r:id="R05e7d4af20bb4524"/>
    <p:sldId xmlns:r="http://schemas.openxmlformats.org/officeDocument/2006/relationships" id="292" r:id="R745373d61e5644f4"/>
    <p:sldId xmlns:r="http://schemas.openxmlformats.org/officeDocument/2006/relationships" id="293" r:id="Rc02c64aa5e394b6a"/>
    <p:sldId xmlns:r="http://schemas.openxmlformats.org/officeDocument/2006/relationships" id="294" r:id="R3b34133bf7f94e46"/>
    <p:sldId xmlns:r="http://schemas.openxmlformats.org/officeDocument/2006/relationships" id="295" r:id="Rc96455a439924d01"/>
    <p:sldId xmlns:r="http://schemas.openxmlformats.org/officeDocument/2006/relationships" id="296" r:id="R9b0f0c725e194258"/>
    <p:sldId xmlns:r="http://schemas.openxmlformats.org/officeDocument/2006/relationships" id="297" r:id="Reb698c1a0c36404d"/>
    <p:sldId xmlns:r="http://schemas.openxmlformats.org/officeDocument/2006/relationships" id="298" r:id="R3bd34f75b84048b9"/>
    <p:sldId xmlns:r="http://schemas.openxmlformats.org/officeDocument/2006/relationships" id="299" r:id="R6bc2e8f897d042e5"/>
    <p:sldId xmlns:r="http://schemas.openxmlformats.org/officeDocument/2006/relationships" id="300" r:id="R5ee2382d266b47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f97a56edf47ae" /><Relationship Type="http://schemas.openxmlformats.org/officeDocument/2006/relationships/slideMaster" Target="/ppt/slideMasters/slideMaster1.xml" Id="Rbc134dcf5489427d" /><Relationship Type="http://schemas.openxmlformats.org/officeDocument/2006/relationships/notesMaster" Target="/ppt/notesMasters/notesMaster1.xml" Id="Raed624972d5242f6" /><Relationship Type="http://schemas.openxmlformats.org/officeDocument/2006/relationships/presProps" Target="/ppt/presProps.xml" Id="R6014661e620c4d07" /><Relationship Type="http://schemas.openxmlformats.org/officeDocument/2006/relationships/tableStyles" Target="/ppt/tableStyles.xml" Id="R97849e8982544cdf" /><Relationship Type="http://schemas.openxmlformats.org/officeDocument/2006/relationships/slide" Target="/ppt/slides/slide1.xml" Id="Reeacb33370e74d00" /><Relationship Type="http://schemas.openxmlformats.org/officeDocument/2006/relationships/slide" Target="/ppt/slides/slide2.xml" Id="Ra2770515fddc4500" /><Relationship Type="http://schemas.openxmlformats.org/officeDocument/2006/relationships/slide" Target="/ppt/slides/slide3.xml" Id="Rb5852573b15a4b16" /><Relationship Type="http://schemas.openxmlformats.org/officeDocument/2006/relationships/slide" Target="/ppt/slides/slide4.xml" Id="Rf211405704b34d95" /><Relationship Type="http://schemas.openxmlformats.org/officeDocument/2006/relationships/slide" Target="/ppt/slides/slide5.xml" Id="R6979cd38ed5543ec" /><Relationship Type="http://schemas.openxmlformats.org/officeDocument/2006/relationships/slide" Target="/ppt/slides/slide6.xml" Id="R36d24ed0aaf64aaa" /><Relationship Type="http://schemas.openxmlformats.org/officeDocument/2006/relationships/slide" Target="/ppt/slides/slide7.xml" Id="R8b8af3a6565b4a43" /><Relationship Type="http://schemas.openxmlformats.org/officeDocument/2006/relationships/slide" Target="/ppt/slides/slide8.xml" Id="R4ccb15d4f9804364" /><Relationship Type="http://schemas.openxmlformats.org/officeDocument/2006/relationships/slide" Target="/ppt/slides/slide9.xml" Id="R96dc475f1dc84b1a" /><Relationship Type="http://schemas.openxmlformats.org/officeDocument/2006/relationships/slide" Target="/ppt/slides/slide10.xml" Id="Rbf9b76c83adf44c6" /><Relationship Type="http://schemas.openxmlformats.org/officeDocument/2006/relationships/slide" Target="/ppt/slides/slide11.xml" Id="R8a8680e38cbc4402" /><Relationship Type="http://schemas.openxmlformats.org/officeDocument/2006/relationships/slide" Target="/ppt/slides/slide12.xml" Id="R916e58cafe6440c5" /><Relationship Type="http://schemas.openxmlformats.org/officeDocument/2006/relationships/slide" Target="/ppt/slides/slide13.xml" Id="Rc383783c32584f19" /><Relationship Type="http://schemas.openxmlformats.org/officeDocument/2006/relationships/slide" Target="/ppt/slides/slide14.xml" Id="Rd0512bc15c2143d5" /><Relationship Type="http://schemas.openxmlformats.org/officeDocument/2006/relationships/slide" Target="/ppt/slides/slide15.xml" Id="R5e9103410daf497a" /><Relationship Type="http://schemas.openxmlformats.org/officeDocument/2006/relationships/slide" Target="/ppt/slides/slide16.xml" Id="R9fb4014c66614edb" /><Relationship Type="http://schemas.openxmlformats.org/officeDocument/2006/relationships/slide" Target="/ppt/slides/slide17.xml" Id="Rdea12ca1b18d4b10" /><Relationship Type="http://schemas.openxmlformats.org/officeDocument/2006/relationships/slide" Target="/ppt/slides/slide18.xml" Id="Rb43db7be1c2540c5" /><Relationship Type="http://schemas.openxmlformats.org/officeDocument/2006/relationships/slide" Target="/ppt/slides/slide19.xml" Id="R8872224c59304b96" /><Relationship Type="http://schemas.openxmlformats.org/officeDocument/2006/relationships/slide" Target="/ppt/slides/slide20.xml" Id="R7820639b7aa94c41" /><Relationship Type="http://schemas.openxmlformats.org/officeDocument/2006/relationships/slide" Target="/ppt/slides/slide21.xml" Id="Rd98901a8f8d14ee5" /><Relationship Type="http://schemas.openxmlformats.org/officeDocument/2006/relationships/slide" Target="/ppt/slides/slide22.xml" Id="Ra7efb908f1fa4e99" /><Relationship Type="http://schemas.openxmlformats.org/officeDocument/2006/relationships/slide" Target="/ppt/slides/slide23.xml" Id="Ref326f0388c94910" /><Relationship Type="http://schemas.openxmlformats.org/officeDocument/2006/relationships/slide" Target="/ppt/slides/slide24.xml" Id="Ra945d0af0679465a" /><Relationship Type="http://schemas.openxmlformats.org/officeDocument/2006/relationships/slide" Target="/ppt/slides/slide25.xml" Id="R2ec9b142bddf4544" /><Relationship Type="http://schemas.openxmlformats.org/officeDocument/2006/relationships/slide" Target="/ppt/slides/slide26.xml" Id="R2458fb58a95c4550" /><Relationship Type="http://schemas.openxmlformats.org/officeDocument/2006/relationships/slide" Target="/ppt/slides/slide27.xml" Id="Rcc67da8362194482" /><Relationship Type="http://schemas.openxmlformats.org/officeDocument/2006/relationships/slide" Target="/ppt/slides/slide28.xml" Id="Ra2a3f2e8a6be42fd" /><Relationship Type="http://schemas.openxmlformats.org/officeDocument/2006/relationships/slide" Target="/ppt/slides/slide29.xml" Id="R9edad63bb8404b89" /><Relationship Type="http://schemas.openxmlformats.org/officeDocument/2006/relationships/slide" Target="/ppt/slides/slide30.xml" Id="R1baead16a36c4da1" /><Relationship Type="http://schemas.openxmlformats.org/officeDocument/2006/relationships/slide" Target="/ppt/slides/slide31.xml" Id="R3a3a702cb7844778" /><Relationship Type="http://schemas.openxmlformats.org/officeDocument/2006/relationships/slide" Target="/ppt/slides/slide32.xml" Id="R790ef43bd5014684" /><Relationship Type="http://schemas.openxmlformats.org/officeDocument/2006/relationships/slide" Target="/ppt/slides/slide33.xml" Id="R2c2c16bfe1e84497" /><Relationship Type="http://schemas.openxmlformats.org/officeDocument/2006/relationships/slide" Target="/ppt/slides/slide34.xml" Id="R087a94d591ac4378" /><Relationship Type="http://schemas.openxmlformats.org/officeDocument/2006/relationships/slide" Target="/ppt/slides/slide35.xml" Id="Rfbb0de9c6b204205" /><Relationship Type="http://schemas.openxmlformats.org/officeDocument/2006/relationships/slide" Target="/ppt/slides/slide36.xml" Id="R05e7d4af20bb4524" /><Relationship Type="http://schemas.openxmlformats.org/officeDocument/2006/relationships/slide" Target="/ppt/slides/slide37.xml" Id="R745373d61e5644f4" /><Relationship Type="http://schemas.openxmlformats.org/officeDocument/2006/relationships/slide" Target="/ppt/slides/slide38.xml" Id="Rc02c64aa5e394b6a" /><Relationship Type="http://schemas.openxmlformats.org/officeDocument/2006/relationships/slide" Target="/ppt/slides/slide39.xml" Id="R3b34133bf7f94e46" /><Relationship Type="http://schemas.openxmlformats.org/officeDocument/2006/relationships/slide" Target="/ppt/slides/slide40.xml" Id="Rc96455a439924d01" /><Relationship Type="http://schemas.openxmlformats.org/officeDocument/2006/relationships/slide" Target="/ppt/slides/slide41.xml" Id="R9b0f0c725e194258" /><Relationship Type="http://schemas.openxmlformats.org/officeDocument/2006/relationships/slide" Target="/ppt/slides/slide42.xml" Id="Reb698c1a0c36404d" /><Relationship Type="http://schemas.openxmlformats.org/officeDocument/2006/relationships/slide" Target="/ppt/slides/slide43.xml" Id="R3bd34f75b84048b9" /><Relationship Type="http://schemas.openxmlformats.org/officeDocument/2006/relationships/slide" Target="/ppt/slides/slide44.xml" Id="R6bc2e8f897d042e5" /><Relationship Type="http://schemas.openxmlformats.org/officeDocument/2006/relationships/slide" Target="/ppt/slides/slide45.xml" Id="R5ee2382d266b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12dbee1bc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83c1594264bcb" /><Relationship Type="http://schemas.openxmlformats.org/officeDocument/2006/relationships/notesMaster" Target="/ppt/notesMasters/notesMaster1.xml" Id="Rddc35dea1165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237f081b24191" /><Relationship Type="http://schemas.openxmlformats.org/officeDocument/2006/relationships/notesMaster" Target="/ppt/notesMasters/notesMaster1.xml" Id="Ra8302d327ae54f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d14d3f38b4f58" /><Relationship Type="http://schemas.openxmlformats.org/officeDocument/2006/relationships/notesMaster" Target="/ppt/notesMasters/notesMaster1.xml" Id="R09266cb2ae35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bc0db275dd4825" /><Relationship Type="http://schemas.openxmlformats.org/officeDocument/2006/relationships/notesMaster" Target="/ppt/notesMasters/notesMaster1.xml" Id="Ra786a8f0e945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9c6af7ab54633" /><Relationship Type="http://schemas.openxmlformats.org/officeDocument/2006/relationships/notesMaster" Target="/ppt/notesMasters/notesMaster1.xml" Id="Rd34b3e6586e14d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a89c10933647ad" /><Relationship Type="http://schemas.openxmlformats.org/officeDocument/2006/relationships/notesMaster" Target="/ppt/notesMasters/notesMaster1.xml" Id="Re7ce76baaca4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2630475c942f6" /><Relationship Type="http://schemas.openxmlformats.org/officeDocument/2006/relationships/notesMaster" Target="/ppt/notesMasters/notesMaster1.xml" Id="R3279591725514e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5cbfd714ac4e88" /><Relationship Type="http://schemas.openxmlformats.org/officeDocument/2006/relationships/notesMaster" Target="/ppt/notesMasters/notesMaster1.xml" Id="R02c46aeeb7fb45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23f74eae44075" /><Relationship Type="http://schemas.openxmlformats.org/officeDocument/2006/relationships/notesMaster" Target="/ppt/notesMasters/notesMaster1.xml" Id="R4868db1e059746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60512e865240e5" /><Relationship Type="http://schemas.openxmlformats.org/officeDocument/2006/relationships/notesMaster" Target="/ppt/notesMasters/notesMaster1.xml" Id="R3bfc828aeb1a49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a14d0ab4c3429d" /><Relationship Type="http://schemas.openxmlformats.org/officeDocument/2006/relationships/notesMaster" Target="/ppt/notesMasters/notesMaster1.xml" Id="Rcdff77e43c704d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9a5d8ad2c24648" /><Relationship Type="http://schemas.openxmlformats.org/officeDocument/2006/relationships/notesMaster" Target="/ppt/notesMasters/notesMaster1.xml" Id="R7fb89bb5be7a40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1870fbc96147e8" /><Relationship Type="http://schemas.openxmlformats.org/officeDocument/2006/relationships/notesMaster" Target="/ppt/notesMasters/notesMaster1.xml" Id="R97b937a018d74f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dfbd26ac8e4172" /><Relationship Type="http://schemas.openxmlformats.org/officeDocument/2006/relationships/notesMaster" Target="/ppt/notesMasters/notesMaster1.xml" Id="R2467354c010944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eca0111d7c48c2" /><Relationship Type="http://schemas.openxmlformats.org/officeDocument/2006/relationships/notesMaster" Target="/ppt/notesMasters/notesMaster1.xml" Id="R4b8d0f16b51e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59c4cbccbf4c8e" /><Relationship Type="http://schemas.openxmlformats.org/officeDocument/2006/relationships/notesMaster" Target="/ppt/notesMasters/notesMaster1.xml" Id="Ra7ec13e9a20e46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cef16d246244a9" /><Relationship Type="http://schemas.openxmlformats.org/officeDocument/2006/relationships/notesMaster" Target="/ppt/notesMasters/notesMaster1.xml" Id="Rdda2d26babad4f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c6a6e7d7104ccf" /><Relationship Type="http://schemas.openxmlformats.org/officeDocument/2006/relationships/notesMaster" Target="/ppt/notesMasters/notesMaster1.xml" Id="Rfb0ff1c7e07343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de3e38eaaf4cea" /><Relationship Type="http://schemas.openxmlformats.org/officeDocument/2006/relationships/notesMaster" Target="/ppt/notesMasters/notesMaster1.xml" Id="R2728c5bdc0e14e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219899dc6242e0" /><Relationship Type="http://schemas.openxmlformats.org/officeDocument/2006/relationships/notesMaster" Target="/ppt/notesMasters/notesMaster1.xml" Id="Rf440d5cd6e5a42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1d140d55284643" /><Relationship Type="http://schemas.openxmlformats.org/officeDocument/2006/relationships/notesMaster" Target="/ppt/notesMasters/notesMaster1.xml" Id="R6f1e6195355149e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c098fd50386455d" /><Relationship Type="http://schemas.openxmlformats.org/officeDocument/2006/relationships/notesMaster" Target="/ppt/notesMasters/notesMaster1.xml" Id="Ra4f7d98798474e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8e4065b1dc4649" /><Relationship Type="http://schemas.openxmlformats.org/officeDocument/2006/relationships/notesMaster" Target="/ppt/notesMasters/notesMaster1.xml" Id="R3bacfe62fe6147d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addbcc25f44b41" /><Relationship Type="http://schemas.openxmlformats.org/officeDocument/2006/relationships/notesMaster" Target="/ppt/notesMasters/notesMaster1.xml" Id="Redab7945e45c4e1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a753b9a8ab4e94" /><Relationship Type="http://schemas.openxmlformats.org/officeDocument/2006/relationships/notesMaster" Target="/ppt/notesMasters/notesMaster1.xml" Id="R8c0faaf1c51f4c4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29184b025c463c" /><Relationship Type="http://schemas.openxmlformats.org/officeDocument/2006/relationships/notesMaster" Target="/ppt/notesMasters/notesMaster1.xml" Id="R185c15f34c3d45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1b0c9c76e934e14" /><Relationship Type="http://schemas.openxmlformats.org/officeDocument/2006/relationships/notesMaster" Target="/ppt/notesMasters/notesMaster1.xml" Id="R50bbf844a2014b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d6aa879af2048e8" /><Relationship Type="http://schemas.openxmlformats.org/officeDocument/2006/relationships/notesMaster" Target="/ppt/notesMasters/notesMaster1.xml" Id="R0362dc89d43940a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eb696cf51f4d51" /><Relationship Type="http://schemas.openxmlformats.org/officeDocument/2006/relationships/notesMaster" Target="/ppt/notesMasters/notesMaster1.xml" Id="R1e457f4e90464f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5c3b57f4994fe0" /><Relationship Type="http://schemas.openxmlformats.org/officeDocument/2006/relationships/notesMaster" Target="/ppt/notesMasters/notesMaster1.xml" Id="R47cf2fbaa45543d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ba1fa6dc444672" /><Relationship Type="http://schemas.openxmlformats.org/officeDocument/2006/relationships/notesMaster" Target="/ppt/notesMasters/notesMaster1.xml" Id="R7884255edd9a4e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fb59a3afaf14ec2" /><Relationship Type="http://schemas.openxmlformats.org/officeDocument/2006/relationships/notesMaster" Target="/ppt/notesMasters/notesMaster1.xml" Id="R47b4faf150044dc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40e15e5c6cc4a10" /><Relationship Type="http://schemas.openxmlformats.org/officeDocument/2006/relationships/notesMaster" Target="/ppt/notesMasters/notesMaster1.xml" Id="R9e1bd96a8cac49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9222abe9094865" /><Relationship Type="http://schemas.openxmlformats.org/officeDocument/2006/relationships/notesMaster" Target="/ppt/notesMasters/notesMaster1.xml" Id="R5a7e64089e7443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6507afd020e4584" /><Relationship Type="http://schemas.openxmlformats.org/officeDocument/2006/relationships/notesMaster" Target="/ppt/notesMasters/notesMaster1.xml" Id="R5ed5521cefcd402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aefac67051452e" /><Relationship Type="http://schemas.openxmlformats.org/officeDocument/2006/relationships/notesMaster" Target="/ppt/notesMasters/notesMaster1.xml" Id="Rd64a7b4444f3429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79e0e40e15a4a17" /><Relationship Type="http://schemas.openxmlformats.org/officeDocument/2006/relationships/notesMaster" Target="/ppt/notesMasters/notesMaster1.xml" Id="R12a3a58e3e814b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dfbc00a400d4d23" /><Relationship Type="http://schemas.openxmlformats.org/officeDocument/2006/relationships/notesMaster" Target="/ppt/notesMasters/notesMaster1.xml" Id="Rb68ab49ed07f488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aba164cb414cb1" /><Relationship Type="http://schemas.openxmlformats.org/officeDocument/2006/relationships/notesMaster" Target="/ppt/notesMasters/notesMaster1.xml" Id="R5c2feb7f05ae4a3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003cf2f54214c84" /><Relationship Type="http://schemas.openxmlformats.org/officeDocument/2006/relationships/notesMaster" Target="/ppt/notesMasters/notesMaster1.xml" Id="R68e98908f6624a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4f5f56974c846dc" /><Relationship Type="http://schemas.openxmlformats.org/officeDocument/2006/relationships/notesMaster" Target="/ppt/notesMasters/notesMaster1.xml" Id="R65ced298108d499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0e2a6e1da0d48a0" /><Relationship Type="http://schemas.openxmlformats.org/officeDocument/2006/relationships/notesMaster" Target="/ppt/notesMasters/notesMaster1.xml" Id="Re2fbd4e17bae4c1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f4438f0a54e4f11" /><Relationship Type="http://schemas.openxmlformats.org/officeDocument/2006/relationships/notesMaster" Target="/ppt/notesMasters/notesMaster1.xml" Id="R31fd65b4a3fb4e5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d9f724b078c4ad3" /><Relationship Type="http://schemas.openxmlformats.org/officeDocument/2006/relationships/notesMaster" Target="/ppt/notesMasters/notesMaster1.xml" Id="R172f1e6dd3e4485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33467bbcd664b7c" /><Relationship Type="http://schemas.openxmlformats.org/officeDocument/2006/relationships/notesMaster" Target="/ppt/notesMasters/notesMaster1.xml" Id="Rd30cbbea328349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Riprendi le tre parole guida delle lezioni precedenti: chiave, aggregato e connessione. Oggi completiamo la mappa e impariamo a scegliere una famiglia a partire dalla domanda dominante, non dalla notorietà del prodotto.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accettare subito nomi di tecnologie. Chiedi alla classe quali domande verranno eseguite: lettura per utente e giorno, trend nel tempo, ricerca per parole, attraversamento di relazioni. Le forme delle query sono differenti.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Redis, MongoDB e Neo4j ci hanno fornito tre modelli mentali. Ricorda che i prodotti moderni possono aggiungere funzioni ulteriori: la classificazione resta una lente utile, non una gabbia assoluta.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L’access pattern è il modo ripetuto con cui l’applicazione legge e scrive. Il modello corretto rende quel percorso naturale e prevedibile. Una tecnologia può fare molte cose, ma non tutte con lo stesso costo o la stessa semplicità.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questi assi durante tutta la Database Battle. Una scelta tecnologica è completa soltanto se dichiara query, scala, ordinamento, garanzie, ciclo di vita e costo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Fissa le parole guida. Wide-column: partizione. Time-series: tempo. Search: rilevanza. Multimodel: combinazione nello stesso motore. Queste parole saranno il vocabolario del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domanda contiene già la struttura: utente e giorno delimitano il gruppo; il tempo ordina gli eventi dentro quel gruppo. Cassandra invita a progettare la tabella attorno a questa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Cassandra Basics: https://cassandra.apache.org/_/cassandra-basics.html</a:t>
            </a:r>
          </a:p>
          <a:p xmlns:a="http://schemas.openxmlformats.org/drawingml/2006/main">
            <a:r>
              <a:t>- Apache Cassandra — Data modeling introduction: https://cassandra.apache.org/doc/stable/cassandra/developing/data-modeling/intro.html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il partition key determina la distribuzione e la località dei dati; le clustering columns determinano l’ordine dentro la partizione e supportano range coerenti. Non descrivere Cassandra come un foglio con colonne sparse: la struttura è guidata da chiavi e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Cassandra Basics: https://cassandra.apache.org/_/cassandra-basics.html</a:t>
            </a:r>
          </a:p>
          <a:p xmlns:a="http://schemas.openxmlformats.org/drawingml/2006/main">
            <a:r>
              <a:t>- Apache Cassandra — CQL CREATE TABLE / primary key: https://cassandra.apache.org/doc/stable/cassandra/reference/cql-commands/create-table.html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Cassandra usa un’architettura peer-to-peer. I dati vengono distribuiti tramite partizioni e replicati su più nodi; il nodo che riceve una richiesta agisce da coordinatore. La replica sostiene disponibilità e tolleranza ai guasti.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Cassandra Basics: https://cassandra.apache.org/_/cassandra-basics.html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modello Cassandra nasce dagli access pattern. Spesso si creano tabelle differenti per query differenti e si duplicano dati in modo controllato, perché join e scansioni arbitrarie non sono il percorso principale.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Data modeling introduction: https://cassandra.apache.org/doc/stable/cassandra/developing/data-modeling/intro.html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parentesi doppie delimitano una partition key composta. user_id e day decidono la partizione; event_time ed event_id ordinano e rendono univoche le righe. Il primary key completo identifica una riga.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CQL CREATE TABLE / primary key: https://cassandra.apache.org/doc/stable/cassandra/reference/cql-commands/create-table.html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Leggi il DDL come contratto di accesso. La tabella è progettata per recuperare una partizione delimitata e ordinarla per tempo decrescente. Non promette ricerca efficiente per movie_id: per quella query serve una vista o tabella diversa.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CQL CREATE TABLE / primary key: https://cassandra.apache.org/doc/stable/cassandra/reference/cql-commands/create-table.html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query specifica l’intera partition key e poi applica un range coerente sulla clustering column event_time. È il percorso efficiente e prevedibile. Una query arbitraria su device non diventa automaticamente adatta perché la colonna esiste.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CQL CREATE TABLE / primary key: https://cassandra.apache.org/doc/stable/cassandra/reference/cql-commands/create-table.html</a:t>
            </a:r>
          </a:p>
          <a:p xmlns:a="http://schemas.openxmlformats.org/drawingml/2006/main">
            <a:r>
              <a:t>- Apache Cassandra — Indexing concepts: https://cassandra.apache.org/doc/stable/cassandra/developing/cql/indexing/indexing-concepts.html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partition key a bassa cardinalità o dominata da un valore crea squilibrio. I bucket temporali limitano la crescita, ma granularità troppo fine moltiplica le query. La scelta va misurata sul volume per chiave e sul traffico.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Cassandra Basics: https://cassandra.apache.org/_/cassandra-basics.html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denormalizzazione è una scelta progettuale. Dichiarare ownership, sorgente degli eventi, idempotenza e strategia di riparazione. Questo prepara la Lezione 9, in cui la duplicazione attraverserà datastore diversi.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Replication factor descrive il numero di copie. Il consistency level stabilisce quante repliche devono partecipare a una singola operazione. Le combinazioni influenzano coerenza, latenza e disponibilità: non usare etichette CAP come proprietà assolute del prodotto.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Cassandra — Tunable consistency: https://cassandra.apache.org/doc/stable/cassandra/architecture/dynamo.html#tunable-consistency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“Cassandra è per tanti dati” come criterio sufficiente. Serve un access pattern compatibile e una strategia di partizione. Se la domanda dominante è analitica e colonnare, wide-column e column store non sono sinonimi.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quali query farebbe il team operativo: ultime due ore, percentile del buffer, confronto tra device, anomalie dopo un deploy. Il tempo non è una proprietà accessoria: è l’asse primario.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InfluxDB OSS v2 — Data elements: https://docs.influxdata.com/influxdb/v2/reference/key-concepts/data-elements/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modello InfluxDB v2, un punto comprende measurement, tag set, field set e timestamp. I tag sono metadata indicizzati; i field contengono i valori e sono obbligatori. Scegliere tag e field influenza query e cardinalità.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InfluxDB OSS v2 — Line protocol: https://docs.influxdata.com/influxdb/v2/reference/syntax/line-protocol/</a:t>
            </a:r>
          </a:p>
          <a:p xmlns:a="http://schemas.openxmlformats.org/drawingml/2006/main">
            <a:r>
              <a:t>- InfluxDB OSS v2 — Data elements: https://docs.influxdata.com/influxdb/v2/reference/key-concepts/data-elements/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la sintassi senza chiedere di memorizzarla. La precisione del timestamp dipende dalla scrittura; il protocollo è testuale e sensibile agli spazi. Il suffisso i identifica un intero.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InfluxDB OSS v2 — Line protocol: https://docs.influxdata.com/influxdb/v2/reference/syntax/line-protocol/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la pipeline logica: dati ad alta risoluzione per diagnosi recente; aggregati più grossolani per storia lunga. Retention e downsampling non sono soltanto ottimizzazioni: sono parte del requisito informativo.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Nei motori time-series la cardinalità delle serie è un fattore operativo importante. In InfluxDB v2 i tag sono indicizzati e i field no; un identificatore ad altissima cardinalità come tag può aumentare molto il numero di serie. Valutare query e versione del prodotto.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InfluxDB OSS v2 — Data elements: https://docs.influxdata.com/influxdb/v2/reference/key-concepts/data-elements/</a:t>
            </a:r>
          </a:p>
          <a:p xmlns:a="http://schemas.openxmlformats.org/drawingml/2006/main">
            <a:r>
              <a:t>- InfluxDB OSS v2 — Schema design: https://docs.influxdata.com/influxdb/v2/write-data/best-practices/schema-design/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dato temporale non garantisce ordine di arrivo. Distinguere event time e ingest time; normalizzare le timezone; definire identificatori e comportamento in caso di duplicati o correzioni. Anticipa lo streaming che tornerà con Spark.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Molti record hanno un timestamp, ma un workload è time-series quando il tempo domina ingestione, ordinamento, aggregazione e retention. Un catalogo con updatedAt non diventa automaticamente una serie temporale.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Confronta uguaglianza e rilevanza. Il motore deve analizzare il testo, trovare documenti candidati e ordinarli in base a quanto corrispondono. Questa è una domanda diversa dal recupero per chiave.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 Docs — How full-text search works: https://www.elastic.co/docs/solutions/search/full-text/how-full-text-works</a:t>
            </a:r>
          </a:p>
          <a:p xmlns:a="http://schemas.openxmlformats.org/drawingml/2006/main">
            <a:r>
              <a:t>- Elastic Docs — Text analysis: https://www.elastic.co/docs/manage-data/data-store/text-analysis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inverted index associa ogni token ai documenti che lo contengono. Prima il testo viene analizzato e trasformato in token; poi la query usa quella struttura per trovare candidati rapidamente.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 Docs — How full-text search works: https://www.elastic.co/docs/solutions/search/full-text/how-full-text-works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L’analizzatore applica character filters, tokenizer e token filters. Il risultato dipende dalla lingua e dalla configurazione. Non promettere sempre stemming o sinonimi: sono scelte esplicite dello schema di ricerca.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 Docs — Text analysis: https://www.elastic.co/docs/manage-data/data-store/text-analysis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Elasticsearch il mapping definisce come i campi vengono memorizzati e indicizzati. text è pensato per full-text; keyword per uguaglianza, aggregazioni e ordinamento. Un mapping sbagliato produce query lente o risultati semanticamente errati.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 Docs — Mapping: https://www.elastic.co/docs/manage-data/data-store/mapping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multi_match esegue la stessa domanda su più campi. Il boost ^3 aumenta il contributo del titolo. Il punteggio è un ordinamento di rilevanza rispetto alla query e alla configurazione, non una verità assoluta.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Elasticsearch Reference — Multi-match query: https://www.elastic.co/guide/en/elasticsearch/reference/current/query-dsl-multi-match-query.html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aggregazioni riassumono i documenti che soddisfano la ricerca. Il campo genres deve essere mappato come keyword per una terms aggregation coerente. Questa combinazione sostiene filtri e faccette di un catalogo.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Elasticsearch Reference — Aggregations: https://www.elastic.co/guide/en/elasticsearch/reference/current/search-aggregations.html</a:t>
            </a:r>
          </a:p>
          <a:p xmlns:a="http://schemas.openxmlformats.org/drawingml/2006/main">
            <a:r>
              <a:t>- Elastic Docs — Mapping: https://www.elastic.co/docs/manage-data/data-store/mapping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molte architetture il catalogo principale pubblica cambiamenti e l’indice di ricerca è una proiezione ricostruibile. Serve misurare il lag, gestire cancellazioni e reindicizzazione. Elasticsearch può memorizzare documenti, ma questo non elimina automaticamente la necessità di una sorgente autorevole.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search engine è specializzato nella scoperta e nel ranking. Non usarlo come scorciatoia per ignorare consistenza, lifecycle degli indici e ownership. Dichiarare sempre se l’indice è primario o derivato.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 il multimodel come capacità di supportare più modelli e query nello stesso prodotto. Non confonderlo con polyglot persistence: multimodel riduce il numero di motori; polyglot usa motori diversi per responsabilità diverse.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ArangoDB Documentation — Data models: https://docs.arangodb.com/3.12/concepts/data-models/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documentazione ArangoDB descrive un database nativamente multimodel per key-value, documenti e grafi. Il modello key-value è un sottoinsieme del document model, mentre edge collections rappresentano relazioni.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ArangoDB Documentation — Data models: https://docs.arangodb.com/3.12/concepts/data-models/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distinzione è il ponte diretto alla Lezione 9. Multimodel riduce integrazioni ma richiede verificare le capacità reali di ogni modello. Polyglot aumenta specializzazione ma anche complessità operativa e consistenza tra copie.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Questa è una correzione concettuale importante. Cassandra non va scelta perché “legge solo le colonne necessarie” come un motore analitico colonnare. Wide-column e column-oriented analytics sono categorie diverse.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Amazon S3 è object storage: i dati sono oggetti dentro bucket, identificati da key. È fondamentale nell’architettura dati, ma non va classificato automaticamente come database NoSQL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Amazon S3 User Guide — What is Amazon S3?: https://docs.aws.amazon.com/AmazonS3/latest/userguide/Welcome.html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Kafka conserva eventi in topic partizionati e consente a più consumer di leggerli. È un event streaming platform e un log distribuito; non sostituisce automaticamente ogni database. Eventi e viste possono cooperare.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Apache Kafka Documentation — Introduction: https://kafka.apache.org/documentation/#intro_concepts_and_terms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la matrice come strumento di lavoro, non come tabella da memorizzare. Se una soluzione richiede più righe della matrice, sta emergendo un’architettura polyglot o multimodel.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Richiama la Lezione 4: CAP riguarda il comportamento durante una partizione di rete. I sistemi offrono configurazioni, livelli di consistenza e operazioni con garanzie diverse. Nella Battle chiedi sempre: quale lettura o scrittura, con quale requisito?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Trasforma ogni slogan in una domanda misurabile. “Veloce” deve indicare query, percentile e carico; “scala” deve indicare partizione e crescita; “consistente” deve dichiarare operazione e failure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 missione pratica: ogni coppia modella due query Cassandra. La guida docente include DDL, dati, query, risultati attesi e test di errore. L’esecuzione Docker è opzionale se le macchine non sono pronte.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Docker Hub — Apache Cassandra official image: https://hub.docker.com/_/cassandra</a:t>
            </a:r>
          </a:p>
          <a:p xmlns:a="http://schemas.openxmlformats.org/drawingml/2006/main">
            <a:r>
              <a:t>- Apache Cassandra — CQL CREATE TABLE / primary key: https://cassandra.apache.org/doc/stable/cassandra/reference/cql-commands/create-table.html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Distribuisci le carte della guida: scenari singola-famiglia, carte-trappola e boss card polyglot. Il gruppo avversario non può dire soltanto “non sono d’accordo”: deve proporre un requisito che rompe la soluzione.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Concedi dodici minuti individuali. Valuta la capacità di associare domanda, modello e conseguenza. Le risposte e gli errori diagnostici sono nella guida docente.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chiedendo ownership e sincronizzazione. Nella Lezione 9 non aggiungeremo soltanto tecnologie: disegneremo confini, sorgenti autorevoli, flussi di cambiamento e costi operativi.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07272a00c40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f3cf2948a4e57" /><Relationship Type="http://schemas.openxmlformats.org/officeDocument/2006/relationships/slideLayout" Target="/ppt/slideLayouts/slideLayout1.xml" Id="R1179d1b2f38844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9d1b2f38844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77b1658945fa" /><Relationship Type="http://schemas.openxmlformats.org/officeDocument/2006/relationships/notesSlide" Target="/ppt/notesSlides/notesSlide1.xml" Id="R3a49ef89506e4b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60645c39a4242" /><Relationship Type="http://schemas.openxmlformats.org/officeDocument/2006/relationships/notesSlide" Target="/ppt/notesSlides/notesSlide2.xml" Id="R44288c1b25e846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2d09993c54464" /><Relationship Type="http://schemas.openxmlformats.org/officeDocument/2006/relationships/notesSlide" Target="/ppt/notesSlides/notesSlide3.xml" Id="R8cae700ef477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c26c592c14ec7" /><Relationship Type="http://schemas.openxmlformats.org/officeDocument/2006/relationships/notesSlide" Target="/ppt/notesSlides/notesSlide4.xml" Id="Rf83b3f72f44b40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dd371de604bd1" /><Relationship Type="http://schemas.openxmlformats.org/officeDocument/2006/relationships/notesSlide" Target="/ppt/notesSlides/notesSlide5.xml" Id="R0d991a4f18eb47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2484b96c34bb8" /><Relationship Type="http://schemas.openxmlformats.org/officeDocument/2006/relationships/notesSlide" Target="/ppt/notesSlides/notesSlide6.xml" Id="R72a64b6ecdc9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117aa951d4b3f" /><Relationship Type="http://schemas.openxmlformats.org/officeDocument/2006/relationships/notesSlide" Target="/ppt/notesSlides/notesSlide7.xml" Id="R9caaafe1d705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1874786384e80" /><Relationship Type="http://schemas.openxmlformats.org/officeDocument/2006/relationships/notesSlide" Target="/ppt/notesSlides/notesSlide8.xml" Id="R15f28b19250244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b715e3e024709" /><Relationship Type="http://schemas.openxmlformats.org/officeDocument/2006/relationships/notesSlide" Target="/ppt/notesSlides/notesSlide9.xml" Id="R58a2f5dc8cf043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b62883b847e9" /><Relationship Type="http://schemas.openxmlformats.org/officeDocument/2006/relationships/notesSlide" Target="/ppt/notesSlides/notesSlide10.xml" Id="R83345e491eab4e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71512a90a4aee" /><Relationship Type="http://schemas.openxmlformats.org/officeDocument/2006/relationships/notesSlide" Target="/ppt/notesSlides/notesSlide11.xml" Id="Rb4669447c88342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819798dd847ea" /><Relationship Type="http://schemas.openxmlformats.org/officeDocument/2006/relationships/notesSlide" Target="/ppt/notesSlides/notesSlide12.xml" Id="R983024df3fc941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ad4c4dfcd466c" /><Relationship Type="http://schemas.openxmlformats.org/officeDocument/2006/relationships/notesSlide" Target="/ppt/notesSlides/notesSlide13.xml" Id="Rc71972c58b6d48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e38c558764389" /><Relationship Type="http://schemas.openxmlformats.org/officeDocument/2006/relationships/notesSlide" Target="/ppt/notesSlides/notesSlide14.xml" Id="Rf46e38a84ec44f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66d0b78ee4d82" /><Relationship Type="http://schemas.openxmlformats.org/officeDocument/2006/relationships/notesSlide" Target="/ppt/notesSlides/notesSlide15.xml" Id="R0cdffe93e67348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b75f0e6014b04" /><Relationship Type="http://schemas.openxmlformats.org/officeDocument/2006/relationships/notesSlide" Target="/ppt/notesSlides/notesSlide16.xml" Id="R2c2dd8347bef41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0385a55df4d67" /><Relationship Type="http://schemas.openxmlformats.org/officeDocument/2006/relationships/notesSlide" Target="/ppt/notesSlides/notesSlide17.xml" Id="R1b17911dc60548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cf0fd40204b6b" /><Relationship Type="http://schemas.openxmlformats.org/officeDocument/2006/relationships/notesSlide" Target="/ppt/notesSlides/notesSlide18.xml" Id="R58fff7d110d641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e163c1d1542ca" /><Relationship Type="http://schemas.openxmlformats.org/officeDocument/2006/relationships/notesSlide" Target="/ppt/notesSlides/notesSlide19.xml" Id="Rfc50db4ccd3c40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9140da75e49f0" /><Relationship Type="http://schemas.openxmlformats.org/officeDocument/2006/relationships/notesSlide" Target="/ppt/notesSlides/notesSlide20.xml" Id="R70cb351bd8cb4b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b8ba7fc534d85" /><Relationship Type="http://schemas.openxmlformats.org/officeDocument/2006/relationships/notesSlide" Target="/ppt/notesSlides/notesSlide21.xml" Id="R7fdbe830ce8640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7d6956f18472c" /><Relationship Type="http://schemas.openxmlformats.org/officeDocument/2006/relationships/notesSlide" Target="/ppt/notesSlides/notesSlide22.xml" Id="Rd41dff6e690445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59de5e57c45ca" /><Relationship Type="http://schemas.openxmlformats.org/officeDocument/2006/relationships/notesSlide" Target="/ppt/notesSlides/notesSlide23.xml" Id="R6a3603e08f7c41f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8e59490d346ff" /><Relationship Type="http://schemas.openxmlformats.org/officeDocument/2006/relationships/notesSlide" Target="/ppt/notesSlides/notesSlide24.xml" Id="R729698b2635a42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6f843515f4735" /><Relationship Type="http://schemas.openxmlformats.org/officeDocument/2006/relationships/notesSlide" Target="/ppt/notesSlides/notesSlide25.xml" Id="R17bf814a59104a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5c9bb43814004" /><Relationship Type="http://schemas.openxmlformats.org/officeDocument/2006/relationships/notesSlide" Target="/ppt/notesSlides/notesSlide26.xml" Id="Re4b73fa159544d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0020ec0c84667" /><Relationship Type="http://schemas.openxmlformats.org/officeDocument/2006/relationships/notesSlide" Target="/ppt/notesSlides/notesSlide27.xml" Id="R0fbd0ea7dab145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60f20a574035" /><Relationship Type="http://schemas.openxmlformats.org/officeDocument/2006/relationships/notesSlide" Target="/ppt/notesSlides/notesSlide28.xml" Id="Rc698d0eecdb642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11da07fc4c7f" /><Relationship Type="http://schemas.openxmlformats.org/officeDocument/2006/relationships/notesSlide" Target="/ppt/notesSlides/notesSlide29.xml" Id="R7ca2d67470d243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478744d8543df" /><Relationship Type="http://schemas.openxmlformats.org/officeDocument/2006/relationships/notesSlide" Target="/ppt/notesSlides/notesSlide30.xml" Id="Ra29cf09857d845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352bce0241d9" /><Relationship Type="http://schemas.openxmlformats.org/officeDocument/2006/relationships/notesSlide" Target="/ppt/notesSlides/notesSlide31.xml" Id="R5058bc5cbc83403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307adfc064409" /><Relationship Type="http://schemas.openxmlformats.org/officeDocument/2006/relationships/notesSlide" Target="/ppt/notesSlides/notesSlide32.xml" Id="Rbfc8a0cdd4f6488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b75aa65e04751" /><Relationship Type="http://schemas.openxmlformats.org/officeDocument/2006/relationships/notesSlide" Target="/ppt/notesSlides/notesSlide33.xml" Id="R0dd28d37f22341a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170c362e44fde" /><Relationship Type="http://schemas.openxmlformats.org/officeDocument/2006/relationships/notesSlide" Target="/ppt/notesSlides/notesSlide34.xml" Id="R4a4df44e5e824a4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6a16a76e4886" /><Relationship Type="http://schemas.openxmlformats.org/officeDocument/2006/relationships/notesSlide" Target="/ppt/notesSlides/notesSlide35.xml" Id="Rfdcc382b112845e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eb373ecd401d" /><Relationship Type="http://schemas.openxmlformats.org/officeDocument/2006/relationships/notesSlide" Target="/ppt/notesSlides/notesSlide36.xml" Id="R35fe7e998fea417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c1785173c41ab" /><Relationship Type="http://schemas.openxmlformats.org/officeDocument/2006/relationships/notesSlide" Target="/ppt/notesSlides/notesSlide37.xml" Id="R44818c2c89854a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230474028465c" /><Relationship Type="http://schemas.openxmlformats.org/officeDocument/2006/relationships/notesSlide" Target="/ppt/notesSlides/notesSlide38.xml" Id="R58fef660bc1c49c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d39c73e3c4ca4" /><Relationship Type="http://schemas.openxmlformats.org/officeDocument/2006/relationships/notesSlide" Target="/ppt/notesSlides/notesSlide39.xml" Id="Rd66e217f74e1420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c69d4f815412f" /><Relationship Type="http://schemas.openxmlformats.org/officeDocument/2006/relationships/notesSlide" Target="/ppt/notesSlides/notesSlide40.xml" Id="R5b5e47c2437744b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584ee580e453a" /><Relationship Type="http://schemas.openxmlformats.org/officeDocument/2006/relationships/notesSlide" Target="/ppt/notesSlides/notesSlide41.xml" Id="R0b7b3353968f4d6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6e9d522ee409f" /><Relationship Type="http://schemas.openxmlformats.org/officeDocument/2006/relationships/notesSlide" Target="/ppt/notesSlides/notesSlide42.xml" Id="Rf5dde8bda8c747a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4110b03dc4869" /><Relationship Type="http://schemas.openxmlformats.org/officeDocument/2006/relationships/notesSlide" Target="/ppt/notesSlides/notesSlide43.xml" Id="R04ec6e15804d491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a9894aa444909" /><Relationship Type="http://schemas.openxmlformats.org/officeDocument/2006/relationships/notesSlide" Target="/ppt/notesSlides/notesSlide44.xml" Id="R0a016a5147df406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31470e3ae42da" /><Relationship Type="http://schemas.openxmlformats.org/officeDocument/2006/relationships/notesSlide" Target="/ppt/notesSlides/notesSlide45.xml" Id="Ref33886f8e2949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E7AF7-263D-4C3F-8AD4-D5FB0DF6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1FD4F-B66C-4C21-8BFD-63F0FDC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Famiglie NoSQL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FC31B-1F8A-479A-AD65-455ABAE7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D4DE"/>
                </a:solidFill>
              </a:defRPr>
            </a:pPr>
            <a:r>
              <a:rPr sz="2175" b="0">
                <a:solidFill>
                  <a:srgbClr val="C8D4DE"/>
                </a:solidFill>
              </a:rPr>
              <a:t>Wide-column • Time-series • Search • Multimodel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83F84-A7AA-4D57-808D-D595F949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E747E-25A3-4C3A-A3EB-1DF4916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F27AC-2AEE-409C-9481-AB2332B1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08 • DATAFLIX</a:t>
            </a:r>
          </a:p>
        </p:txBody>
      </p:sp>
    </p:spTree>
    <p:extLst>
      <p:ext uri="{BB962C8B-B14F-4D97-AF65-F5344CB8AC3E}">
        <p14:creationId xmlns:p14="http://schemas.microsoft.com/office/powerpoint/2010/main" val="736826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5D04E-81DC-4EFB-AB19-E6314BC8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611F3-42B1-4466-AB41-0519B43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solo database per tutto?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A3180-B592-4F2C-93AA-EEDB3A89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B7C4E-6BF6-483F-9D71-1EAD66ED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7048D-2C21-4FFB-9856-106DB1F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DATAFLIX deve gestire miliardi di eventi, telemetria temporale, ricerca testuale e modelli connessi. La stessa forma dei dati è adatta a tutte queste domande?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8CC38-A958-45F2-A3A3-0C5630F8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8298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4C147-AF77-471C-8B87-A52E2234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RICHIAMO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3AF90-8AB2-421D-98F7-93027CDE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Tre famiglie già incontrate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D0F56-4396-496C-9363-AFD8769B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E8DCB-2835-40EA-AB9C-6EF060B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56C9-58A8-448A-B77A-9B59CC1D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26491-FFDD-438D-9794-1950E57D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KEY–VALUE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0234D-07E6-4016-B9DD-B6581052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sessioni •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40725-1230-49E0-933C-76D07B82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chiave → valore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CCBE-8B1F-42F4-BF17-232D7ED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29930-6F0B-4FE1-A2F4-2409D7BC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B7667-6062-40E9-A764-5312983F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87CD4-3DD9-4C1A-9DD8-872A567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catalogo • profili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EBE7B-7792-4914-8C14-62F7936E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aggregato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69A7A-D86B-426E-B498-F4BCBC36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928D4-D04A-4D83-946C-812BC47A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4E741-7ECD-4B89-9EC9-F222D3BD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4E6E6-6D2F-4F54-BCD3-305B293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social • recommendation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2A8A1-E249-460D-8761-8C646D9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nodi + relazioni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8B0EA-5359-4E0A-B330-59DA826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La famiglia descrive il modello dominante, non ogni funzione del prodotto.</a:t>
            </a:r>
          </a:p>
        </p:txBody>
      </p:sp>
    </p:spTree>
    <p:extLst>
      <p:ext uri="{BB962C8B-B14F-4D97-AF65-F5344CB8AC3E}">
        <p14:creationId xmlns:p14="http://schemas.microsoft.com/office/powerpoint/2010/main" val="253909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8CC49-9E43-4269-B1BE-EE994979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MODELLO + ACCESS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9E534-FE58-4500-BD6D-E69E700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Classificare significa riconoscere la domanda dominante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87632-18D4-474F-B1B2-680037F7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DDFED-EC23-41D6-A1B7-B6DF283A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C395F-B2D0-43A2-8254-1291985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71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LOOKUP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A67D-0FC1-45E9-96E1-009766F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5EC"/>
                </a:solidFill>
              </a:defRPr>
            </a:pPr>
            <a:r>
              <a:rPr sz="1800" b="0">
                <a:solidFill>
                  <a:srgbClr val="DCE5EC"/>
                </a:solidFill>
              </a:rPr>
              <a:t>Quale chiave conosco?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E8666-E54F-4F6E-9A9C-D4035CF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05FAD-9BA4-4310-8E6B-F0DB3E3F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98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010F-925C-44F2-A6B8-365A496B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98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5EC"/>
                </a:solidFill>
              </a:defRPr>
            </a:pPr>
            <a:r>
              <a:rPr sz="1800" b="0">
                <a:solidFill>
                  <a:srgbClr val="DCE5EC"/>
                </a:solidFill>
              </a:rPr>
              <a:t>Quale partizione e intervallo?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08CD3-C835-467D-8E3E-6198273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48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19EDD-4613-463B-99BB-501B7CC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480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1A502-8D46-4812-815A-F5E260D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5EC"/>
                </a:solidFill>
              </a:defRPr>
            </a:pPr>
            <a:r>
              <a:rPr sz="1800" b="0">
                <a:solidFill>
                  <a:srgbClr val="DCE5EC"/>
                </a:solidFill>
              </a:rPr>
              <a:t>Quale finestra temporale?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253D1-6BD3-4D11-965D-447CA744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862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22672-5787-42B4-BA79-D1B67A2C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86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569FA-EDBA-4F5F-BAF5-0F9398A9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862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5EC"/>
                </a:solidFill>
              </a:defRPr>
            </a:pPr>
            <a:r>
              <a:rPr sz="1800" b="0">
                <a:solidFill>
                  <a:srgbClr val="DCE5EC"/>
                </a:solidFill>
              </a:rPr>
              <a:t>Quali documenti sono rilevanti?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ECCB9-2C72-4AE7-91C8-DBFA55F1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24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498A9-B867-476B-AFC8-7AAF7012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24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1D1AB-F19C-408E-AF95-9C58FE6F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244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5EC"/>
                </a:solidFill>
              </a:defRPr>
            </a:pPr>
            <a:r>
              <a:rPr sz="1800" b="0">
                <a:solidFill>
                  <a:srgbClr val="DCE5EC"/>
                </a:solidFill>
              </a:rPr>
              <a:t>Quali connessioni attraversare?</a:t>
            </a:r>
          </a:p>
        </p:txBody>
      </p:sp>
    </p:spTree>
    <p:extLst>
      <p:ext uri="{BB962C8B-B14F-4D97-AF65-F5344CB8AC3E}">
        <p14:creationId xmlns:p14="http://schemas.microsoft.com/office/powerpoint/2010/main" val="1631291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A47F5-5BB7-414E-A89F-90440863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PRIMA DEL LOGO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A2CE9-86FB-4D4B-BAB4-C8384F01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Sei assi per scegliere con disciplina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4000A-07DB-469E-95DE-97D0DBA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04A38-D2BA-45F6-8D79-91B3348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2394-7F54-4275-993F-03CF1673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F8BF0-06A7-4FF7-BC45-6BCB7DC6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FORMA QUERY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50F04-EE3B-486E-AE71-AE8ADAB7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 • range • testo •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CB5E3-CF81-49CE-9ED6-F3768D2E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C82AA-4027-4338-B6EC-66D8907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6687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7650D-AAFB-41DD-B524-162100A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7642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SCALA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BAE6D-A879-427F-BBDA-42C5182D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9077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volume • velocità • picchi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C9F0D-6BB1-4F7B-9D91-286F1593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74215-9847-4801-9543-04C448A0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DAC53-A125-412C-9ED6-95E27B47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ORDINE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121B0-7C0C-4307-9D87-EFA74E62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tempo • clustering • 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7A14C-E32B-4069-AFC4-872F6DD6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B555F-4B7B-471B-A0BD-B3B2BB55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CBCBA-4914-410E-B088-DE111AF0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GARANZIE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691C3-5D1C-4E90-BE68-1104F99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consistenza • transazioni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5600C-2971-4EF6-8123-8E4A64E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97667-0577-4B47-BCEB-71FF308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1923D-EB4A-4AD6-A838-7C9CB6F4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CICLO VITA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8E1CB-B182-4A97-AB17-FECA06F8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TTL • retention • archivio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9919B-EA15-448B-84E9-78D025A0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C4C30-25AE-4325-94D4-E199632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07B71-FE64-4238-9176-92DD95D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09FD1-2CE0-4ACF-A50A-5715000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62525"/>
            <a:ext cx="4676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skill • backup • costo</a:t>
            </a:r>
          </a:p>
        </p:txBody>
      </p:sp>
    </p:spTree>
    <p:extLst>
      <p:ext uri="{BB962C8B-B14F-4D97-AF65-F5344CB8AC3E}">
        <p14:creationId xmlns:p14="http://schemas.microsoft.com/office/powerpoint/2010/main" val="1373132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9128EC-A9DD-4A74-A4E2-908F526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E PRIMITIVE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90E63-B570-4E84-B730-D4BFD49D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mappa si allarga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2C71F-CED3-4B24-A1F4-9177B098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38DA6-5B8C-410C-923E-D97A1A3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6DB46-1EBD-488B-AB38-DCB8DFC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13328-75E2-4CBA-AF95-5BE1EC8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KEY–VALUE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7B88-711B-43A1-A8D9-6EEE8D7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key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58DDF-7F30-4F97-B70A-F4126DC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4C703-ACAE-42AC-830A-12CBC31F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09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C7A8F-7548-4898-9598-2AC4D26C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19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9CF36-19F0-4EC8-B86C-EC9D3B0B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3365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aggregate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526FC-96B1-435F-B37F-44E05E84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B71D4-7DA8-414D-B2D5-8C564D8C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BF21D-E267-46F9-A15E-5F4CB317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9CAB2-8185-4485-9F08-01DD842A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connection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AE4C3-B0B1-43C4-8DAA-B8C038A6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43330-6D2F-45F0-8139-DB70D7F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876CA-5E38-4FC4-9E19-6A195729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193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WIDE-COLUMN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BCDAB-47E4-47CE-A696-A4DAA8A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3365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partition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EDACC-AA7B-4A5D-858A-CFAAF74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6BDF0-E634-4E76-984D-11BE4D9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0D463-D621-4794-BB27-24B9991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TIME-SERIES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DE3ED-5E0E-4215-B6DE-6F58FA46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3F2660-47A4-4E3F-BFD7-CCBB32BC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290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8E45E-76B5-4885-8A44-8E215F14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2900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CBCEF-641E-4D9D-886D-2B01672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38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79F50-05A1-49CA-9163-19366B8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5290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relevance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FC2E49-6398-43D8-AA79-1FA0253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81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9977BB-D2DC-41B2-AEC1-3079713B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3190A7-B3FE-4F33-BDA2-D038482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MULTIMODEL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5F9B6-6374-40D2-A5BD-8C33B920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1962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combination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194866-7913-4F61-8CAB-312D50C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Parola guida = ciò che il modello rende naturale.</a:t>
            </a:r>
          </a:p>
        </p:txBody>
      </p:sp>
    </p:spTree>
    <p:extLst>
      <p:ext uri="{BB962C8B-B14F-4D97-AF65-F5344CB8AC3E}">
        <p14:creationId xmlns:p14="http://schemas.microsoft.com/office/powerpoint/2010/main" val="1609828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B9629-69D9-481C-9A1A-6E278E5F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D768C-0630-40DA-8966-7C61C0DA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Wide-column: il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B8BF1-4490-4ADB-A183-4DB1E6E7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B1D89-22C3-45BB-BD8B-C8D2137F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FE7EB-FF53-481B-973B-F0837293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Cinque miliardi di eventi al giorno. DATAFLIX deve leggere velocemente le visualizzazioni di un utente in un giorno preciso.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A834-A192-4F61-87CA-54B92CD5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3967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624467-DC82-4737-9731-36B25B3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WIDE-COLUMN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B7F4C-A0AE-4D94-9680-1A7BEFB9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Non una tabella universale: partizioni interrogabili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D897-9A59-4FDA-971D-83E1C82C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6BED3-5F79-474E-8598-282B673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914C1-215F-423A-9BFB-C78957F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CA395-D781-48CE-9466-76D7F582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PARTITION KEY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DFF8D-7849-41BD-BDEF-EE5C60F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user u1 • 2026-09-03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56688-0744-4ACD-9533-ED694903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1930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BCE64-E515-41D0-98BC-D8E4E88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240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21:01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544CE-C8D5-4595-93F2-64F1F19E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90033-5452-4B00-A131-1C44D33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240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21:04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06F08-7230-4E2A-AED9-118512EC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1930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54F7C-0BCB-4B55-8766-67081F35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240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21:09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34075-B40D-45CF-A516-6A8CD628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DD130-DC2E-4AAD-B210-4766AFF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240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B8D9"/>
                </a:solidFill>
              </a:defRPr>
            </a:pPr>
            <a:r>
              <a:rPr sz="1275" b="1">
                <a:solidFill>
                  <a:srgbClr val="00B8D9"/>
                </a:solidFill>
              </a:rPr>
              <a:t>21:15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668F6-D04E-4D7A-9710-435337A9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71F3B-D5D2-4B6C-B2C6-D56B5A00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0A3E6-528B-4477-9EE3-428141A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PARTITION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6FD93-C3EF-49BC-9C20-7AED586E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user u2 • 2026-09-03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BC89D-B53C-4034-AF8E-429DCB1C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09925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4EB7D-F25F-4BC0-9012-7A7C9B95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47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A4C"/>
                </a:solidFill>
              </a:defRPr>
            </a:pPr>
            <a:r>
              <a:rPr sz="1275" b="1">
                <a:solidFill>
                  <a:srgbClr val="FF8A4C"/>
                </a:solidFill>
              </a:rPr>
              <a:t>21:01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9D6A0-7DA0-417B-B605-F5A25F6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4C69A-E40E-489D-8F2F-1EBEC50B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147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A4C"/>
                </a:solidFill>
              </a:defRPr>
            </a:pPr>
            <a:r>
              <a:rPr sz="1275" b="1">
                <a:solidFill>
                  <a:srgbClr val="FF8A4C"/>
                </a:solidFill>
              </a:rPr>
              <a:t>21:04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38E7B-3D5F-4B51-AD34-CC14FEB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9925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B559C-A9DB-4BDE-AFF9-AF04CF7B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147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A4C"/>
                </a:solidFill>
              </a:defRPr>
            </a:pPr>
            <a:r>
              <a:rPr sz="1275" b="1">
                <a:solidFill>
                  <a:srgbClr val="FF8A4C"/>
                </a:solidFill>
              </a:rPr>
              <a:t>21:09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82BE5-1D96-426F-861B-F7EB0BB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C1786-C0F7-4940-B82D-8850A7A0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8A4C"/>
                </a:solidFill>
              </a:defRPr>
            </a:pPr>
            <a:r>
              <a:rPr sz="1275" b="1">
                <a:solidFill>
                  <a:srgbClr val="FF8A4C"/>
                </a:solidFill>
              </a:rPr>
              <a:t>21:15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3F2BC7-B98B-40B1-A994-900C856F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38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399A33-4AEF-464E-985B-8A23DFB0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333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772DB-EF32-41BF-B996-855FBDA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3"/>
                </a:solidFill>
              </a:defRPr>
            </a:pPr>
            <a:r>
              <a:rPr sz="975" b="1">
                <a:solidFill>
                  <a:srgbClr val="0B1F33"/>
                </a:solidFill>
              </a:rPr>
              <a:t>PARTITION KEY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22B43-A72E-46DE-ADAB-988BF3B0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01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user u1 • 2026-09-04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E57D07-385C-4698-BC24-DA2CB3A7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0055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1575D-FDF2-47FB-A81B-EFE6CF3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053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6EE6"/>
                </a:solidFill>
              </a:defRPr>
            </a:pPr>
            <a:r>
              <a:rPr sz="1275" b="1">
                <a:solidFill>
                  <a:srgbClr val="7C6EE6"/>
                </a:solidFill>
              </a:rPr>
              <a:t>21:01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28CB96-2654-4D6E-B683-181790D8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0055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65F1E9-1ACE-4A87-9E22-39AF0206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053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6EE6"/>
                </a:solidFill>
              </a:defRPr>
            </a:pPr>
            <a:r>
              <a:rPr sz="1275" b="1">
                <a:solidFill>
                  <a:srgbClr val="7C6EE6"/>
                </a:solidFill>
              </a:rPr>
              <a:t>21:04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4F25C-C0B7-4277-8DD2-C84B071B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E1719-0AD5-440D-9B4B-AE3E1DBA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053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6EE6"/>
                </a:solidFill>
              </a:defRPr>
            </a:pPr>
            <a:r>
              <a:rPr sz="1275" b="1">
                <a:solidFill>
                  <a:srgbClr val="7C6EE6"/>
                </a:solidFill>
              </a:rPr>
              <a:t>21:09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8056AB-952D-4A56-AC24-7B1EC090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1381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7B6599-7245-4055-85F7-07C4251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0532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6EE6"/>
                </a:solidFill>
              </a:defRPr>
            </a:pPr>
            <a:r>
              <a:rPr sz="1275" b="1">
                <a:solidFill>
                  <a:srgbClr val="7C6EE6"/>
                </a:solidFill>
              </a:rPr>
              <a:t>21:15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D88D8-AEB7-4EE5-8AA2-163A6C9F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partizione raggruppa; le clustering columns ordinano al suo interno.</a:t>
            </a:r>
          </a:p>
        </p:txBody>
      </p:sp>
    </p:spTree>
    <p:extLst>
      <p:ext uri="{BB962C8B-B14F-4D97-AF65-F5344CB8AC3E}">
        <p14:creationId xmlns:p14="http://schemas.microsoft.com/office/powerpoint/2010/main" val="1352181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77C10-A9FE-46C4-84EC-09BC4ECD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PEER-TO-PEER + REPLICATION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A4B8F-79CB-4D01-8FD5-C1F55E8C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Cassandra distribuisce senza un master unico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C7DF2-FF13-499C-A870-05606EED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92872-4D35-4150-A808-7DF17AA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BD8C1-41C5-43B2-B7A9-2421F4A5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591F-5D37-46FD-A1DA-27A93B97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B633D-BDC6-4D51-AE52-E1DB43E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02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FE33E-CDA6-48BC-ACFF-C495F5CE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8AADE-2C58-4831-B998-5322E1E3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022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6711C-5DBE-4821-80A5-F333F5A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466D7-9465-422D-92AA-FB6D84DD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908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08687-23F9-47D9-B761-5659289D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A9A77-28F7-4F69-8520-0A9952AA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24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29109-3068-4572-836E-28BC5F2E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61925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6BD65-0F6D-44C9-A1C9-36CB19D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24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NODE 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C26D98-6945-4B5C-B7B7-7CC2D42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7E34B"/>
                </a:solidFill>
              </a:defRPr>
            </a:pPr>
            <a:r>
              <a:rPr sz="2175" b="1">
                <a:solidFill>
                  <a:srgbClr val="B7E34B"/>
                </a:solidFill>
              </a:rPr>
              <a:t>TOKEN RANGES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8230B-EDF3-4A78-976A-FBC83E90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816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Qualunque nodo può coordinare una richiesta.</a:t>
            </a:r>
          </a:p>
        </p:txBody>
      </p:sp>
    </p:spTree>
    <p:extLst>
      <p:ext uri="{BB962C8B-B14F-4D97-AF65-F5344CB8AC3E}">
        <p14:creationId xmlns:p14="http://schemas.microsoft.com/office/powerpoint/2010/main" val="20353120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68A09-1A47-44B9-8A9E-896C43BF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QUERY-FIRST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52C24-145A-427E-A4F0-D04C3CA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 Cassandra si modella a partire dalle 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379D7-7D4D-4469-9A76-CF798A47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4FA22-3E0D-47AB-947D-89B4948B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95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8E2FC-B4CB-4C9E-A807-4521BA2B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716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Q1  viste recenti di un utente in un giorno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BC8D-E334-4C82-8DA7-C1CE733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B8D9"/>
                </a:solidFill>
              </a:defRPr>
            </a:pPr>
            <a:r>
              <a:rPr sz="2400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62206-BB2A-477B-988B-0998A123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381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FD91C-8878-4DC1-B2C7-60A8701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tabella dedicata alla query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BFF44-3D49-4BB2-B79A-6C53F83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95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6F72F-816E-405F-BB2F-F4299898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Q2  visualizzazioni di un film in un giorno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A1470-40D1-4ADD-858F-A623513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8A4C"/>
                </a:solidFill>
              </a:defRPr>
            </a:pPr>
            <a:r>
              <a:rPr sz="24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81268-6383-43A5-B015-9B3F3026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381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E88B7-3B25-4E74-8348-41F1B23D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tabella dedicata alla query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7CFAA-6820-47BC-9E6C-BC719963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95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169A8-975B-4BBD-9912-202590AE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24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Q3  errori per device e finestra temporale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B7C7-BF54-4CF0-B2A0-CF1035D3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433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C6EE6"/>
                </a:solidFill>
              </a:defRPr>
            </a:pPr>
            <a:r>
              <a:rPr sz="2400" b="1">
                <a:solidFill>
                  <a:srgbClr val="7C6EE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8322C-D2EE-4381-82E7-D747435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4381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937C0-BF10-412E-A481-908510B6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tabella dedicata alla query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836E0-AB48-4A17-B389-025FBD9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denormalizzazione è intenzionale: una scrittura può alimentare più viste.</a:t>
            </a:r>
          </a:p>
        </p:txBody>
      </p:sp>
    </p:spTree>
    <p:extLst>
      <p:ext uri="{BB962C8B-B14F-4D97-AF65-F5344CB8AC3E}">
        <p14:creationId xmlns:p14="http://schemas.microsoft.com/office/powerpoint/2010/main" val="480296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CE5A9-00D5-4DDA-9FBF-8013091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PRIMARY KEY COMPOSITA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F4E86-6CA4-4D64-86B7-1D00845B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Partition key e clustering columns fanno lavori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1F177-8228-4474-9F73-5FCD3D7F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0B353-8314-4A16-89E3-C8F1038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009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136CB-AF98-41CD-8F5D-83386AE9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9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9E0CA-13C1-42E3-8047-61D9F0C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5525"/>
            <a:ext cx="94297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PRIMARY KEY ((user_id, day), event_time, event_id)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         └───────┬───────┘  └─────────┬──────────┘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             PARTITION KEY        CLUSTERING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          distribuisce i dati    ordina e abilita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293AA-B13F-4151-A06A-81F2D65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Stessa partizione: stesso user_id + day.</a:t>
            </a:r>
          </a:p>
        </p:txBody>
      </p:sp>
    </p:spTree>
    <p:extLst>
      <p:ext uri="{BB962C8B-B14F-4D97-AF65-F5344CB8AC3E}">
        <p14:creationId xmlns:p14="http://schemas.microsoft.com/office/powerpoint/2010/main" val="1772686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00284-D64B-45A9-B748-131E5405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67901-C295-4628-A755-D2D97ACA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tabella DATAFLIX per una domanda precisa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ECBC1-7A6D-4F48-915D-1BC382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9BF7-6B7C-4D7C-80F7-50E9AEC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38225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2FA39-A5D8-4E23-A3A8-BACC759D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952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5D536-8749-4D06-B64A-10B69321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914525"/>
            <a:ext cx="9715500" cy="3305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CREATE TABLE views_by_user_day (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user_id text, day date, event_time timestamp,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event_id timeuuid, movie_id text, device text,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duration_sec int,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PRIMARY KEY ((user_id, day), event_time, event_id)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) WITH CLUSTERING ORDER BY (event_time DESC);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394DE-B299-4D05-828D-DACAC7D5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62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Query servita: “ultime visualizzazioni di u1 nel giorno D”.</a:t>
            </a:r>
          </a:p>
        </p:txBody>
      </p:sp>
    </p:spTree>
    <p:extLst>
      <p:ext uri="{BB962C8B-B14F-4D97-AF65-F5344CB8AC3E}">
        <p14:creationId xmlns:p14="http://schemas.microsoft.com/office/powerpoint/2010/main" val="1349544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4F7C-06FC-4946-872B-29C4CE2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CQL • RANGE ORDINATO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35AEF-B7A9-4B66-9A0E-1BEB6175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query naturale rispetta la partition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135E-B6B8-4FD4-9122-776E2C0F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C7605-48DB-410E-9B63-A8D25D9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10287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78E08-7ED5-4966-891F-E665C62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E5E3F-30F3-44A1-A2D3-ACCE1253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05025"/>
            <a:ext cx="96202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SELECT event_time, movie_id, device, duration_sec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FROM views_by_user_day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WHERE user_id = 'u1' AND day = '2026-09-03'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AND event_time &gt;= '2026-09-03 20:00:00+0000'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AND event_time &lt;  '2026-09-03 22:00:00+0000';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24743-D358-41E3-B315-98E9563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Prima uguaglianza sulla partizione; poi range sul clustering.</a:t>
            </a:r>
          </a:p>
        </p:txBody>
      </p:sp>
    </p:spTree>
    <p:extLst>
      <p:ext uri="{BB962C8B-B14F-4D97-AF65-F5344CB8AC3E}">
        <p14:creationId xmlns:p14="http://schemas.microsoft.com/office/powerpoint/2010/main" val="916167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97F22-0BBC-4772-8CDC-D4662B7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HOT PARTITION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EEF8C-C50B-4B39-965F-22A0DE95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rischio: partizioni troppo grandi o troppo calde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C772-0AAB-4FDA-B234-98C29D2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92C83-EA6B-4414-B0F7-0F6E8B9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EF5A5A"/>
                </a:solidFill>
              </a:defRPr>
            </a:pPr>
            <a:r>
              <a:rPr sz="5700" b="1">
                <a:solidFill>
                  <a:srgbClr val="EF5A5A"/>
                </a:solidFill>
              </a:rPr>
              <a:t>98%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151A9-6C83-406E-BD89-0B06B3D6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delle scritture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00F16-736A-4198-ABC1-CA8D3012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8A4C"/>
                </a:solidFill>
              </a:defRPr>
            </a:pPr>
            <a:r>
              <a:rPr sz="33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BC567-D518-4003-8DDF-70342159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5334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7F536-30DC-423D-A259-9FF1049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1431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user_id = “anonymous”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6ADC6-960E-49DE-AD23-086F5FC2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051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un’unica partizione riceve quasi tutto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40CFF-36E8-4B8D-B7A5-91BA660B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Bucket temporali e chiavi distribuite devono riflettere il carico reale.</a:t>
            </a:r>
          </a:p>
        </p:txBody>
      </p:sp>
    </p:spTree>
    <p:extLst>
      <p:ext uri="{BB962C8B-B14F-4D97-AF65-F5344CB8AC3E}">
        <p14:creationId xmlns:p14="http://schemas.microsoft.com/office/powerpoint/2010/main" val="20416029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7F0C1-0F10-4671-BB4F-6DBD9BFC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7EB37-0225-4971-9EE8-48F4655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Denormalizzare non significa duplicare senza controllo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BACDD-C387-4FF3-B487-C56E64A4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93276-991E-4501-B5AB-323576C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5971A-72C3-4E3B-8B47-729D3DB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5463C-9EA6-41BC-9EB3-D71010D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54050-0DCA-4172-8234-0E3D9734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AFBB7-3F23-4E24-A178-0DCA84BC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DUPLICAZIONE INTENZIONALE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19F0D-5AA9-4D1B-B643-9BF52D53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La stessa visualizzazione può apparire in views_by_user_day e views_by_movie_day. Ogni copia serve una query dichiarata.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2F01D-BFEE-497C-A1EE-D781A1E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DUPLICAZIONE ACCIDENTALE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3A367-447C-4BD4-9EA7-C273056E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Copie prive di ownership, aggiornate da flussi differenti e senza regole di riconciliazione producono incoerenza operativa.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B6CE5-62A0-4ADB-A128-DF3FC56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Ogni tabella deve avere una query proprietaria e un flusso di aggiornamento.</a:t>
            </a:r>
          </a:p>
        </p:txBody>
      </p:sp>
    </p:spTree>
    <p:extLst>
      <p:ext uri="{BB962C8B-B14F-4D97-AF65-F5344CB8AC3E}">
        <p14:creationId xmlns:p14="http://schemas.microsoft.com/office/powerpoint/2010/main" val="14132163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21FEC-C547-49EA-BE6B-F419CD2C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TUNABLE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13C2B-69D2-42DD-AF83-C2848B0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Replica e consistency level sono due leve distinte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F6B96-4B7B-4A0C-841F-A1F03D50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4E0BA-AD8E-4457-89DA-83EFEA0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3BFAC-E3BE-40E5-B1B5-25764B7C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774DA-B0FA-4EAA-AF94-5C99126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A5446-9D7A-4E41-9B6D-528945F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replication factor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69643-62E1-4DE3-8C93-A55FEBD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quante copie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18A6-8C3E-4110-9B55-2ADBF2D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24E12-ECA2-472A-A9E7-362C1D6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4B75A-170B-4909-A507-5DB2EFA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 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CCE14-1327-4744-AE0C-5441A3E4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ONE • QUORUM •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950EF-013C-47FE-A3A7-51D39D0D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quante conferme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E63C9-1E99-4168-B987-678EFA2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81B87-F7F3-413C-85A3-8CD11CF2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E6C8B-A472-4E00-AA30-78B683DE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CL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83660-B568-43AC-B5FA-5A4F0B87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ONE • QUORUM • 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46178-C1E3-4DD3-9DCF-0BE2D60D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quante repliche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10F00-6A29-4DB2-9311-0AA6D6D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Garanzia più forte = più coordinamento, non “gratuitamente migliore”.</a:t>
            </a:r>
          </a:p>
        </p:txBody>
      </p:sp>
    </p:spTree>
    <p:extLst>
      <p:ext uri="{BB962C8B-B14F-4D97-AF65-F5344CB8AC3E}">
        <p14:creationId xmlns:p14="http://schemas.microsoft.com/office/powerpoint/2010/main" val="80090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328A8-BE41-4E7E-BD8E-E4039AF8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FIT DEL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40EF-78CF-4D62-BC5A-94808E0F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Wide-column: ottimo quando… meno adatto quando…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66F7A-724D-4971-BF72-316F2FF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92AAD-FFCD-456A-9B19-BB36FE7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BUON CANDIDATO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2A605-3763-41EB-B62C-792EFBE4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SEGNALI DI CAUTELA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CA220-DB14-4FF2-90D1-29171D1E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978E7-59F4-49B3-A7CC-5E8F3E43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A8614-47F7-4E39-99EC-E8312374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622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scritture distribuite e continue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95EF2-DDA8-463A-8D6F-DCF7567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D196C-834D-4E00-9211-62899AE3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D5EC4-822B-482C-A621-CD17B4F3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861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query note per partizione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4ADC3-F0A6-422B-BB3F-03F500D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C50A9-4DE0-4C9E-8D68-53499F2A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EAC20-3EC4-44CA-AF84-FB6929E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10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range ordinati nella partizione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BBAA4-CEF7-4EBC-8B3E-B568A5A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CF71D-07F9-4E3C-BA3B-0DCFF93A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A36A"/>
                </a:solidFill>
              </a:defRPr>
            </a:pPr>
            <a:r>
              <a:rPr sz="1800" b="1">
                <a:solidFill>
                  <a:srgbClr val="27A36A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BE272-5D4F-4C18-9855-2DC4EE0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33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alta disponibilità multi-nodo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515E5-3D3E-4F73-8433-0927E5EB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3546E-CACD-421B-AC12-A0C06B8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523DA-248E-4709-896C-C311BAF7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join e query ad hoc dominanti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5D6A9-CA21-4A25-A17D-B2EA8D62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242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CA671-D55B-477B-95B2-F65852E9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861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21C06-A006-4D0E-82DF-7623053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scan analitici colonnari generici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D8ED3-F903-416A-8F03-E432288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49E09-8C35-4351-903D-247F8B3D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B808C-D5EB-4F67-9B3A-E5F31412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transazioni multi-entità complesse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97DAC-E993-4D9D-8E29-357F460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5E484-F54A-4A85-99FD-55495D11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AF4A86-068A-482A-A606-5A4758EB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33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partition key non definibile</a:t>
            </a:r>
          </a:p>
        </p:txBody>
      </p:sp>
    </p:spTree>
    <p:extLst>
      <p:ext uri="{BB962C8B-B14F-4D97-AF65-F5344CB8AC3E}">
        <p14:creationId xmlns:p14="http://schemas.microsoft.com/office/powerpoint/2010/main" val="4311966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E74E6-D595-4566-BF9E-9FDAD76F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48CA9-C17C-44C5-A26F-D36093FB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Time-series: il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351CB-3ACA-4CB2-9CFB-ED04C270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1E89C-F450-4DA4-8EBC-FBAFDF83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27A36A"/>
                </a:solidFill>
              </a:defRPr>
            </a:pPr>
            <a:r>
              <a:rPr sz="8250" b="1">
                <a:solidFill>
                  <a:srgbClr val="27A36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F86D6-FF41-4A34-8553-7C3E07B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Ogni player invia bitrate, buffer e qualità ogni cinque secondi. La domanda cambia continuamente con il tempo.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D0136-BB9F-40BD-AD63-291C65C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11663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F5598-50FE-470F-B66C-231867CB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MEASUREMENT • TAG • FIELD •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97880-1F33-4B01-8B54-C859D352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punto time-series ha quattro componenti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943D4-2E44-4EC8-9912-93D3A41E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35F79-3464-416A-882E-046920A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8EDDA-AAA6-47B8-B2A8-8F05B96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44D5-1229-4CD0-ABBD-7266D45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227A0-7D18-47E7-BD2A-85FB0C31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stream_quality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44330-B1D2-4C95-B046-3F8935A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che cosa misuro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49890-5902-45C7-9D77-49F3F64B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98163-7FBF-4024-90F7-CA625AC0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598C6-2DD0-4282-BB22-16F4B3E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TAGS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1589B-F9CB-449C-A1D2-53AF7D2E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device=tv • country=IT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87E64-D23A-4C2A-AC9F-78AB4AC6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14625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dimensioni indicizzate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D34BD-5FB0-4C10-90B4-C2CFEC9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B9AA1-1B8F-477B-8C0A-962459DD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951E1-B5AF-4487-8410-C5D6D8E6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28AD5-1E17-4E1F-BC5E-F946571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bitrate=18.4 • buffer=120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AD090-3FBD-4D99-842F-67802140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valori misurati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1CAFC-1BC6-430C-A03E-AE9A1C37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CAC0D-7DA1-4989-B3DD-5BEDFB4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8D710-D0B0-4492-AFCF-435B2021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TIMESTAMP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482BA-ACC9-4361-92D0-BBCB7CC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36A"/>
                </a:solidFill>
              </a:defRPr>
            </a:pPr>
            <a:r>
              <a:rPr sz="1200" b="1">
                <a:solidFill>
                  <a:srgbClr val="27A36A"/>
                </a:solidFill>
              </a:rPr>
              <a:t>2026-09-03T21:04:00Z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D3FDB-F3A1-4570-994B-7DE522A1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0"/>
            <a:ext cx="4676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6DEA3-1690-4FF9-9399-A60FEC9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Schema = come filtreremo, aggregheremo e conserveremo la serie.</a:t>
            </a:r>
          </a:p>
        </p:txBody>
      </p:sp>
    </p:spTree>
    <p:extLst>
      <p:ext uri="{BB962C8B-B14F-4D97-AF65-F5344CB8AC3E}">
        <p14:creationId xmlns:p14="http://schemas.microsoft.com/office/powerpoint/2010/main" val="14968082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054E2-A00F-4FE6-9DAF-8C7CC1FD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INFLUXDB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52BCC-17CB-40AD-90DF-86631355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Line protocol: una riga, un punto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1B43B-EBE5-40C0-AA49-9D6DF2AD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2CB60-BE01-4ECD-B369-A8BAF17D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11144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2F587-D480-49C6-831B-7BA5CA52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0BD09-A491-47D8-9D8C-D99DC51B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43150"/>
            <a:ext cx="104775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stream_quality,device=tv,country=IT bitrate_mbps=18.4,buffer_ms=120i 1788469440000000000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└─────┬──────┘ └──────────┬──────────┘ └──────────────┬──────────────┘ └──────┬──────┘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measurement             tags                       fields                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8B7A6-4828-4E27-822B-68B00F31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435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 tag descrivono; i field misurano; il timestamp ordina.</a:t>
            </a:r>
          </a:p>
        </p:txBody>
      </p:sp>
    </p:spTree>
    <p:extLst>
      <p:ext uri="{BB962C8B-B14F-4D97-AF65-F5344CB8AC3E}">
        <p14:creationId xmlns:p14="http://schemas.microsoft.com/office/powerpoint/2010/main" val="2649221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B6498-B779-4C94-A65E-F78491E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WORKLOAD TEMPORALE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C479-F60A-48E3-BACF-B020CF05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tempo crea finestre, aggregazioni e politiche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2E0E1-219E-469F-A615-02F11B3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58978-3652-445D-BD04-35B28F9E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F015F-2F5F-4F67-9762-E6D5565B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E0021-ABB4-4195-A544-8B832AB8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788C8-56FA-43F7-9ABD-7FBD282F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ultimi 5 min • ogni 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613A-BCAD-4B62-91BF-E0D3F2C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BB66D-33D1-449B-AA19-A9D9C61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89779-1476-4C0A-9804-F225793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AGGREGATE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6A51F-FC53-4B2F-8D33-1BBAE6B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mean • max • percentile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453FD-D8B7-496E-B984-C823947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D6F85-5521-46BD-94FF-AF3BA17F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D18652-382B-4A2C-BC55-42B90A7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RETENTION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9DEE3-D9F8-4C41-8A04-4FA8E7E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dati raw per 7 giorni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66E79-214C-4AAE-87FF-90377A7B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0D439-6D9D-412D-B2DF-0A70B904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4F2C4-F31F-435E-95D8-F339F6E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DOWNSAMPLE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83AD5-AD94-43C0-982A-0D2BA5C1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medie orarie per 1 anno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DF486-1391-4A7C-A68C-86F2962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81625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Conservare tutto alla massima granularità ha un costo.</a:t>
            </a:r>
          </a:p>
        </p:txBody>
      </p:sp>
    </p:spTree>
    <p:extLst>
      <p:ext uri="{BB962C8B-B14F-4D97-AF65-F5344CB8AC3E}">
        <p14:creationId xmlns:p14="http://schemas.microsoft.com/office/powerpoint/2010/main" val="977148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31AEB-9BA4-480A-AFEC-4E3B1F72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SCHEMA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F643D-56DC-44C2-BBE6-5DF30F08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Tag ad alta cardinalità: una scelta che può pesare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B8499-5B33-468B-A01A-DBD0E3A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10B57-8947-44FB-B6D6-6FC06CA2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E34B"/>
                </a:solidFill>
              </a:defRPr>
            </a:pPr>
            <a:r>
              <a:rPr sz="2550" b="1">
                <a:solidFill>
                  <a:srgbClr val="B7E34B"/>
                </a:solidFill>
              </a:rPr>
              <a:t>country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07526-9227-46C7-BE12-9BDDD9E7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≈ 200 valori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306DB-51E2-4AE6-A7D0-DF99372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8A4C"/>
                </a:solidFill>
              </a:defRPr>
            </a:pPr>
            <a:r>
              <a:rPr sz="2700" b="1">
                <a:solidFill>
                  <a:srgbClr val="FF8A4C"/>
                </a:solidFill>
              </a:rPr>
              <a:t>vs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9FA3D-5CD7-45E6-956E-50EA39CC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F5A5A"/>
                </a:solidFill>
              </a:defRPr>
            </a:pPr>
            <a:r>
              <a:rPr sz="2550" b="1">
                <a:solidFill>
                  <a:srgbClr val="EF5A5A"/>
                </a:solidFill>
              </a:rPr>
              <a:t>user_id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A6311-BCD3-4967-B159-94154557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50 milioni di valori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4D29-6AC5-4F4E-975C-8076188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62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Non trasformare ogni dimensione in tag: progetta sulle query e misura la cardinalità.</a:t>
            </a:r>
          </a:p>
        </p:txBody>
      </p:sp>
    </p:spTree>
    <p:extLst>
      <p:ext uri="{BB962C8B-B14F-4D97-AF65-F5344CB8AC3E}">
        <p14:creationId xmlns:p14="http://schemas.microsoft.com/office/powerpoint/2010/main" val="14967471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86BC7-5961-4AFF-B221-E4B9B103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IL TEMPO NON È SEMPRE ORDINATO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C37BE-8AED-4264-BF77-8CA4C56D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Eventi in ritardo e orologi imperfetti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ECEF3-1FEE-47E3-8459-04BACD8D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0488-5C1B-41B1-9B2C-D2C9CD32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7B81-EAA3-4EE0-9C89-ACC9EA9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A853F-8B67-4DD6-94F7-4EABDE5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EVENT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C7B2-9217-4873-B58D-61335FB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player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FFA95-1008-4B61-A72B-863D14DA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quando è accaduto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41F69-4C54-421D-BC39-18EAF7F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87D21-38FE-4882-B3DA-E8722A83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72C88-508C-45A6-9817-82F8FB45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INGEST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E56BE-F088-4C1C-B028-1927118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server clock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A980F-2CA9-4CD4-A1A7-B2D24D70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quando è arrivato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56B0F-D1EF-48E1-B3C4-66D0A19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B9AB4-C3B4-47A5-965E-B8D2508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3E7B3-4B72-4328-AC99-446FA59B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LATE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590F2-76D5-4A80-BD0F-E1A056E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5A5A"/>
                </a:solidFill>
              </a:defRPr>
            </a:pPr>
            <a:r>
              <a:rPr sz="1200" b="1">
                <a:solidFill>
                  <a:srgbClr val="EF5A5A"/>
                </a:solidFill>
              </a:rPr>
              <a:t>rete offline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23026-F726-49D8-88D0-CF4D569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281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arriva dopo la finestra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60CA6-5CB0-40B1-88AB-9694A668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Definisci timestamp, timezone, deduplica e politica per i ritardi.</a:t>
            </a:r>
          </a:p>
        </p:txBody>
      </p:sp>
    </p:spTree>
    <p:extLst>
      <p:ext uri="{BB962C8B-B14F-4D97-AF65-F5344CB8AC3E}">
        <p14:creationId xmlns:p14="http://schemas.microsoft.com/office/powerpoint/2010/main" val="18531167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BDDAA-1667-4DA5-B0B3-F9ECB78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FIT DEL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9F4C7-26D2-426C-A72A-7B5D6853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Time-series: ottimo quando… meno adatto quando…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827B-ABD0-4FFC-9DC9-8B2082FA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B9C95-F552-46E8-98D6-C36D291E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5000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5694E-F829-4C0B-A26E-FF5D93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5000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BD928-CC63-43F4-9772-FBD5B4CC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62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B0213-BF83-4017-AD7B-4C9D3766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43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36A"/>
                </a:solidFill>
              </a:defRPr>
            </a:pPr>
            <a:r>
              <a:rPr sz="1200" b="1">
                <a:solidFill>
                  <a:srgbClr val="27A36A"/>
                </a:solidFill>
              </a:rPr>
              <a:t>finestre temporali, ingest continuo, retention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6F276-9EDA-4BD0-B637-52D11779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05125"/>
            <a:ext cx="4581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telemetria • metriche • sensori • prezzi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B6164-2F9E-4909-9106-9A32B0D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00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68A06-186B-4DE0-B214-56A9802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00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5919B-9D38-4850-BABD-2A0994E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62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DEBOLE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EDD52-4BBD-45CB-8FB7-DA7E71D4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43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5A5A"/>
                </a:solidFill>
              </a:defRPr>
            </a:pPr>
            <a:r>
              <a:rPr sz="1200" b="1">
                <a:solidFill>
                  <a:srgbClr val="EF5A5A"/>
                </a:solidFill>
              </a:rPr>
              <a:t>tempo secondario, relazioni e aggiornamenti complessi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F7DE8-7DAF-4BE7-A877-EACCF75C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581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cataloghi • transazioni • grafi sociali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AB821-783C-421B-9415-FDFDC4A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34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“Ha un timestamp” non basta per farne una time-series.</a:t>
            </a:r>
          </a:p>
        </p:txBody>
      </p:sp>
    </p:spTree>
    <p:extLst>
      <p:ext uri="{BB962C8B-B14F-4D97-AF65-F5344CB8AC3E}">
        <p14:creationId xmlns:p14="http://schemas.microsoft.com/office/powerpoint/2010/main" val="2653830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0C40B-1F59-4643-AD40-12EDA8C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586D5-6AD7-4006-92A7-013A716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Search-oriented: il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8B6AC-1C1B-44BA-9473-EC604915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6FD8F-D889-44C7-8B9D-2C31539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B5C6A-D3DA-4B41-AC07-4C3084E1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L’utente scrive “film viaggio spazio padre figlia”. DATAFLIX deve trovare risultati rilevanti, non soltanto stringhe identiche.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695C4-48E1-4C3B-80B4-4296F27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98053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0E480-0EB0-4E12-A1E6-DF6F38B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TERM → DOCUMENTI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5B21C-CC90-4A83-B842-F09773F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L’indice inverso parte dai termini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1842-9B77-4877-BE35-F5D4BF2D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89B23-26E5-4CDA-B80E-2AADF0EC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CA35F-7688-48C2-8946-53D1B536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spazio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13E6-6546-4D99-BA98-DBEB563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B8D9"/>
                </a:solidFill>
              </a:defRPr>
            </a:pPr>
            <a:r>
              <a:rPr sz="2175" b="1">
                <a:solidFill>
                  <a:srgbClr val="00B8D9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77020-56C9-4021-BC14-A079428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66875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91923-0A0F-4C42-B747-0FFA999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288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D1 • D2 • D5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71783-E080-4039-B204-AE6C1FD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4317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77A76-A30E-4B5E-953B-6B4E0EB9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05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viaggio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2E767-2159-4404-8A87-CDB31F76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8A4C"/>
                </a:solidFill>
              </a:defRPr>
            </a:pPr>
            <a:r>
              <a:rPr sz="2175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84F95-F96B-4FE8-88B9-EEE619A6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43175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1F35C-FDAD-4269-81B7-A7BDB69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051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D1 • D4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FA81A-6309-4874-ABA1-72D88731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1947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52988-41B8-4D1D-B083-0717ACFC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81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padre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D62FF-F1C8-489D-AAFB-63BB2944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C6EE6"/>
                </a:solidFill>
              </a:defRPr>
            </a:pPr>
            <a:r>
              <a:rPr sz="2175" b="1">
                <a:solidFill>
                  <a:srgbClr val="7C6EE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077EC-593F-430B-81D7-99221FB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19475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EA1AC-764C-449D-BB06-89990ACC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814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D1 • D3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F08C0-1794-4D36-9B5E-30501C97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9577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F8DC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31973-474A-413B-88E7-058C570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figlia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DC27A-F05C-42BC-B984-95C0A587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910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7E34B"/>
                </a:solidFill>
              </a:defRPr>
            </a:pPr>
            <a:r>
              <a:rPr sz="2175" b="1">
                <a:solidFill>
                  <a:srgbClr val="B7E34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B6815-828A-4D6D-9BEE-160C4010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95775"/>
            <a:ext cx="561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5DD87-3CE2-4CE9-BF0C-7CF30F9D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577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D1 • D6</a:t>
            </a:r>
          </a:p>
        </p:txBody>
      </p:sp>
    </p:spTree>
    <p:extLst>
      <p:ext uri="{BB962C8B-B14F-4D97-AF65-F5344CB8AC3E}">
        <p14:creationId xmlns:p14="http://schemas.microsoft.com/office/powerpoint/2010/main" val="13635044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CE8E8-9317-4CAD-A1EE-71DF455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CHAR FILTER → TOKENIZER → TOKEN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796DD-71A5-4A88-B9F2-FC4671AD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Analizzare il testo significa trasformarlo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A039F-9041-4E63-B2E3-7315643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18713-6493-4274-AB2C-69991048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“Viaggiando nello SPAZIO!”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7619A-ABF5-48E2-8A38-D0E0627A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8A4C"/>
                </a:solidFill>
              </a:defRPr>
            </a:pPr>
            <a:r>
              <a:rPr sz="2700" b="1">
                <a:solidFill>
                  <a:srgbClr val="FF8A4C"/>
                </a:solidFill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6FD37-0125-44EC-8AFA-50E4EACE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2F06-4DEF-44DD-8F3A-B30A53C6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527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viaggiando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45C4B-1CF3-4A2A-B4FB-EC36FAA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4DD92-15FA-4B77-916E-220928B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527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nello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4E4A6-2E6B-4736-B737-A0429CEF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190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5437B-06EC-4AF8-80C1-3771C4F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527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spazio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E8CA2-D08E-45C5-B42E-107E506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8D4DE"/>
                </a:solidFill>
              </a:defRPr>
            </a:pPr>
            <a:r>
              <a:rPr sz="1650" b="0">
                <a:solidFill>
                  <a:srgbClr val="C8D4DE"/>
                </a:solidFill>
              </a:rPr>
              <a:t>↓ lowercase • stop words • stemming (se configurati)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30A6A-7991-4D5E-9340-7E16E149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B2FC6-DAFA-4346-A17B-F16E822D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viagg • spaz</a:t>
            </a:r>
          </a:p>
        </p:txBody>
      </p:sp>
    </p:spTree>
    <p:extLst>
      <p:ext uri="{BB962C8B-B14F-4D97-AF65-F5344CB8AC3E}">
        <p14:creationId xmlns:p14="http://schemas.microsoft.com/office/powerpoint/2010/main" val="3326329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EA526-72F5-4356-9E66-52AD779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945E5-4489-442B-8E4E-4E160BF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Exact match e full-text rispondono a domande diverse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3C935-C0E6-4EC1-B436-B666895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693F3-D511-497E-A24B-D0899209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BC10A-D499-4837-AFE5-D822903D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D1537-BF48-4409-90D0-128E6761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41240-BA0C-4851-A042-F5995A94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15A80-7442-44D9-98CA-274F08E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KEYWORD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75AAD-3AC9-494F-9A73-F2D71933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Valore non analizzato per filtri, ordinamenti e aggregazioni: country = IT, genre = Sci-Fi, movieId = m1.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7C161-F239-4858-946E-E047BB43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95018-97B4-4F12-B302-65A1610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Valore analizzato per cercare termini e calcolare rilevanza: title, synopsis, castDescription.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74FF4-9D36-491C-9C94-B291CD10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Lo stesso concetto può richiedere campi o mapping differenti.</a:t>
            </a:r>
          </a:p>
        </p:txBody>
      </p:sp>
    </p:spTree>
    <p:extLst>
      <p:ext uri="{BB962C8B-B14F-4D97-AF65-F5344CB8AC3E}">
        <p14:creationId xmlns:p14="http://schemas.microsoft.com/office/powerpoint/2010/main" val="1627342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A8044-0037-403A-8BAB-050C928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ELASTICSEARCH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BC49E-6836-4978-B213-11D70EEB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Una query cerca su più campi e assegna pesi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B55A5-27FA-4BD3-BB43-612EA3FB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B6B1B-3694-4D22-8670-0D7D71D7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71625"/>
            <a:ext cx="8191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FF8EB-3C42-4B4E-95E5-F17EF8A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71625"/>
            <a:ext cx="95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C67F6-516E-4BCF-AD9A-C928E8E6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19275"/>
            <a:ext cx="75247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GET /movies/_search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"query":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"multi_match":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  "query": "viaggio nello spazio",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  "fields": ["title^3", "synopsis", "cast"]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BFDB-AAD1-407A-8911-1C21491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626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title^3 pesa il titolo più degli altri campi.</a:t>
            </a:r>
          </a:p>
        </p:txBody>
      </p:sp>
    </p:spTree>
    <p:extLst>
      <p:ext uri="{BB962C8B-B14F-4D97-AF65-F5344CB8AC3E}">
        <p14:creationId xmlns:p14="http://schemas.microsoft.com/office/powerpoint/2010/main" val="21332505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75910-7BAC-4D6A-9299-7AA0B6FF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CERCA + ESPLORA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890FA-3B12-48FC-84E4-2DD42E6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Ricerca e aggregazioni possono lavorare insieme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8529B-DA98-420D-9F59-0836520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E555E-137F-45EC-A250-8DCCC533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048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43C48-EDDD-46DD-9B4A-DA23FB39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64557-79F4-478A-95FF-B1E554B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57400"/>
            <a:ext cx="83820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GET /movies/_search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"query": { "match": { "synopsis": "spazio" } },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"aggs": {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  "per_genere": { "terms": { "field": "genres" } }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}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F44ED-E627-49DC-A8D1-5363582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816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Risultati rilevanti sopra; distribuzione per genere accanto.</a:t>
            </a:r>
          </a:p>
        </p:txBody>
      </p:sp>
    </p:spTree>
    <p:extLst>
      <p:ext uri="{BB962C8B-B14F-4D97-AF65-F5344CB8AC3E}">
        <p14:creationId xmlns:p14="http://schemas.microsoft.com/office/powerpoint/2010/main" val="9561053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898B0-E6DB-43BE-8541-F4C581B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SOURCE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ADA41-0F62-4126-B096-878DF884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Search index: copia derivata, non verità magica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B5754-D316-47BB-8C5A-7B17A827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634C1-1FAD-4B1C-8435-0CEC8EE7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2987C-D004-4B41-AF10-F574491A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38E16-1AD8-4A94-B31F-F3505AB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" y="2190750"/>
            <a:ext cx="195453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87394-4C17-4467-90F5-5BB18CC5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" y="2362200"/>
            <a:ext cx="195453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A1838-1A2C-48CB-AB9B-DB078AB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" y="3000375"/>
            <a:ext cx="195453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E467-E6FC-4CFF-B507-C1C9B5FD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CATALOGO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38BF0-6686-47CA-9B0F-0FEB5FB0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source of truth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C87D7-AC8A-43DA-8D58-D9498FA3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eventi / CDC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32D24-EAEB-4999-A851-16E09693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E34B"/>
                </a:solidFill>
              </a:defRPr>
            </a:pPr>
            <a:r>
              <a:rPr sz="3150" b="1">
                <a:solidFill>
                  <a:srgbClr val="B7E34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4F119-A15F-4577-A571-1AA7A6FB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2B2D7-4C30-4D3D-9532-E6CA095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10667-1AE1-434D-89C1-4988B0E5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2190750"/>
            <a:ext cx="195453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84051-09AB-4370-A1D4-5A3D158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2362200"/>
            <a:ext cx="195453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558AE-1722-47CD-8AB9-AD91405A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000375"/>
            <a:ext cx="195453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53E88-601F-44C3-8270-E372ED54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SEARCH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B79E6-4C6B-43AF-B545-EBA88F6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43400"/>
            <a:ext cx="234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vista interrogabile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944AD-F2B1-4340-A149-0FC9C003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8A4C"/>
                </a:solidFill>
              </a:defRPr>
            </a:pPr>
            <a:r>
              <a:rPr sz="1500" b="1">
                <a:solidFill>
                  <a:srgbClr val="FF8A4C"/>
                </a:solidFill>
              </a:rPr>
              <a:t>eventual lag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CC01E-B735-462E-801C-B7676F4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340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Ricostruibile • monitorato • sincronizzato • non cieco ai ritardi</a:t>
            </a:r>
          </a:p>
        </p:txBody>
      </p:sp>
    </p:spTree>
    <p:extLst>
      <p:ext uri="{BB962C8B-B14F-4D97-AF65-F5344CB8AC3E}">
        <p14:creationId xmlns:p14="http://schemas.microsoft.com/office/powerpoint/2010/main" val="145339856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EC49D-5EE0-4BC5-9762-0B1C193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FIT DEL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2AE7-98CF-4178-B2AB-228B93F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Search-oriented: ottimo quando… meno adatto quando…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CD58E-CEA3-4BF5-AD1D-9C743F6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3C5F-77C6-4B60-8D27-2DE27DB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5000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94E03-3DF0-4DA0-969E-22ABDD57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5000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7658C-A50C-4397-9FA8-1A45F514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62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FORTE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C779F-5452-4172-B5C3-2FD430C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43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36A"/>
                </a:solidFill>
              </a:defRPr>
            </a:pPr>
            <a:r>
              <a:rPr sz="1200" b="1">
                <a:solidFill>
                  <a:srgbClr val="27A36A"/>
                </a:solidFill>
              </a:rPr>
              <a:t>testo analizzato, ranking e aggregazioni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6F84E-DEF3-4C66-8DDE-CF95B1B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05125"/>
            <a:ext cx="4581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full-text • relevance • autocomplete • faccette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C1EC0-CB3B-4478-A863-8496903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0062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15F3B-BB94-4675-B4E3-B488F21A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0006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8CABA-CA98-4825-8E32-8ED186E0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62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CAUTELA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677D7-BA54-4CE2-A509-138914C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43175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F5A5A"/>
                </a:solidFill>
              </a:defRPr>
            </a:pPr>
            <a:r>
              <a:rPr sz="1200" b="1">
                <a:solidFill>
                  <a:srgbClr val="EF5A5A"/>
                </a:solidFill>
              </a:rPr>
              <a:t>sincronizzazione, mapping e reindexing sono requisiti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D2E71-D3E3-4E97-A531-FC2743FD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581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transazioni centrali • join complessi • saldo autorevole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6E5FA-3C08-4EC4-B1ED-92724592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340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La domanda “più rilevante” non coincide con “esattamente uguale”.</a:t>
            </a:r>
          </a:p>
        </p:txBody>
      </p:sp>
    </p:spTree>
    <p:extLst>
      <p:ext uri="{BB962C8B-B14F-4D97-AF65-F5344CB8AC3E}">
        <p14:creationId xmlns:p14="http://schemas.microsoft.com/office/powerpoint/2010/main" val="102211984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BBE90-44FF-46A7-912B-69865E1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96FBD-B872-4353-9D78-FFF0E05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Multimodel: il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D1918-F0E3-4ED9-BA8A-991035BD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A1FE6-0AF4-475F-9BC6-43E58EE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4C84A"/>
                </a:solidFill>
              </a:defRPr>
            </a:pPr>
            <a:r>
              <a:rPr sz="8250" b="1">
                <a:solidFill>
                  <a:srgbClr val="F4C84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C3497-6255-43B8-A90C-D888EA4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Catalogo documentale e relazioni tra contenuti devono essere interrogati insieme. Possiamo usare più modelli nello stesso motore?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FC815-2F72-4DB1-89F3-1E7B222E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156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6BA0A-FFA6-43E5-BF29-51207E8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NATIVE MULTIMODEL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25691-538B-49F1-AE62-CAB4DD1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ArangoDB combina key-value, documenti e grafi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17CBB-5D3D-469A-9019-C33E3EE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E7A17-7112-440D-82BE-3AADFEB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65F07-E3C8-4DEE-BB72-36C26981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855B1-E9DB-47F6-B4CF-351E109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KEY–VALUE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9CDCB-4A35-4F64-9055-1FB0B7D8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B8D9"/>
                </a:solidFill>
              </a:defRPr>
            </a:pPr>
            <a:r>
              <a:rPr sz="1200" b="1">
                <a:solidFill>
                  <a:srgbClr val="00B8D9"/>
                </a:solidFill>
              </a:rPr>
              <a:t>lookup diretto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B6EF-EC04-4E70-99B9-E50F089A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_key → documento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50D3B-B49F-458C-A068-D571E051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62686-9D63-44A2-B0CB-849FCA18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A8A62-E6C4-43A8-B2EF-FE6EEB0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47CE8-5686-429A-A411-1CFA280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8A4C"/>
                </a:solidFill>
              </a:defRPr>
            </a:pPr>
            <a:r>
              <a:rPr sz="1200" b="1">
                <a:solidFill>
                  <a:srgbClr val="FF8A4C"/>
                </a:solidFill>
              </a:rPr>
              <a:t>filtri e aggregati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0E9D0-27C3-4499-9AD1-9358F1CF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JSON flessibile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C975B-91D6-4104-BE96-7A4364B6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8DF44-D248-4139-87DA-A52F095B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044A9-AD2E-470E-935E-D523A113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62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D5B2B-B39C-4C0B-B2C9-BB0B964F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431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6EE6"/>
                </a:solidFill>
              </a:defRPr>
            </a:pPr>
            <a:r>
              <a:rPr sz="1200" b="1">
                <a:solidFill>
                  <a:srgbClr val="7C6EE6"/>
                </a:solidFill>
              </a:rPr>
              <a:t>traversal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202E3-5E38-4BAE-8102-5D77FBC1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05125"/>
            <a:ext cx="2819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vertex + 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51DF8-2D1F-4F0E-B731-997BD370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816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Un linguaggio può attraversare modelli nello stesso database.</a:t>
            </a:r>
          </a:p>
        </p:txBody>
      </p:sp>
    </p:spTree>
    <p:extLst>
      <p:ext uri="{BB962C8B-B14F-4D97-AF65-F5344CB8AC3E}">
        <p14:creationId xmlns:p14="http://schemas.microsoft.com/office/powerpoint/2010/main" val="4925510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22507-D885-476C-8965-F610EC9A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F6475-E8F1-4AD4-A11A-290E0AD6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Multimodel e polyglot non sono sinonimi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4081-CDDE-46B7-8795-6E0B4FE4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C9BD6-C287-4DA0-A253-B94AFFD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13BE2-D328-405C-B737-D19019BE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CFF7-09D3-4B72-9075-D21313AB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A"/>
          </a:solidFill>
          <a:ln xmlns:a="http://schemas.openxmlformats.org/drawingml/2006/main" w="9525">
            <a:solidFill>
              <a:srgbClr val="F4C8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E9FFC-551E-4895-BD77-3734799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4109B-A652-4A3F-B7D6-08A535FE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MULTIMODEL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B5B0C-D93F-4D30-9ED2-7F972987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Un motore supporta più modelli. Benefici: superficie operativa unificata e query trasversali. Rischio: profondità specialistica non identica in ogni modello.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B14C0-DD90-4CFF-B418-43A3663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POLYGLOT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4ADCF2-2277-43C5-8A76-E668AB5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Più motori specializzati condividono l’architettura. Benefici: fit mirato. Rischi: sincronizzazione, skill, costo e ownership distribuita.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0CBEF-D77A-42A5-B56E-5A9112DB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La scelta riguarda anche il costo di coordinare i sistemi.</a:t>
            </a:r>
          </a:p>
        </p:txBody>
      </p:sp>
    </p:spTree>
    <p:extLst>
      <p:ext uri="{BB962C8B-B14F-4D97-AF65-F5344CB8AC3E}">
        <p14:creationId xmlns:p14="http://schemas.microsoft.com/office/powerpoint/2010/main" val="201184853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60A44-9141-4BD1-B987-3A589BF6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11DB-F44F-4505-B3C5-BF7F2907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Column store e wide-column: nomi simili, obiettivi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FA0AB-0AA8-411B-8306-CA01259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F1F38-5067-473B-80BC-30E5149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03A5C-B4B0-4983-8A27-D63063B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42EB1-13AB-48B9-BB55-606AAA5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D36B5-8982-4968-9433-C45E6CA8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E59DC-18EC-4925-8CC6-A0332262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WIDE-COLUMN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552F7-E521-46CF-A064-C96AB75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Modello operativo distribuito e query per partition key. Cassandra raggruppa righe in partizioni e ordina con clustering columns.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D880E-5056-4B73-AFFA-7B80EF2F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COLUMNAR 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964E9-79F5-41B5-82DB-606CE8E7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Archivia valori della stessa colonna insieme per scansioni e aggregazioni analitiche. Tipico di warehouse e motori OLAP.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CA7E5-FF37-4549-8A11-FA2D1ACD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Stessa parola “column”, access pattern radicalmente diverso.</a:t>
            </a:r>
          </a:p>
        </p:txBody>
      </p:sp>
    </p:spTree>
    <p:extLst>
      <p:ext uri="{BB962C8B-B14F-4D97-AF65-F5344CB8AC3E}">
        <p14:creationId xmlns:p14="http://schemas.microsoft.com/office/powerpoint/2010/main" val="14521838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139C5-E9AB-4607-937A-B53EB90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D4DF1-3BB4-48BF-885C-96518933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Object storage e database: conservano, ma non allo stesso modo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13449-20E3-403E-8047-9D20A0F1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25775-A4B3-4969-A8D0-23AF8A7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DB533-D469-4F04-944A-ECBD05D6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CB770-62A0-48D4-AF4F-A1C59B9A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9D794-FCE2-4BB5-94F2-CAED0BE6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56D17-2A70-414E-98D5-9CD60CF2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OBJECT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541DB-A1DF-4008-BC46-C431F11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Bucket, object e key. Ottimo per file, video, dataset e data lake; accesso per oggetto e metadati, non query operative arbitrarie sulle righe.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6FFE9-A4F9-4743-A13B-8B16FD1D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3B524-7FC0-407D-B77C-BF4CD0D3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Modello, indici, query e garanzie costruiti per accedere a record o relazioni. Può conservare riferimenti agli oggetti, non necessariamente i blob.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19670-1315-4378-BD3F-776EFEA8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DATAFLIX mette il video in object storage e i metadati nel datastore adatto.</a:t>
            </a:r>
          </a:p>
        </p:txBody>
      </p:sp>
    </p:spTree>
    <p:extLst>
      <p:ext uri="{BB962C8B-B14F-4D97-AF65-F5344CB8AC3E}">
        <p14:creationId xmlns:p14="http://schemas.microsoft.com/office/powerpoint/2010/main" val="14716551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7C443-5328-4B1E-B917-F8E30A7D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FAMIGLIE NOSQL • LEZIONE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44037-B54B-4B7A-84E5-B5B2043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Immutable log e database: sequenza contro stato interrogabile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8A80F-5FC0-4506-8FAA-524A329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57EDB-55D0-43D0-AA3C-21C1B5D5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082C4-58BF-44D5-AA26-FC75E886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2A83C-E2CB-4D94-A1BF-720A3674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6D625-3267-4759-B65F-AA53F12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9525">
            <a:solidFill>
              <a:srgbClr val="27A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F2FBC-730C-4C7C-9BF3-C9EFBFF0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EVENT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6EBCB-5A07-41CC-A17A-3256B48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Record append-only ordinati in partizioni; ottimo per streaming, integrazione, replay e disaccoppiamento tra producer e consumer.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B14AA-2970-4DE0-8CEC-ADD291C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41440-AFD3-45F4-B592-AC572A26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Rappresenta stato interrogabile secondo un modello. Può essere alimentato dagli eventi e offrire viste adatte alle query.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64D3-6CAA-4D23-8A94-EBA0E6B0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Il log racconta che cosa è successo; la vista serve ciò che vogliamo sapere ora.</a:t>
            </a:r>
          </a:p>
        </p:txBody>
      </p:sp>
    </p:spTree>
    <p:extLst>
      <p:ext uri="{BB962C8B-B14F-4D97-AF65-F5344CB8AC3E}">
        <p14:creationId xmlns:p14="http://schemas.microsoft.com/office/powerpoint/2010/main" val="7682755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27F1C6-E451-4323-8B93-235F545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ACCESS PATTERN DOMINANTE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650D1-A3F8-4C2B-BA56-FD662CD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Matrice di decisione: partire dalla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E33A7-BE88-4951-BFD9-236AE4DD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A4FD2-1EAB-405C-B4F4-84FFB9B6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8CA47-67E0-4728-BAC6-299DC495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Famiglia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3F5BE-F684-4E66-95B5-CC16E122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6A653-6370-423E-8548-E8CCC08B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Parola guida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81BFD-6D1D-4C9A-880B-A6D97A3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19250"/>
            <a:ext cx="419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6A563-F6C6-4798-8CE5-152D8291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403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Query naturale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DBEE2-C228-40DD-8F67-D19ED712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9ED45-3F9C-455D-8BB3-521CB74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335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Esempio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5ADD5-BE45-4CB5-B2BD-C05E1609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8AC03-0592-4A27-9DD1-F06E070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Key-value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100F8-46FC-4716-B4B3-FE788DE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64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6198E-B220-4D6E-A602-E89075F7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193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chiave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C5E55-C9E8-403A-9F5A-9CC6BCC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AAF66-C118-44BF-BCEF-D1E244E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GET per ID + TTL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7BC50-6C4B-4583-B991-8FEC4389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764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050E6-0AA2-4686-B192-95C4B715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193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sessione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C03E0-46D7-40F8-81D3-36638552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45AC0-D670-4BB3-BA81-F039CCE3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5A3A3-FB66-4D89-AC62-AC113F9F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2ADC7-EE53-451D-A698-7F917809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908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aggregato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EC386-AC4C-4B15-940A-C7F50D13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6D390-19F3-404D-81B3-CCF70CE3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filtra campi / leggi oggetto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9673D-2960-46D6-BA98-F93CBF97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C4EDC-3EBF-474A-AA29-0C8248A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908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catalogo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99B6B-2071-44AC-8153-3076DD53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049C8-99B8-40EB-9E52-83BDDE7B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Graph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D1E93-4B0E-463C-BC1B-33EFA629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B0918-B077-426A-83DF-90CDC60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623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connessione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A72DB-E721-42E3-B216-C93A60E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3940D-FA62-45D0-BC12-DD91B9D8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623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traversal /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15B47-B2BD-43E0-BF60-37EF7894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F158AB-29DC-4E06-9634-460712F6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recommendation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7543C2-6FD3-4F33-AE39-4AE4ACFB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AB242C-9158-47F4-8987-E8F184D4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Wide-column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BA155-9D82-482B-A3D4-FA50272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909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F20E06-6B9A-47FA-9ED5-209BB4E5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338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partizione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5DDFC8-9E9F-44E4-90DD-0FD2B3A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269DCE-F10D-4B5D-9E71-E180ED2E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338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partition + range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ABF600-25CB-4475-B27E-A24A8A6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D65F40-33DE-4380-A5BB-82A9695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338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eventi utente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200FCD-2BD0-4186-8E12-FFA015F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E372C0-A7DC-4695-9C69-1ADA771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Time-series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535A87-72BE-4951-B20E-D330217F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1EBB20-29A1-459A-9D69-6EB1EEC6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53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tempo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8DB228-8884-40FF-9F26-B1788D0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624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442941-58A3-4229-BCD4-9C75DB3F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053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finestra + aggregazione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B096FB-E704-42F0-8239-67DDE6D5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F8B6A2-8D2A-4CDC-97AE-9F8DB7E8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053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telemetria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7E0AC-85DD-4812-889F-25CD193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A295AB-0C4E-4DD1-9A4C-82767BB7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Search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B31078-7B01-4B59-B072-3E80B5D3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339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FE6021-4E75-4D62-8202-846208DD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768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rilevanza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F66DF6-9BEC-4127-8897-85FF9E14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4191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87A229-7433-449C-9891-DDF579F7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768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full-text + ranking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9CD3EC-1B26-4DE8-A2EB-4F84606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3395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7C168D-27FC-4702-ABFB-F08A55FC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768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ricerca film</a:t>
            </a:r>
          </a:p>
        </p:txBody>
      </p:sp>
    </p:spTree>
    <p:extLst>
      <p:ext uri="{BB962C8B-B14F-4D97-AF65-F5344CB8AC3E}">
        <p14:creationId xmlns:p14="http://schemas.microsoft.com/office/powerpoint/2010/main" val="15895839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06246-33A4-433A-9FD9-DF9D83D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PARTIZIONE DI RETE → SCELTA PER OPERAZIONE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18BEA-0E9F-4813-A28A-67ABB9F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CAP non è un’etichetta permanente sul prodotto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470F2-1A9E-40EB-A402-BC4F4863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9796-60F9-4635-A6A2-DE462F02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F5A5A"/>
                </a:solidFill>
              </a:defRPr>
            </a:pPr>
            <a:r>
              <a:rPr sz="2100" b="1">
                <a:solidFill>
                  <a:srgbClr val="EF5A5A"/>
                </a:solidFill>
              </a:rPr>
              <a:t>NETWORK PARTITION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CCBCB-A3C2-4F4B-A97C-D2794588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8A4C"/>
                </a:solidFill>
              </a:defRPr>
            </a:pPr>
            <a:r>
              <a:rPr sz="300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37DF3-8AA6-4211-8EAA-EC7FB357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66875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F4A29-697B-47CA-B8BD-EE61B46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operazione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3900-4B11-4668-BC21-01BA33E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consistenza richiesta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B6F6C-8F73-4854-A0D3-C884991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533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F6D22-53BB-4AED-AAF9-00647E4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operazione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C0C5E-16D5-4820-847D-E5E0585F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718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8A4C"/>
                </a:solidFill>
              </a:defRPr>
            </a:pPr>
            <a:r>
              <a:rPr sz="1575" b="1">
                <a:solidFill>
                  <a:srgbClr val="FF8A4C"/>
                </a:solidFill>
              </a:rPr>
              <a:t>disponibilità richiesta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FBCB4-71C0-4F49-9D7B-8962E96B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Dichiara il comportamento osservabile, non soltanto “CP” o “AP”.</a:t>
            </a:r>
          </a:p>
        </p:txBody>
      </p:sp>
    </p:spTree>
    <p:extLst>
      <p:ext uri="{BB962C8B-B14F-4D97-AF65-F5344CB8AC3E}">
        <p14:creationId xmlns:p14="http://schemas.microsoft.com/office/powerpoint/2010/main" val="14618404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8313F-848F-49CB-98B0-939D83BB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LOGO-FIRST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AD7FA-F38A-45B4-8B9E-1CBD044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Anti-pattern: scegliere dalla popolarità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8BC07-FA0B-4FA7-B291-7ECBAB3A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103FF-9E76-4A3E-9ECD-EF4F212F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339CE-CB2F-42FA-A733-B6E93CA3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2B64E-8AF4-41E0-9C6F-23FC2EB2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“È VELOCE”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1261B-0363-4423-BDEA-7A6DAB0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su quale query? con quale scala?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3DE1A-6BF6-49EA-B19D-1E448EBE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AD0CB-7D43-4BC5-87D5-8F6859C6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B0A32-6F9C-4D02-9B9A-7ACB8D5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“SCALA”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11BCF-278B-4C4E-A032-66E1A794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quale chiave distribuisce il carico?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ED288-E01D-4789-BE01-3BAB1CF4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8A5C2-0ACF-4784-986C-E5A89E0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42144-2119-4166-BA83-7B9AED2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“È NOSQL”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16612-27D0-4E4E-A44D-2731AEA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quale modello e quali garanzie?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519B0-9056-48FB-A1D3-1E7AC484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4FC55-BA39-4B21-A1D8-9A25854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988D9-6304-4847-A273-AA44FC3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38550"/>
            <a:ext cx="467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“LO USA X”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8286E-2D96-437A-91DF-585D057B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2900"/>
            <a:ext cx="4676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con lo stesso workload e team?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98D45-273E-412E-B484-980503A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Una scelta valida contiene sempre un requisito verificabile.</a:t>
            </a:r>
          </a:p>
        </p:txBody>
      </p:sp>
    </p:spTree>
    <p:extLst>
      <p:ext uri="{BB962C8B-B14F-4D97-AF65-F5344CB8AC3E}">
        <p14:creationId xmlns:p14="http://schemas.microsoft.com/office/powerpoint/2010/main" val="77883988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E395B-662B-4E08-A7C2-FE9C0ABD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MISSIONE 1 • 35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C1282-015B-41DF-A120-2CFFA1B2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 — Query-first Modeling Sprint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6E89C-1E48-4A14-9EB5-74B1CC3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0CC4B-D10D-4AA0-A7A6-F890B213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971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DE5A5-900F-4D29-B82A-4C2A686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01437-2B08-4B34-AEB1-A645436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9775"/>
            <a:ext cx="9048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DOMANDA A  viste di un utente in un giorno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→ partition key: (user_id, day)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→ clustering: event_time, event_id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DOMANDA B  viste di un film in un giorno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→ nuova tabella: views_by_movie_day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→ non forzare la tabella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23BF1-2731-4C03-9558-CD25715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Deliverable: due tabelle, tre query valide, un hot-partition test.</a:t>
            </a:r>
          </a:p>
        </p:txBody>
      </p:sp>
    </p:spTree>
    <p:extLst>
      <p:ext uri="{BB962C8B-B14F-4D97-AF65-F5344CB8AC3E}">
        <p14:creationId xmlns:p14="http://schemas.microsoft.com/office/powerpoint/2010/main" val="7653666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47AC6-1649-4846-9DC1-C1B68BAA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MISSIONE 2 • 75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2A3A7-1CE0-42AA-AF3E-3341A41A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Database Battle — scegli, difendi, contesta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8BEED-A9DB-4AE8-9D58-35442829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D6F7C-E954-443E-8A4F-48D22033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F9471-A0ED-4910-B325-108FB40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1 • PESCA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65327-C8E2-40A3-86FF-8C6EDC6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859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3 carte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455DB-3056-4325-9600-1A66623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94A1-C44F-4C0C-980A-AA9664C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2 • MODELLA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0B4A0-B1B1-4FCB-B929-62A5BFDB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query + chiave/tempo/testo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A2221-5687-41F0-96EE-42059FBD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F0CCA-8856-4BBD-B181-83985DC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3 • DIFENDI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7C748-877E-4CCB-BFE8-2518D3A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5285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pitch di 3 minuti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15681-5614-40EF-936A-7A62502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D2E53-4FDD-404D-8438-C0510F59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5A5A"/>
                </a:solidFill>
              </a:defRPr>
            </a:pPr>
            <a:r>
              <a:rPr sz="1425" b="1">
                <a:solidFill>
                  <a:srgbClr val="EF5A5A"/>
                </a:solidFill>
              </a:rPr>
              <a:t>4 • CONTESTA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FAA41-4835-4683-8857-0D9B5AB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trade-off o caso limite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455E2-EC65-4014-8B9C-88A71294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A36A"/>
                </a:solidFill>
              </a:defRPr>
            </a:pPr>
            <a:r>
              <a:rPr sz="1575" b="1">
                <a:solidFill>
                  <a:srgbClr val="27A36A"/>
                </a:solidFill>
              </a:rPr>
              <a:t>Punti solo se la scelta è collegata a un access pattern.</a:t>
            </a:r>
          </a:p>
        </p:txBody>
      </p:sp>
    </p:spTree>
    <p:extLst>
      <p:ext uri="{BB962C8B-B14F-4D97-AF65-F5344CB8AC3E}">
        <p14:creationId xmlns:p14="http://schemas.microsoft.com/office/powerpoint/2010/main" val="146431428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AAC4E-A3C9-4B0F-A1CF-CCC1D18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15532-EBB0-4328-9EFF-48577F7D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Quiz finale: riconosci la forma del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272BE-A901-40E1-A6FC-407E46B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4AD65-F058-4B3F-AC2D-5EBE3A73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Che cosa determina il partition key in Cassandra?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30B73-5889-496A-88E3-7B503AB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2. Perché query-first può produrre più tabelle?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CCFB1-B59E-4FF1-9061-D2C76458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Quando un timestamp non rende il workload time-series?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0E3AD-E6B1-43B8-B16D-F1924C4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Perché text e keyword hanno ruoli diversi?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2EAEA-E2A1-479D-A533-920857C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5. Multimodel e polyglot: qual è la differenza?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8E11A-CA43-44D5-A598-973E814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6. Perché column store non significa wide-column?</a:t>
            </a:r>
          </a:p>
        </p:txBody>
      </p:sp>
    </p:spTree>
    <p:extLst>
      <p:ext uri="{BB962C8B-B14F-4D97-AF65-F5344CB8AC3E}">
        <p14:creationId xmlns:p14="http://schemas.microsoft.com/office/powerpoint/2010/main" val="8092345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24896-2314-4D5D-A182-E4263D7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C0AF4-34CF-4CF8-B299-179CF45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50679-7B86-409C-8C1D-175F8810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72BEE-A27D-4012-A7F2-923E27E2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D677A-298E-4C6C-A583-9357A334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Ora sappiamo scegliere una famiglia. Ma come convivono PostgreSQL, Redis, MongoDB, Neo4j, Cassandra, search e object storage nella stessa DATAFLIX?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F4BC6-D7F6-48CF-83A9-87A961E8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05F98-0B3B-496F-909E-C0BBA5CA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POLYGLOT PERSISTENCE</a:t>
            </a:r>
          </a:p>
        </p:txBody>
      </p:sp>
    </p:spTree>
    <p:extLst>
      <p:ext uri="{BB962C8B-B14F-4D97-AF65-F5344CB8AC3E}">
        <p14:creationId xmlns:p14="http://schemas.microsoft.com/office/powerpoint/2010/main" val="139671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2026-09-03T14:51:02.7480000Z</dcterms:created>
  <dcterms:modified xsi:type="dcterms:W3CDTF">2026-09-03T14:51:02.7490000Z</dcterms:modified>
</coreProperties>
</file>