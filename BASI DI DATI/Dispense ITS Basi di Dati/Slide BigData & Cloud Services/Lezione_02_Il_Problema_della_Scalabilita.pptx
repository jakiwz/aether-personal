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hJEG3zMD/prxg1wOM4CVEOOqP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Apri riprendendo la domanda lasciata alla fine della lezione 1: cosa accade quando DATAFLIX passa da diecimila a cinquanta milioni di utenti?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Raccogli ipotesi senza correggere: più RAM, server più potente, più server, cache, replica. Oggi ordineremo queste risposte.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che crescono anche il numero di richieste simultanee e la necessità di continuità.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Definisci metriche operative e distingui capacità da percezione dell’utente.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Per ogni risorsa chiedi un sintomo di saturazione.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l’analogia della strada: allargare un tratto non risolve un ponte stretto. Azure raccomanda di identificare il bottleneck prima di aggiungere istanze.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Design to scale out: https://learn.microsoft.com/en-us/azure/architecture/guide/design-principles/scale-out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 una mini dashboard immaginaria. Fai scegliere quale indagine iniziare per ciascun sintomo.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1" name="Google Shape;10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il concetto di carico progressivo senza entrare ancora negli strumenti. Correggi l’idea che il limite sia il primo rallentamento: conta l’obiettivo di servizio.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1" name="Google Shape;1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Definisci scale-up: aumentare risorse della stessa macchina.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Evita di demonizzare il vertical scaling: spesso è la prima scelta razionale, finché soddisfa requisiti e crescita.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Collega capacità e affidabilità: un server potente può essere veloce, ma rimane un unico punto di guasto.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73" name="Google Shape;17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Definisci scale-out: aggiungere o rimuovere istanze. Microsoft descrive la scalabilità orizzontale come aggiunta/rimozione di istanze per seguire la domanda.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Design to scale out: https://learn.microsoft.com/en-us/azure/architecture/guide/design-principles/scale-out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90" name="Google Shape;19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che il bilanciatore sceglie un’istanza disponibile; non risolve però un database o uno stato condiviso che resta bottleneck.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Design to scale out: https://learn.microsoft.com/en-us/azure/architecture/guide/design-principles/scale-out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11" name="Google Shape;21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Azure raccomanda di evitare stickiness e fare in modo che ogni istanza possa gestire ogni richiesta.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Design to scale out: https://learn.microsoft.com/en-us/azure/architecture/guide/design-principles/scale-out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33" name="Google Shape;23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Mostra perché session affinity limita la distribuzione e prepara Redis/JWT come esempi, senza trasformare la slide in un corso di autenticazione.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Design to scale out: https://learn.microsoft.com/en-us/azure/architecture/guide/design-principles/scale-out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47" name="Google Shape;24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Definisci nodo e cluster. Sottolinea che “più computer” diventa un sistema solo quando esistono coordinamento, distribuzione e gestione dei failure.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67" name="Google Shape;26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Questa è la transizione centrale: scale-out non elimina i problemi, li trasforma in problemi distribuiti.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93" name="Google Shape;29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che replicare significa mantenere copie su nodi diversi. AWS raccomanda risorse multiple per ridurre l’impatto di un singolo failure.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Well-Architected Framework — Reliability design principles: https://docs.aws.amazon.com/wellarchitected/latest/reliability-pillar/design-principles.html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13" name="Google Shape;31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Correggi un equivoco comune: la replica non sostituisce il backup, perché una cancellazione o corruzione può propagarsi.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32" name="Google Shape;332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Definisci partizione come suddivisione gestibile e accessibile separatamente. Può migliorare scalabilità e ridurre contesa.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Data partitioning guidance: https://learn.microsoft.com/en-us/azure/architecture/best-practices/data-partitioning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46" name="Google Shape;34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che lo sharding è partizionamento orizzontale: stesso schema, sottoinsiemi diversi. La scelta della chiave è critica.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Data partitioning guidance: https://learn.microsoft.com/en-us/azure/architecture/best-practices/data-partitioning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67" name="Google Shape;36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Mostra un hotspot e spiega che la chiave deve distribuire richieste, non soltanto byte. Microsoft raccomanda di evitare partizioni calde.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Data partitioning guidance: https://learn.microsoft.com/en-us/azure/architecture/best-practices/data-partitioning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85" name="Google Shape;38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Collega l’elasticità al cloud e alla possibilità di scale-in oltre che scale-out.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Design to scale out: https://learn.microsoft.com/en-us/azure/architecture/guide/design-principles/scale-out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06" name="Google Shape;40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Spiega soglie e metriche. Azure consiglia autoscaling basato su utilizzo live o schedulazione; AWS invita a non indovinare la capacità.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Microsoft Azure Architecture Center — Design to scale out: https://learn.microsoft.com/en-us/azure/architecture/guide/design-principles/scale-out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Well-Architected Framework — Reliability design principles: https://docs.aws.amazon.com/wellarchitected/latest/reliability-pillar/design-principles.html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20" name="Google Shape;420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Definisci fault tolerance come capacità di continuare il servizio entro requisiti accettabili nonostante alcuni guasti. AWS raccomanda testare le procedure di recovery.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Well-Architected Framework — Reliability design principles: https://docs.aws.amazon.com/wellarchitected/latest/reliability-pillar/design-principles.html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40" name="Google Shape;440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Chiedi cosa succede se il cluster lavora già al 100%. La ridondanza richiede capacità di riserva e un meccanismo di failover.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61" name="Google Shape;46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Ricapitola la sequenza senza presentarla come obbligatoria. Si scala solo quando le misure e i requisiti lo richiedono.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96" name="Google Shape;49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Ogni gruppo deve proporre diagnosi, intervento, rischio e metrica di verifica. Premia chi non scala alla cieca.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24" name="Google Shape;524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Consegna: per ogni ondata decidere metriche, bottleneck, intervento, rischio, disponibilità e costo. Nessuna tecnologia senza motivazione.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41" name="Google Shape;541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4" name="Google Shape;56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Risposte attese: potenziare una macchina vs aggiungere nodi; il bottleneck può stare altrove; nessuno stato locale necessario tra richieste; no; distribuzione sbilanciata di dati o traffico.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65" name="Google Shape;56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7" name="Google Shape;577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Anticipa la lezione 3: relazionale e NoSQL non sono avversari, ma scelte legate a modello, transazioni, access pattern e scala.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78" name="Google Shape;578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4953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BIG DATA &amp; CLOUD SERVICES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" y="1381125"/>
            <a:ext cx="714375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FFFFFF"/>
                </a:solidFill>
              </a:rPr>
              <a:t>Il problema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FFFFFF"/>
                </a:solidFill>
              </a:rPr>
              <a:t>della scalabilità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23900" y="4000500"/>
            <a:ext cx="495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C8D4DE"/>
                </a:solidFill>
              </a:rPr>
              <a:t>Lezione 02 • DATAFLIX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477250" y="1123950"/>
            <a:ext cx="2381250" cy="2381250"/>
          </a:xfrm>
          <a:prstGeom prst="roundRect">
            <a:avLst>
              <a:gd fmla="val 3200" name="adj"/>
            </a:avLst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763000" y="1524000"/>
            <a:ext cx="1809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0B1F33"/>
                </a:solidFill>
              </a:rPr>
              <a:t>02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23900" y="600075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9FB0BF"/>
                </a:solidFill>
              </a:rPr>
              <a:t>Scale-up • scale-out • affidabilità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IL PROBLEMA</a:t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Ripartiamo da DATAFLIX</a:t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02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42950" y="180975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FF8A4C"/>
                </a:solidFill>
              </a:rPr>
              <a:t>“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676400" y="1952625"/>
            <a:ext cx="885825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Cosa succede quando il successo supera la capacità del sistema?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676400" y="4591050"/>
            <a:ext cx="28575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CRESCITA</a:t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La crescita cambia il carico, non solo i numeri</a:t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03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857250" y="2000250"/>
            <a:ext cx="28575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50">
                <a:solidFill>
                  <a:srgbClr val="00B8D9"/>
                </a:solidFill>
              </a:rPr>
              <a:t>10.000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904875" y="30289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C8D4DE"/>
                </a:solidFill>
              </a:rPr>
              <a:t>utenti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095750" y="2381250"/>
            <a:ext cx="857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429250" y="2000250"/>
            <a:ext cx="5238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50">
                <a:solidFill>
                  <a:srgbClr val="FFFFFF"/>
                </a:solidFill>
              </a:rPr>
              <a:t>50.000.000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5476875" y="302895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C8D4DE"/>
                </a:solidFill>
              </a:rPr>
              <a:t>utenti globali</a:t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57250" y="4524375"/>
            <a:ext cx="10096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FFFFFF"/>
                </a:solidFill>
              </a:rPr>
              <a:t>Più richieste • più dati • più concorrenza • più aspettative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Prima di scalare, misuriamo il problema</a:t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04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8580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7630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LATENCY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76300" y="3143250"/>
            <a:ext cx="2000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tempo di risposta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37185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56235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THROUGHPUT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3562350" y="3143250"/>
            <a:ext cx="2000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lavoro per unità di tempo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05790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24840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CONCURRENCY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248400" y="3143250"/>
            <a:ext cx="2000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utenti simultanei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874395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893445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UTILIZATION</a:t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8934450" y="3143250"/>
            <a:ext cx="2000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CPU • RAM • I/O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Ogni richiesta attraversa quattro risorse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05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85800" y="2095500"/>
            <a:ext cx="2381250" cy="25717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95350" y="2381250"/>
            <a:ext cx="1952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F33"/>
                </a:solidFill>
              </a:rPr>
              <a:t>CPU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95350" y="3219450"/>
            <a:ext cx="1952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827"/>
                </a:solidFill>
              </a:rPr>
              <a:t>calcola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371850" y="2095500"/>
            <a:ext cx="2381250" cy="25717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581400" y="2381250"/>
            <a:ext cx="1952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F33"/>
                </a:solidFill>
              </a:rPr>
              <a:t>RAM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581400" y="3219450"/>
            <a:ext cx="1952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827"/>
                </a:solidFill>
              </a:rPr>
              <a:t>mantiene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057900" y="2095500"/>
            <a:ext cx="2381250" cy="25717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267450" y="2381250"/>
            <a:ext cx="1952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F33"/>
                </a:solidFill>
              </a:rPr>
              <a:t>STORAGE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267450" y="3219450"/>
            <a:ext cx="1952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827"/>
                </a:solidFill>
              </a:rPr>
              <a:t>legge e scrive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743950" y="2095500"/>
            <a:ext cx="2381250" cy="2571750"/>
          </a:xfrm>
          <a:prstGeom prst="roundRect">
            <a:avLst>
              <a:gd fmla="val 32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953500" y="2381250"/>
            <a:ext cx="1952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F33"/>
                </a:solidFill>
              </a:rPr>
              <a:t>RETE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953500" y="3219450"/>
            <a:ext cx="1952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827"/>
                </a:solidFill>
              </a:rPr>
              <a:t>trasporta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IL PROBLEMA</a:t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Il collo di bottiglia decide la velocità</a:t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06</a:t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42950" y="180975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EF5A5A"/>
                </a:solidFill>
              </a:rPr>
              <a:t>“</a:t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676400" y="1952625"/>
            <a:ext cx="885825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Aggiungere risorse dove non servono non rende più veloce il sistema.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676400" y="4591050"/>
            <a:ext cx="28575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Diagnosi: quale risorsa è satura?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07</a:t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762000" y="1762125"/>
            <a:ext cx="10096500" cy="666750"/>
          </a:xfrm>
          <a:prstGeom prst="roundRect">
            <a:avLst>
              <a:gd fmla="val 11429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1000125" y="1924050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CPU 98%</a:t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3619500" y="1924050"/>
            <a:ext cx="666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calcoli o codice inefficiente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762000" y="2667000"/>
            <a:ext cx="10096500" cy="66675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000125" y="2828925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RAM piena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619500" y="2828925"/>
            <a:ext cx="666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cache o working set</a:t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762000" y="3571875"/>
            <a:ext cx="10096500" cy="66675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000125" y="3733800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DISK lento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3619500" y="3733800"/>
            <a:ext cx="666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I/O e accesso dati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62000" y="4476750"/>
            <a:ext cx="10096500" cy="66675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000125" y="4638675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RETE satura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3619500" y="4638675"/>
            <a:ext cx="666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troppo traffico o payload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Un test di carico rende visibile il limite</a:t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08</a:t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857250" y="1952625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2606D"/>
                </a:solidFill>
              </a:rPr>
              <a:t>UTENTI</a:t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857250" y="2667000"/>
            <a:ext cx="2000250" cy="4953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57250" y="272415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10</a:t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857250" y="3476625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OK</a:t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3429000" y="2667000"/>
            <a:ext cx="2000250" cy="4953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3429000" y="272415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100</a:t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3429000" y="3476625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OK</a:t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6000750" y="2667000"/>
            <a:ext cx="2000250" cy="4953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6000750" y="272415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1000</a:t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6000750" y="3476625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LENTO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8572500" y="2667000"/>
            <a:ext cx="2000250" cy="4953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8572500" y="272415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10000</a:t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8572500" y="3476625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EF5A5A"/>
                </a:solidFill>
              </a:rPr>
              <a:t>ERRORE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1238250" y="4762500"/>
            <a:ext cx="9715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2606D"/>
                </a:solidFill>
              </a:rPr>
              <a:t>Aumentiamo il carico finché latency ed errori superano la soglia accettabile.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SCALE-UP • VERTICAL SCALING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Prima risposta: rendere il server più potente</a:t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09</a:t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1476375" y="2286000"/>
            <a:ext cx="295275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1628775" y="2457450"/>
            <a:ext cx="2647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SERVER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1628775" y="2819400"/>
            <a:ext cx="2647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8 CPU • 32 GB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4714875" y="2571750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191250" y="2047875"/>
            <a:ext cx="38100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6343650" y="2219325"/>
            <a:ext cx="3505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SERVER XL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343650" y="2581275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32 CPU • 256 GB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6191250" y="3429000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2606D"/>
                </a:solidFill>
              </a:rPr>
              <a:t>più CPU • più RAM • storage più veloce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Scale-up: semplice, ma con un soffitto</a:t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10</a:t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6858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63627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1028700" y="20955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PERCHÉ PIACE</a:t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1028700" y="2724150"/>
            <a:ext cx="4286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Poche modifiche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Gestione semplice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Dati locali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Meno comunicazione</a:t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6705600" y="20955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DOVE SI FERMA</a:t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6705600" y="2724150"/>
            <a:ext cx="4286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Limite hardware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Costi crescenti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Upgrade e migrazioni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Un solo punto di failure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SINGLE POINT OF FAILURE</a:t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Un solo server resta un solo punto di failure</a:t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11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1095375" y="2524125"/>
            <a:ext cx="22860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1247775" y="2695575"/>
            <a:ext cx="1981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UTENTI</a:t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1247775" y="3057525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richieste</a:t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3571875" y="2667000"/>
            <a:ext cx="71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4762500" y="2190750"/>
            <a:ext cx="2857500" cy="952500"/>
          </a:xfrm>
          <a:prstGeom prst="roundRect">
            <a:avLst>
              <a:gd fmla="val 8000" name="adj"/>
            </a:avLst>
          </a:prstGeom>
          <a:solidFill>
            <a:srgbClr val="EF5A5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4914900" y="2362200"/>
            <a:ext cx="2552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SERVER</a:t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4914900" y="2724150"/>
            <a:ext cx="255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tutto il servizio</a:t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8382000" y="2286000"/>
            <a:ext cx="1143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EF5A5A"/>
                </a:solidFill>
              </a:rPr>
              <a:t>✕</a:t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3762375" y="4619625"/>
            <a:ext cx="4667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FFFF"/>
                </a:solidFill>
              </a:rPr>
              <a:t>Se cade, DATAFLIX si ferma.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SCALE-OUT • HORIZONTAL SCALING</a:t>
            </a: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Seconda risposta: aggiungere più server</a:t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12</a:t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857250" y="26670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1009650" y="28384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SERVER 1</a:t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1009650" y="32004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8 CPU</a:t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3476625" y="26670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3629025" y="28384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SERVER 2</a:t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3629025" y="32004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8 CPU</a:t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6096000" y="26670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6248400" y="28384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SERVER 3</a:t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6248400" y="32004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8 CPU</a:t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8715375" y="26670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8867775" y="28384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SERVER N</a:t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8867775" y="32004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...</a:t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1238250" y="4619625"/>
            <a:ext cx="9715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F33"/>
                </a:solidFill>
              </a:rPr>
              <a:t>Capacità aggregata • crescita incrementale • ridondanza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Il load balancer distribuisce le richieste</a:t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13</a:t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904875" y="2714625"/>
            <a:ext cx="1619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F33"/>
                </a:solidFill>
              </a:rPr>
              <a:t>UTENTI</a:t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2667000" y="2667000"/>
            <a:ext cx="666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3571875" y="2381250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3724275" y="255270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LOAD BALANCER</a:t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3724275" y="2914650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8D4DE"/>
                </a:solidFill>
              </a:rPr>
              <a:t>smista</a:t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6191250" y="1952625"/>
            <a:ext cx="76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8A4C"/>
                </a:solidFill>
              </a:rPr>
              <a:t>↗</a:t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6191250" y="2667000"/>
            <a:ext cx="76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6191250" y="3381375"/>
            <a:ext cx="76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8A4C"/>
                </a:solidFill>
              </a:rPr>
              <a:t>↘</a:t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7239000" y="1666875"/>
            <a:ext cx="238125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7391400" y="1838325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1</a:t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7239000" y="2857500"/>
            <a:ext cx="238125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7391400" y="3028950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2</a:t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7239000" y="4048125"/>
            <a:ext cx="238125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7391400" y="4219575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Stateless scala meglio di stateful</a:t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14</a:t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6858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63627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1028700" y="20955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STATELESS</a:t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1028700" y="2724150"/>
            <a:ext cx="4286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Ogni nodo può gestire ogni richiesta.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52606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Lo stato vive fuori dall’istanza.</a:t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6705600" y="20955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STATEFUL</a:t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6705600" y="2724150"/>
            <a:ext cx="4286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La richiesta dipende da memoria o dati locali.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52606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Spostarla può rompere la sessione.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Le sessioni locali creano “sticky users”</a:t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15</a:t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857250" y="24765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1009650" y="26479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MARIO</a:t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1009650" y="30099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sessione A</a:t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3143250" y="2619375"/>
            <a:ext cx="666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4095750" y="2190750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4248150" y="236220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1</a:t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4248150" y="2724150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sessione A</a:t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7191375" y="2143125"/>
            <a:ext cx="3619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EF5A5A"/>
                </a:solidFill>
              </a:rPr>
              <a:t>NODE 2 non conosce Mario</a:t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7667625" y="2857500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7820025" y="302895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2</a:t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7820025" y="3390900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sessione ?</a:t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2286000" y="476250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F33"/>
                </a:solidFill>
              </a:rPr>
              <a:t>Soluzione concettuale: stato condiviso o token verificabile.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Un cluster è un sistema di nodi coordinati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16</a:t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1047750" y="20955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1200150" y="22669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NODE 1</a:t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1200150" y="26289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8D4DE"/>
                </a:solidFill>
              </a:rPr>
              <a:t>coordinatore</a:t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3905250" y="20955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4057650" y="22669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2</a:t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4057650" y="26289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worker</a:t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6762750" y="20955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6915150" y="22669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3</a:t>
            </a:r>
            <a:endParaRPr/>
          </a:p>
        </p:txBody>
      </p:sp>
      <p:sp>
        <p:nvSpPr>
          <p:cNvPr id="280" name="Google Shape;280;p16"/>
          <p:cNvSpPr/>
          <p:nvPr/>
        </p:nvSpPr>
        <p:spPr>
          <a:xfrm>
            <a:off x="6915150" y="26289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worker</a:t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2476500" y="38100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"/>
          <p:cNvSpPr/>
          <p:nvPr/>
        </p:nvSpPr>
        <p:spPr>
          <a:xfrm>
            <a:off x="2628900" y="39814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4</a:t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2628900" y="43434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worker</a:t>
            </a:r>
            <a:endParaRPr/>
          </a:p>
        </p:txBody>
      </p:sp>
      <p:sp>
        <p:nvSpPr>
          <p:cNvPr id="284" name="Google Shape;284;p16"/>
          <p:cNvSpPr/>
          <p:nvPr/>
        </p:nvSpPr>
        <p:spPr>
          <a:xfrm>
            <a:off x="5334000" y="38100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5486400" y="39814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5</a:t>
            </a:r>
            <a:endParaRPr/>
          </a:p>
        </p:txBody>
      </p:sp>
      <p:sp>
        <p:nvSpPr>
          <p:cNvPr id="286" name="Google Shape;286;p16"/>
          <p:cNvSpPr/>
          <p:nvPr/>
        </p:nvSpPr>
        <p:spPr>
          <a:xfrm>
            <a:off x="5486400" y="43434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worker</a:t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8191500" y="3810000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8343900" y="398145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6</a:t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8343900" y="43434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worker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296" name="Google Shape;296;p17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Più nodi portano capacità e complessità</a:t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17</a:t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68580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87630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CAPACITÀ</a:t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876300" y="3143250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più lavoro parallelo</a:t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337185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356235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DISPONIBILITÀ</a:t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3562350" y="3143250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un nodo può fallire</a:t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605790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624840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COORDINAMENTO</a:t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6248400" y="3143250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chi fa cosa?</a:t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8743950" y="2047875"/>
            <a:ext cx="2381250" cy="2714625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8934450" y="2343150"/>
            <a:ext cx="2000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CONSISTENZA</a:t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8934450" y="3143250"/>
            <a:ext cx="2000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quale copia è aggiornata?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REPLICATION</a:t>
            </a:r>
            <a:endParaRPr/>
          </a:p>
        </p:txBody>
      </p:sp>
      <p:sp>
        <p:nvSpPr>
          <p:cNvPr id="316" name="Google Shape;316;p18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Replica: più copie dello stesso dato</a:t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18</a:t>
            </a:r>
            <a:endParaRPr/>
          </a:p>
        </p:txBody>
      </p:sp>
      <p:sp>
        <p:nvSpPr>
          <p:cNvPr id="318" name="Google Shape;318;p18"/>
          <p:cNvSpPr/>
          <p:nvPr/>
        </p:nvSpPr>
        <p:spPr>
          <a:xfrm>
            <a:off x="857250" y="2571750"/>
            <a:ext cx="2571750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1009650" y="2743200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DATO A</a:t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1009650" y="3105150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8D4DE"/>
                </a:solidFill>
              </a:rPr>
              <a:t>copia primaria</a:t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3714750" y="2476500"/>
            <a:ext cx="666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4667250" y="1809750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4819650" y="198120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REPLICA 1</a:t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4819650" y="2343150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Dato A</a:t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4667250" y="3190875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8"/>
          <p:cNvSpPr/>
          <p:nvPr/>
        </p:nvSpPr>
        <p:spPr>
          <a:xfrm>
            <a:off x="4819650" y="3362325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REPLICA 2</a:t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4819650" y="3724275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Dato A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7524750" y="2571750"/>
            <a:ext cx="333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B1F33"/>
                </a:solidFill>
              </a:rPr>
              <a:t>Disponibilità • letture • resilienza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Replica e backup risolvono problemi diversi</a:t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19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6858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63627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1028700" y="20955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REPLICA</a:t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1028700" y="2724150"/>
            <a:ext cx="4286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Continuità operativa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Failover rapido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Copie sincronizzate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Può replicare un errore</a:t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6705600" y="20955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BACKUP</a:t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6705600" y="2724150"/>
            <a:ext cx="4286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Recupero storico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Copia separata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Protegge da cancellazioni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Richiede ripristino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349" name="Google Shape;349;p20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Partizionare significa dividere il lavoro</a:t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20</a:t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1000125" y="1857375"/>
            <a:ext cx="4286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B1F33"/>
                </a:solidFill>
              </a:rPr>
              <a:t>DATASET COMPLETO</a:t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1000125" y="2619375"/>
            <a:ext cx="4286250" cy="1238250"/>
          </a:xfrm>
          <a:prstGeom prst="roundRect">
            <a:avLst>
              <a:gd fmla="val 6154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1190625" y="3048000"/>
            <a:ext cx="3905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</a:rPr>
              <a:t>A  B  C  D  E  F  G  H</a:t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5572125" y="2857500"/>
            <a:ext cx="666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6667500" y="2476500"/>
            <a:ext cx="904875" cy="1476375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6743700" y="30289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A-B</a:t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7810500" y="2476500"/>
            <a:ext cx="904875" cy="1476375"/>
          </a:xfrm>
          <a:prstGeom prst="roundRect">
            <a:avLst>
              <a:gd fmla="val 8421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7886700" y="30289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C-D</a:t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8953500" y="2476500"/>
            <a:ext cx="904875" cy="1476375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9029700" y="30289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E-F</a:t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10096500" y="2476500"/>
            <a:ext cx="904875" cy="1476375"/>
          </a:xfrm>
          <a:prstGeom prst="roundRect">
            <a:avLst>
              <a:gd fmla="val 8421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10172700" y="30289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G-H</a:t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6191250" y="4524375"/>
            <a:ext cx="4857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2606D"/>
                </a:solidFill>
              </a:rPr>
              <a:t>Ogni partizione gestisce un sottoinsieme.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HORIZONTAL PARTITIONING</a:t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Sharding: righe simili, dati distribuiti</a:t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21</a:t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1000125" y="2190750"/>
            <a:ext cx="2857500" cy="2333625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1238250" y="2476500"/>
            <a:ext cx="2381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SHARD 1</a:t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1238250" y="3333750"/>
            <a:ext cx="238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utenti 1-1M</a:t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4429125" y="2190750"/>
            <a:ext cx="2857500" cy="2333625"/>
          </a:xfrm>
          <a:prstGeom prst="roundRect">
            <a:avLst>
              <a:gd fmla="val 3265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4667250" y="2476500"/>
            <a:ext cx="2381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SHARD 2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667250" y="3333750"/>
            <a:ext cx="238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utenti 1M-2M</a:t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7858125" y="2190750"/>
            <a:ext cx="2857500" cy="2333625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8096250" y="2476500"/>
            <a:ext cx="2381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SHARD 3</a:t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8096250" y="3333750"/>
            <a:ext cx="238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11827"/>
                </a:solidFill>
              </a:rPr>
              <a:t>utenti 2M-3M</a:t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2190750" y="5095875"/>
            <a:ext cx="781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F33"/>
                </a:solidFill>
              </a:rPr>
              <a:t>La shard key decide dove vive ogni record.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Una cattiva shard key crea un hotspot</a:t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22</a:t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685800" y="2143125"/>
            <a:ext cx="2381250" cy="2381250"/>
          </a:xfrm>
          <a:prstGeom prst="roundRect">
            <a:avLst>
              <a:gd fmla="val 3200" name="adj"/>
            </a:avLst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876300" y="2428875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SHARD A</a:t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876300" y="33337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FFFF"/>
                </a:solidFill>
              </a:rPr>
              <a:t>70% traffico</a:t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3371850" y="2143125"/>
            <a:ext cx="2381250" cy="2381250"/>
          </a:xfrm>
          <a:prstGeom prst="roundRect">
            <a:avLst>
              <a:gd fmla="val 32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3562350" y="2428875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SHARD B</a:t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3562350" y="33337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11827"/>
                </a:solidFill>
              </a:rPr>
              <a:t>10%</a:t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6057900" y="2143125"/>
            <a:ext cx="2381250" cy="23812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6248400" y="2428875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SHARD C</a:t>
            </a:r>
            <a:endParaRPr/>
          </a:p>
        </p:txBody>
      </p:sp>
      <p:sp>
        <p:nvSpPr>
          <p:cNvPr id="398" name="Google Shape;398;p22"/>
          <p:cNvSpPr/>
          <p:nvPr/>
        </p:nvSpPr>
        <p:spPr>
          <a:xfrm>
            <a:off x="6248400" y="33337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11827"/>
                </a:solidFill>
              </a:rPr>
              <a:t>10%</a:t>
            </a:r>
            <a:endParaRPr/>
          </a:p>
        </p:txBody>
      </p:sp>
      <p:sp>
        <p:nvSpPr>
          <p:cNvPr id="399" name="Google Shape;399;p22"/>
          <p:cNvSpPr/>
          <p:nvPr/>
        </p:nvSpPr>
        <p:spPr>
          <a:xfrm>
            <a:off x="8743950" y="2143125"/>
            <a:ext cx="2381250" cy="2381250"/>
          </a:xfrm>
          <a:prstGeom prst="roundRect">
            <a:avLst>
              <a:gd fmla="val 32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"/>
          <p:cNvSpPr/>
          <p:nvPr/>
        </p:nvSpPr>
        <p:spPr>
          <a:xfrm>
            <a:off x="8934450" y="2428875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SHARD D</a:t>
            </a:r>
            <a:endParaRPr/>
          </a:p>
        </p:txBody>
      </p:sp>
      <p:sp>
        <p:nvSpPr>
          <p:cNvPr id="401" name="Google Shape;401;p22"/>
          <p:cNvSpPr/>
          <p:nvPr/>
        </p:nvSpPr>
        <p:spPr>
          <a:xfrm>
            <a:off x="8934450" y="3333750"/>
            <a:ext cx="2000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11827"/>
                </a:solidFill>
              </a:rPr>
              <a:t>10%</a:t>
            </a: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1714500" y="5048250"/>
            <a:ext cx="876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F33"/>
                </a:solidFill>
              </a:rPr>
              <a:t>Distribuire i dati non basta: bisogna distribuire il carico.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Scalabilità ed elasticità non sono sinonimi</a:t>
            </a:r>
            <a:endParaRPr/>
          </a:p>
        </p:txBody>
      </p:sp>
      <p:sp>
        <p:nvSpPr>
          <p:cNvPr id="410" name="Google Shape;410;p2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23</a:t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6858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3"/>
          <p:cNvSpPr/>
          <p:nvPr/>
        </p:nvSpPr>
        <p:spPr>
          <a:xfrm>
            <a:off x="6362700" y="1809750"/>
            <a:ext cx="5143500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1028700" y="20955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SCALABILITÀ</a:t>
            </a:r>
            <a:endParaRPr/>
          </a:p>
        </p:txBody>
      </p:sp>
      <p:sp>
        <p:nvSpPr>
          <p:cNvPr id="414" name="Google Shape;414;p23"/>
          <p:cNvSpPr/>
          <p:nvPr/>
        </p:nvSpPr>
        <p:spPr>
          <a:xfrm>
            <a:off x="1028700" y="2724150"/>
            <a:ext cx="4286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Capacità del sistema di sostenere crescita aggiungendo risorse.</a:t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6705600" y="209550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ELASTICITÀ</a:t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6705600" y="2724150"/>
            <a:ext cx="42862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06D"/>
                </a:solidFill>
              </a:rPr>
              <a:t>Capacità di aggiungere e rimuovere risorse seguendo la domanda.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Autoscaling: la capacità segue i segnali</a:t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24</a:t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857250" y="2667000"/>
            <a:ext cx="180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F33"/>
                </a:solidFill>
              </a:rPr>
              <a:t>METRICA</a:t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2714625" y="2619375"/>
            <a:ext cx="571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3524250" y="2238375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3676650" y="2409825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POLICY</a:t>
            </a:r>
            <a:endParaRPr/>
          </a:p>
        </p:txBody>
      </p:sp>
      <p:sp>
        <p:nvSpPr>
          <p:cNvPr id="429" name="Google Shape;429;p24"/>
          <p:cNvSpPr/>
          <p:nvPr/>
        </p:nvSpPr>
        <p:spPr>
          <a:xfrm>
            <a:off x="3676650" y="2771775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8D4DE"/>
                </a:solidFill>
              </a:rPr>
              <a:t>CPU &gt; 70%</a:t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6191250" y="2619375"/>
            <a:ext cx="571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7000875" y="1857375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7153275" y="2028825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+ NODI</a:t>
            </a:r>
            <a:endParaRPr/>
          </a:p>
        </p:txBody>
      </p:sp>
      <p:sp>
        <p:nvSpPr>
          <p:cNvPr id="433" name="Google Shape;433;p24"/>
          <p:cNvSpPr/>
          <p:nvPr/>
        </p:nvSpPr>
        <p:spPr>
          <a:xfrm>
            <a:off x="7153275" y="2390775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scale out</a:t>
            </a:r>
            <a:endParaRPr/>
          </a:p>
        </p:txBody>
      </p:sp>
      <p:sp>
        <p:nvSpPr>
          <p:cNvPr id="434" name="Google Shape;434;p24"/>
          <p:cNvSpPr/>
          <p:nvPr/>
        </p:nvSpPr>
        <p:spPr>
          <a:xfrm>
            <a:off x="7000875" y="3286125"/>
            <a:ext cx="2476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7153275" y="3457575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- NODI</a:t>
            </a:r>
            <a:endParaRPr/>
          </a:p>
        </p:txBody>
      </p:sp>
      <p:sp>
        <p:nvSpPr>
          <p:cNvPr id="436" name="Google Shape;436;p24"/>
          <p:cNvSpPr/>
          <p:nvPr/>
        </p:nvSpPr>
        <p:spPr>
          <a:xfrm>
            <a:off x="7153275" y="3819525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scale in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RELIABILITY</a:t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Fault tolerance: il sistema continua nonostante un guasto</a:t>
            </a:r>
            <a:endParaRPr/>
          </a:p>
        </p:txBody>
      </p:sp>
      <p:sp>
        <p:nvSpPr>
          <p:cNvPr id="444" name="Google Shape;444;p2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25</a:t>
            </a:r>
            <a:endParaRPr/>
          </a:p>
        </p:txBody>
      </p:sp>
      <p:sp>
        <p:nvSpPr>
          <p:cNvPr id="445" name="Google Shape;445;p25"/>
          <p:cNvSpPr/>
          <p:nvPr/>
        </p:nvSpPr>
        <p:spPr>
          <a:xfrm>
            <a:off x="904875" y="2524125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1057275" y="2695575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1</a:t>
            </a:r>
            <a:endParaRPr/>
          </a:p>
        </p:txBody>
      </p:sp>
      <p:sp>
        <p:nvSpPr>
          <p:cNvPr id="447" name="Google Shape;447;p25"/>
          <p:cNvSpPr/>
          <p:nvPr/>
        </p:nvSpPr>
        <p:spPr>
          <a:xfrm>
            <a:off x="1057275" y="3057525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OK</a:t>
            </a:r>
            <a:endParaRPr/>
          </a:p>
        </p:txBody>
      </p:sp>
      <p:sp>
        <p:nvSpPr>
          <p:cNvPr id="448" name="Google Shape;448;p25"/>
          <p:cNvSpPr/>
          <p:nvPr/>
        </p:nvSpPr>
        <p:spPr>
          <a:xfrm>
            <a:off x="3524250" y="2524125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EF5A5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5"/>
          <p:cNvSpPr/>
          <p:nvPr/>
        </p:nvSpPr>
        <p:spPr>
          <a:xfrm>
            <a:off x="3676650" y="2695575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2</a:t>
            </a:r>
            <a:endParaRPr/>
          </a:p>
        </p:txBody>
      </p:sp>
      <p:sp>
        <p:nvSpPr>
          <p:cNvPr id="450" name="Google Shape;450;p25"/>
          <p:cNvSpPr/>
          <p:nvPr/>
        </p:nvSpPr>
        <p:spPr>
          <a:xfrm>
            <a:off x="3676650" y="3057525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FAIL</a:t>
            </a:r>
            <a:endParaRPr/>
          </a:p>
        </p:txBody>
      </p:sp>
      <p:sp>
        <p:nvSpPr>
          <p:cNvPr id="451" name="Google Shape;451;p25"/>
          <p:cNvSpPr/>
          <p:nvPr/>
        </p:nvSpPr>
        <p:spPr>
          <a:xfrm>
            <a:off x="6143625" y="2524125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5"/>
          <p:cNvSpPr/>
          <p:nvPr/>
        </p:nvSpPr>
        <p:spPr>
          <a:xfrm>
            <a:off x="6296025" y="2695575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3</a:t>
            </a:r>
            <a:endParaRPr/>
          </a:p>
        </p:txBody>
      </p:sp>
      <p:sp>
        <p:nvSpPr>
          <p:cNvPr id="453" name="Google Shape;453;p25"/>
          <p:cNvSpPr/>
          <p:nvPr/>
        </p:nvSpPr>
        <p:spPr>
          <a:xfrm>
            <a:off x="6296025" y="3057525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OK</a:t>
            </a: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8763000" y="2524125"/>
            <a:ext cx="2095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5"/>
          <p:cNvSpPr/>
          <p:nvPr/>
        </p:nvSpPr>
        <p:spPr>
          <a:xfrm>
            <a:off x="8915400" y="2695575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NODE 4</a:t>
            </a:r>
            <a:endParaRPr/>
          </a:p>
        </p:txBody>
      </p:sp>
      <p:sp>
        <p:nvSpPr>
          <p:cNvPr id="456" name="Google Shape;456;p25"/>
          <p:cNvSpPr/>
          <p:nvPr/>
        </p:nvSpPr>
        <p:spPr>
          <a:xfrm>
            <a:off x="8915400" y="3057525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OK</a:t>
            </a:r>
            <a:endParaRPr/>
          </a:p>
        </p:txBody>
      </p:sp>
      <p:sp>
        <p:nvSpPr>
          <p:cNvPr id="457" name="Google Shape;457;p25"/>
          <p:cNvSpPr/>
          <p:nvPr/>
        </p:nvSpPr>
        <p:spPr>
          <a:xfrm>
            <a:off x="2667000" y="4762500"/>
            <a:ext cx="6858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FFFF"/>
                </a:solidFill>
              </a:rPr>
              <a:t>Il servizio degrada, ma non si ferma.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KILL THE NODE</a:t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Esperimento mentale: spegniamo un nodo</a:t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26</a:t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904875" y="1857375"/>
            <a:ext cx="1619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2606D"/>
                </a:solidFill>
              </a:rPr>
              <a:t>PRIMA</a:t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904875" y="4000500"/>
            <a:ext cx="1619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2606D"/>
                </a:solidFill>
              </a:rPr>
              <a:t>DOPO</a:t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2381250" y="1571625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2533650" y="1743075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N1</a:t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2533650" y="2105025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25% carico</a:t>
            </a:r>
            <a:endParaRPr/>
          </a:p>
        </p:txBody>
      </p:sp>
      <p:sp>
        <p:nvSpPr>
          <p:cNvPr id="471" name="Google Shape;471;p26"/>
          <p:cNvSpPr/>
          <p:nvPr/>
        </p:nvSpPr>
        <p:spPr>
          <a:xfrm>
            <a:off x="4572000" y="1571625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4724400" y="1743075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N2</a:t>
            </a:r>
            <a:endParaRPr/>
          </a:p>
        </p:txBody>
      </p:sp>
      <p:sp>
        <p:nvSpPr>
          <p:cNvPr id="473" name="Google Shape;473;p26"/>
          <p:cNvSpPr/>
          <p:nvPr/>
        </p:nvSpPr>
        <p:spPr>
          <a:xfrm>
            <a:off x="4724400" y="2105025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25% carico</a:t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6762750" y="1571625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6915150" y="1743075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N3</a:t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6915150" y="2105025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25% carico</a:t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8953500" y="1571625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6"/>
          <p:cNvSpPr/>
          <p:nvPr/>
        </p:nvSpPr>
        <p:spPr>
          <a:xfrm>
            <a:off x="9105900" y="1743075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N4</a:t>
            </a:r>
            <a:endParaRPr/>
          </a:p>
        </p:txBody>
      </p:sp>
      <p:sp>
        <p:nvSpPr>
          <p:cNvPr id="479" name="Google Shape;479;p26"/>
          <p:cNvSpPr/>
          <p:nvPr/>
        </p:nvSpPr>
        <p:spPr>
          <a:xfrm>
            <a:off x="9105900" y="2105025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25% carico</a:t>
            </a:r>
            <a:endParaRPr/>
          </a:p>
        </p:txBody>
      </p:sp>
      <p:sp>
        <p:nvSpPr>
          <p:cNvPr id="480" name="Google Shape;480;p26"/>
          <p:cNvSpPr/>
          <p:nvPr/>
        </p:nvSpPr>
        <p:spPr>
          <a:xfrm>
            <a:off x="2381250" y="3714750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6"/>
          <p:cNvSpPr/>
          <p:nvPr/>
        </p:nvSpPr>
        <p:spPr>
          <a:xfrm>
            <a:off x="2533650" y="3886200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N1</a:t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2533650" y="4248150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33% carico</a:t>
            </a:r>
            <a:endParaRPr/>
          </a:p>
        </p:txBody>
      </p:sp>
      <p:sp>
        <p:nvSpPr>
          <p:cNvPr id="483" name="Google Shape;483;p26"/>
          <p:cNvSpPr/>
          <p:nvPr/>
        </p:nvSpPr>
        <p:spPr>
          <a:xfrm>
            <a:off x="4572000" y="3714750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EF5A5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6"/>
          <p:cNvSpPr/>
          <p:nvPr/>
        </p:nvSpPr>
        <p:spPr>
          <a:xfrm>
            <a:off x="4724400" y="3886200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N2</a:t>
            </a:r>
            <a:endParaRPr/>
          </a:p>
        </p:txBody>
      </p:sp>
      <p:sp>
        <p:nvSpPr>
          <p:cNvPr id="485" name="Google Shape;485;p26"/>
          <p:cNvSpPr/>
          <p:nvPr/>
        </p:nvSpPr>
        <p:spPr>
          <a:xfrm>
            <a:off x="4724400" y="4248150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OFF</a:t>
            </a:r>
            <a:endParaRPr/>
          </a:p>
        </p:txBody>
      </p:sp>
      <p:sp>
        <p:nvSpPr>
          <p:cNvPr id="486" name="Google Shape;486;p26"/>
          <p:cNvSpPr/>
          <p:nvPr/>
        </p:nvSpPr>
        <p:spPr>
          <a:xfrm>
            <a:off x="6762750" y="3714750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"/>
          <p:cNvSpPr/>
          <p:nvPr/>
        </p:nvSpPr>
        <p:spPr>
          <a:xfrm>
            <a:off x="6915150" y="3886200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N3</a:t>
            </a:r>
            <a:endParaRPr/>
          </a:p>
        </p:txBody>
      </p:sp>
      <p:sp>
        <p:nvSpPr>
          <p:cNvPr id="488" name="Google Shape;488;p26"/>
          <p:cNvSpPr/>
          <p:nvPr/>
        </p:nvSpPr>
        <p:spPr>
          <a:xfrm>
            <a:off x="6915150" y="4248150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33% carico</a:t>
            </a:r>
            <a:endParaRPr/>
          </a:p>
        </p:txBody>
      </p:sp>
      <p:sp>
        <p:nvSpPr>
          <p:cNvPr id="489" name="Google Shape;489;p26"/>
          <p:cNvSpPr/>
          <p:nvPr/>
        </p:nvSpPr>
        <p:spPr>
          <a:xfrm>
            <a:off x="8953500" y="3714750"/>
            <a:ext cx="1714500" cy="952500"/>
          </a:xfrm>
          <a:prstGeom prst="roundRect">
            <a:avLst>
              <a:gd fmla="val 80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6"/>
          <p:cNvSpPr/>
          <p:nvPr/>
        </p:nvSpPr>
        <p:spPr>
          <a:xfrm>
            <a:off x="9105900" y="3886200"/>
            <a:ext cx="140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N4</a:t>
            </a:r>
            <a:endParaRPr/>
          </a:p>
        </p:txBody>
      </p:sp>
      <p:sp>
        <p:nvSpPr>
          <p:cNvPr id="491" name="Google Shape;491;p26"/>
          <p:cNvSpPr/>
          <p:nvPr/>
        </p:nvSpPr>
        <p:spPr>
          <a:xfrm>
            <a:off x="9105900" y="4248150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06D"/>
                </a:solidFill>
              </a:rPr>
              <a:t>33% carico</a:t>
            </a:r>
            <a:endParaRPr/>
          </a:p>
        </p:txBody>
      </p:sp>
      <p:sp>
        <p:nvSpPr>
          <p:cNvPr id="492" name="Google Shape;492;p26"/>
          <p:cNvSpPr/>
          <p:nvPr/>
        </p:nvSpPr>
        <p:spPr>
          <a:xfrm>
            <a:off x="3476625" y="542925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B1F33"/>
                </a:solidFill>
              </a:rPr>
              <a:t>La capacità residua deve assorbire il carico.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7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SCALABILITÀ • LEZIONE 02</a:t>
            </a: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DATAFLIX evolve per problemi, non per moda</a:t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27</a:t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619125" y="2381250"/>
            <a:ext cx="1905000" cy="1190625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7"/>
          <p:cNvSpPr/>
          <p:nvPr/>
        </p:nvSpPr>
        <p:spPr>
          <a:xfrm>
            <a:off x="733425" y="252412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8A4C"/>
                </a:solidFill>
              </a:rPr>
              <a:t>1</a:t>
            </a: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809625" y="3000375"/>
            <a:ext cx="1524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SERVER</a:t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2505075" y="2714625"/>
            <a:ext cx="38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2886075" y="2381250"/>
            <a:ext cx="1905000" cy="1190625"/>
          </a:xfrm>
          <a:prstGeom prst="roundRect">
            <a:avLst>
              <a:gd fmla="val 64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3000375" y="252412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8A4C"/>
                </a:solidFill>
              </a:rPr>
              <a:t>2</a:t>
            </a:r>
            <a:endParaRPr/>
          </a:p>
        </p:txBody>
      </p:sp>
      <p:sp>
        <p:nvSpPr>
          <p:cNvPr id="507" name="Google Shape;507;p27"/>
          <p:cNvSpPr/>
          <p:nvPr/>
        </p:nvSpPr>
        <p:spPr>
          <a:xfrm>
            <a:off x="3076575" y="3000375"/>
            <a:ext cx="1524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SCALE-UP</a:t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4772025" y="2714625"/>
            <a:ext cx="38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5153025" y="2381250"/>
            <a:ext cx="1905000" cy="1190625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5267325" y="252412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8A4C"/>
                </a:solidFill>
              </a:rPr>
              <a:t>3</a:t>
            </a: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5343525" y="3000375"/>
            <a:ext cx="1524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SCALE-OUT</a:t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7038975" y="2714625"/>
            <a:ext cx="38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7419975" y="2381250"/>
            <a:ext cx="1905000" cy="1190625"/>
          </a:xfrm>
          <a:prstGeom prst="roundRect">
            <a:avLst>
              <a:gd fmla="val 6400" name="adj"/>
            </a:avLst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7"/>
          <p:cNvSpPr/>
          <p:nvPr/>
        </p:nvSpPr>
        <p:spPr>
          <a:xfrm>
            <a:off x="7534275" y="252412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8A4C"/>
                </a:solidFill>
              </a:rPr>
              <a:t>4</a:t>
            </a: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7610475" y="3000375"/>
            <a:ext cx="1524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REPLICA</a:t>
            </a: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9305925" y="2714625"/>
            <a:ext cx="38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8A4C"/>
                </a:solidFill>
              </a:rPr>
              <a:t>→</a:t>
            </a: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9686925" y="2381250"/>
            <a:ext cx="1905000" cy="1190625"/>
          </a:xfrm>
          <a:prstGeom prst="roundRect">
            <a:avLst>
              <a:gd fmla="val 6400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9801225" y="2524125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B8D9"/>
                </a:solidFill>
              </a:rPr>
              <a:t>5</a:t>
            </a: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9877425" y="3000375"/>
            <a:ext cx="1524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</a:rPr>
              <a:t>SHARDING</a:t>
            </a: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1619250" y="4619625"/>
            <a:ext cx="8953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52606D"/>
                </a:solidFill>
              </a:rPr>
              <a:t>Ogni passo risolve un limite e introduce nuovi trade-off.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8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CHALLENGE • 15 MINUTI</a:t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Architecture challenge: quale mossa faresti?</a:t>
            </a:r>
            <a:endParaRPr/>
          </a:p>
        </p:txBody>
      </p:sp>
      <p:sp>
        <p:nvSpPr>
          <p:cNvPr id="528" name="Google Shape;528;p2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28</a:t>
            </a: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857250" y="1714500"/>
            <a:ext cx="476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B8D9"/>
                </a:solidFill>
              </a:rPr>
              <a:t>1</a:t>
            </a:r>
            <a:endParaRPr/>
          </a:p>
        </p:txBody>
      </p:sp>
      <p:sp>
        <p:nvSpPr>
          <p:cNvPr id="530" name="Google Shape;530;p28"/>
          <p:cNvSpPr/>
          <p:nvPr/>
        </p:nvSpPr>
        <p:spPr>
          <a:xfrm>
            <a:off x="1666875" y="1714500"/>
            <a:ext cx="885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CPU 95%, database sano</a:t>
            </a:r>
            <a:endParaRPr/>
          </a:p>
        </p:txBody>
      </p:sp>
      <p:sp>
        <p:nvSpPr>
          <p:cNvPr id="531" name="Google Shape;531;p28"/>
          <p:cNvSpPr/>
          <p:nvPr/>
        </p:nvSpPr>
        <p:spPr>
          <a:xfrm>
            <a:off x="857250" y="2647950"/>
            <a:ext cx="476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8A4C"/>
                </a:solidFill>
              </a:rPr>
              <a:t>2</a:t>
            </a:r>
            <a:endParaRPr/>
          </a:p>
        </p:txBody>
      </p:sp>
      <p:sp>
        <p:nvSpPr>
          <p:cNvPr id="532" name="Google Shape;532;p28"/>
          <p:cNvSpPr/>
          <p:nvPr/>
        </p:nvSpPr>
        <p:spPr>
          <a:xfrm>
            <a:off x="1666875" y="2647950"/>
            <a:ext cx="885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Server web OK, database saturo</a:t>
            </a:r>
            <a:endParaRPr/>
          </a:p>
        </p:txBody>
      </p:sp>
      <p:sp>
        <p:nvSpPr>
          <p:cNvPr id="533" name="Google Shape;533;p28"/>
          <p:cNvSpPr/>
          <p:nvPr/>
        </p:nvSpPr>
        <p:spPr>
          <a:xfrm>
            <a:off x="857250" y="3581400"/>
            <a:ext cx="476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B7E34B"/>
                </a:solidFill>
              </a:rPr>
              <a:t>3</a:t>
            </a:r>
            <a:endParaRPr/>
          </a:p>
        </p:txBody>
      </p:sp>
      <p:sp>
        <p:nvSpPr>
          <p:cNvPr id="534" name="Google Shape;534;p28"/>
          <p:cNvSpPr/>
          <p:nvPr/>
        </p:nvSpPr>
        <p:spPr>
          <a:xfrm>
            <a:off x="1666875" y="3581400"/>
            <a:ext cx="885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Picco serale prevedibile</a:t>
            </a:r>
            <a:endParaRPr/>
          </a:p>
        </p:txBody>
      </p:sp>
      <p:sp>
        <p:nvSpPr>
          <p:cNvPr id="535" name="Google Shape;535;p28"/>
          <p:cNvSpPr/>
          <p:nvPr/>
        </p:nvSpPr>
        <p:spPr>
          <a:xfrm>
            <a:off x="857250" y="4514850"/>
            <a:ext cx="476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EF5A5A"/>
                </a:solidFill>
              </a:rPr>
              <a:t>4</a:t>
            </a:r>
            <a:endParaRPr/>
          </a:p>
        </p:txBody>
      </p:sp>
      <p:sp>
        <p:nvSpPr>
          <p:cNvPr id="536" name="Google Shape;536;p28"/>
          <p:cNvSpPr/>
          <p:nvPr/>
        </p:nvSpPr>
        <p:spPr>
          <a:xfrm>
            <a:off x="1666875" y="4514850"/>
            <a:ext cx="885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11827"/>
                </a:solidFill>
              </a:rPr>
              <a:t>Un nodo cade: servizio offline</a:t>
            </a:r>
            <a:endParaRPr/>
          </a:p>
        </p:txBody>
      </p:sp>
      <p:sp>
        <p:nvSpPr>
          <p:cNvPr id="537" name="Google Shape;537;p28"/>
          <p:cNvSpPr/>
          <p:nvPr/>
        </p:nvSpPr>
        <p:spPr>
          <a:xfrm>
            <a:off x="2000250" y="5619750"/>
            <a:ext cx="8191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2606D"/>
                </a:solidFill>
              </a:rPr>
              <a:t>Diagnosi • scelta • rischio • metrica da osservare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9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LAB • LAVORO DI SQUADRA</a:t>
            </a:r>
            <a:endParaRPr/>
          </a:p>
        </p:txBody>
      </p:sp>
      <p:sp>
        <p:nvSpPr>
          <p:cNvPr id="544" name="Google Shape;544;p29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Laboratorio — Salviamo DATAFLIX</a:t>
            </a: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29</a:t>
            </a:r>
            <a:endParaRPr/>
          </a:p>
        </p:txBody>
      </p:sp>
      <p:sp>
        <p:nvSpPr>
          <p:cNvPr id="546" name="Google Shape;546;p29"/>
          <p:cNvSpPr/>
          <p:nvPr/>
        </p:nvSpPr>
        <p:spPr>
          <a:xfrm>
            <a:off x="857250" y="1714500"/>
            <a:ext cx="8572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FFFF"/>
                </a:solidFill>
              </a:rPr>
              <a:t>DATAFLIX cresce in cinque ondate.</a:t>
            </a: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904875" y="2619375"/>
            <a:ext cx="52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548" name="Google Shape;548;p29"/>
          <p:cNvSpPr/>
          <p:nvPr/>
        </p:nvSpPr>
        <p:spPr>
          <a:xfrm>
            <a:off x="1666875" y="25908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10K utenti</a:t>
            </a:r>
            <a:endParaRPr/>
          </a:p>
        </p:txBody>
      </p:sp>
      <p:sp>
        <p:nvSpPr>
          <p:cNvPr id="549" name="Google Shape;549;p29"/>
          <p:cNvSpPr/>
          <p:nvPr/>
        </p:nvSpPr>
        <p:spPr>
          <a:xfrm>
            <a:off x="4953000" y="25908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8D4DE"/>
                </a:solidFill>
              </a:rPr>
              <a:t>baseline</a:t>
            </a:r>
            <a:endParaRPr/>
          </a:p>
        </p:txBody>
      </p:sp>
      <p:sp>
        <p:nvSpPr>
          <p:cNvPr id="550" name="Google Shape;550;p29"/>
          <p:cNvSpPr/>
          <p:nvPr/>
        </p:nvSpPr>
        <p:spPr>
          <a:xfrm>
            <a:off x="904875" y="3152775"/>
            <a:ext cx="52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02</a:t>
            </a: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1666875" y="31242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100K</a:t>
            </a: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4953000" y="31242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8D4DE"/>
                </a:solidFill>
              </a:rPr>
              <a:t>collo di bottiglia</a:t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904875" y="3686175"/>
            <a:ext cx="52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03</a:t>
            </a:r>
            <a:endParaRPr/>
          </a:p>
        </p:txBody>
      </p:sp>
      <p:sp>
        <p:nvSpPr>
          <p:cNvPr id="554" name="Google Shape;554;p29"/>
          <p:cNvSpPr/>
          <p:nvPr/>
        </p:nvSpPr>
        <p:spPr>
          <a:xfrm>
            <a:off x="1666875" y="36576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1 milione</a:t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4953000" y="36576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8D4DE"/>
                </a:solidFill>
              </a:rPr>
              <a:t>scale-up</a:t>
            </a: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904875" y="4219575"/>
            <a:ext cx="52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04</a:t>
            </a:r>
            <a:endParaRPr/>
          </a:p>
        </p:txBody>
      </p:sp>
      <p:sp>
        <p:nvSpPr>
          <p:cNvPr id="557" name="Google Shape;557;p29"/>
          <p:cNvSpPr/>
          <p:nvPr/>
        </p:nvSpPr>
        <p:spPr>
          <a:xfrm>
            <a:off x="1666875" y="41910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10 milioni</a:t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4953000" y="41910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8D4DE"/>
                </a:solidFill>
              </a:rPr>
              <a:t>scale-out</a:t>
            </a:r>
            <a:endParaRPr/>
          </a:p>
        </p:txBody>
      </p:sp>
      <p:sp>
        <p:nvSpPr>
          <p:cNvPr id="559" name="Google Shape;559;p29"/>
          <p:cNvSpPr/>
          <p:nvPr/>
        </p:nvSpPr>
        <p:spPr>
          <a:xfrm>
            <a:off x="904875" y="4752975"/>
            <a:ext cx="52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0B8D9"/>
                </a:solidFill>
              </a:rPr>
              <a:t>05</a:t>
            </a:r>
            <a:endParaRPr/>
          </a:p>
        </p:txBody>
      </p:sp>
      <p:sp>
        <p:nvSpPr>
          <p:cNvPr id="560" name="Google Shape;560;p29"/>
          <p:cNvSpPr/>
          <p:nvPr/>
        </p:nvSpPr>
        <p:spPr>
          <a:xfrm>
            <a:off x="1666875" y="47244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50 milioni</a:t>
            </a:r>
            <a:endParaRPr/>
          </a:p>
        </p:txBody>
      </p:sp>
      <p:sp>
        <p:nvSpPr>
          <p:cNvPr id="561" name="Google Shape;561;p29"/>
          <p:cNvSpPr/>
          <p:nvPr/>
        </p:nvSpPr>
        <p:spPr>
          <a:xfrm>
            <a:off x="4953000" y="47244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8D4DE"/>
                </a:solidFill>
              </a:rPr>
              <a:t>replica + partizioni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0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VERIFICA • INDIVIDUALE</a:t>
            </a:r>
            <a:endParaRPr/>
          </a:p>
        </p:txBody>
      </p:sp>
      <p:sp>
        <p:nvSpPr>
          <p:cNvPr id="568" name="Google Shape;568;p30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11827"/>
                </a:solidFill>
              </a:rPr>
              <a:t>Quiz finale — 5 domande</a:t>
            </a:r>
            <a:endParaRPr/>
          </a:p>
        </p:txBody>
      </p:sp>
      <p:sp>
        <p:nvSpPr>
          <p:cNvPr id="569" name="Google Shape;569;p3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30</a:t>
            </a:r>
            <a:endParaRPr/>
          </a:p>
        </p:txBody>
      </p:sp>
      <p:sp>
        <p:nvSpPr>
          <p:cNvPr id="570" name="Google Shape;570;p30"/>
          <p:cNvSpPr/>
          <p:nvPr/>
        </p:nvSpPr>
        <p:spPr>
          <a:xfrm>
            <a:off x="904875" y="1762125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11827"/>
                </a:solidFill>
              </a:rPr>
              <a:t>1. Scale-up e scale-out: qual è la differenza?</a:t>
            </a:r>
            <a:endParaRPr/>
          </a:p>
        </p:txBody>
      </p:sp>
      <p:sp>
        <p:nvSpPr>
          <p:cNvPr id="571" name="Google Shape;571;p30"/>
          <p:cNvSpPr/>
          <p:nvPr/>
        </p:nvSpPr>
        <p:spPr>
          <a:xfrm>
            <a:off x="904875" y="2505075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11827"/>
                </a:solidFill>
              </a:rPr>
              <a:t>2. Perché un load balancer non risolve ogni bottleneck?</a:t>
            </a:r>
            <a:endParaRPr/>
          </a:p>
        </p:txBody>
      </p:sp>
      <p:sp>
        <p:nvSpPr>
          <p:cNvPr id="572" name="Google Shape;572;p30"/>
          <p:cNvSpPr/>
          <p:nvPr/>
        </p:nvSpPr>
        <p:spPr>
          <a:xfrm>
            <a:off x="904875" y="3248025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11827"/>
                </a:solidFill>
              </a:rPr>
              <a:t>3. Che cosa rende un servizio stateless?</a:t>
            </a:r>
            <a:endParaRPr/>
          </a:p>
        </p:txBody>
      </p:sp>
      <p:sp>
        <p:nvSpPr>
          <p:cNvPr id="573" name="Google Shape;573;p30"/>
          <p:cNvSpPr/>
          <p:nvPr/>
        </p:nvSpPr>
        <p:spPr>
          <a:xfrm>
            <a:off x="904875" y="3990975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4. Replica e backup sono equivalenti?</a:t>
            </a:r>
            <a:endParaRPr/>
          </a:p>
        </p:txBody>
      </p:sp>
      <p:sp>
        <p:nvSpPr>
          <p:cNvPr id="574" name="Google Shape;574;p30"/>
          <p:cNvSpPr/>
          <p:nvPr/>
        </p:nvSpPr>
        <p:spPr>
          <a:xfrm>
            <a:off x="904875" y="4733925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11827"/>
                </a:solidFill>
              </a:rPr>
              <a:t>5. Perché una shard key può creare un hotspot?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"/>
          <p:cNvSpPr/>
          <p:nvPr/>
        </p:nvSpPr>
        <p:spPr>
          <a:xfrm>
            <a:off x="685800" y="361950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IL PROBLEMA</a:t>
            </a:r>
            <a:endParaRPr/>
          </a:p>
        </p:txBody>
      </p:sp>
      <p:sp>
        <p:nvSpPr>
          <p:cNvPr id="581" name="Google Shape;581;p31"/>
          <p:cNvSpPr/>
          <p:nvPr/>
        </p:nvSpPr>
        <p:spPr>
          <a:xfrm>
            <a:off x="685800" y="742950"/>
            <a:ext cx="108204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</a:rPr>
              <a:t>La prossima domanda</a:t>
            </a:r>
            <a:endParaRPr/>
          </a:p>
        </p:txBody>
      </p:sp>
      <p:sp>
        <p:nvSpPr>
          <p:cNvPr id="582" name="Google Shape;582;p3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31</a:t>
            </a:r>
            <a:endParaRPr/>
          </a:p>
        </p:txBody>
      </p:sp>
      <p:sp>
        <p:nvSpPr>
          <p:cNvPr id="583" name="Google Shape;583;p31"/>
          <p:cNvSpPr/>
          <p:nvPr/>
        </p:nvSpPr>
        <p:spPr>
          <a:xfrm>
            <a:off x="742950" y="180975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B7E34B"/>
                </a:solidFill>
              </a:rPr>
              <a:t>“</a:t>
            </a:r>
            <a:endParaRPr/>
          </a:p>
        </p:txBody>
      </p:sp>
      <p:sp>
        <p:nvSpPr>
          <p:cNvPr id="584" name="Google Shape;584;p31"/>
          <p:cNvSpPr/>
          <p:nvPr/>
        </p:nvSpPr>
        <p:spPr>
          <a:xfrm>
            <a:off x="1676400" y="1952625"/>
            <a:ext cx="885825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Se distribuire risolve la scala, quale database scegliamo per ogni tipo di problema?</a:t>
            </a:r>
            <a:endParaRPr/>
          </a:p>
        </p:txBody>
      </p:sp>
      <p:sp>
        <p:nvSpPr>
          <p:cNvPr id="585" name="Google Shape;585;p31"/>
          <p:cNvSpPr/>
          <p:nvPr/>
        </p:nvSpPr>
        <p:spPr>
          <a:xfrm>
            <a:off x="1676400" y="4591050"/>
            <a:ext cx="28575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1"/>
          <p:cNvSpPr/>
          <p:nvPr/>
        </p:nvSpPr>
        <p:spPr>
          <a:xfrm>
            <a:off x="1676400" y="5000625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FB0BF"/>
                </a:solidFill>
              </a:rPr>
              <a:t>PROSSIMA LEZIONE • SQL VS NoSQL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