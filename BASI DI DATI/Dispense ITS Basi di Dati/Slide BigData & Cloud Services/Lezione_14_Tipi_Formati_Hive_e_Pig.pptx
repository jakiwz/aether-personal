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1ff09a14e4bed" /><Relationship Type="http://schemas.openxmlformats.org/officeDocument/2006/relationships/extended-properties" Target="/docProps/app.xml" Id="Rfefc3b224de94701" /><Relationship Type="http://schemas.openxmlformats.org/officeDocument/2006/relationships/officeDocument" Target="/ppt/presentation.xml" Id="R1f540251c97c4e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9664981b594ff6"/>
  </p:sldMasterIdLst>
  <p:notesMasterIdLst>
    <p:notesMasterId xmlns:r="http://schemas.openxmlformats.org/officeDocument/2006/relationships" r:id="R951c89303d47451e"/>
  </p:notesMasterIdLst>
  <p:sldIdLst>
    <p:sldId xmlns:r="http://schemas.openxmlformats.org/officeDocument/2006/relationships" id="256" r:id="Rfec44fa58ece4209"/>
    <p:sldId xmlns:r="http://schemas.openxmlformats.org/officeDocument/2006/relationships" id="257" r:id="R5c0ac5e86c4f433a"/>
    <p:sldId xmlns:r="http://schemas.openxmlformats.org/officeDocument/2006/relationships" id="258" r:id="R13ca15c016ae409b"/>
    <p:sldId xmlns:r="http://schemas.openxmlformats.org/officeDocument/2006/relationships" id="259" r:id="Rd766d33d8dd046f2"/>
    <p:sldId xmlns:r="http://schemas.openxmlformats.org/officeDocument/2006/relationships" id="260" r:id="R362fa41541034bc0"/>
    <p:sldId xmlns:r="http://schemas.openxmlformats.org/officeDocument/2006/relationships" id="261" r:id="Rdff254ff89b94bf7"/>
    <p:sldId xmlns:r="http://schemas.openxmlformats.org/officeDocument/2006/relationships" id="262" r:id="Rfce0c7cf193f4b82"/>
    <p:sldId xmlns:r="http://schemas.openxmlformats.org/officeDocument/2006/relationships" id="263" r:id="R103aca7174c6479d"/>
    <p:sldId xmlns:r="http://schemas.openxmlformats.org/officeDocument/2006/relationships" id="264" r:id="R518eb3d4f92c463f"/>
    <p:sldId xmlns:r="http://schemas.openxmlformats.org/officeDocument/2006/relationships" id="265" r:id="Rf66b36b1c1d34268"/>
    <p:sldId xmlns:r="http://schemas.openxmlformats.org/officeDocument/2006/relationships" id="266" r:id="R893008da4fd34e22"/>
    <p:sldId xmlns:r="http://schemas.openxmlformats.org/officeDocument/2006/relationships" id="267" r:id="R3aae4cdb9bc54012"/>
    <p:sldId xmlns:r="http://schemas.openxmlformats.org/officeDocument/2006/relationships" id="268" r:id="Re6729bc46c644489"/>
    <p:sldId xmlns:r="http://schemas.openxmlformats.org/officeDocument/2006/relationships" id="269" r:id="R8675b0bdc16a4c83"/>
    <p:sldId xmlns:r="http://schemas.openxmlformats.org/officeDocument/2006/relationships" id="270" r:id="R748ca667b0564083"/>
    <p:sldId xmlns:r="http://schemas.openxmlformats.org/officeDocument/2006/relationships" id="271" r:id="R20ba0ba33b224b3e"/>
    <p:sldId xmlns:r="http://schemas.openxmlformats.org/officeDocument/2006/relationships" id="272" r:id="R9af22f69a9774fcd"/>
    <p:sldId xmlns:r="http://schemas.openxmlformats.org/officeDocument/2006/relationships" id="273" r:id="R9dbd65e4767343f1"/>
    <p:sldId xmlns:r="http://schemas.openxmlformats.org/officeDocument/2006/relationships" id="274" r:id="R74b3938cce4a48f8"/>
    <p:sldId xmlns:r="http://schemas.openxmlformats.org/officeDocument/2006/relationships" id="275" r:id="R112cde78a3c24631"/>
    <p:sldId xmlns:r="http://schemas.openxmlformats.org/officeDocument/2006/relationships" id="276" r:id="Rf35beef3697f4fbb"/>
    <p:sldId xmlns:r="http://schemas.openxmlformats.org/officeDocument/2006/relationships" id="277" r:id="R0411ab408eb3463f"/>
    <p:sldId xmlns:r="http://schemas.openxmlformats.org/officeDocument/2006/relationships" id="278" r:id="R749000ac92b94c17"/>
    <p:sldId xmlns:r="http://schemas.openxmlformats.org/officeDocument/2006/relationships" id="279" r:id="Ra1e24a6b7b4c49f5"/>
    <p:sldId xmlns:r="http://schemas.openxmlformats.org/officeDocument/2006/relationships" id="280" r:id="R4603c898bbd84348"/>
    <p:sldId xmlns:r="http://schemas.openxmlformats.org/officeDocument/2006/relationships" id="281" r:id="R72c21f9a2f734e75"/>
    <p:sldId xmlns:r="http://schemas.openxmlformats.org/officeDocument/2006/relationships" id="282" r:id="R76cda6d1143847ee"/>
    <p:sldId xmlns:r="http://schemas.openxmlformats.org/officeDocument/2006/relationships" id="283" r:id="R2431a32c3f0d439c"/>
    <p:sldId xmlns:r="http://schemas.openxmlformats.org/officeDocument/2006/relationships" id="284" r:id="Re15a614f729a4409"/>
    <p:sldId xmlns:r="http://schemas.openxmlformats.org/officeDocument/2006/relationships" id="285" r:id="Rb05ab704e659432d"/>
    <p:sldId xmlns:r="http://schemas.openxmlformats.org/officeDocument/2006/relationships" id="286" r:id="R403979d721b245ae"/>
    <p:sldId xmlns:r="http://schemas.openxmlformats.org/officeDocument/2006/relationships" id="287" r:id="R2b6b5645b9684a37"/>
    <p:sldId xmlns:r="http://schemas.openxmlformats.org/officeDocument/2006/relationships" id="288" r:id="R1bb8b86244cf4cfa"/>
    <p:sldId xmlns:r="http://schemas.openxmlformats.org/officeDocument/2006/relationships" id="289" r:id="R059adbef47534a4f"/>
    <p:sldId xmlns:r="http://schemas.openxmlformats.org/officeDocument/2006/relationships" id="290" r:id="Re8f5442c768b4040"/>
    <p:sldId xmlns:r="http://schemas.openxmlformats.org/officeDocument/2006/relationships" id="291" r:id="Ra60a822d5dd24fa8"/>
    <p:sldId xmlns:r="http://schemas.openxmlformats.org/officeDocument/2006/relationships" id="292" r:id="Ra6711892291541a8"/>
    <p:sldId xmlns:r="http://schemas.openxmlformats.org/officeDocument/2006/relationships" id="293" r:id="Rf0546d1814d64b2e"/>
    <p:sldId xmlns:r="http://schemas.openxmlformats.org/officeDocument/2006/relationships" id="294" r:id="Ra0db3409213b413b"/>
    <p:sldId xmlns:r="http://schemas.openxmlformats.org/officeDocument/2006/relationships" id="295" r:id="Ra943a12b6b824082"/>
    <p:sldId xmlns:r="http://schemas.openxmlformats.org/officeDocument/2006/relationships" id="296" r:id="Re333b44b4af44004"/>
    <p:sldId xmlns:r="http://schemas.openxmlformats.org/officeDocument/2006/relationships" id="297" r:id="R66695008051e4709"/>
    <p:sldId xmlns:r="http://schemas.openxmlformats.org/officeDocument/2006/relationships" id="298" r:id="Rbec1121434b84ac8"/>
    <p:sldId xmlns:r="http://schemas.openxmlformats.org/officeDocument/2006/relationships" id="299" r:id="Rd0eb856f6e5f4a13"/>
    <p:sldId xmlns:r="http://schemas.openxmlformats.org/officeDocument/2006/relationships" id="300" r:id="Rdcfdb6ecb93d4279"/>
    <p:sldId xmlns:r="http://schemas.openxmlformats.org/officeDocument/2006/relationships" id="301" r:id="R881ee140cc7e4ba6"/>
    <p:sldId xmlns:r="http://schemas.openxmlformats.org/officeDocument/2006/relationships" id="302" r:id="Rcba20864aac44823"/>
    <p:sldId xmlns:r="http://schemas.openxmlformats.org/officeDocument/2006/relationships" id="303" r:id="R0f5fe31d4a394837"/>
    <p:sldId xmlns:r="http://schemas.openxmlformats.org/officeDocument/2006/relationships" id="304" r:id="R6b869b4027ab4f97"/>
    <p:sldId xmlns:r="http://schemas.openxmlformats.org/officeDocument/2006/relationships" id="305" r:id="R60dd9e0b037d4844"/>
    <p:sldId xmlns:r="http://schemas.openxmlformats.org/officeDocument/2006/relationships" id="306" r:id="R6a92d0053cfe4a56"/>
    <p:sldId xmlns:r="http://schemas.openxmlformats.org/officeDocument/2006/relationships" id="307" r:id="Rf3448232216d4349"/>
    <p:sldId xmlns:r="http://schemas.openxmlformats.org/officeDocument/2006/relationships" id="308" r:id="R1c235081caeb4d66"/>
    <p:sldId xmlns:r="http://schemas.openxmlformats.org/officeDocument/2006/relationships" id="309" r:id="Rd83153d729c54fe3"/>
    <p:sldId xmlns:r="http://schemas.openxmlformats.org/officeDocument/2006/relationships" id="310" r:id="R8fa4685087f3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2ec6409594a06" /><Relationship Type="http://schemas.openxmlformats.org/officeDocument/2006/relationships/slideMaster" Target="/ppt/slideMasters/slideMaster1.xml" Id="R629664981b594ff6" /><Relationship Type="http://schemas.openxmlformats.org/officeDocument/2006/relationships/notesMaster" Target="/ppt/notesMasters/notesMaster1.xml" Id="R951c89303d47451e" /><Relationship Type="http://schemas.openxmlformats.org/officeDocument/2006/relationships/presProps" Target="/ppt/presProps.xml" Id="Rc4afd0f8c0f94729" /><Relationship Type="http://schemas.openxmlformats.org/officeDocument/2006/relationships/tableStyles" Target="/ppt/tableStyles.xml" Id="R0c0a52af567b4311" /><Relationship Type="http://schemas.openxmlformats.org/officeDocument/2006/relationships/slide" Target="/ppt/slides/slide1.xml" Id="Rfec44fa58ece4209" /><Relationship Type="http://schemas.openxmlformats.org/officeDocument/2006/relationships/slide" Target="/ppt/slides/slide2.xml" Id="R5c0ac5e86c4f433a" /><Relationship Type="http://schemas.openxmlformats.org/officeDocument/2006/relationships/slide" Target="/ppt/slides/slide3.xml" Id="R13ca15c016ae409b" /><Relationship Type="http://schemas.openxmlformats.org/officeDocument/2006/relationships/slide" Target="/ppt/slides/slide4.xml" Id="Rd766d33d8dd046f2" /><Relationship Type="http://schemas.openxmlformats.org/officeDocument/2006/relationships/slide" Target="/ppt/slides/slide5.xml" Id="R362fa41541034bc0" /><Relationship Type="http://schemas.openxmlformats.org/officeDocument/2006/relationships/slide" Target="/ppt/slides/slide6.xml" Id="Rdff254ff89b94bf7" /><Relationship Type="http://schemas.openxmlformats.org/officeDocument/2006/relationships/slide" Target="/ppt/slides/slide7.xml" Id="Rfce0c7cf193f4b82" /><Relationship Type="http://schemas.openxmlformats.org/officeDocument/2006/relationships/slide" Target="/ppt/slides/slide8.xml" Id="R103aca7174c6479d" /><Relationship Type="http://schemas.openxmlformats.org/officeDocument/2006/relationships/slide" Target="/ppt/slides/slide9.xml" Id="R518eb3d4f92c463f" /><Relationship Type="http://schemas.openxmlformats.org/officeDocument/2006/relationships/slide" Target="/ppt/slides/slide10.xml" Id="Rf66b36b1c1d34268" /><Relationship Type="http://schemas.openxmlformats.org/officeDocument/2006/relationships/slide" Target="/ppt/slides/slide11.xml" Id="R893008da4fd34e22" /><Relationship Type="http://schemas.openxmlformats.org/officeDocument/2006/relationships/slide" Target="/ppt/slides/slide12.xml" Id="R3aae4cdb9bc54012" /><Relationship Type="http://schemas.openxmlformats.org/officeDocument/2006/relationships/slide" Target="/ppt/slides/slide13.xml" Id="Re6729bc46c644489" /><Relationship Type="http://schemas.openxmlformats.org/officeDocument/2006/relationships/slide" Target="/ppt/slides/slide14.xml" Id="R8675b0bdc16a4c83" /><Relationship Type="http://schemas.openxmlformats.org/officeDocument/2006/relationships/slide" Target="/ppt/slides/slide15.xml" Id="R748ca667b0564083" /><Relationship Type="http://schemas.openxmlformats.org/officeDocument/2006/relationships/slide" Target="/ppt/slides/slide16.xml" Id="R20ba0ba33b224b3e" /><Relationship Type="http://schemas.openxmlformats.org/officeDocument/2006/relationships/slide" Target="/ppt/slides/slide17.xml" Id="R9af22f69a9774fcd" /><Relationship Type="http://schemas.openxmlformats.org/officeDocument/2006/relationships/slide" Target="/ppt/slides/slide18.xml" Id="R9dbd65e4767343f1" /><Relationship Type="http://schemas.openxmlformats.org/officeDocument/2006/relationships/slide" Target="/ppt/slides/slide19.xml" Id="R74b3938cce4a48f8" /><Relationship Type="http://schemas.openxmlformats.org/officeDocument/2006/relationships/slide" Target="/ppt/slides/slide20.xml" Id="R112cde78a3c24631" /><Relationship Type="http://schemas.openxmlformats.org/officeDocument/2006/relationships/slide" Target="/ppt/slides/slide21.xml" Id="Rf35beef3697f4fbb" /><Relationship Type="http://schemas.openxmlformats.org/officeDocument/2006/relationships/slide" Target="/ppt/slides/slide22.xml" Id="R0411ab408eb3463f" /><Relationship Type="http://schemas.openxmlformats.org/officeDocument/2006/relationships/slide" Target="/ppt/slides/slide23.xml" Id="R749000ac92b94c17" /><Relationship Type="http://schemas.openxmlformats.org/officeDocument/2006/relationships/slide" Target="/ppt/slides/slide24.xml" Id="Ra1e24a6b7b4c49f5" /><Relationship Type="http://schemas.openxmlformats.org/officeDocument/2006/relationships/slide" Target="/ppt/slides/slide25.xml" Id="R4603c898bbd84348" /><Relationship Type="http://schemas.openxmlformats.org/officeDocument/2006/relationships/slide" Target="/ppt/slides/slide26.xml" Id="R72c21f9a2f734e75" /><Relationship Type="http://schemas.openxmlformats.org/officeDocument/2006/relationships/slide" Target="/ppt/slides/slide27.xml" Id="R76cda6d1143847ee" /><Relationship Type="http://schemas.openxmlformats.org/officeDocument/2006/relationships/slide" Target="/ppt/slides/slide28.xml" Id="R2431a32c3f0d439c" /><Relationship Type="http://schemas.openxmlformats.org/officeDocument/2006/relationships/slide" Target="/ppt/slides/slide29.xml" Id="Re15a614f729a4409" /><Relationship Type="http://schemas.openxmlformats.org/officeDocument/2006/relationships/slide" Target="/ppt/slides/slide30.xml" Id="Rb05ab704e659432d" /><Relationship Type="http://schemas.openxmlformats.org/officeDocument/2006/relationships/slide" Target="/ppt/slides/slide31.xml" Id="R403979d721b245ae" /><Relationship Type="http://schemas.openxmlformats.org/officeDocument/2006/relationships/slide" Target="/ppt/slides/slide32.xml" Id="R2b6b5645b9684a37" /><Relationship Type="http://schemas.openxmlformats.org/officeDocument/2006/relationships/slide" Target="/ppt/slides/slide33.xml" Id="R1bb8b86244cf4cfa" /><Relationship Type="http://schemas.openxmlformats.org/officeDocument/2006/relationships/slide" Target="/ppt/slides/slide34.xml" Id="R059adbef47534a4f" /><Relationship Type="http://schemas.openxmlformats.org/officeDocument/2006/relationships/slide" Target="/ppt/slides/slide35.xml" Id="Re8f5442c768b4040" /><Relationship Type="http://schemas.openxmlformats.org/officeDocument/2006/relationships/slide" Target="/ppt/slides/slide36.xml" Id="Ra60a822d5dd24fa8" /><Relationship Type="http://schemas.openxmlformats.org/officeDocument/2006/relationships/slide" Target="/ppt/slides/slide37.xml" Id="Ra6711892291541a8" /><Relationship Type="http://schemas.openxmlformats.org/officeDocument/2006/relationships/slide" Target="/ppt/slides/slide38.xml" Id="Rf0546d1814d64b2e" /><Relationship Type="http://schemas.openxmlformats.org/officeDocument/2006/relationships/slide" Target="/ppt/slides/slide39.xml" Id="Ra0db3409213b413b" /><Relationship Type="http://schemas.openxmlformats.org/officeDocument/2006/relationships/slide" Target="/ppt/slides/slide40.xml" Id="Ra943a12b6b824082" /><Relationship Type="http://schemas.openxmlformats.org/officeDocument/2006/relationships/slide" Target="/ppt/slides/slide41.xml" Id="Re333b44b4af44004" /><Relationship Type="http://schemas.openxmlformats.org/officeDocument/2006/relationships/slide" Target="/ppt/slides/slide42.xml" Id="R66695008051e4709" /><Relationship Type="http://schemas.openxmlformats.org/officeDocument/2006/relationships/slide" Target="/ppt/slides/slide43.xml" Id="Rbec1121434b84ac8" /><Relationship Type="http://schemas.openxmlformats.org/officeDocument/2006/relationships/slide" Target="/ppt/slides/slide44.xml" Id="Rd0eb856f6e5f4a13" /><Relationship Type="http://schemas.openxmlformats.org/officeDocument/2006/relationships/slide" Target="/ppt/slides/slide45.xml" Id="Rdcfdb6ecb93d4279" /><Relationship Type="http://schemas.openxmlformats.org/officeDocument/2006/relationships/slide" Target="/ppt/slides/slide46.xml" Id="R881ee140cc7e4ba6" /><Relationship Type="http://schemas.openxmlformats.org/officeDocument/2006/relationships/slide" Target="/ppt/slides/slide47.xml" Id="Rcba20864aac44823" /><Relationship Type="http://schemas.openxmlformats.org/officeDocument/2006/relationships/slide" Target="/ppt/slides/slide48.xml" Id="R0f5fe31d4a394837" /><Relationship Type="http://schemas.openxmlformats.org/officeDocument/2006/relationships/slide" Target="/ppt/slides/slide49.xml" Id="R6b869b4027ab4f97" /><Relationship Type="http://schemas.openxmlformats.org/officeDocument/2006/relationships/slide" Target="/ppt/slides/slide50.xml" Id="R60dd9e0b037d4844" /><Relationship Type="http://schemas.openxmlformats.org/officeDocument/2006/relationships/slide" Target="/ppt/slides/slide51.xml" Id="R6a92d0053cfe4a56" /><Relationship Type="http://schemas.openxmlformats.org/officeDocument/2006/relationships/slide" Target="/ppt/slides/slide52.xml" Id="Rf3448232216d4349" /><Relationship Type="http://schemas.openxmlformats.org/officeDocument/2006/relationships/slide" Target="/ppt/slides/slide53.xml" Id="R1c235081caeb4d66" /><Relationship Type="http://schemas.openxmlformats.org/officeDocument/2006/relationships/slide" Target="/ppt/slides/slide54.xml" Id="Rd83153d729c54fe3" /><Relationship Type="http://schemas.openxmlformats.org/officeDocument/2006/relationships/slide" Target="/ppt/slides/slide55.xml" Id="R8fa4685087f3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dd7be336449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88ccb53ae45c9" /><Relationship Type="http://schemas.openxmlformats.org/officeDocument/2006/relationships/notesMaster" Target="/ppt/notesMasters/notesMaster1.xml" Id="R477108953f104a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07abbc26243a4" /><Relationship Type="http://schemas.openxmlformats.org/officeDocument/2006/relationships/notesMaster" Target="/ppt/notesMasters/notesMaster1.xml" Id="Re31e7d50d640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7efab94be47cb" /><Relationship Type="http://schemas.openxmlformats.org/officeDocument/2006/relationships/notesMaster" Target="/ppt/notesMasters/notesMaster1.xml" Id="Re11b0237d7de4b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19eda3ca1642e2" /><Relationship Type="http://schemas.openxmlformats.org/officeDocument/2006/relationships/notesMaster" Target="/ppt/notesMasters/notesMaster1.xml" Id="R682b9751a7ee44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551a7c3bd54fc4" /><Relationship Type="http://schemas.openxmlformats.org/officeDocument/2006/relationships/notesMaster" Target="/ppt/notesMasters/notesMaster1.xml" Id="Rc17c66108357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7e3ec129fc4152" /><Relationship Type="http://schemas.openxmlformats.org/officeDocument/2006/relationships/notesMaster" Target="/ppt/notesMasters/notesMaster1.xml" Id="Rc65967a9e8d34c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352804e0174ad9" /><Relationship Type="http://schemas.openxmlformats.org/officeDocument/2006/relationships/notesMaster" Target="/ppt/notesMasters/notesMaster1.xml" Id="Rac736d94acad4c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9db20c9cf74698" /><Relationship Type="http://schemas.openxmlformats.org/officeDocument/2006/relationships/notesMaster" Target="/ppt/notesMasters/notesMaster1.xml" Id="R95ea60eddc2844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df33faf817480b" /><Relationship Type="http://schemas.openxmlformats.org/officeDocument/2006/relationships/notesMaster" Target="/ppt/notesMasters/notesMaster1.xml" Id="R8cf3f0e7985e4c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22d57fa2a54c47" /><Relationship Type="http://schemas.openxmlformats.org/officeDocument/2006/relationships/notesMaster" Target="/ppt/notesMasters/notesMaster1.xml" Id="Rc81e438d039c44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29d728fb5d43e7" /><Relationship Type="http://schemas.openxmlformats.org/officeDocument/2006/relationships/notesMaster" Target="/ppt/notesMasters/notesMaster1.xml" Id="Rc108b12a36354f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929d42049a41f0" /><Relationship Type="http://schemas.openxmlformats.org/officeDocument/2006/relationships/notesMaster" Target="/ppt/notesMasters/notesMaster1.xml" Id="Rfe0841a2aa0f4e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78851623cc4346" /><Relationship Type="http://schemas.openxmlformats.org/officeDocument/2006/relationships/notesMaster" Target="/ppt/notesMasters/notesMaster1.xml" Id="R1e11776484b741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3b674accd249ab" /><Relationship Type="http://schemas.openxmlformats.org/officeDocument/2006/relationships/notesMaster" Target="/ppt/notesMasters/notesMaster1.xml" Id="Rd66654442cac44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800316b4754aab" /><Relationship Type="http://schemas.openxmlformats.org/officeDocument/2006/relationships/notesMaster" Target="/ppt/notesMasters/notesMaster1.xml" Id="R3f7cb33c28c940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c55b27f31e4413" /><Relationship Type="http://schemas.openxmlformats.org/officeDocument/2006/relationships/notesMaster" Target="/ppt/notesMasters/notesMaster1.xml" Id="R253e8ffe893d43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7ad000f70d43e4" /><Relationship Type="http://schemas.openxmlformats.org/officeDocument/2006/relationships/notesMaster" Target="/ppt/notesMasters/notesMaster1.xml" Id="Rff018754d92743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1bba6f95cf487a" /><Relationship Type="http://schemas.openxmlformats.org/officeDocument/2006/relationships/notesMaster" Target="/ppt/notesMasters/notesMaster1.xml" Id="Rb5ba7c738e234d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ccefbaf1a6480c" /><Relationship Type="http://schemas.openxmlformats.org/officeDocument/2006/relationships/notesMaster" Target="/ppt/notesMasters/notesMaster1.xml" Id="R1ac3cfaf87e44a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f0f28ecdb84874" /><Relationship Type="http://schemas.openxmlformats.org/officeDocument/2006/relationships/notesMaster" Target="/ppt/notesMasters/notesMaster1.xml" Id="R8f2c40481d414c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0a2045a27a43fa" /><Relationship Type="http://schemas.openxmlformats.org/officeDocument/2006/relationships/notesMaster" Target="/ppt/notesMasters/notesMaster1.xml" Id="Re5b61b0cd7904c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c367bd5c9342a5" /><Relationship Type="http://schemas.openxmlformats.org/officeDocument/2006/relationships/notesMaster" Target="/ppt/notesMasters/notesMaster1.xml" Id="R6ad5fcee69e24d0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619d6862b84011" /><Relationship Type="http://schemas.openxmlformats.org/officeDocument/2006/relationships/notesMaster" Target="/ppt/notesMasters/notesMaster1.xml" Id="R80b94b92625948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18753d9b2b4dea" /><Relationship Type="http://schemas.openxmlformats.org/officeDocument/2006/relationships/notesMaster" Target="/ppt/notesMasters/notesMaster1.xml" Id="R950bd8abdfab458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920d9fbf1d4760" /><Relationship Type="http://schemas.openxmlformats.org/officeDocument/2006/relationships/notesMaster" Target="/ppt/notesMasters/notesMaster1.xml" Id="R6f6efbae3995435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a60a94254a4674" /><Relationship Type="http://schemas.openxmlformats.org/officeDocument/2006/relationships/notesMaster" Target="/ppt/notesMasters/notesMaster1.xml" Id="Rde1a04b435ab418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45c6ef583924947" /><Relationship Type="http://schemas.openxmlformats.org/officeDocument/2006/relationships/notesMaster" Target="/ppt/notesMasters/notesMaster1.xml" Id="Rf67248d38fab43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8bd88f58d714830" /><Relationship Type="http://schemas.openxmlformats.org/officeDocument/2006/relationships/notesMaster" Target="/ppt/notesMasters/notesMaster1.xml" Id="R6b2e0785be4c48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c2f2ef70764195" /><Relationship Type="http://schemas.openxmlformats.org/officeDocument/2006/relationships/notesMaster" Target="/ppt/notesMasters/notesMaster1.xml" Id="Re98011205ff74d2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6d80cf2baa4857" /><Relationship Type="http://schemas.openxmlformats.org/officeDocument/2006/relationships/notesMaster" Target="/ppt/notesMasters/notesMaster1.xml" Id="R4af546fdfb8d489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64264b8ab244b4" /><Relationship Type="http://schemas.openxmlformats.org/officeDocument/2006/relationships/notesMaster" Target="/ppt/notesMasters/notesMaster1.xml" Id="Rfd22c8c2f9154d6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2acec7a32e4476f" /><Relationship Type="http://schemas.openxmlformats.org/officeDocument/2006/relationships/notesMaster" Target="/ppt/notesMasters/notesMaster1.xml" Id="R4b1ae50d60a74fb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e944b5a62c149ec" /><Relationship Type="http://schemas.openxmlformats.org/officeDocument/2006/relationships/notesMaster" Target="/ppt/notesMasters/notesMaster1.xml" Id="Rf0dc2f301b2340d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c6247a10a4d44c7" /><Relationship Type="http://schemas.openxmlformats.org/officeDocument/2006/relationships/notesMaster" Target="/ppt/notesMasters/notesMaster1.xml" Id="R8ffbbd6f1048435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62fcba3285b4cd2" /><Relationship Type="http://schemas.openxmlformats.org/officeDocument/2006/relationships/notesMaster" Target="/ppt/notesMasters/notesMaster1.xml" Id="R44e10379a386479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7d1d95e76844ed" /><Relationship Type="http://schemas.openxmlformats.org/officeDocument/2006/relationships/notesMaster" Target="/ppt/notesMasters/notesMaster1.xml" Id="R56c038407f1542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832323be4b94b6d" /><Relationship Type="http://schemas.openxmlformats.org/officeDocument/2006/relationships/notesMaster" Target="/ppt/notesMasters/notesMaster1.xml" Id="R3fa97d2522cc40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177de03cb004f07" /><Relationship Type="http://schemas.openxmlformats.org/officeDocument/2006/relationships/notesMaster" Target="/ppt/notesMasters/notesMaster1.xml" Id="R6bcaab33841a43e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f54893271a4bae" /><Relationship Type="http://schemas.openxmlformats.org/officeDocument/2006/relationships/notesMaster" Target="/ppt/notesMasters/notesMaster1.xml" Id="R231c9682cb8b451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326852db7504c53" /><Relationship Type="http://schemas.openxmlformats.org/officeDocument/2006/relationships/notesMaster" Target="/ppt/notesMasters/notesMaster1.xml" Id="R16de007d1b644ff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6ef65f81ee04658" /><Relationship Type="http://schemas.openxmlformats.org/officeDocument/2006/relationships/notesMaster" Target="/ppt/notesMasters/notesMaster1.xml" Id="Rd8770d86a895428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501cc04e54946cf" /><Relationship Type="http://schemas.openxmlformats.org/officeDocument/2006/relationships/notesMaster" Target="/ppt/notesMasters/notesMaster1.xml" Id="Ra3fcd84080604df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d8e07b689924770" /><Relationship Type="http://schemas.openxmlformats.org/officeDocument/2006/relationships/notesMaster" Target="/ppt/notesMasters/notesMaster1.xml" Id="Rbe81b931ad964ae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4daa78904de4e1a" /><Relationship Type="http://schemas.openxmlformats.org/officeDocument/2006/relationships/notesMaster" Target="/ppt/notesMasters/notesMaster1.xml" Id="Rd224c74378df453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b1879d7ac724f8b" /><Relationship Type="http://schemas.openxmlformats.org/officeDocument/2006/relationships/notesMaster" Target="/ppt/notesMasters/notesMaster1.xml" Id="Rb3b1a72e0aad417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c140cbe3d154ed9" /><Relationship Type="http://schemas.openxmlformats.org/officeDocument/2006/relationships/notesMaster" Target="/ppt/notesMasters/notesMaster1.xml" Id="R198002a5dc25444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9b246fbbece4b9a" /><Relationship Type="http://schemas.openxmlformats.org/officeDocument/2006/relationships/notesMaster" Target="/ppt/notesMasters/notesMaster1.xml" Id="Reb53e7a0715944d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eb7144b362944d0" /><Relationship Type="http://schemas.openxmlformats.org/officeDocument/2006/relationships/notesMaster" Target="/ppt/notesMasters/notesMaster1.xml" Id="Rf8f0e5d9bd874ac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b709792c46d4d07" /><Relationship Type="http://schemas.openxmlformats.org/officeDocument/2006/relationships/notesMaster" Target="/ppt/notesMasters/notesMaster1.xml" Id="Rabea287e4d33469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dde7cd7dbd24dbc" /><Relationship Type="http://schemas.openxmlformats.org/officeDocument/2006/relationships/notesMaster" Target="/ppt/notesMasters/notesMaster1.xml" Id="R04901a67e73d416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e1a9a664193407f" /><Relationship Type="http://schemas.openxmlformats.org/officeDocument/2006/relationships/notesMaster" Target="/ppt/notesMasters/notesMaster1.xml" Id="R6b0733259a104fa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9042a1da8d64f93" /><Relationship Type="http://schemas.openxmlformats.org/officeDocument/2006/relationships/notesMaster" Target="/ppt/notesMasters/notesMaster1.xml" Id="R1aae04d798ce475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754f48f0f854be4" /><Relationship Type="http://schemas.openxmlformats.org/officeDocument/2006/relationships/notesMaster" Target="/ppt/notesMasters/notesMaster1.xml" Id="R7f88caf1d5e946f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3e2a68c4ef645bd" /><Relationship Type="http://schemas.openxmlformats.org/officeDocument/2006/relationships/notesMaster" Target="/ppt/notesMasters/notesMaster1.xml" Id="R6f9cad1d66f9431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3b170c8a8e44b13" /><Relationship Type="http://schemas.openxmlformats.org/officeDocument/2006/relationships/notesMaster" Target="/ppt/notesMasters/notesMaster1.xml" Id="R924bdcc5800b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riprendendo la chiusura di MapReduce: abbiamo descritto a mano parse, key, shuffle e reduce. Oggi separiamo quattro decisioni: significato, tipo, formato e interrogazione.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- Apache Hive — Quickstart with Docker, image 4.2.1: https://hive.apache.org/development/quickstart/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Raccogli risposte senza correggere subito. La risposta completa è: sì per molte analisi, ma un motore deve comunque costruire ed eseguire un piano distribuito.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Esplicita gli obiettivi: tipi primitivi e complessi, formati, tabelle Hive, partizioni, query, piano e Pig. Evita l’elenco nozionistico: ogni elemento risolve un rischio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dire che SQL elimina il lavoro. Elimina una parte del lavoro esplicito per il programmatore: parser, ottimizzatore ed engine producono il piano.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- Apache Hive — LanguageManual Group By: https://hive.apache.org/docs/latest/language/languagemanual-groupby/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notare che il dato fisico non porta automaticamente la semantica. Serve un contratto condiviso fra chi scrive e chi legge.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colonna duration INT non basta: senza unità e dominio, un valore 180 può essere secondi o minuti. Introduci la differenza tra sintassi e semantica dello schema.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la contrapposizione assoluta. Nel laboratorio raw_views applica schema-on-read; curated_views materializza un contratto più forte.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la mappa senza leggere ogni voce. Le slide successive selezionano le decisioni che generano più errori.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esempi reali, non memorizzazione. Un event_id testuale non deve diventare BIGINT se contiene prefissi o zeri significativi.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il criterio: accuratezza richiesta e operazioni previste. Hive supporta DECIMAL con precisione configurabile.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consigliare VARCHAR solo per abitudine relazionale. In data engineering STRING è comune, ma dominio e qualità devono comunque essere espliciti.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Hive documenta TIMESTAMP come timezoneless e offre funzioni di conversione. Nel laboratorio usiamo un formato JDBC semplice per isolare il problema di qualità.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è una soglia concettuale. Chiedi: COUNT(*) e COUNT(colonna) restituiscono lo stesso numero? Porta gli studenti a verificare invece di assumere.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laboratorio gli invalidi restano nella raw e vengono esclusi dalla curated. In produzione aggiungeremmo una tabella di quarantena con reason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complesso non significa non strutturato. La struttura è più ricca e lo schema resta dichiarato.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Confronta genres con tre colonne genre1, genre2, genre3. L’array evita schema largo, ma interrogazioni e cardinalità richiedono attenzione.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MAP non è una scusa per evitare lo schema. La chiave deve avere una semantica coerente e il valore un unico tipo.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distinguere STRUCT e MAP: la STRUCT ha campi noti e potenzialmente di tipi diversi; la MAP ha chiavi dinamiche e un tipo di valore uniforme.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lo schema dall’esterno verso l’interno. Questo prepara Avro, Parquet e ORC: i formati moderni possono preservare strutture annidate e tipi.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Types: https://hive.apache.org/docs/latest/language/languagemanual-types/</a:t>
            </a:r>
          </a:p>
          <a:p xmlns:a="http://schemas.openxmlformats.org/drawingml/2006/main">
            <a:r>
              <a:t>- Apache Parquet — Overview: https://parquet.apache.org/docs/overview/</a:t>
            </a:r>
          </a:p>
          <a:p xmlns:a="http://schemas.openxmlformats.org/drawingml/2006/main">
            <a:r>
              <a:t>- Apache ORC — Background: https://orc.apache.org/docs/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esempi: lo stesso INT può vivere in CSV, Avro, Parquet o ORC. Separare livello logico e fisico impedisce molte confusioni.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una tabella immaginaria con 100 colonne: SUM(duration) per paese non ha bisogno delle altre 98. Il formato colonnare può evitarne la lettura.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Parquet — Overview: https://parquet.apache.org/docs/overview/</a:t>
            </a:r>
          </a:p>
          <a:p xmlns:a="http://schemas.openxmlformats.org/drawingml/2006/main">
            <a:r>
              <a:t>- Apache ORC — Background: https://orc.apache.org/docs/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laboratorio usa TSV per ridurre il problema delle virgole nei testi, ma resta un formato testuale: tutto arriva come sequenza di caratteri.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è semistrutturato, non privo di struttura. La ripetizione dei nomi aumenta dimensione; strumenti diversi possono accettare variazioni che vanno governate.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Sottolinea writer schema e reader schema: l’evoluzione non è “automatica”, segue regole. Avro è row-oriented e adatto a record completi.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Avro — Specification: https://avro.apache.org/docs/current/specification/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Parquet è un formato column-oriented per storage e retrieval efficienti, con compressione ed encoding per dati complessi. Spiega column pruning senza promettere che ogni query leggerà zero byte inutili.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Parquet — Overview: https://parquet.apache.org/docs/overview/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 è self-describing, type-aware e colonnare. Predicate pushdown può escludere stripe usando indici e statistiche; non sostituisce una buona partizione.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ORC — Background: https://orc.apache.org/docs/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scegliere sulla base di pattern di lettura, compatibilità, evoluzione e strumenti. Evita classifiche assolute.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Parquet — Overview: https://parquet.apache.org/docs/overview/</a:t>
            </a:r>
          </a:p>
          <a:p xmlns:a="http://schemas.openxmlformats.org/drawingml/2006/main">
            <a:r>
              <a:t>- Apache ORC — Background: https://orc.apache.org/docs/</a:t>
            </a:r>
          </a:p>
          <a:p xmlns:a="http://schemas.openxmlformats.org/drawingml/2006/main">
            <a:r>
              <a:t>- Apache Avro — Specification: https://avro.apache.org/docs/current/specification/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Parquet come esempio: il formato organizza row group e column chunk; all’interno può usare encoding e codec di compressione.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Collega al numero di InputSplit della lezione precedente. La compressione non risolve il numero eccessivo di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agli studenti di motivare, non nominare. Il formato è una decisione reversibile tramite riscrittura, ma a grande scala riscrivere costa.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Parquet — Overview: https://parquet.apache.org/docs/overview/</a:t>
            </a:r>
          </a:p>
          <a:p xmlns:a="http://schemas.openxmlformats.org/drawingml/2006/main">
            <a:r>
              <a:t>- Apache ORC — Background: https://orc.apache.org/docs/</a:t>
            </a:r>
          </a:p>
          <a:p xmlns:a="http://schemas.openxmlformats.org/drawingml/2006/main">
            <a:r>
              <a:t>- Apache Avro — Specification: https://avro.apache.org/docs/current/specification/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Hive come data warehouse software e livello SQL sull’ecosistema distribuito. Evita la frase obsoleta “Hive traduce sempre in MapReduce”: oggi può usare engine diversi.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Quickstart with Docker, image 4.2.1: https://hive.apache.org/development/quickstart/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Descrivi il percorso di una query. Il Metastore non contiene i dati della tabella: conserva definizioni, location, partizioni e statistiche. L’engine esegue il piano.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Quickstart with Docker, image 4.2.1: https://hive.apache.org/development/quickstart/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immaginare lo stesso insieme di file senza catalogo: ogni analista dovrebbe ricordare path, separatore e tipi. Il Metastore centralizza questo contratto.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distinzione è responsabilità, non prestazioni. Nel laboratorio raw_views è external; curated_views è managed. Cita l’eccezione di purge in Hive 4 per evitare regole assolute.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la DDL per responsabilità: colonne e tipi, regole di parsing, formato fisico, location. Tutto STRING conserva il valore originale per il quality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SerDe significa serializer/deserializer. Non entrare nelle classi Java: basta capire che il contratto di parsing collega file e righe logiche.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Hive crea una directory per ogni combinazione distinta. La colonna di partizione è una pseudocolonna derivata dal path e non va duplicata fra le colonne dati.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pruning avviene prima della scansione dei file. Non promettere zero costo: il catalogo e la pianificazione restano, ma l’I/O si riduce drasticamente.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- Apache Hive — LanguageManual Explain: https://hive.apache.org/docs/latest/language/languagemanual-explain/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 partizione e indice. Scegli colonne con filtri frequenti e cardinalità controllata. Il laboratorio usa data+paese per mostrare la meccanica.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 a spiegare perché un alias del SELECT può non essere disponibile nel WHERE. Mantieni il focus su righe prima dei gruppi, gruppi prima dell’ordinamento.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- Apache Hive — LanguageManual Group By: https://hive.apache.org/docs/latest/language/languagemanual-groupby/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agli studenti di riconoscere la key e il reduce impliciti: movie_id è la chiave logica, COUNT è l’aggregazione. L’engine decide l’esecuzione.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- Apache Hive — LanguageManual Group By: https://hive.apache.org/docs/latest/language/languagemanual-groupby/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produrre un errore concettuale: WHERE COUNT(*) &gt;= 5 non ha senso perché il gruppo non esiste ancora. Poi correggilo con HAVING.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- Apache Hive — LanguageManual Group By: https://hive.apache.org/docs/latest/language/languagemanual-groupby/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CTAS crea schema e dati dal risultato della SELECT ed è atomico dal punto di vista della visibilità. Nel laboratorio usiamo CREATE + INSERT per controllare esplicitamente le partizioni.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distinguere pulizia, tipizzazione e conversione di formato. Parquet rende il dato efficiente, non vero.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DDL: https://hive.apache.org/docs/latest/language/languagemanual-ddl/</a:t>
            </a:r>
          </a:p>
          <a:p xmlns:a="http://schemas.openxmlformats.org/drawingml/2006/main">
            <a:r>
              <a:t>- Apache Parquet — Overview: https://parquet.apache.org/docs/overview/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trasformare EXPLAIN in archeologia del piano. L’obiettivo è verificare un’ipotesi: il filtro riduce le partizioni lette? Confrontare due piani è più utile che leggerne uno isolato.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Explain: https://hive.apache.org/docs/latest/language/languagemanual-explain/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Pig resta nel programma e serve come ponte concettuale. Il sito Apache presenta Pig Latin come linguaggio di data flow e annuncia Pig 0.18.0 con supporto a Hadoop 3, Tez, Hive 3, Spark 3 e Python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Pig — Project overview and Pig 0.18.0: https://pig.apache.org/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serve approfondire ogni dettaglio sintattico. Serve riconoscere che ogni alias è una relazione nuova e immutabile derivata dalla precedente.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Pig — Project overview and Pig 0.18.0: https://pig.apache.org/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gli alias da sinistra a destra. Ogni riga trasforma una relazione e produce una nuova relazione; questo rende naturale ispezionare stadi intermedi.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Pig — Project overview and Pig 0.18.0: https://pig.apache.org/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“Hive moderno, Pig vecchio”. Il confronto corretto è fra forme mentali. Molti concetti di Pig riappaiono nelle pipeline DataFrame.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Pig — Project overview and Pig 0.18.0: https://pig.apache.org/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il confine didattico: il quickstart usa embedded Derby e warehouse locale al container. I concetti di schema, catalogo, formato e partizione restano gli stessi su HDFS o object 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Quickstart with Docker, image 4.2.1: https://hive.apache.org/development/quickstart/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far partire gli studenti da run_all.sh. Le tappe sono deliberate: ogni gate deve produrre un’evidenza e una spiegazione.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per ogni evidenza comando, osservazione e interpretazione. Un numero senza query non è prova; una query senza lettura del risultato non è comprensione.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questa slide come quiz orale. Chiedi agli studenti di correggere la frase prima di mostrare la colonna di destra.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un recap a catena: se il significato è sbagliato, nessun formato lo salva; se l’organizzazione è sbagliata, la query resta corretta ma costosa; EXPLAIN rende il costo discutibile.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“Quale concetto di oggi ritroveremo in Spark?”. Attendi schema, DataFrame, trasformazioni, partizioni, lazy plan ed EXPLAIN. Non anticipare ancora tutti i dettagli.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Hive — LanguageManual Select: https://hive.apache.org/docs/latest/language/languagemanual-select/</a:t>
            </a:r>
          </a:p>
          <a:p xmlns:a="http://schemas.openxmlformats.org/drawingml/2006/main">
            <a:r>
              <a:t>- Apache Pig — Project overview and Pig 0.18.0: https://pig.apache.org/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8b31a83d64e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e9aa2630b4859" /><Relationship Type="http://schemas.openxmlformats.org/officeDocument/2006/relationships/slideLayout" Target="/ppt/slideLayouts/slideLayout1.xml" Id="R39b8b555289b46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b8b555289b46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cb593eeaf444f" /><Relationship Type="http://schemas.openxmlformats.org/officeDocument/2006/relationships/notesSlide" Target="/ppt/notesSlides/notesSlide1.xml" Id="R6908e8061bc646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3fd5b2ff549d5" /><Relationship Type="http://schemas.openxmlformats.org/officeDocument/2006/relationships/notesSlide" Target="/ppt/notesSlides/notesSlide2.xml" Id="R5fa581ed1353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d5818fbf24127" /><Relationship Type="http://schemas.openxmlformats.org/officeDocument/2006/relationships/notesSlide" Target="/ppt/notesSlides/notesSlide3.xml" Id="R388efa2e16a445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7d7dc78d541f8" /><Relationship Type="http://schemas.openxmlformats.org/officeDocument/2006/relationships/notesSlide" Target="/ppt/notesSlides/notesSlide4.xml" Id="Rb4094c56feb849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08f2ebff04a39" /><Relationship Type="http://schemas.openxmlformats.org/officeDocument/2006/relationships/notesSlide" Target="/ppt/notesSlides/notesSlide5.xml" Id="R644f7a6c64af45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9d10fcd6a4e6e" /><Relationship Type="http://schemas.openxmlformats.org/officeDocument/2006/relationships/notesSlide" Target="/ppt/notesSlides/notesSlide6.xml" Id="Rce1d47afa5da49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449f06611491f" /><Relationship Type="http://schemas.openxmlformats.org/officeDocument/2006/relationships/notesSlide" Target="/ppt/notesSlides/notesSlide7.xml" Id="Re779048244024c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bf40708c84115" /><Relationship Type="http://schemas.openxmlformats.org/officeDocument/2006/relationships/notesSlide" Target="/ppt/notesSlides/notesSlide8.xml" Id="R2697e1a8a81e48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da06f0092483e" /><Relationship Type="http://schemas.openxmlformats.org/officeDocument/2006/relationships/notesSlide" Target="/ppt/notesSlides/notesSlide9.xml" Id="R3f543b12366f47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d52f0e67047fe" /><Relationship Type="http://schemas.openxmlformats.org/officeDocument/2006/relationships/notesSlide" Target="/ppt/notesSlides/notesSlide10.xml" Id="R28b64ef302e64d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7e6eeb6bc454d" /><Relationship Type="http://schemas.openxmlformats.org/officeDocument/2006/relationships/notesSlide" Target="/ppt/notesSlides/notesSlide11.xml" Id="Rbd9878a1c93c4b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39fc914ae4704" /><Relationship Type="http://schemas.openxmlformats.org/officeDocument/2006/relationships/notesSlide" Target="/ppt/notesSlides/notesSlide12.xml" Id="R0c2535c93b4844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c0f676073494a" /><Relationship Type="http://schemas.openxmlformats.org/officeDocument/2006/relationships/notesSlide" Target="/ppt/notesSlides/notesSlide13.xml" Id="Rc2fa0f3b79f045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50a94f3354b9c" /><Relationship Type="http://schemas.openxmlformats.org/officeDocument/2006/relationships/notesSlide" Target="/ppt/notesSlides/notesSlide14.xml" Id="Rd045ba88747a4e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081cf8e604f38" /><Relationship Type="http://schemas.openxmlformats.org/officeDocument/2006/relationships/notesSlide" Target="/ppt/notesSlides/notesSlide15.xml" Id="Rbf2cec69446845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6ae53fbbb4fc8" /><Relationship Type="http://schemas.openxmlformats.org/officeDocument/2006/relationships/notesSlide" Target="/ppt/notesSlides/notesSlide16.xml" Id="R24b23b3da4ae4e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95ae315334742" /><Relationship Type="http://schemas.openxmlformats.org/officeDocument/2006/relationships/notesSlide" Target="/ppt/notesSlides/notesSlide17.xml" Id="R3c43d954514c40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bd8e68e234b4c" /><Relationship Type="http://schemas.openxmlformats.org/officeDocument/2006/relationships/notesSlide" Target="/ppt/notesSlides/notesSlide18.xml" Id="Rcef544aa8a2046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bc1887af54b06" /><Relationship Type="http://schemas.openxmlformats.org/officeDocument/2006/relationships/notesSlide" Target="/ppt/notesSlides/notesSlide19.xml" Id="Rf3503de131254c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77c06e7f44925" /><Relationship Type="http://schemas.openxmlformats.org/officeDocument/2006/relationships/notesSlide" Target="/ppt/notesSlides/notesSlide20.xml" Id="Ra7d4dafff98844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d9f8a058a4fa1" /><Relationship Type="http://schemas.openxmlformats.org/officeDocument/2006/relationships/notesSlide" Target="/ppt/notesSlides/notesSlide21.xml" Id="R4c1d137bdd8f44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c1f71c33b4a23" /><Relationship Type="http://schemas.openxmlformats.org/officeDocument/2006/relationships/notesSlide" Target="/ppt/notesSlides/notesSlide22.xml" Id="R179c38fddfae48d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df67291344389" /><Relationship Type="http://schemas.openxmlformats.org/officeDocument/2006/relationships/notesSlide" Target="/ppt/notesSlides/notesSlide23.xml" Id="Rc6d42c952ea141c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d4c991cd74587" /><Relationship Type="http://schemas.openxmlformats.org/officeDocument/2006/relationships/notesSlide" Target="/ppt/notesSlides/notesSlide24.xml" Id="Rb722821206f344d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829ae871347a2" /><Relationship Type="http://schemas.openxmlformats.org/officeDocument/2006/relationships/notesSlide" Target="/ppt/notesSlides/notesSlide25.xml" Id="R0871b43099f94b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b96a5bf81496c" /><Relationship Type="http://schemas.openxmlformats.org/officeDocument/2006/relationships/notesSlide" Target="/ppt/notesSlides/notesSlide26.xml" Id="R7ce61f0e22ad41c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c69d8eeaf4df3" /><Relationship Type="http://schemas.openxmlformats.org/officeDocument/2006/relationships/notesSlide" Target="/ppt/notesSlides/notesSlide27.xml" Id="R6a9f7d3c031b479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e621321e843be" /><Relationship Type="http://schemas.openxmlformats.org/officeDocument/2006/relationships/notesSlide" Target="/ppt/notesSlides/notesSlide28.xml" Id="R42406985357d480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4152cf1f142d7" /><Relationship Type="http://schemas.openxmlformats.org/officeDocument/2006/relationships/notesSlide" Target="/ppt/notesSlides/notesSlide29.xml" Id="Rcdf5ffa1ccf0476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c8aaa73da47e4" /><Relationship Type="http://schemas.openxmlformats.org/officeDocument/2006/relationships/notesSlide" Target="/ppt/notesSlides/notesSlide30.xml" Id="R2c87828bf4824b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92857dae94e16" /><Relationship Type="http://schemas.openxmlformats.org/officeDocument/2006/relationships/notesSlide" Target="/ppt/notesSlides/notesSlide31.xml" Id="R6467cb8354694d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e6fede4c24330" /><Relationship Type="http://schemas.openxmlformats.org/officeDocument/2006/relationships/notesSlide" Target="/ppt/notesSlides/notesSlide32.xml" Id="R63d48cff569b4a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5853ad4a047bb" /><Relationship Type="http://schemas.openxmlformats.org/officeDocument/2006/relationships/notesSlide" Target="/ppt/notesSlides/notesSlide33.xml" Id="R4ac01855e6914fd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4830fbee146aa" /><Relationship Type="http://schemas.openxmlformats.org/officeDocument/2006/relationships/notesSlide" Target="/ppt/notesSlides/notesSlide34.xml" Id="R29a2276fbfae4a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94639b1b14a88" /><Relationship Type="http://schemas.openxmlformats.org/officeDocument/2006/relationships/notesSlide" Target="/ppt/notesSlides/notesSlide35.xml" Id="Ra7338f30d8d5436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c9e89dcb0466a" /><Relationship Type="http://schemas.openxmlformats.org/officeDocument/2006/relationships/notesSlide" Target="/ppt/notesSlides/notesSlide36.xml" Id="Ra1170b7fab70475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a05cc3a364ff6" /><Relationship Type="http://schemas.openxmlformats.org/officeDocument/2006/relationships/notesSlide" Target="/ppt/notesSlides/notesSlide37.xml" Id="R8992d78341e5411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7f9c3a6a44b2c" /><Relationship Type="http://schemas.openxmlformats.org/officeDocument/2006/relationships/notesSlide" Target="/ppt/notesSlides/notesSlide38.xml" Id="Rdff01ec37a034c4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13de769a74e4c" /><Relationship Type="http://schemas.openxmlformats.org/officeDocument/2006/relationships/notesSlide" Target="/ppt/notesSlides/notesSlide39.xml" Id="Rae2ddfd0fcc1401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bef0b256e480d" /><Relationship Type="http://schemas.openxmlformats.org/officeDocument/2006/relationships/notesSlide" Target="/ppt/notesSlides/notesSlide40.xml" Id="Ra778a9961da948c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d603aaf9a4b9a" /><Relationship Type="http://schemas.openxmlformats.org/officeDocument/2006/relationships/notesSlide" Target="/ppt/notesSlides/notesSlide41.xml" Id="R8331e0060a4e40b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1f3bd388840c0" /><Relationship Type="http://schemas.openxmlformats.org/officeDocument/2006/relationships/notesSlide" Target="/ppt/notesSlides/notesSlide42.xml" Id="Re2779103ab5f48f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1ae7889d24edf" /><Relationship Type="http://schemas.openxmlformats.org/officeDocument/2006/relationships/notesSlide" Target="/ppt/notesSlides/notesSlide43.xml" Id="R8dcc41a9d3ec428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ff196bd4f4335" /><Relationship Type="http://schemas.openxmlformats.org/officeDocument/2006/relationships/notesSlide" Target="/ppt/notesSlides/notesSlide44.xml" Id="R7f183cd38d614ab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f12574be54942" /><Relationship Type="http://schemas.openxmlformats.org/officeDocument/2006/relationships/notesSlide" Target="/ppt/notesSlides/notesSlide45.xml" Id="R1a3799c74041463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1abaf93624917" /><Relationship Type="http://schemas.openxmlformats.org/officeDocument/2006/relationships/notesSlide" Target="/ppt/notesSlides/notesSlide46.xml" Id="Rb7369daecc8d495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890639e8c42eb" /><Relationship Type="http://schemas.openxmlformats.org/officeDocument/2006/relationships/notesSlide" Target="/ppt/notesSlides/notesSlide47.xml" Id="R01daf1b2d6104b4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937822b38444c" /><Relationship Type="http://schemas.openxmlformats.org/officeDocument/2006/relationships/notesSlide" Target="/ppt/notesSlides/notesSlide48.xml" Id="R3147ea92bd794fc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e3a5ab1904299" /><Relationship Type="http://schemas.openxmlformats.org/officeDocument/2006/relationships/notesSlide" Target="/ppt/notesSlides/notesSlide49.xml" Id="R4ad887c352364ec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ddd4cc51a453f" /><Relationship Type="http://schemas.openxmlformats.org/officeDocument/2006/relationships/notesSlide" Target="/ppt/notesSlides/notesSlide50.xml" Id="R2a7164e7a9f0441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627358da24df8" /><Relationship Type="http://schemas.openxmlformats.org/officeDocument/2006/relationships/notesSlide" Target="/ppt/notesSlides/notesSlide51.xml" Id="R7aaf3888cdfb4f2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681640cb04f75" /><Relationship Type="http://schemas.openxmlformats.org/officeDocument/2006/relationships/notesSlide" Target="/ppt/notesSlides/notesSlide52.xml" Id="R169f126c64ef410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216df267f4967" /><Relationship Type="http://schemas.openxmlformats.org/officeDocument/2006/relationships/notesSlide" Target="/ppt/notesSlides/notesSlide53.xml" Id="Re1feb1021b5e4fd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ceac8ea2042b5" /><Relationship Type="http://schemas.openxmlformats.org/officeDocument/2006/relationships/notesSlide" Target="/ppt/notesSlides/notesSlide54.xml" Id="Rd820be93bacf48f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d19479e2740ce" /><Relationship Type="http://schemas.openxmlformats.org/officeDocument/2006/relationships/notesSlide" Target="/ppt/notesSlides/notesSlide55.xml" Id="R97f5a1185c2747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3E261-52E8-4814-8D7A-8C1A6A3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14C5A-5913-491B-BBEF-BB981BAC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Tipi, formati, Hive e Pig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E6E0F-48AE-4FF4-AEA7-ABEFF901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8D4DE"/>
                </a:solidFill>
              </a:defRPr>
            </a:pPr>
            <a:r>
              <a:rPr sz="2250" b="0">
                <a:solidFill>
                  <a:srgbClr val="C8D4DE"/>
                </a:solidFill>
              </a:rPr>
              <a:t>Dal testo grezzo alla query dichiarativa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A2E7C-AAE4-4FC2-84AC-19C09920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511FB-EAB7-48E8-AB61-41CB9CD5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0B1F33"/>
                </a:solidFill>
              </a:defRPr>
            </a:pPr>
            <a:r>
              <a:rPr sz="6900" b="1">
                <a:solidFill>
                  <a:srgbClr val="0B1F3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BA182-DFB4-47DD-BC35-40B0E00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14 • dati analitici affidabili</a:t>
            </a:r>
          </a:p>
        </p:txBody>
      </p:sp>
    </p:spTree>
    <p:extLst>
      <p:ext uri="{BB962C8B-B14F-4D97-AF65-F5344CB8AC3E}">
        <p14:creationId xmlns:p14="http://schemas.microsoft.com/office/powerpoint/2010/main" val="1546757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9AD50-4A7C-4083-BC61-C4BDAF71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LEZIONE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2E7E-FA21-4DE2-972F-60663496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domanda di oggi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444E5-211E-49A6-A8A4-86F1E7A0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E892E-DB05-4570-9C82-54B048DB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D3A66-5FD9-427A-8109-F0B519D6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Possiamo ottenere lo stesso risultato di MapReduce dichiarando soltanto schema e query?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D8269-993E-4AC6-96B1-D6F287C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7841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C0825-FFCB-42C2-AC65-FBC728C9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MAPPA DELLA LEZIONE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D9D85-DAF5-46A7-9E37-0490E5F6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Oggi costruiamo una catena di decisioni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852A4-0551-4D90-ABAA-ACED6E5F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7519B-FAF6-49AA-ADA6-280964C6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AD729-A780-4EA2-B209-306AE1BE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INTERPRETA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9A3AA-7D2C-453B-A171-49EAFFB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assegna nomi, tipi e semantica ai byte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9AD24-86FA-4915-AEFD-7616BF20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B3DBE-2CC7-4582-B589-8DF592A8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1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ORGANIZZA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17006-3E0E-42F1-B3ED-1DFF1352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scegli formato, compressione e partizioni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4381E-F0B7-45B8-AA9F-D3C90F2C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01FF8-239E-4EFA-90A2-E2F11EE5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43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DICHIARA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1F262-8BEA-49F5-BCE6-1999B8D8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descrivi il risultato con HiveQL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58792-5E7F-4329-BFA8-76131B7A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37BE5-E976-4D0E-8E57-6035016B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CONFRONTA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0CCA7-F0FE-4000-9642-51050DFB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rileggi la pipeline come flusso Pig Latin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8A756-A1E3-4B7C-BB82-10037DE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Ogni scelta cambia correttezza, costo e manutenibilità.</a:t>
            </a:r>
          </a:p>
        </p:txBody>
      </p:sp>
    </p:spTree>
    <p:extLst>
      <p:ext uri="{BB962C8B-B14F-4D97-AF65-F5344CB8AC3E}">
        <p14:creationId xmlns:p14="http://schemas.microsoft.com/office/powerpoint/2010/main" val="1329860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F23A1-EEEB-46FE-9E63-B06A98E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PONTE • LEZIONE 13 →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97B88-77B0-4CBF-8B68-9B3C99CB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MapReduce ci ha mostrato il costo cognitivo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A4885-2353-4EE8-AEB0-8D874B36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F7A44-753E-411C-B80C-FC9D5FF6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5CBC7-BCAB-4E48-89F9-DF5F1399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DAFAB-FAFC-4EEE-A3F6-0B254FC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241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9 campi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7C717-B3C2-4E59-B49A-EB1B2AB1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1422F-38E2-4A1B-97CC-52D1A074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3E8E7-6BA9-499D-9AE4-9FAEC98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241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movie →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451E4-7F00-46C9-80E8-B86095F5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CD251-D6AC-4801-8E39-7542A06D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SHUFFLE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41201-A17E-48AB-9287-1348463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7241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group 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4F1A6-0872-4696-BE92-4FF87F1F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882CF-B81C-42B3-9B1E-1725CFFB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REDUCE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7585A-2608-40B3-9962-14CC02E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41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EE80E-A4AB-4806-9BC6-4ABB3683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907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DA1F8-EF6A-48F4-99FE-F0E732F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7EE60-A01C-4570-BE40-AB07C53B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241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part-*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9D6D0-F668-4CA9-B50E-8EBA70B7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SELECT movie_id, COUNT(*) … GROUP BY movie_id</a:t>
            </a:r>
          </a:p>
        </p:txBody>
      </p:sp>
    </p:spTree>
    <p:extLst>
      <p:ext uri="{BB962C8B-B14F-4D97-AF65-F5344CB8AC3E}">
        <p14:creationId xmlns:p14="http://schemas.microsoft.com/office/powerpoint/2010/main" val="1350735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E4F4D-BD90-4602-A75D-F052DEF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DATI • INTERPRETAZIONE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A3B0B-C5D5-46A4-A5CC-BD87592F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 byte non conosce il proprio significato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60A86-FECD-4239-8C10-07BE2F1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A6740-1D4C-47BA-B8A6-99636DDA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D3821-86F5-4082-B22A-5CCDEE9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00110001 può essere il carattere “1”, il numero 49, parte di un timestamp o un frammento compresso.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B82AC-D474-4857-B95F-79F276F4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0293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5DEC36-6EF3-43BC-972F-2E3B5F08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4C727-9E47-4023-AC06-ABAC828A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Lo schema è più di un elenco di colonne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92EB7-3BF3-4507-B279-68C2695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B56ED-0021-49FD-8537-A3466916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0EAF0-4BBD-4D17-BDA4-E4382855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AEF3-28B1-473F-8102-011AB8EC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887D1-D309-4D21-8CC3-AACBB50D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duration_seconds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745BB-DDA4-467E-AC8D-98DD6B5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che cosa rappresenta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E41E6-386C-441A-8889-527246B2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2C7F5-2006-4184-9D78-5E4472C7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0DC41-241B-467E-90AA-1E97D0E6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TIPO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32CCE-9DBF-4AF3-8098-D5845106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BDF2C-943A-4CEA-9774-6DBBD2D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quali operazioni sono valide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FE016-3ABD-4DF4-A0C6-05C84CB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AECF0-3A3E-4F91-9EC6-AB623640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443A3-A851-4ED0-B19E-DA8CB474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NULLABILITY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E212C-9634-4634-B50F-A54B42D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può mancare?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D4920-BDE9-482F-AC2E-3F1AEAED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come trattare assenza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EA54F-6473-4C42-B878-0471217E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295D8-B2EA-4CE6-9DA4-DA03CBA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14902-B46F-4863-B85C-1BEE00A4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DOMINIO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E9686-95F0-43D0-A005-2B56C198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909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0…28.800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9A81E-B265-4495-AFC3-3196B5A3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quali valori sono plausibili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08D54-2A63-48E5-BF1B-C069F82C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2D841E-5407-415E-96DC-1EA9ED83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62C0C-E29B-4D6C-834C-1508042E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UNITÀ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A5592-35B9-4361-9CAA-4629924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909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A36A"/>
                </a:solidFill>
              </a:defRPr>
            </a:pPr>
            <a:r>
              <a:rPr sz="1125" b="1">
                <a:solidFill>
                  <a:srgbClr val="27A36A"/>
                </a:solidFill>
              </a:rPr>
              <a:t>secondi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5DC60-AB90-4D8A-A84C-DB336EAD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767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come interpretare il numero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E842A-60AD-44AF-BAE0-6844802B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D64C1-629F-4069-AF89-B8BB672D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5B69F-7376-459D-B86E-8A0E6C0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VINCOLO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F4B0F-A080-4423-A5B6-CB56D311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909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event_id unico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30B4DD-87BC-4BCC-B338-DE73D08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7672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quale qualità aspettarsi</a:t>
            </a:r>
          </a:p>
        </p:txBody>
      </p:sp>
    </p:spTree>
    <p:extLst>
      <p:ext uri="{BB962C8B-B14F-4D97-AF65-F5344CB8AC3E}">
        <p14:creationId xmlns:p14="http://schemas.microsoft.com/office/powerpoint/2010/main" val="1443927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6073D-6C82-4E66-A970-61CDA653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DUE STRATEGIE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87E65-F2A6-4D6E-B2BE-10853E68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Schema-on-write e schema-on-read spostano il controllo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AB719-A4E7-4832-8472-D3F694C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95FB9-58D5-4661-AF32-A4D0B9CF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44232-3FF3-4A33-9F1D-5DAABD87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084F4-8B65-4171-80A1-4B5FB14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CAE51-5459-4FB4-8994-AD8156A4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FAC81-8841-4A38-A82B-1DAD34D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SCHEMA-ON-WRITE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A4B5A-4606-4232-BE5D-88F5A73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Il dato viene validato e trasformato prima dell’ingresso nella struttura curata. Letture più prevedibili; ingestione più rigida.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0B481-DE29-4657-B567-D7A88FA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SCHEMA-ON-READ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E3274-9BE1-4C6F-AA47-FFA88101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Il dato grezzo resta disponibile e lo schema viene applicato quando lo si interroga. Più flessibile; qualità da governare.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0E8BD-8CC5-458D-A71E-CBA61DBE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Una data platform matura spesso usa entrambi: raw → curated.</a:t>
            </a:r>
          </a:p>
        </p:txBody>
      </p:sp>
    </p:spTree>
    <p:extLst>
      <p:ext uri="{BB962C8B-B14F-4D97-AF65-F5344CB8AC3E}">
        <p14:creationId xmlns:p14="http://schemas.microsoft.com/office/powerpoint/2010/main" val="152029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73380-6CE3-4920-8811-4B8986F6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TYPE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B5CD5-FD87-40E0-9006-FCF0AC1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Hive offre tipi primitivi e tipi complessi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C1194-617A-4879-A4CC-46940137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9645D-F467-4945-8229-73DCC88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6E48C-995A-46BD-BEF9-6E1979FA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B4979-F309-415C-AF7E-C531387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NUMERICI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57EBA-16DF-4D29-B7CB-3D8A63DB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819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TINYINT • INT • BIGINT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FLOAT • DOUBLE • DECIMAL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663F2-DB04-4DC3-B2D3-743E4E39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19AE1-0F6F-4704-9C77-09181B74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8C5AF-CE34-429D-A49A-E9DC65C1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716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TEMPORALI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BC004-7DB9-4C1A-B91E-C403BAA2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819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DATE • TIMESTAMP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2B069-2D94-4A14-AABB-7F3719E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F9AC7-F838-4798-AB8E-F0104FE7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2FCA2-C767-4B1C-A17B-7CB372E0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716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TESTUALI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9AAAE-18AD-4A0D-9964-7BBE221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819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STRING • VARCHAR • CHAR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BINARY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7AC8F-3D75-4182-99CC-1BF0A8BF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B9765-A649-4F0A-A7F3-FF86EE1D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1C0EC-A6CB-4AED-84AB-015AF20B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LOGICI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23DC1-B95D-44EA-ABBA-AB1F41E3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00575"/>
            <a:ext cx="2819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BOOLEAN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E129D-682E-48B8-B414-E101349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F2BBE-C0E6-43A3-84DE-E2BA10E5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B8B20-93EE-40CA-B0FC-3AA9D2FD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67175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COMPLESSI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A9211-D95A-4DA3-89F3-16D4E0D9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00575"/>
            <a:ext cx="2819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ARRAY • MAP • STRUCT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UNIONTYPE</a:t>
            </a:r>
          </a:p>
        </p:txBody>
      </p:sp>
    </p:spTree>
    <p:extLst>
      <p:ext uri="{BB962C8B-B14F-4D97-AF65-F5344CB8AC3E}">
        <p14:creationId xmlns:p14="http://schemas.microsoft.com/office/powerpoint/2010/main" val="2002172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30266C-B740-42BF-A999-F0B46EF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INTEGER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06CAE-1DC9-4DF6-A08E-B5976A3D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Gli interi differiscono per intervallo e spazio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43339-AFCE-4C90-BFF5-B23B247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991F1-D932-4D46-8B49-BCFE43CE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1E85-5FF6-497F-9401-E765049B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954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33796-3468-4434-B9EC-82FF4FCD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33624-A6BF-4E9E-9C8C-6BDF4C98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954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Byte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1CB35-A307-43D1-93CD-921DDC6E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14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7D589-BD47-48D6-B5F5-293EBD2C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9547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Intervallo / 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E460C-1A6D-4F0A-8671-60FE3AD4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5742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B5B00-802C-4570-9A43-D4E6FB62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71725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TINYINT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9ADDE-6FC0-4584-AA07-E5D14A8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74CF4-7C15-44EE-8065-EB40CA52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71725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6802E-67BF-4368-95D0-1F5CB2A9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F8D66-87C6-42F1-A550-21A6463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piccoli flag numerici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C14F6-1D75-4C6F-ACEB-D77095D2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73FCC-9E2A-4048-8127-CECE5276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95625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SMALLINT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5996B-B735-4325-AF63-D7A149EE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81325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01A89-8D87-4554-A193-A161E308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95625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10917-3745-4D3F-BBD6-188A7E0C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0F285-9A5A-4FDB-BDEE-2BCD74D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95625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conteggi limitati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AF0AC-CDF2-46ED-B7D3-80E20F4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0522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0C3C1-D163-4606-92A1-24721E6C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633DD-6086-4D31-B3B6-D4C8C9EE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35618-3117-4715-BBAA-EAA6BB0F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9525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10804-C15A-4072-ADE2-B4576A94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05225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C3E5F-B191-4AB9-8381-4DAEE918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9525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durate, conteggi ordinari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98BB3-D0BB-4B4E-86DB-40685DF9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D1E847-FE8F-46F7-8EA8-66A1F941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43425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BIGINT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5B62F-76FA-4CB8-9FE3-7CA7C1A9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17CF5-FB74-486A-A8F7-EA1E02B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43425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EFF9A2-123D-4327-99D4-096B2C3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0CD95-3EA8-4C44-900F-B15E6D63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43425"/>
            <a:ext cx="487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 numerici e grandi conteggi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B9420-7E0A-47A7-A45B-369E7B64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292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Scegliere “più grande per sicurezza” aumenta spazio e banda su miliardi di righe.</a:t>
            </a:r>
          </a:p>
        </p:txBody>
      </p:sp>
    </p:spTree>
    <p:extLst>
      <p:ext uri="{BB962C8B-B14F-4D97-AF65-F5344CB8AC3E}">
        <p14:creationId xmlns:p14="http://schemas.microsoft.com/office/powerpoint/2010/main" val="820164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CC7EC-91D3-4754-99FB-5DC0944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FLOAT / DOUBLE ≠ DECIMAL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D8A3E-29E1-48F1-AD0B-B3902A0B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Denaro e misure non hanno lo stesso requisito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731D3-0640-4BBB-B6C3-DAEC43EF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90702-4AFA-46F4-A555-E93C7A8D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44B11-5A66-49E1-AC0F-8968D73E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B6C0B-AED5-4A8D-9ECA-41893D96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1575C-692F-409F-ACA6-065EA9D9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93E58-B6F8-4C1B-9774-AF693742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FLOAT / DOUBLE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2186D-CA74-4458-A91F-47F451AB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Rappresentazione binaria approssimata. Ottima per misure, modelli e calcoli scientifici; può introdurre piccoli errori.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66128-2C9F-4F06-B6DA-DE2FB8C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DECIMAL(p,s)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C18CB-0D36-467A-A4B9-59E03255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Precisione decimale controllata. Preferibile per importi e calcoli nei quali 0,01 deve restare esatto.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68B74-F2FF-4D9A-9508-F419DA1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197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0,1 + 0,2 è un problema di rappresentazione, non di Hive.</a:t>
            </a:r>
          </a:p>
        </p:txBody>
      </p:sp>
    </p:spTree>
    <p:extLst>
      <p:ext uri="{BB962C8B-B14F-4D97-AF65-F5344CB8AC3E}">
        <p14:creationId xmlns:p14="http://schemas.microsoft.com/office/powerpoint/2010/main" val="1931521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AF9B4E-DA97-4E35-879C-4F4E894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TEXT &amp; BINARY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5E62A-1FE1-4B92-985D-F2DB1A0D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STRING è flessibile, ma non è sempre neutro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3A288-9F70-411D-8848-E1200882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2EE16-F0BF-44E2-BE36-BA74EDED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FD38E-981D-448F-A5F2-3F3848BF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95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8E4AC-D61C-4AAF-91F1-D743DFDD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ED840-F870-4D33-868A-9BCB9CD7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954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Contratto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90FD1-10D3-4BD4-8E5E-0967856D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6212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01A42-56A2-44A7-BFA8-D531F59D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954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Attenzione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F4C36-98AA-48D1-9731-406530A4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742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EABA4-B3BF-4095-8222-D173C6CE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71725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1F540-EDDF-4B1E-9C3F-110FE326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574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138D1-A227-4420-9BC0-D536C592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7172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lunghezza non dichiarata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327DA-7BF8-4765-8EA8-766470F3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5742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4C2CB-EE1A-498E-A4EB-EB7B03F3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71725"/>
            <a:ext cx="373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facile rimandare la validazione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60A7E-9C27-488D-9D1E-10016720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A0738-1B55-4E98-9359-F712210F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14675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VARCHAR(n)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0832B-99B3-4265-826F-BAC809E8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780C5-EBAC-4808-9618-362A942C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1467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massimo n caratteri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85700-833D-4613-A268-DB5E8392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003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9DAF9-4403-4BEC-B7FB-000A695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14675"/>
            <a:ext cx="373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valori lunghi possono essere troncati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3DF8A-0482-4E8D-969C-DA54C895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4332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010B0-3812-4F21-A155-5D2891A6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57625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CHAR(n)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2BA30-BA6E-4E02-A8BD-076E375D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433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3D5B3-6239-447F-819D-3DBC44AA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5762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lunghezza fissa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A828D6-40D1-4BC0-BECB-B53B477E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4332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A36D6-58DA-4F34-8F0A-C9D721B0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857625"/>
            <a:ext cx="373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padding e confronto differiscono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93507-CEFE-4D0A-A135-42F19CBE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86275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CDE0E-8BDD-48E5-B9D2-9A24BB6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00575"/>
            <a:ext cx="230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BINARY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FEB63-4E94-4AAD-9B7C-5AD8F04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8627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A8B00-CE80-4CBD-ACE6-AF28F994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60057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sequenza di byte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126E6-C2E0-4801-BD60-C830724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862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B58D38-2B67-484C-906B-1AFC5771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00575"/>
            <a:ext cx="373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non è testo codificato arbitrariamente</a:t>
            </a:r>
          </a:p>
        </p:txBody>
      </p:sp>
    </p:spTree>
    <p:extLst>
      <p:ext uri="{BB962C8B-B14F-4D97-AF65-F5344CB8AC3E}">
        <p14:creationId xmlns:p14="http://schemas.microsoft.com/office/powerpoint/2010/main" val="6601251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4DA21-8B67-4FB4-A4C6-B861B9AE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6A152-2B98-4C7E-B71C-1784CDF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Data, istante e fuso orario sono concetti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60ABF-33C8-4E1A-AC46-D34A5C97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AC317-AEA7-4594-8BE0-71755B57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E11D3-B3AB-4C73-B35E-FC92718E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41E18-E011-4F1A-A958-78A9074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941B4-C4A9-4AA6-877F-CAF97D9C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051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2026-09-03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44762-CA94-4BA6-979F-7AB2A919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908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giorno senza 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82F1E-D171-4004-B37D-39078479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5C149-F2CE-45DF-8717-2661C8E6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B67DD-EC20-4DD2-9798-405B6417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64D1B-626C-4921-8B9B-B3B64A20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051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2026-09-03 10:15:18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DB901-1B58-469E-812B-04AF1B63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908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istante senza fuso incorporato in Hive classico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6D9CB-03D5-4D1C-B3AA-A5E8FCC8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8B12B-743C-4D3F-BF32-F72EFD81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77BCA-1364-4FF6-9063-92C614B7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050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E6BBB-7D5B-4221-BD6E-E6DCBBDD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051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03/09/26 10:15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6E179-4566-4FF2-8952-08F939C3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9085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testo ambiguo finché non viene convertito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B0F89-9F72-4FFC-8F23-6F51C229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Prima normalizza il formato; poi discuti il fuso orario.</a:t>
            </a:r>
          </a:p>
        </p:txBody>
      </p:sp>
    </p:spTree>
    <p:extLst>
      <p:ext uri="{BB962C8B-B14F-4D97-AF65-F5344CB8AC3E}">
        <p14:creationId xmlns:p14="http://schemas.microsoft.com/office/powerpoint/2010/main" val="561188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F99C2-5839-463E-B5E7-97B9B5CF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 QUALITY • NULL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AD86C-7157-436B-B1E7-4FFC31C8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NULL non significa sempre “dato assente”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706FE-EA14-402D-AF33-ADDFE7B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750C8-BE71-482E-B235-57CE0466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EF5A5A"/>
                </a:solidFill>
              </a:defRPr>
            </a:pPr>
            <a:r>
              <a:rPr sz="8250" b="1">
                <a:solidFill>
                  <a:srgbClr val="EF5A5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7F25B-8AF4-4F77-AC89-741F80A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Può significare anche conversione fallita, campo vuoto, colonna mancante o valore non riconosciuto.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9C814-7AC2-4F9A-88EA-B26CDDA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20388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DA565-BAE7-4774-BE59-0F6D1067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QUALITY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2D677-BC65-4DC5-99B4-9BA9493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pipeline affidabile conserva prima, converte dopo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D83FE-90C6-4281-B2ED-51CA8F9F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8B04B-8964-4CC7-8316-A8648772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F9495-9496-44AD-B005-550892F7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669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RAW STRING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79797-2C5B-4339-8B7F-CF034E2F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28900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valore originale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57BFC-6FD3-4418-A3ED-76940C4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982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AA8C9-1EF5-4162-866B-4EE10A20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97AC5-D206-4BAC-A6A2-6297033C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B80CA-D439-4C25-8B58-B91CC5AF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5741A-AFDE-4D16-A0CD-80F8884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QUALITY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39CD9-3DB3-43FE-A2C8-4459231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cast + domini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36272-0A8D-42DA-9054-DFB33D6B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0982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7DD3A-D56E-411D-9FC1-DA2FABD6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1B5FA-1B1B-41E5-9F23-D90176D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66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30020-32E5-4C1D-9084-6F9EEE31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91AD8-B585-4DC3-B5B7-6D36F98D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907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CURATED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E6439-9520-42BC-B8A8-88A2238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526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tipi validi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59B55-6701-497E-AA50-A2BE65BA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E0179-4DE5-4862-B0B1-8A4D89F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147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QUARANTINE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5919B-0AE8-48FB-9AB7-2C08BFD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766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record + motivo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C3871-373E-419B-B212-9723FBA7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Mai correggere silenziosamente ciò che non sai interpretare.</a:t>
            </a:r>
          </a:p>
        </p:txBody>
      </p:sp>
    </p:spTree>
    <p:extLst>
      <p:ext uri="{BB962C8B-B14F-4D97-AF65-F5344CB8AC3E}">
        <p14:creationId xmlns:p14="http://schemas.microsoft.com/office/powerpoint/2010/main" val="1038974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D7BDF6-4A75-4DB5-BDC9-3A9C2AE1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COMPLEX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09FEF-013A-4036-BF36-AAF1C047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 tipi complessi mantengono insieme dati correlati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8F3B0-E411-410A-B8E0-902D7568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7A19F-EDC7-494C-86BC-B205F62E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0422F-BF28-4B68-966B-57DD423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C13A0-761B-450A-A1A0-8F3DC7C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14500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A2B35-31FC-43B4-9CA4-2D6F0461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47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Forma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1351F-306E-4B44-9087-ABB42782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E36AB-2D5E-4430-AF23-C860C6D3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47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Esempio DATAFLIX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475E1-1900-4535-B8A9-A58668AF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98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9505A-D68A-4626-B0A7-C7AC5868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241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ARRAY&lt;T&gt;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E19C8-68E3-49FA-BC12-B7050838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98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D4AEB-D8AF-4680-B188-4715FCD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2410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lista ordinata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5BD54-40C9-43D6-AA66-8ADDCD0D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098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8A9C9-DBEF-4C96-AFBB-3BF9745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324100"/>
            <a:ext cx="468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genres = [Drama, Sci-Fi]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5D00F-803F-4D0D-8C61-11415C6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908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E5747-C449-4220-ABDB-D72E9D02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MAP&lt;K,V&gt;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CC000-A211-4BDE-8D73-8D6FA5A2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908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8C53F-EDFF-48C8-AB42-7AB72E0C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0515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chiave → valore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D39F4-E12F-4ECC-BB04-A9E69BB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908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A55C4-D7E6-4DC8-A731-F49819EF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105150"/>
            <a:ext cx="468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metrics = {buffering: 2}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46389-E331-4050-9FFB-D570530F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719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88619-07C8-4F6B-BD4C-0F6B46A2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8620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STRUCT&lt;…&gt;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27380-F2AC-4209-B6EB-DA4578F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7190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1D7E1-7030-427A-9B98-B0CBE25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8620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record annidato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AB9F10-C38F-4BCD-86FD-3793104F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719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61CF4-A08D-4A7E-9ECC-7ABE39D6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86200"/>
            <a:ext cx="468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device = {type, os, version}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1A2BD-C8BD-4B43-BC32-4237ED74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DDC60-91BD-4A5E-B1F2-13523A43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67250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UNIONTYPE&lt;…&gt;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325FF-5016-4679-B565-6185DEC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52950"/>
            <a:ext cx="333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4C3E7-9FC9-4EDE-AD87-A415E608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667250"/>
            <a:ext cx="306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una variante fra più tipi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EEC7AB-F6B6-4D8E-93C3-73D4A9FC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5295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02BD98-0280-4408-AF6C-A771EA79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667250"/>
            <a:ext cx="468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payload alternativo</a:t>
            </a:r>
          </a:p>
        </p:txBody>
      </p:sp>
    </p:spTree>
    <p:extLst>
      <p:ext uri="{BB962C8B-B14F-4D97-AF65-F5344CB8AC3E}">
        <p14:creationId xmlns:p14="http://schemas.microsoft.com/office/powerpoint/2010/main" val="1266842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06BA2-AB10-4238-A4A9-C938397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ARRAY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27173-9A96-44DF-B219-08EE9456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ARRAY rappresenta una sequenza dello stesso tipo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A85DD-B41E-4591-8B0D-554D256B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70C7C-113B-4618-915A-FC3CECE6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286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CFF70-EB20-4861-B5AC-A1FCE2F4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3943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genres ARRAY&lt;STRING&gt;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['Sci-Fi','Drama']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genres[0] → 'Sci-Fi'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62246-9FCD-4D05-A864-DB255173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Usalo quando: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DEE82-E808-4663-BCBE-1F83711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l’ordine può avere significato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il numero di elementi varia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• tutti gli elementi condividono il tipo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E8301-FB94-4DBF-B9CD-581F2607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Non usarlo per nascondere colonne con semantiche diverse.</a:t>
            </a:r>
          </a:p>
        </p:txBody>
      </p:sp>
    </p:spTree>
    <p:extLst>
      <p:ext uri="{BB962C8B-B14F-4D97-AF65-F5344CB8AC3E}">
        <p14:creationId xmlns:p14="http://schemas.microsoft.com/office/powerpoint/2010/main" val="1052220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938E2-BA36-4AEB-98D6-26FAEFF9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205C3-635B-4D7D-9833-2CD28594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MAP è utile quando le chiavi sono dinamiche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551C5-87D0-48B1-887A-035CD61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8AC37-E869-4637-B743-9A72065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49DCC-52AA-4FB8-A284-D0BF06E6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4610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metrics MAP&lt;STRING,INT&gt;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{'pause': 3, 'buffering': 2}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metrics['buffering'] →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14FF2-F17B-46A4-A6E6-EC626735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A36A"/>
                </a:solidFill>
              </a:defRPr>
            </a:pPr>
            <a:r>
              <a:rPr sz="1875" b="1">
                <a:solidFill>
                  <a:srgbClr val="27A36A"/>
                </a:solidFill>
              </a:rPr>
              <a:t>Buon 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FEA75-84F7-4AF6-85FB-B8C5A15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piccolo insieme dinamico di attributi omogenei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FB5CC-19A1-4EA0-9F78-EC506C52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Cattivo uso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EC0E8-BD14-421E-8854-C407F8AF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sostituire uno schema noto e renderlo invisibile</a:t>
            </a:r>
          </a:p>
        </p:txBody>
      </p:sp>
    </p:spTree>
    <p:extLst>
      <p:ext uri="{BB962C8B-B14F-4D97-AF65-F5344CB8AC3E}">
        <p14:creationId xmlns:p14="http://schemas.microsoft.com/office/powerpoint/2010/main" val="3984373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3933B-3F59-461A-B48F-96796970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STRUCT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74A6C-4541-47D8-897C-48C5A6BC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STRUCT dà un nome e un tipo a ogni campo annidato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4B3F8-7A90-48F0-ACC5-0F61A0CC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B4E67-9355-475C-9D50-0D4AB185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30613-9170-4542-B649-3101DE59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14525"/>
            <a:ext cx="4419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device STRUCT&lt;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type:STRING,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os:STRING,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version:STRING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device.os → 'Android'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B1B49-807C-4B78-B4CE-33550182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CB487-C97A-4905-A235-C0A3AF20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240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COESIONE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42930-BC42-4730-A05C-3D88D0A0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86025"/>
            <a:ext cx="2838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campi che descrivono la stessa entità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31BFB-EAF0-4A72-ACD7-A5736F6B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93CBF-BC46-4241-8DCC-AF4B2DAA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EVOLUZIONE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56D49-2F47-430A-AFCE-19628E39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2838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nuovi attributi senza tabella piatta enorme</a:t>
            </a:r>
          </a:p>
        </p:txBody>
      </p:sp>
    </p:spTree>
    <p:extLst>
      <p:ext uri="{BB962C8B-B14F-4D97-AF65-F5344CB8AC3E}">
        <p14:creationId xmlns:p14="http://schemas.microsoft.com/office/powerpoint/2010/main" val="18764933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7A327-2519-4E5D-9501-9CFF0ADD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NESTED EVENT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CE479-6309-4933-BD31-70DD252A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 evento può essere tipizzato senza diventare piatto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00E55-C5D6-4ED5-9CD5-73A9733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75620-FBD5-44E6-9C7D-3F401BF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66875"/>
            <a:ext cx="8572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F551F-F864-44DD-9E62-1EFE048B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19275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STRUCT&lt;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event_id:STRING,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ts:TIMESTAMP,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user:STRUCT&lt;id:STRING,country:STRING&gt;,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device:STRUCT&lt;type:STRING,os:STRING&gt;,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genres:ARRAY&lt;STRING&gt;,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metrics:MAP&lt;STRING,INT&gt;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4781176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16CF9-1EE7-4FCE-9491-B4944C10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CONCETTO CHIAVE • LOGICO ≠ FISICO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29E58-3B35-4491-BDB1-6FAC132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tipo non è il formato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647B0-4D28-4C3D-BB5A-7787ED9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77570-9E1D-4130-9A91-63D94213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4C173-B520-417C-A09F-1FD427E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INT descrive il significato logico. Parquet descrive come valori e metadata vengono organizzati fisicamente in un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6650F-A0FC-46B6-A25C-7F6B8253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73561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D6011-030D-428F-88F1-E46F5DA3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ROW vs COLUMN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8F81E-A78C-42C7-AEE7-6A345FBE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Righe e colonne ottimizzano accessi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2B59B-7566-40CA-A51D-49AABD7F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A2AEA-BB6D-497D-A7B0-BDD7D979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9A025-9DD8-4429-9C48-841D030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7DC85-D6EF-4610-8FB0-B214BFB3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3128D-EF53-4C17-ABED-43F64EF0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DBCAA-E99F-49BC-A377-CAE5659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ROW-ORIENTED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3FC12-263D-43BA-8BFC-D7E806D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 valori dello stesso record sono vicini. Conveniente quando si legge o scrive gran parte di ogni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2F1EE-D7A1-4A36-9666-3D2E9E1A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COLUMN-ORIENTED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7EB53-904B-4FD0-9942-927859BD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 valori della stessa colonna sono vicini. Conveniente per scansioni analitiche su poche colonne e aggregazioni.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BA11D-1B5F-4CE8-AC19-8060CF3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Il workload decide: non esiste un vincitore universale.</a:t>
            </a:r>
          </a:p>
        </p:txBody>
      </p:sp>
    </p:spTree>
    <p:extLst>
      <p:ext uri="{BB962C8B-B14F-4D97-AF65-F5344CB8AC3E}">
        <p14:creationId xmlns:p14="http://schemas.microsoft.com/office/powerpoint/2010/main" val="15165679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7BBBB-8DFF-4E1C-9F28-82092334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CSV / TSV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A1FE4-363D-46A9-9648-717C321B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CSV è leggibile, ma affida molto al contesto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A6A04-5582-4599-A758-5A472A2C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2ADE1-8B0A-40E1-9FBF-57BC14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0EBC2-0B8B-46DD-8810-742CDCA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E87B2-8DC4-45C3-B3E9-A70E1D2B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098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VANTAGGIO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08B16-8412-4FD5-BD24-13CC2604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4320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semplice, diffuso, ispezionabile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161AB-F960-45AF-B461-F0407C6F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C6AE6-8079-410E-8C57-01FF05D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BCEE0-19D6-4A73-B78A-4BC3C039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098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RISCHIO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BD6D4-1111-4890-849B-C2D307C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4320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separatori, quote, newline e encoding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15921-5EC3-4984-91D0-8BA49982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7DC58-6237-418C-BFED-C1973DFD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C7A01-534B-45A8-BED3-FD5547E9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378C9-F8B6-434B-8A08-53E27487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43200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non incorporato nel 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C5BD9-C043-4FC4-9381-28A309E0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29125"/>
            <a:ext cx="8286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40802-6EFC-4331-A02A-7066AD49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81525"/>
            <a:ext cx="7943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EVT-1	USR-7	MOV-42	2026-09-03 10:15:18	180</a:t>
            </a:r>
          </a:p>
        </p:txBody>
      </p:sp>
    </p:spTree>
    <p:extLst>
      <p:ext uri="{BB962C8B-B14F-4D97-AF65-F5344CB8AC3E}">
        <p14:creationId xmlns:p14="http://schemas.microsoft.com/office/powerpoint/2010/main" val="397020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8B2DF-3F67-4C1A-8231-DE076A46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JSON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E6448-F8A9-4915-AD08-DC34E6F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JSON preserva la struttura, ma ripete i nomi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22DDF-6340-4702-B7A6-876839EC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A39C1-01AA-4232-A735-FCB6884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91620-75ED-4160-8F1A-4EE3B05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14525"/>
            <a:ext cx="4419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{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"event_id": "EVT-1",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"duration": 180,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"device": {"type": "tv", "os": "Tizen"}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28345-E29A-4E0F-B174-516BBBC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PUNTI FORTI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AA506-69B6-4038-B380-E605BB2C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annidamento • flessibilità • interoperabilità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E1971-3FDC-4628-8129-65BB158F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COSTI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591ED-CAE4-45F8-A641-96A3EA7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verbosità • schema non sempre vincolato • parsing testuale</a:t>
            </a:r>
          </a:p>
        </p:txBody>
      </p:sp>
    </p:spTree>
    <p:extLst>
      <p:ext uri="{BB962C8B-B14F-4D97-AF65-F5344CB8AC3E}">
        <p14:creationId xmlns:p14="http://schemas.microsoft.com/office/powerpoint/2010/main" val="14465950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4D7A6-DD84-4926-B42B-9D480D7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AVRO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24062-9863-4A82-A015-B621354B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Avro unisce record e schema evolvibile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83F7B-FE72-443E-8DFB-A02CA501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A9274-370A-40DB-8F7F-F604312E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6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F79F0-06BE-4787-AF20-1384D937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66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B758E-AEF1-45B7-87AE-1D317B0B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28900"/>
            <a:ext cx="2362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nomi, tipi, default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BA63D-190A-4A53-803E-468C862F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574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6810D-9C31-448E-A5CE-3F307016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86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E6357-71B9-40B3-99E2-EBD62700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encode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2C0EC-48A7-4EA4-B163-BF81626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95500"/>
            <a:ext cx="266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ED42C-EC3C-4F0A-8A97-DC8344E2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66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40DA5-8B2D-4A7A-A51C-B2A88FC2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28900"/>
            <a:ext cx="2362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binario compatto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429CC-D0A1-46BB-96DC-8CA7101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8E636-A6D0-43B7-B66F-ECAA7FB6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86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72486-9DF9-4F6E-B41C-13E77704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14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resolve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3C154-4AC3-4510-BEAF-F1BD9A17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2826E-8166-4DD2-94F8-05F84D7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READER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CE39E-17A5-4FB3-9B84-AF5CC77B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28900"/>
            <a:ext cx="1885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writer vs reader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27AEB-79FB-4652-A3AA-2CAA6401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767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Adatto a scambio di record, eventi e compatibilità di schema.</a:t>
            </a:r>
          </a:p>
        </p:txBody>
      </p:sp>
    </p:spTree>
    <p:extLst>
      <p:ext uri="{BB962C8B-B14F-4D97-AF65-F5344CB8AC3E}">
        <p14:creationId xmlns:p14="http://schemas.microsoft.com/office/powerpoint/2010/main" val="16231522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5E86A-49E2-44E3-A778-0E948FA4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PARQUET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84C63-42A7-44EF-806C-D2B5C41A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Parquet legge solo le colonne utili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1E01B-DC87-41FB-A9B1-1BFA6AB9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FBAE-388F-454C-BFBC-EF3683B8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0B9B4-CDEE-4AF1-8710-B609CAFC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ROW 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C954E-8CF5-421F-835C-09380D35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insieme di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07128-5254-481F-BE27-91611031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27013-A559-4248-9CB8-39275229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90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movie_id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706B9-2733-4068-9258-437737CF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526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dictionary +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BB8C5-D417-4A15-AFF5-6EDE0840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99F20-E562-41E5-BE11-E9620CD2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33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43317-7C64-4C09-B3D3-5D027006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56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encoding +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49301-9FE7-4587-AFA4-5B52C3C7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54EB2-000B-4EF8-97A6-0B6471D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country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C1951-18EC-4C8C-9B49-36F87342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statistics +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B6C98-2554-44BC-8DC9-4727A162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49E63-AD04-4F6B-992C-C7843321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10177-6F74-475A-83FD-601DB937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956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encoding +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15434-F1C2-475F-93D1-576AA674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0500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country, SUM(duration)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8526A-58D6-4FBD-83EE-092FE15E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00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D4DE"/>
                </a:solidFill>
              </a:defRPr>
            </a:pPr>
            <a:r>
              <a:rPr sz="1350" b="1">
                <a:solidFill>
                  <a:srgbClr val="C8D4DE"/>
                </a:solidFill>
              </a:rPr>
              <a:t>salta le altre colonne</a:t>
            </a:r>
          </a:p>
        </p:txBody>
      </p:sp>
    </p:spTree>
    <p:extLst>
      <p:ext uri="{BB962C8B-B14F-4D97-AF65-F5344CB8AC3E}">
        <p14:creationId xmlns:p14="http://schemas.microsoft.com/office/powerpoint/2010/main" val="18861044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D6A72-EC99-4A6C-973D-F09680D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86B1A-B617-4E90-908E-9160044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ORC usa tipi, statistiche e indici interni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BB28A-B6FD-409D-8C58-B3C46E70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AB91C-DC78-45C1-98E5-30E14FF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033CD-7C4E-4A67-A17A-E087F97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717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STRIPE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EE475-7C68-4D50-B438-D2729CC7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33650"/>
            <a:ext cx="2171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gruppo autonomo di righe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59CA8-3276-4332-A193-E0B27E29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622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0ACE3-D994-4FE5-9552-C8A9266E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190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AB371-5881-421C-80FF-03265C21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19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53656-6701-4EBA-9120-3827BFCB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A3BD1-4C97-4CF9-A342-9F982637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717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STATISTICS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4BE46-7069-499C-BDCA-054D5D4A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33650"/>
            <a:ext cx="2171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min • max • 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7E11B-479B-4CED-BFBD-701F3A90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622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55DC8-7193-4134-AF1B-54D2972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90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5B296-B037-4D98-A95E-01F162BE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193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prune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97194-B843-4CD3-8507-BCB9DE7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39EA3-F77A-4FD1-B033-CCE84C9A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717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D6C42-DBE0-4B6A-99C4-99A06FA9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33650"/>
            <a:ext cx="2552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legge stripe utili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6E06E-A643-40D1-AFA7-10FAF07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2912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Type-aware e progettato per workload Hadoop; supporta i tipi Hive complessi.</a:t>
            </a:r>
          </a:p>
        </p:txBody>
      </p:sp>
    </p:spTree>
    <p:extLst>
      <p:ext uri="{BB962C8B-B14F-4D97-AF65-F5344CB8AC3E}">
        <p14:creationId xmlns:p14="http://schemas.microsoft.com/office/powerpoint/2010/main" val="13283862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73DDC9-EBFC-4964-8649-C0B1AF2D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FORMAT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AEA98-6F1F-4306-8410-5CD351A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Ogni formato è una scelta di workload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EB426-EEB2-40FD-BACE-190070FF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FC7BC-1BF5-45AC-86F2-6E0C56F6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238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F6C70-6F0F-4D99-8743-A7A2BE7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0497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Formato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68D93-8A2E-4D06-8727-CFEDD5B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71625"/>
            <a:ext cx="2238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A9EE7-F5A2-4204-8C89-EF3F1F56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0497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Orientamento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D42DD-4BB7-4D07-856E-81150FD0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361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63058-6B44-4045-8E44-B16E4162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049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Punto di forza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872A8-3BB5-4EA4-BAD2-40A4A363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71625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91A8E-486C-4DBC-9135-E03A46A8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049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Trade-off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F7638-77DD-4EAF-B1CA-3215CD1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6692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EEE08-D9B5-4900-93CF-509B79F8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8122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CSV / TSV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81946-7849-4C3B-BA32-2450488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6692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8A15C-1584-4080-B449-224DCE0A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8122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righe testuali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47366-ECBD-489F-B879-2E87713E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66925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DE56B-C12F-4F5C-87D1-D83FE0C1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181225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scambio e ispezione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F1C29-3F73-4DCE-A038-06B1FA1F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6692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D70B1-B3CF-40B6-91F6-A33CE81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8122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schema esterno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A366C-F9B7-4CB4-92E1-8D334105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F8153-DA0F-455C-87EE-6F448EF4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2417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8128E-E8A9-4628-A57A-303024DE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987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0ABF49-F868-433C-99A3-689FDDFC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2417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record testuali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2C1AB-1DFC-4AAC-8EDE-B92C56C6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09875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47746-7037-49D8-B4A0-23273AAD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24175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annidamento flessibile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438BD-E284-4B89-A3BD-B711513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987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6EE362-7393-4424-A7CC-45D873D8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2417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verboso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37636-081B-41CB-A47D-91BAC8EF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5282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26B2D1-092F-47A0-A7F4-8CFFCEF7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6712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Avro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FF2FC4-A403-432B-BCB7-B7425565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7860E-24DE-4186-939E-EA1449B3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6712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record binari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CE32A-F227-4E70-82CA-671FDDA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D44217-B06B-4223-B5F7-92AF01BD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667125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schema evolution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A09151-A2CA-4B12-A189-07333CC3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5282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2E3B82-7A64-4BA2-AA6A-37576338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6712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analytics meno selettiva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F2781-58AA-4BD1-94B5-4A09DD22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9577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F52005-DAF8-4C07-A96E-1844FDB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1007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Parquet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479F82-3224-47CA-9B4D-2C74499E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9577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BD128E-E516-4547-9647-245103FE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1007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colonne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6BD4E3-6E40-4593-B143-3B13545F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95775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193870-5502-4F4F-980C-8EBA39FA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10075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analytics interoperabile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D270CD-62B1-4411-BC1C-DB5DC2C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9577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D5AA15-1256-470E-824D-EB2CDEF6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1007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scrittura più complessa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95792F-9EFF-4349-95EE-A329EA6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3872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2F14EF-2F22-4EA7-843D-492E0F74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5302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ORC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FB68CB-8F59-4AFB-8AEB-5622097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38725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6FEF46-4C92-4F9F-9981-243D8E3E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53025"/>
            <a:ext cx="1971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colonne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3398F6-248C-4D35-8509-E74ED94A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38725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89CD13-A546-4FC2-95C0-F29C4E82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153025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Hive, indici e tipi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715BD3-68BE-45D8-B327-EAF9C4D3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3872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28EBAF-4B9F-4E56-B51D-ACF0DCE4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15302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ecosistema più mirato</a:t>
            </a:r>
          </a:p>
        </p:txBody>
      </p:sp>
    </p:spTree>
    <p:extLst>
      <p:ext uri="{BB962C8B-B14F-4D97-AF65-F5344CB8AC3E}">
        <p14:creationId xmlns:p14="http://schemas.microsoft.com/office/powerpoint/2010/main" val="18208930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434B2-B9F0-4AD1-ADE9-96AA7F0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THREE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F828B-F7AB-4972-BCDA-78475445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Compressione, encoding e serializzazione non sono sinonimi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69C47-7EE2-44CC-AA0A-7C40187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90B2B-34DD-4693-8311-D87EB72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13D13-E12F-4146-9902-7102971F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SERIALIZATION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610F6-2459-46BC-BE3C-153DD03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trasforma strutture logiche in byte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33AE0-DD3E-4A11-B5D8-1A436A37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C356-ACBB-44CC-B5AC-6B195C56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ENCODING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B29AF-D535-4613-A36C-309FDB1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rappresenta valori in modo efficiente: dictionary, RLE…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FE779-DF27-4980-8BDD-95758705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90517-BBEA-45AB-B1BD-D0E10BB8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COMPRESSION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6C4F6-DE44-44B5-BCB7-EB90A8F7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riduce i byte: Snappy, Zlib, Zstd…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CF80B-7AE1-4C15-BFC0-44BF533A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8DFA3-99AF-4312-8E5D-91BEF6D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81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CONTAINER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680C1-75A0-4FD4-9F6C-D186262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organizza schema, metadata, blocchi e pagine</a:t>
            </a:r>
          </a:p>
        </p:txBody>
      </p:sp>
    </p:spTree>
    <p:extLst>
      <p:ext uri="{BB962C8B-B14F-4D97-AF65-F5344CB8AC3E}">
        <p14:creationId xmlns:p14="http://schemas.microsoft.com/office/powerpoint/2010/main" val="2208582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4BDE3-F36D-4A7A-BE7A-194350E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SMALL 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1CBA5-EFAC-490B-A214-29410C5F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Migliaia di file piccoli possono costare più dei 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EBE65-2EE4-436A-A606-E2F720FE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DD434-E16B-4D02-9DCA-9FA54B3A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1F33"/>
                </a:solidFill>
              </a:defRPr>
            </a:pPr>
            <a:r>
              <a:rPr sz="3150" b="1">
                <a:solidFill>
                  <a:srgbClr val="0B1F33"/>
                </a:solidFill>
              </a:rPr>
              <a:t>10 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33FD9-438D-4B86-A1EB-5300DC1C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669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91585-E739-40B8-BE62-CC97FA85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95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77D6C-5D56-48FE-AE06-F375C3E3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24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stesso volume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E6B61-1F55-4963-BA83-569AC8AC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14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EA8E6-CC90-4A82-8B58-79EEECF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885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10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4AC9A-0DB9-42BA-9B4B-1F1FB983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4790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~1 GB ciascuno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DC9AF-D382-42F5-8004-B19CBB6C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6790E-D92F-407A-9247-38DA8F0D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85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100.000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4E7DD-0EB6-4440-B96C-3B8C1AE5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4790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~100 KB ciascuno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46222-01FD-4ABF-9C4F-850415FB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0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Più file → più metadata, listing, apertura, task e overhead.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F9E3A-EB81-4258-9D77-5A865692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06D"/>
                </a:solidFill>
              </a:defRPr>
            </a:pPr>
            <a:r>
              <a:rPr sz="1650" b="1">
                <a:solidFill>
                  <a:srgbClr val="52606D"/>
                </a:solidFill>
              </a:rPr>
              <a:t>La dimensione del file è parte del design della pipeline.</a:t>
            </a:r>
          </a:p>
        </p:txBody>
      </p:sp>
    </p:spTree>
    <p:extLst>
      <p:ext uri="{BB962C8B-B14F-4D97-AF65-F5344CB8AC3E}">
        <p14:creationId xmlns:p14="http://schemas.microsoft.com/office/powerpoint/2010/main" val="11974165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4EE342-FD2B-467C-A56D-A2FEBBBB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DECISION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B3B38-6CED-4A27-A806-5A10644C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domanda giusta seleziona il formato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26B06-78C6-4059-A648-D40B276B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3D84-CF53-4208-B713-2B84A19F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9736-58D1-4A8A-9E3B-89484EF4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Domanda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68CA1-BB21-4F09-B13C-94405CF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5C04F-9C27-497A-A20D-1D0BB22F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049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 prevale…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1A59D-E3E5-4338-A821-5ABC710E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72AF6-49AE-4550-A28B-1C3C47E6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049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Candidato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F8941-93E0-4C09-AD46-C7F588F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19328-8001-4C9A-A8E1-D4E5C7D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Leggo record completi?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7E81-BB0D-49C9-965E-E33F7574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669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0178D-9E31-4E90-BF1F-98395C4B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8122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sì, eventi o scambio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3A789-8B9C-473A-A121-A18DCDAE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669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C9A76-EEEE-4984-A413-9D2087F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81225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Avro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4CCEF-2DF3-4EF4-8047-EA753AD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8AFD3-FD44-44BD-9530-E09E5E38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Scansiono poche colonne?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E0977-0F93-4585-85CC-8F7A834F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289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26643-DBDC-41C8-A395-D1ED29B2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4322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sì, BI e aggregazioni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287A6-E39B-46C4-BAB6-0825638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289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7C109-B449-4F39-B27B-0E93F318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43225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Parquet / ORC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53464-E236-4B7C-A937-41AE2559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5D311-25B7-4C40-A7D4-A728206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Serve ispezione umana?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52B39-4687-43E4-8833-4D7EC61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909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12A3C-F4AC-4290-AC13-48B97F0F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0522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sì, piccoli scambi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650CD-DD98-42F5-A473-E5BFFC7F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A5848-566F-44E2-94D7-9473DBDC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05225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CSV / 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99CC93-977C-40C4-9842-1D8A622C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14B92-4477-47E9-B96A-CECC69A1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Schema evolve spesso?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FF711-7CBA-4517-8E57-CDAB5BC8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529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20E34E-1215-487E-AF81-3DCF5EB1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6722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compatibilità fra producer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BD7834-2A92-45B1-8AAE-4FF043B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258257-AA8A-4A43-B57B-F5114490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67225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Avro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6D7F8-19D5-4654-B755-63C6C10C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4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330C44-0921-4EC0-9120-2450EB9B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Lavoro soprattutto in Hive?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456F26-6558-4A81-9142-7890D104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14925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F1B37C-6C24-41DC-951B-C730432C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2922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statistiche e tipi complessi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DD0258-75F6-435A-802B-35D4EE1B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149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E8AAB7-D6B4-4C97-A65D-BAFAF88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29225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ORC / Parquet</a:t>
            </a:r>
          </a:p>
        </p:txBody>
      </p:sp>
    </p:spTree>
    <p:extLst>
      <p:ext uri="{BB962C8B-B14F-4D97-AF65-F5344CB8AC3E}">
        <p14:creationId xmlns:p14="http://schemas.microsoft.com/office/powerpoint/2010/main" val="13726252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53C2E-FA28-48A9-B7D3-62BF5C8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HIVE • PERCHÉ ESISTE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0F9F0-95E4-44CD-A8A9-A8E5A417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Hive cambia il livello della conversazione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F5F67-4E51-4AC2-AA62-8A586BD3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438FC-855A-4EDB-B5D9-6265ABBD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B8D9"/>
                </a:solidFill>
              </a:defRPr>
            </a:pPr>
            <a:r>
              <a:rPr sz="8250" b="1">
                <a:solidFill>
                  <a:srgbClr val="00B8D9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73750-99A7-4643-A578-96D3AC21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Non programmiamo più ogni movimento del dato. Dichiariamo tabelle, tipi e risultato; l’engine costruisce il piano.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6E386-72F5-4207-AAA6-5C6A528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2423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DD2AB-1C19-4BDA-BC0A-D3E3CFB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ARCHITETTURA 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DCD37-93D5-4C96-8750-C899036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Hive separa interfaccia, metadata, piano e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59183-DD24-4B4E-B873-0E4E1365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EF20B-D96A-44D7-9931-053D45C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6C0C5-95E4-4158-99A3-73ED6A2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B1387-B685-486E-9F13-36B4266C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1600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Beeline / JDBC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B0972-65B8-4F41-B106-371EE6AE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05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88043-F72B-4CFA-A757-771464B9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7021A-5FBB-4A7B-9894-4FBC3623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621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16C6D-7E2C-4FD0-8D56-09881AAC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B884E-60A3-401B-AE0E-6AC528C0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145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HIVESERVER2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28A50-5102-41F1-9767-C4F9550B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76525"/>
            <a:ext cx="1600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sessione +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E5BA8-38B1-4B52-97D5-DB82936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05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C811F-53C6-4F00-A547-61176873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28C41-12FD-4C54-B620-706434AB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621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compile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3EA8E-4B81-4470-96A9-A5CA5C14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E0A5D-20D1-4892-8E15-FA9C91E1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METASTORE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94FD1-4E98-45C8-BCBD-19BD3E7E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179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schema + location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91018-2C61-44E9-9CDF-03C3DBE1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EC01D-26B3-4BB4-8C40-454DA6E5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F2CA9-D039-45F9-851D-C53BD235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179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Tez / MR / 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09C52-73DC-40F6-AFA9-0AC964D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050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8576D-9FCD-4AA8-AE44-FC6AB78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4C760-FF18-4EA1-BE99-FC4EE741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D8A45-B677-4DC5-A77A-47458104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19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42229-2EAB-49A5-925A-36FAE2DA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14575"/>
            <a:ext cx="2314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BCC33-0594-41D7-8852-30DEAC7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76525"/>
            <a:ext cx="2314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HDFS / object store</a:t>
            </a:r>
          </a:p>
        </p:txBody>
      </p:sp>
    </p:spTree>
    <p:extLst>
      <p:ext uri="{BB962C8B-B14F-4D97-AF65-F5344CB8AC3E}">
        <p14:creationId xmlns:p14="http://schemas.microsoft.com/office/powerpoint/2010/main" val="14852516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E1732-91DB-45AE-9A6F-DC560DE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HIVE METASTORE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7465E-CE88-4421-9601-F2463E81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Metastore rende i file interrogabili come tabelle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527F8-5260-4150-B503-0FCE8BD1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55ED8-63D2-433E-82BD-ECDFF5E5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3F3E7-D253-4CB2-A769-15DB583D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049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A7F4C-F1DB-4693-89D1-2F0A095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71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5FEA6-9ECD-4828-9028-0E5BF1A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049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Esempio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82C7C-2A6F-4322-820E-E4EDFBBC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FB781-2803-410F-8E74-B9E6F53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049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Perché 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99CFE-424E-44F7-9E73-6584385F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6925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3048E-5EBF-41A5-A04F-C326F142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81225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92022-50CE-4773-99AD-1AB3C49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669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29841-A7B9-4896-8E84-55982CE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8122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duration_seconds 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C25E2-7475-4767-A69E-1FBDDE23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66925"/>
            <a:ext cx="381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FA9FF-5199-4C81-A993-71A0214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812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interpretare i byte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97FDF-78F2-4959-9F2B-53F37CF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E18D4-8967-4B91-8FFA-90511D61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24175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AFD89-C89D-4D5E-8B85-7E76250B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987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F9480-271E-4D5D-B5C8-21FE788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92417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/warehouse/curated_views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64FC1-46A4-419D-9B26-3A15B39E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9875"/>
            <a:ext cx="381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0B757-0AAF-4D08-BA3B-D0833115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2417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trovare i 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7B025-10E1-4D89-B909-EDCCA100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6BB76-C702-4368-A844-95959994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67125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Partition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121A2-81CE-496C-AF14-17505F66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528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6D941-043C-44B9-B534-82849E4F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6712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event_date=2026-09-02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8AA291-455A-4743-9B5D-C5CE2569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52825"/>
            <a:ext cx="381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8E515-90D5-4304-9846-C4C2FC46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671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evitare directory inutili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A0906C-AB2F-4688-B47B-62DF800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95775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8C792-A2D7-4A12-BC2C-502AEA74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10075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Format / SerDe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692801-EE58-4E17-ACAB-1456FAF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9577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BADAF-FC56-4E27-88EE-7780E21A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1007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PARQUET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4310A5-9EEA-4DE6-85F3-E3645434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95775"/>
            <a:ext cx="381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9ACFB6-E741-4797-B9F8-12B6F56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1007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decodificare record e colonne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70A8D3-0A17-4127-A9C7-2C838E71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38725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8E2BDA-E113-4C0A-966A-88E23D9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53025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Statistics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A4DB6F-A3D7-4792-8AB3-9B5ADEEA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387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5E803A-C8A4-4BB3-B10C-6ACAECDD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5302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row count, min/max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B1F892-AE44-4642-910C-5B2D476D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381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D8F645-438B-4D9F-962E-FEAEC812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53025"/>
            <a:ext cx="3543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scegliere un piano</a:t>
            </a:r>
          </a:p>
        </p:txBody>
      </p:sp>
    </p:spTree>
    <p:extLst>
      <p:ext uri="{BB962C8B-B14F-4D97-AF65-F5344CB8AC3E}">
        <p14:creationId xmlns:p14="http://schemas.microsoft.com/office/powerpoint/2010/main" val="5023770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5471C-152B-4B78-9D6C-52DAB06D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TABLE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DEA8C-568F-4F29-AC29-1F90904B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Managed ed external differiscono per responsabilità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21942-E818-4B71-AA94-8E014C0C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9D5B4-8E2D-4F5B-B8C1-01CD8B25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9BF57-4B55-463D-8387-0368C82D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619A7-D23E-4928-AC55-CC7A905A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175B7-4BF0-4441-9827-97EEB16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E01BE-D5C5-4E6A-BB2D-51876FD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MANAGED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223A1-E318-4B65-9BE1-A5820F5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Hive gestisce metadata e dati nel warehouse. DROP TABLE rimuove metadata e dati secondo configurazione e trash.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EDDF4-6F20-4C41-9E05-0DE4C50D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EXTERNAL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2E81E-133E-4DC1-8A2B-62F02389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Hive registra metadata e LOCATION di dati esistenti. Di norma DROP rimuove la definizione, non i file.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343AA-164B-453C-89AC-1AB5928C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F5A5A"/>
                </a:solidFill>
              </a:defRPr>
            </a:pPr>
            <a:r>
              <a:rPr sz="1500" b="1">
                <a:solidFill>
                  <a:srgbClr val="EF5A5A"/>
                </a:solidFill>
              </a:rPr>
              <a:t>Hive 4 può eliminare dati external solo con external.table.purge=true.</a:t>
            </a:r>
          </a:p>
        </p:txBody>
      </p:sp>
    </p:spTree>
    <p:extLst>
      <p:ext uri="{BB962C8B-B14F-4D97-AF65-F5344CB8AC3E}">
        <p14:creationId xmlns:p14="http://schemas.microsoft.com/office/powerpoint/2010/main" val="196051133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F07AE-98F7-4DEA-9599-6BD7D1D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CREATE EXTERNAL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6BE0A-9A40-468A-BE64-93DA416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tabella raw applica uno schema senza riscrivere il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42C70-90AF-44C0-B340-F0B06F93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2DAC3-B23E-4528-96DB-214B15A4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1C4AC-96FF-42C4-9165-22E424A0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33550"/>
            <a:ext cx="973455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CREATE EXTERNAL TABLE raw_views (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event_id STRING, user_id STRING, movie_id STRING,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event_ts_raw STRING, duration_raw STRING,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country_raw STRING, device_raw STRING,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quality_raw STRING, event_type_raw STRING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ROW FORMAT DELIMITED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FIELDS TERMINATED BY '\t'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STORED AS TEXTFILE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LOCATION 'file:///workspace/data/raw_views';</a:t>
            </a:r>
          </a:p>
        </p:txBody>
      </p:sp>
    </p:spTree>
    <p:extLst>
      <p:ext uri="{BB962C8B-B14F-4D97-AF65-F5344CB8AC3E}">
        <p14:creationId xmlns:p14="http://schemas.microsoft.com/office/powerpoint/2010/main" val="116708565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A3FFA-4562-4414-987A-7D91740F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SERDE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40EFB-9510-41A4-8921-566BE24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SerDe traduce byte e righe nel modello della tabella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67CF0-D592-4EEE-8673-3517040E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B83E8-3D79-4B55-848D-588D77E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82E13-120E-4A05-B222-3228D061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66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FILE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8E0E0-3078-4A0D-AC4D-0A54C883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289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TAB + newline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AE4F0-0A20-4541-8AA6-A6E06A4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982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7B7DF-3679-4D3F-810E-C53432B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414D1-FA97-4DF7-899C-1A2A0055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66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deserialize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808D9-F1DF-4B85-956E-34BB5546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E86B2-101A-442D-BAE2-703887DF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66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ROW OBJECT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EE858-DFA8-4FCD-9580-A499133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2890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9 campi STRING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5EF85-E551-4D93-BDF0-03669F64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0982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34EB8-1C1B-4F39-A465-600E3761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8FEE7-4C4F-4053-A12A-645B98F3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66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C1C6B-ADF1-4EBB-B340-ECAEECFB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D1537-6F28-48AE-8C8E-6F7CB65E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66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HIVEQL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2AB7D-A1AC-45E5-8F34-A6C47176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2890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colonne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595CB-C115-4C6B-9205-CB7C5D93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767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Se separatore e quote non corrispondono, lo schema non salva il parsing.</a:t>
            </a:r>
          </a:p>
        </p:txBody>
      </p:sp>
    </p:spTree>
    <p:extLst>
      <p:ext uri="{BB962C8B-B14F-4D97-AF65-F5344CB8AC3E}">
        <p14:creationId xmlns:p14="http://schemas.microsoft.com/office/powerpoint/2010/main" val="39984442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B6BD8-B4F3-480B-9922-5464DF0A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PARTITIONED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12FF3-DEE4-4A6F-8CE4-505E5628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partizione trasforma valori in directory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4000E-5555-489B-A338-A2939CD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6FD01-CB81-4C6B-A138-490ABF75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6108F-0D78-4D75-8A1D-F16EC30D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52650"/>
            <a:ext cx="3086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PARTITIONED BY (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event_date DATE,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  country STRING</a:t>
            </a:r>
          </a:p>
          <a:p xmlns:a="http://schemas.openxmlformats.org/drawingml/2006/main">
            <a:pPr algn="l">
              <a:defRPr sz="1650" b="0">
                <a:solidFill>
                  <a:srgbClr val="DFF6FB"/>
                </a:solidFill>
              </a:defRPr>
            </a:pPr>
            <a:r>
              <a:rPr sz="1650" b="0">
                <a:solidFill>
                  <a:srgbClr val="DFF6FB"/>
                </a:solidFill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4D9D6-5AB2-494C-8DCB-B65DA927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66875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35F4E-F550-4317-8953-3A8D69EB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383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event_date=2026-09-01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4097C-31F2-448E-80F5-BD1A2A0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00275"/>
            <a:ext cx="255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country=IT • FR • DE…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9ED75-CCCE-4443-9E8D-355F065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A481C-CCB9-437F-B3A1-68FE1939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242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event_date=2026-09-02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D0BB1-DD9D-422C-B559-FC6FDFEA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486150"/>
            <a:ext cx="255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country=IT • FR • DE…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EE163-4A0C-4523-AB5D-3D42285D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5510E-BBF2-4EB4-B120-D552CEF9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0507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event_date=2026-09-03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22932-8EC3-4C6F-881B-F362202E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67025"/>
            <a:ext cx="255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country=IT • FR • DE…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6F4E5-EF19-4D9E-A832-EA554CD4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10125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Le colonne di partizione descrivono il path e sono interrogabili.</a:t>
            </a:r>
          </a:p>
        </p:txBody>
      </p:sp>
    </p:spTree>
    <p:extLst>
      <p:ext uri="{BB962C8B-B14F-4D97-AF65-F5344CB8AC3E}">
        <p14:creationId xmlns:p14="http://schemas.microsoft.com/office/powerpoint/2010/main" val="3838749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5A4BA-9828-4821-923A-A11136FA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PRUNING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DC1D6-AC73-4DD3-AA5E-A1378220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Partition pruning evita di aprire dati irrilevanti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58329-59B9-471D-9B6F-C15AF157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4C809-3EC7-4CB5-9E0E-F932F72C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WHERE event_date = DATE '2026-09-02'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  AND country = 'IT'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8B99-B027-4BC5-8020-CBF1F716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09825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99518-9BC6-4A0E-811F-19DAEE28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29C22-FB89-4FEA-8025-AA308132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66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select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38F7D-1CAF-4691-BF4F-B6F606E3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71625"/>
            <a:ext cx="3714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C9844-EC80-4294-AD0A-2AB11BA1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430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2026-09-02 /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E6ADF-B2EC-4B96-BCAC-5AC2837F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05025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C18F9-E036-406B-A13F-689B59C7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3714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D9552-7C30-4909-BB87-83FC96A4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altre date / paesi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F9D43-8F69-488A-98A7-C4E9E9E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SKIP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44E34-32FF-4D97-B1ED-9795265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D4DE"/>
                </a:solidFill>
              </a:defRPr>
            </a:pPr>
            <a:r>
              <a:rPr sz="1650" b="1">
                <a:solidFill>
                  <a:srgbClr val="C8D4DE"/>
                </a:solidFill>
              </a:rPr>
              <a:t>Il filtro deve usare le colonne di partizione in modo riconoscibile dal piano.</a:t>
            </a:r>
          </a:p>
        </p:txBody>
      </p:sp>
    </p:spTree>
    <p:extLst>
      <p:ext uri="{BB962C8B-B14F-4D97-AF65-F5344CB8AC3E}">
        <p14:creationId xmlns:p14="http://schemas.microsoft.com/office/powerpoint/2010/main" val="3393234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E68D0-45DD-44C4-921F-26838B9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PARTITION GRANULARITY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FD06-0160-44F8-BCDB-B92DDD99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Partizionare troppo crea un nuovo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A4420-F990-4935-B9F3-5CAF5201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9DB14-706E-4D28-A305-9E68E4C7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0E3CF-AC42-48EF-8F96-A14AB0FD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954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Scelta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9820A-D3CC-4DF8-9A5A-BD07D850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621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1091F-1700-4B7E-9E18-4DE739A3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95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Partizioni in 3 giorni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C8DDA-55F4-4EFD-B4A9-7243B4F2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FB24F-9755-4863-9D02-6A10DFBE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9547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Rischio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F5C57-D423-461A-8D68-9D13BB06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74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A0C98-92D2-429B-A5A8-B0F97693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717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event_date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A6407-B4F6-489E-947F-81323DE7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57425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8780B-3B1D-4754-81B8-9AF58E3B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EDFFA-A0DE-430D-BC2F-2F9E0708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574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44038-2633-458B-B5FD-8A714B75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71725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file grandi, pruning moderato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11752-454B-467A-A242-CC53F0CE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B5744-866C-4B04-AF59-9DF8023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337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event_date + country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401AC-4BAF-45A6-8280-45D215EC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19425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105F2-9EDF-427A-822D-4D49D435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133725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24 circa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CF52F-32A1-433A-939B-9A2B95CB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194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1B677-0862-415E-A9C0-397EFCF5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33725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equilibrio didattico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93B60-A8D2-4368-9273-A13511F9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814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F1CF0-3212-47BD-A904-11E56519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957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timestamp al secondo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8A7A6-4D8E-4FD1-B780-D1535764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81425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49CAF3-D563-4185-A4EF-C4B5D94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895725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fino a 259.200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6C4CE-6F57-4EB8-8E42-6A46ACCF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E66100-18D7-4340-8B8C-A9E29E36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95725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directory minuscole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75CDA3-36E4-42B7-8D88-8D49C430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434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829E9-3D20-4E67-BAB6-6518F81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577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user_id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F48FC0-E599-4873-9290-D9EDA616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43425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5AD4FC-22B2-48D8-822D-E87CDAFF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57725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fino a 8.000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BB6420-0581-4F9C-AC17-DB0FD90C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43425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E95CC-519F-4DCC-BE79-F8CAE61C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57725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alta cardinalità e small files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585A92-F201-4DB7-833B-2F14AB08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 partizione è una directory strategy, non un indice universale.</a:t>
            </a:r>
          </a:p>
        </p:txBody>
      </p:sp>
    </p:spTree>
    <p:extLst>
      <p:ext uri="{BB962C8B-B14F-4D97-AF65-F5344CB8AC3E}">
        <p14:creationId xmlns:p14="http://schemas.microsoft.com/office/powerpoint/2010/main" val="172435271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18A6A-7316-4FD3-BDE3-9CA55BCD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SELECT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1D42E-65D8-4DCA-BBF7-01AB051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HiveQL descrive una pipeline logica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0375-B6A8-4723-9E57-6C10153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83CFC-18A3-4E54-9823-080D1983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5A7C4-31DC-45A2-99F4-EAFD1A34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FROM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EAAF8-C1B7-4B2A-BF29-ADD857D2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6702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scegli la tabella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C1D50-F079-4091-AF14-E2E95C39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90825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228AF-FBB2-440B-A1E7-CBF43A5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49131-CAE3-4BE6-A9B5-2D6C59D0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99E44-A112-4838-949A-E1BC67A4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WHERE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8A407-2495-4958-86C9-E9ABDFD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6702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filtra le righe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D0CF9-A91D-4CE6-BFBA-57A2411E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363CD-4C59-4C7F-8BC6-999DA8F6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D80D-3790-48CB-9241-DF2FEB20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96014-FBAE-4221-8D30-14E79F0F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GROUP 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0E078-6205-4AEC-AE1C-B006DD8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6702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forma i gruppi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D7514-6F1A-4807-AD45-716C2686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90825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EBFF9-BED0-40DD-89DF-0FFB6D2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316B1-ECE0-406B-8F63-22AC802F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202A3-BE33-44FF-A6EB-0E54A7BB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HAVING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323D0-B7DF-4E77-956A-612F2732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6702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filtra i gruppi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EBFD0-6445-465D-B86B-A4B1D31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90825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AC24B-6D1E-4DF9-B741-67534F34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EF5A5A"/>
                </a:solidFill>
              </a:defRPr>
            </a:pPr>
            <a:r>
              <a:rPr sz="2625" b="1">
                <a:solidFill>
                  <a:srgbClr val="EF5A5A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212E1-3B89-4C23-B6C2-046F323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C5495-2B0B-4212-B975-1836CB48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SELECT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5228A-B1B9-4536-8D20-D695F28A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6702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calcola le espressioni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29A33-8ED3-413E-8375-2AF3102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2C3B9-EFA9-40D9-9FA8-B15B30C2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F1719E-7FF4-4511-88AD-8211FAFB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4517E-D847-4264-B96C-4D71C170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ORDER / LIMIT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4DA86-0D57-4582-8125-7BCC077C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67025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presenta il risultato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30307-2BB1-43EC-BA8C-B6E411D0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291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L’ordine scritto e l’ordine logico non coincidono sempre.</a:t>
            </a:r>
          </a:p>
        </p:txBody>
      </p:sp>
    </p:spTree>
    <p:extLst>
      <p:ext uri="{BB962C8B-B14F-4D97-AF65-F5344CB8AC3E}">
        <p14:creationId xmlns:p14="http://schemas.microsoft.com/office/powerpoint/2010/main" val="3842884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9A63B-33A6-4AFA-8BF0-C6DFB511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MAPREDUCE → HIVEQL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C55E0-945E-4F18-BAA6-DFAEF40D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query sostituisce molto codice operativo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7E013-B14C-469B-B279-303EFCF1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EC2D2-E5E4-4BFD-843C-EDCB3FCB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6F973-4E3E-42EB-AEB9-7655D1D2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62175"/>
            <a:ext cx="8686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FF6FB"/>
                </a:solidFill>
              </a:defRPr>
            </a:pPr>
            <a:r>
              <a:rPr sz="1950" b="0">
                <a:solidFill>
                  <a:srgbClr val="DFF6FB"/>
                </a:solidFill>
              </a:rPr>
              <a:t>SELECT movie_id, COUNT(*) AS events</a:t>
            </a:r>
          </a:p>
          <a:p xmlns:a="http://schemas.openxmlformats.org/drawingml/2006/main">
            <a:pPr algn="l">
              <a:defRPr sz="1950" b="0">
                <a:solidFill>
                  <a:srgbClr val="DFF6FB"/>
                </a:solidFill>
              </a:defRPr>
            </a:pPr>
            <a:r>
              <a:rPr sz="1950" b="0">
                <a:solidFill>
                  <a:srgbClr val="DFF6FB"/>
                </a:solidFill>
              </a:rPr>
              <a:t>FROM curated_views</a:t>
            </a:r>
          </a:p>
          <a:p xmlns:a="http://schemas.openxmlformats.org/drawingml/2006/main">
            <a:pPr algn="l">
              <a:defRPr sz="1950" b="0">
                <a:solidFill>
                  <a:srgbClr val="DFF6FB"/>
                </a:solidFill>
              </a:defRPr>
            </a:pPr>
            <a:r>
              <a:rPr sz="1950" b="0">
                <a:solidFill>
                  <a:srgbClr val="DFF6FB"/>
                </a:solidFill>
              </a:rPr>
              <a:t>GROUP BY movie_id</a:t>
            </a:r>
          </a:p>
          <a:p xmlns:a="http://schemas.openxmlformats.org/drawingml/2006/main">
            <a:pPr algn="l">
              <a:defRPr sz="1950" b="0">
                <a:solidFill>
                  <a:srgbClr val="DFF6FB"/>
                </a:solidFill>
              </a:defRPr>
            </a:pPr>
            <a:r>
              <a:rPr sz="1950" b="0">
                <a:solidFill>
                  <a:srgbClr val="DFF6FB"/>
                </a:solidFill>
              </a:rPr>
              <a:t>ORDER BY events DESC</a:t>
            </a:r>
          </a:p>
          <a:p xmlns:a="http://schemas.openxmlformats.org/drawingml/2006/main">
            <a:pPr algn="l">
              <a:defRPr sz="1950" b="0">
                <a:solidFill>
                  <a:srgbClr val="DFF6FB"/>
                </a:solidFill>
              </a:defRPr>
            </a:pPr>
            <a:r>
              <a:rPr sz="1950" b="0">
                <a:solidFill>
                  <a:srgbClr val="DFF6FB"/>
                </a:solidFill>
              </a:rPr>
              <a:t>LIMIT 10;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B24C0-E0B3-4349-A3DC-61B00852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La query non specifica split, mapper, shuffle, reducer o part file.</a:t>
            </a:r>
          </a:p>
        </p:txBody>
      </p:sp>
    </p:spTree>
    <p:extLst>
      <p:ext uri="{BB962C8B-B14F-4D97-AF65-F5344CB8AC3E}">
        <p14:creationId xmlns:p14="http://schemas.microsoft.com/office/powerpoint/2010/main" val="132635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A1B2A-9FCB-48FE-B525-D61BDEFE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WHERE vs HAVING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BDCDF-83CC-4452-AE84-2D270524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WHERE filtra record; HAVING filtra gruppi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15CF5-DF74-4AEC-8605-3D9D65D2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82A5A-DAFB-46FB-BC9F-38DC706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B5CFC-089E-4C61-9B42-9EC77E81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8F7BA-6C7C-4432-A9CF-2E985E35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8409F-FC2C-42D1-9FF5-248FE9B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D4297-C318-4CC5-9A91-BD23DBE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WHERE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65543-E329-4719-A786-67FA5B19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Agisce prima del GROUP BY. Esempio: considera soltanto eventi play e complete. Riduce il volume da aggregare.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C0542-24C0-4000-B3E1-1A5DD967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HAVING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4B6B1-A211-433B-80D6-1B34868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Agisce dopo il GROUP BY. Esempio: conserva soltanto utenti con almeno cinque eventi.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756E7-D85F-4569-8551-CAFBC995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533AD-120D-4F02-A1B6-FC15C5A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14900"/>
            <a:ext cx="708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WHERE event_type IN ('play','complete')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GROUP BY user_id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HAVING COUNT(*) &gt;= 5</a:t>
            </a:r>
          </a:p>
        </p:txBody>
      </p:sp>
    </p:spTree>
    <p:extLst>
      <p:ext uri="{BB962C8B-B14F-4D97-AF65-F5344CB8AC3E}">
        <p14:creationId xmlns:p14="http://schemas.microsoft.com/office/powerpoint/2010/main" val="46318517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CC3C3-8BED-4668-89CC-75630ECF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CREATE TABLE AS SELECT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8F60E-4087-41B3-A1E7-C5B2CAEA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CTAS materializza il risultato in un nuovo formato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F07A9-4BC9-4722-86D3-6592A6BD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4DED-8404-4623-8712-50F2E1B3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9144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54064-22C9-4F9F-8BF5-CF59940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33550"/>
            <a:ext cx="86868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CREATE TABLE curated_views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STORED AS PARQUET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AS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SELECT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event_id,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CAST(event_ts_raw AS TIMESTAMP) AS event_ts,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  CAST(duration_raw AS INT) AS duration_seconds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FROM raw_views</a:t>
            </a:r>
          </a:p>
          <a:p xmlns:a="http://schemas.openxmlformats.org/drawingml/2006/main">
            <a:pPr algn="l">
              <a:defRPr sz="1500" b="0">
                <a:solidFill>
                  <a:srgbClr val="DFF6FB"/>
                </a:solidFill>
              </a:defRPr>
            </a:pPr>
            <a:r>
              <a:rPr sz="1500" b="0">
                <a:solidFill>
                  <a:srgbClr val="DFF6FB"/>
                </a:solidFill>
              </a:rPr>
              <a:t>WHERE CAST(duration_raw AS INT) IS NOT NULL;</a:t>
            </a:r>
          </a:p>
        </p:txBody>
      </p:sp>
    </p:spTree>
    <p:extLst>
      <p:ext uri="{BB962C8B-B14F-4D97-AF65-F5344CB8AC3E}">
        <p14:creationId xmlns:p14="http://schemas.microsoft.com/office/powerpoint/2010/main" val="53474637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9D1FA7-3FD9-4CCF-A092-3E8DB022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RAW → CURATED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04590-69AD-4380-AF1C-AB785A82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tabella curated rende esplicito il contratto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26763-091E-4170-A79A-5C41E86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1A096-610B-42CB-A650-9C964872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249E8-6332-4EB1-85F7-DB131CE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95160-B4D8-4E92-9B8C-75AD6B13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1625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63CE6-D813-46B4-8A44-FADE4CB2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049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Regola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A2F77-94E0-4075-AB49-CEAE4F5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B2A12-E555-46F1-8519-C8DD0773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0497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Curated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C9BA7-0F3A-4420-A73E-E2E48070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F814A-B3DE-42CD-98D8-8A904C3A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duration_raw STRING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B8D6D-1404-4FEC-9135-E67ECF76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4191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8E9DB-E183-49B9-A500-3ACDBF3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81225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CAST + 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59BB9-EA48-4D59-AD02-A5D17E45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B66BA-07B2-41B0-89F7-311659A5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81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duration_seconds 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311BA-AA4C-45ED-A8EF-C6E4B9FA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837D8-31A8-4F71-8195-D64C1441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432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event_ts_raw STRING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330D1-1CBB-4728-A4C3-CE03BC19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28925"/>
            <a:ext cx="4191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4C583-7E54-4AD3-8F83-9408CA49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43225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formato valido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BDFF7-1527-4013-ACD5-44F49DE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78821-4F67-45A9-B694-B707C3E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43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event_ts TIMESTAMP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30908-5C83-445B-A1DD-87F2408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3F5C0-9389-4186-9557-91A52BC2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country_raw STRING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A8C89-EF80-4687-8477-038DACB1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90925"/>
            <a:ext cx="4191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24EAC-8A8F-454F-BED9-C5F1009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05225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non vuoto + dominio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276E1-50F8-425F-8FA3-5809F4C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90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6D81E-B05A-4D53-ADB2-D238641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05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country partition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5D71E-D0DA-42B1-B488-FEA6D0DE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C7481-8023-4A88-83F3-A3AC7942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device_raw STRING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7ECB1-DE2E-4E66-ABC0-CE08BDC7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52925"/>
            <a:ext cx="4191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06E7A0-BB49-44B9-8BDC-81070DE0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67225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insieme ammesso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E1717-59C7-4299-88E1-D5D5BEAE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52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5DC2F7-115E-44B1-BC1B-FFE0D670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67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device STRING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AD321-B47A-4AE8-A226-97E37FE4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F21BE-B5B6-4FCC-8A53-3D6F88D3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29225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file 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62632F-9A61-4C2A-B689-FA7E71D0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14925"/>
            <a:ext cx="4191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04F3D5-5FD3-484A-959D-4C2BD726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29225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riscrittura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A7388A-8139-407A-AC77-D85575B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F5C313-8BC2-4C5E-B152-E5633A4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29225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PARQUET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A94220-7BAF-44B9-BBA5-A6322E85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5A5A"/>
                </a:solidFill>
              </a:defRPr>
            </a:pPr>
            <a:r>
              <a:rPr sz="1575" b="1">
                <a:solidFill>
                  <a:srgbClr val="EF5A5A"/>
                </a:solidFill>
              </a:rPr>
              <a:t>Convertire formato senza validare semantica produce soltanto errori più compressi.</a:t>
            </a:r>
          </a:p>
        </p:txBody>
      </p:sp>
    </p:spTree>
    <p:extLst>
      <p:ext uri="{BB962C8B-B14F-4D97-AF65-F5344CB8AC3E}">
        <p14:creationId xmlns:p14="http://schemas.microsoft.com/office/powerpoint/2010/main" val="345498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F6567-A5F6-4323-A41B-D3E63505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QUERY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A67E1-5D94-47FC-8A08-F401F8CA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EXPLAIN rende visibile il piano prima del costo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0B5DA-58E2-49AF-9A2B-4866BF5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CD3B5-4839-4554-BC04-067EFCED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7C76C-EF5F-4BA0-B4B2-A2A7994D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14525"/>
            <a:ext cx="4419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EXPLAIN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SELECT country, COUNT(*)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FROM curated_views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WHERE event_date = DATE '2026-09-02'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  AND country = 'IT'</a:t>
            </a:r>
          </a:p>
          <a:p xmlns:a="http://schemas.openxmlformats.org/drawingml/2006/main">
            <a:pPr algn="l">
              <a:defRPr sz="1425" b="0">
                <a:solidFill>
                  <a:srgbClr val="DFF6FB"/>
                </a:solidFill>
              </a:defRPr>
            </a:pPr>
            <a:r>
              <a:rPr sz="1425" b="0">
                <a:solidFill>
                  <a:srgbClr val="DFF6FB"/>
                </a:solidFill>
              </a:rPr>
              <a:t>GROUP BY country;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B2B92-1BCC-4677-A142-675F426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CERCA NEL PIANO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8D25B-3627-4263-944B-9827B54D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partizioni selezionate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filtri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operatori di aggregazione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stadi / dipendenze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• stime o statistiche disponibili</a:t>
            </a:r>
          </a:p>
        </p:txBody>
      </p:sp>
    </p:spTree>
    <p:extLst>
      <p:ext uri="{BB962C8B-B14F-4D97-AF65-F5344CB8AC3E}">
        <p14:creationId xmlns:p14="http://schemas.microsoft.com/office/powerpoint/2010/main" val="147679579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20E16-797E-48AC-A0AD-2922E59B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PIG •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60695-6154-4763-8DFC-52CB2C3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Pig descrive il flusso, non soltanto il risultato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A9741-78DA-4ECD-A352-71DE5B79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6B115-0229-41F5-BE8C-C35AC0BE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CA39B-08C4-4035-A2F7-BD25AF7C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LOAD → FILTER → FOREACH → GROUP → ORDER → STORE rende esplicite le trasformazioni intermedie.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C18C7-D9B2-45DD-875F-95453E75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73414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7103C5-9F69-40DE-9A74-FABA7C29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PIG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23A25-8920-4AEE-B56D-D593BA3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Pig ragiona con relazioni, bag, tuple 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22F8B-E6FA-4C61-AB18-5E03FB24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DAF3-1E11-476D-9EFB-97F1E75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54A77-AD31-476E-9183-8C6AAFA5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04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Concetto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C768A-FC1A-4A69-B23C-99FBC52A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71625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95DD9-4F43-476D-8EDF-BD06B94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049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Immagine mentale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9BD83-EAF7-485B-8E2D-6E7D6D9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B9C65-E163-4A73-87AB-E5F73A8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049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Esempio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97C7A-C527-4269-A4C7-46D7C27E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B633D-D666-45DB-8A0D-F0C33878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8122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BE6DE-7883-458E-8FDC-4FC467D1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669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085CC-EB22-4AAA-9E11-9BEFE68D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81225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insieme di tuple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9D1F4-928A-41B3-884D-77A6A774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770D3-E848-4EA3-B9DD-6EA3B436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8122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raw, valid, top_movies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22C5D-ED39-4C64-927F-4E71FB3F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2EE45-2B08-414F-92F6-49292638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241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BAG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77E27-6D39-4EA1-9950-5498F5FA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C0EA2-7A08-4BCE-84C8-F91AB591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24175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collezione di tuple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8FC2F-83F7-4F36-BB6F-BAC80CD3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E3D5C-3ADE-4B9B-A1AE-F0354AA1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417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gruppo degli eventi di un film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EEE14-D0BC-48E5-B84C-B470E9CA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CC419-2A87-4E6C-A831-A6B4F6A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TUPLE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DB57B-D1E3-4B76-85AB-CBC6D8F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67557-518F-4D22-8BE9-E793C1DA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67125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record ordinato di campi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7024A-109F-46F3-BE31-824B75C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053A7-521B-40D3-AAA6-BFBD20A3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(MOV-0042, 723)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A2577-5334-4A76-9360-30952959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C90265-BDBD-41D8-9562-42EFEA8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F7533-4212-4ECB-A261-3BF51A92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957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5143B6-41F9-4DC2-BD32-EC07CC00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0075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chiavi e valori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F28674-A80B-4CB6-B6F1-A388D4BF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51F68-96F2-400A-9F97-9A6D540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007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[buffering#2]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9DE25-2A07-4AC1-AD97-C5B14C46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9EAB82-00D2-48BE-A7DC-1218D14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5302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FIELD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0CE929-989D-441E-9554-067530A5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387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0D868E-F20F-4696-9EC0-9922FD36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53025"/>
            <a:ext cx="421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valore in una tuple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C368F1-EFBA-479C-99FA-8CB454F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86884F-D924-4BF9-92FB-FC0F2CFD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5302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movie_id</a:t>
            </a:r>
          </a:p>
        </p:txBody>
      </p:sp>
    </p:spTree>
    <p:extLst>
      <p:ext uri="{BB962C8B-B14F-4D97-AF65-F5344CB8AC3E}">
        <p14:creationId xmlns:p14="http://schemas.microsoft.com/office/powerpoint/2010/main" val="2131372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895C8-5374-4237-A4F3-AE1AE604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PIPELINE PIG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B2D6E-7EA5-413D-95CD-6D88A556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Pig Latin rende gli stadi nominabili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4666B-853C-488F-985B-AC3106D9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77E50-A96E-4AD6-8455-0789DCAF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C4B4F-1D59-4C19-878C-97C649C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98298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raw = LOAD 'views.tsv' USING PigStorage('\t');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valid = FILTER raw BY duration_raw MATCHES '[0-9]+';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typed = FOREACH valid GENERATE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movie_id, (int)duration_raw AS duration_seconds;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by_movie = GROUP typed BY movie_id;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counts = FOREACH by_movie GENERATE group, COUNT(typed);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top_movies = ORDER counts BY $1 DESC;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DUMP (LIMIT top_movies 10);</a:t>
            </a:r>
          </a:p>
        </p:txBody>
      </p:sp>
    </p:spTree>
    <p:extLst>
      <p:ext uri="{BB962C8B-B14F-4D97-AF65-F5344CB8AC3E}">
        <p14:creationId xmlns:p14="http://schemas.microsoft.com/office/powerpoint/2010/main" val="105324859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09894B-90CF-40F3-B0C8-8832605F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HIVE vs PIG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6D2DA-D21D-4491-B710-A5428433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Hive e Pig riducono lo stesso attrito in modi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289D8-5C0C-4A5A-8695-3DFAFA8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45A31-AF4C-43EF-9B2D-48F52868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D2771-1812-4E37-AB4D-EFB3ED25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Dimensione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36737-0B07-4005-B841-2CFF9582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A1AF2-974F-467D-812C-9630C40B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HiveQL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CD9E5-02A6-4854-80EA-54BF2BE7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B7592-F983-4898-AC8A-07EA3598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526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Pig Latin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00BDA-5CB8-483A-81EE-BC6DC041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E54F9-BEB1-475B-9A92-54584259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Stile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A5B8E-54DC-4787-8DFF-F90E96CB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145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C82B2-5092-4BF6-96A6-7455D7C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2885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dichiarativo,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B6CE7-F84F-46E2-9579-F3129502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B944A-1B75-4AD1-B14D-451360BE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procedurale, data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3065D-331B-4DA9-A4CF-5A21E6B8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1B31E-25C4-488F-A3BC-DFD7AA0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Focus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AEB00-F66D-4396-84D3-3EF4730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4E370-C98C-4D18-B21B-FAFAF255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risultato richiesto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A570C-69DD-412D-AF53-437F408E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5A330-40C8-414F-8D56-3D756298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sequenza di trasformazioni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D28D1-7C8D-40CE-B5F4-CEC610A3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7B117-1CF9-47FE-9421-B5B7CAF3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Intermedio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F3316-30A5-4AE1-9858-D7CCA7C8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684B98-0889-4CD8-9444-D403774C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5285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spesso implicito nel piano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4C24C-FB48-44ED-BD5B-99EE7B3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E3D5E-0C22-4A23-906B-6E335B1F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alias espliciti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956AA-979E-4DC4-AD02-6DE2C63B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4355C-350D-44E1-8417-DEE9EC46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Utente tipico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B5C90-F636-4DBB-8C03-F010E297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42198-059C-40D3-B862-7FE1B8E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analista / data engineer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D749D-644A-4D8D-80DC-AF735B10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B9014-5FEF-4845-8864-79ED52B4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data engineer / ETL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CA80A-5C0E-4C77-9DD3-7A070CC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79083C-5526-4E7E-98B9-1131C692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Ponte moderno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B09BEA-B348-495E-81DD-B4FBF432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FAF67-8397-4E7B-8254-335A4162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7685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Spark 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D5FCE-5BAB-4BD4-BB7B-592D94CC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625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38200D-4376-4E8D-8DF3-8395124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DataFrame transformations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338454-11FE-414C-85D9-7D585D1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7212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Non scegliere per simpatia: scegli per chiarezza del problema.</a:t>
            </a:r>
          </a:p>
        </p:txBody>
      </p:sp>
    </p:spTree>
    <p:extLst>
      <p:ext uri="{BB962C8B-B14F-4D97-AF65-F5344CB8AC3E}">
        <p14:creationId xmlns:p14="http://schemas.microsoft.com/office/powerpoint/2010/main" val="70851938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723B2-D2BF-44BE-833B-E058B956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LAB • TOPOLOGIA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EB8AE-D0E1-4872-9221-D2E5A49B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laboratorio separa raw, quality gate e curated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62753-9588-4F59-9728-D1D505B5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47C53-EAD2-4236-83BB-0C7E6D85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7B297-9516-48A5-BA9E-FEFF2598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TSV RAW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F0B2A-94E9-4BF9-9807-03B49551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50.006 righe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C46EF-1288-4320-A46C-B3CE8627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19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1CE7B-E040-43B8-9BE3-B6D31B21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D952C-8F28-4AD0-9672-B5055469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76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external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1927F-5EC3-491B-9D69-7F6E0204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25138-9448-4769-9FCC-21D37E60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812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RAW_VIEWS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05FA4-F047-4621-8555-D3F5B0AE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4315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tutto STRING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BAC7D-124A-40C4-B1AB-55E0BD96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19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764AD-7874-4258-A98E-0FD4D5A9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47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87D9F-D356-413B-AB1E-D6B25DE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76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64BC3-D503-4C5B-8242-E2614ABA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8587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680A0-6E0C-403D-AA87-D4AFAFA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573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 INVALIDI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82642-279F-456A-B669-097CF4BA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1927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evidenza raw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B09E7-7CB9-4FC2-B85D-F7B90E28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2095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98C59-A07C-41DF-BCB2-684664F4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765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50.000 VALID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CA9B9-91A1-40F2-BD80-C1D12BE1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3852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typed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306AA-30FD-4D60-B786-26DCD761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147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EA7D2-FADA-4B3B-A067-3EEB05EB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43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951B7-27A5-48DF-968D-F7F977B3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write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E814C-89FA-4861-AAF8-A8AC45B9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848FF-662A-4BE6-8CBA-0C15B45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765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PARQUET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BF498-FE54-48AD-A34D-09BC8B24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38525"/>
            <a:ext cx="131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partitions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96FB0-4C3F-48B4-B3BC-4E981D6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530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D4DE"/>
                </a:solidFill>
              </a:defRPr>
            </a:pPr>
            <a:r>
              <a:rPr sz="1650" b="1">
                <a:solidFill>
                  <a:srgbClr val="C8D4DE"/>
                </a:solidFill>
              </a:rPr>
              <a:t>Hive 4.2.1 standalone • Beeline • warehouse persistente</a:t>
            </a:r>
          </a:p>
        </p:txBody>
      </p:sp>
    </p:spTree>
    <p:extLst>
      <p:ext uri="{BB962C8B-B14F-4D97-AF65-F5344CB8AC3E}">
        <p14:creationId xmlns:p14="http://schemas.microsoft.com/office/powerpoint/2010/main" val="125665503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57F33-4B64-40BF-B801-9649D4B9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DATAFLIX CURATION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B5B44-146F-44AE-9997-6F437F51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challenge procede per prove progressive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4D23-1596-49CB-9826-6143E616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7F453-94C7-40E5-8AFF-0311288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ECB8B-29FE-470D-B0BF-6265C7E8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381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PREFLIGHT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EFABC-5D2E-45B4-9262-1B9D0300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HiveServer2 risponde a SELECT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0A6C4-9E6D-4908-98DD-1487D262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87624-A12E-481B-AF65-84FE9E6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A376A-3550-49C7-8BCB-9FE100AA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crea external table e conta 50.006 righe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4B3A8-3B04-45D8-981B-5DF67C70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DE420-E3B8-4CFC-A354-3C69C09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4D698-306F-4163-8A10-F4AD741D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misura quattro categorie di errore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84551-3DFC-47A5-8BB5-B46A655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C8541-490B-48A8-B5A0-83DAAB0C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81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CURATED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DC203-A446-4438-A5D2-18D8AEF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scrive 50.000 righe in Parquet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CA32D-B4C6-46DD-86B4-74F053D0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4132A-4E69-40A9-8CE2-F7A6FBC3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4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PRUNING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A6D06-340C-42D9-BCD3-0A5D1C0D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confronta due piani 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11580-E5F9-4D63-952F-210DD37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51330-67A6-421D-9437-2FCC3CEE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14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TRANSLATE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1D156-8350-427F-A11C-D8013AF8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rileggi la metrica in Pig Latin</a:t>
            </a:r>
          </a:p>
        </p:txBody>
      </p:sp>
    </p:spTree>
    <p:extLst>
      <p:ext uri="{BB962C8B-B14F-4D97-AF65-F5344CB8AC3E}">
        <p14:creationId xmlns:p14="http://schemas.microsoft.com/office/powerpoint/2010/main" val="140221245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27536-CA29-4AF3-93BF-D21EC54A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EVIDENCE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EBF12-34CD-47E5-BA26-AD253372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pipeline riuscita supera dieci evidenze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554A4-7284-4DFE-AB61-82773919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FB77D-3043-48F4-BFC4-4AACB434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1. HiveServer2 raggiungibile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37746-9B19-4055-BEA4-638FCD35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2. raw_views è EXTERNAL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2BFD3-E9E2-45BC-8E39-4FC615B5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575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3. 50.006 righe fisiche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5BB9-61FA-461A-8879-89947CD1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04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4. 6 record sporchi classificati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CFF39-A5C7-418A-9B8B-38D2D9EE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434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5. curated_views ha 50.000 righe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803E0-CCEA-41D9-8842-5C158188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6. storage PARQUET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0AE44-21B6-4C83-A0F5-56CCFCE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145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7. partizioni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90258-B54B-43A9-B828-50C4AF89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575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8. pruning visibile in 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8A3DE-585F-4BC5-A01E-0D4E4BB3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004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9. top film coerenti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779C6-0CF0-4546-81E2-184DA795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434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10. Hive vs Pig spiegato</a:t>
            </a:r>
          </a:p>
        </p:txBody>
      </p:sp>
    </p:spTree>
    <p:extLst>
      <p:ext uri="{BB962C8B-B14F-4D97-AF65-F5344CB8AC3E}">
        <p14:creationId xmlns:p14="http://schemas.microsoft.com/office/powerpoint/2010/main" val="110878251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6D3AC7-B39E-4536-A2D1-9B0F05E9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MISCONCEPTIONS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AB1D4-50B0-48B3-9123-D7314E72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Quattro confusioni da correggere prima di chiudere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EFBDB-EDB0-4BEA-B981-D4C780A1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53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16E39-3004-43C4-818E-3B11C591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D07E4-241E-4B97-9721-BB6F526D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049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Confusione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AF90-7394-429D-B075-E41DF7B7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E577D-B7EA-4FB7-A4B7-01D6ED5C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0497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Correzione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CF61C-5089-48F0-80F2-42E0F258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669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79D06-0B8E-48E8-81F4-F6B9D0C8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“Parquet è un database”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3BD08-3187-472A-B8FF-096380AA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66925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64262-96DD-4E63-BDCA-8D6EE46D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181225"/>
            <a:ext cx="563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è un formato di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ACC65-7B0C-4405-80BE-69CBA21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289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2EC03-0BDF-45E3-8CEE-6FA7F5BF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43225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“Hive contiene i dati”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A2E8C-1709-4CB9-84AE-83CB0DD2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28925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DC831-E1D6-4541-8F8C-99B3DEE2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43225"/>
            <a:ext cx="563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catalogo e servizio puntano allo 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0B846-B7A9-485B-9A7E-77C0BA48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909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BB9FB-3461-4EAF-BBA3-AA02144A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705225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“Partizione = indice”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DEFC9-66D5-459B-9F2E-ECAD066D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90925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CA40A-FC3F-42CC-B79C-E2CA79E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705225"/>
            <a:ext cx="563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è organizzazione fisica per directory/valore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0FDDB-5F31-4005-A1C5-E744F77D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529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16BBB-E9F7-45DD-AC65-6DF4693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67225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“SQL elimina MapReduce”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70C54-BAF7-47B6-9088-81AC921E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52925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91633-594C-40A6-847D-19409FD3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467225"/>
            <a:ext cx="563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SQL delega il piano a un engine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48CB2-B7DB-4949-9E7F-F2FBB9E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14925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16DB2-BBF0-4E2F-B0E1-5794D66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229225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“NULL = campo mancante”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DCE8BE-72BF-4C2F-AFBF-FD42C34A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14925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C74FD-A377-47F5-B17D-16077B8D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229225"/>
            <a:ext cx="563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può derivare anche da parsing o cast</a:t>
            </a:r>
          </a:p>
        </p:txBody>
      </p:sp>
    </p:spTree>
    <p:extLst>
      <p:ext uri="{BB962C8B-B14F-4D97-AF65-F5344CB8AC3E}">
        <p14:creationId xmlns:p14="http://schemas.microsoft.com/office/powerpoint/2010/main" val="58481571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16724-8997-426F-991B-BBF154DE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02496-3E01-42A7-9F9B-29DEEF93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percorso completo parte dal significato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FC28A-BDC7-41A9-A290-676C59D5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8096B-4A7C-42E0-9C9F-0EB1251F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36A18-835E-4BF0-ADD1-AD670248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BF346-80F5-41BF-8B7C-C673D53E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241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nomi + tipi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EBFEC-982F-4BFA-A538-461D408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19C98-392C-4ACA-892F-EE2F66BE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3765A-B675-45F9-A6D1-00D3DB4E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241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cast + domini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B7BEF-D2C3-48F9-BD28-7AA58A18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7DCCC-0346-4B06-8167-A38E774E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43F83-AE68-400F-91E2-2C2C47D4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7241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Parquet / ORC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04FFF-171A-46D4-84B1-C46F9523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8B0FA-130D-4172-B425-7191EB6D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D0027-4C81-4CFB-A076-6C6B50EF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41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Hive Metastore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BB0CE-7A57-4763-827F-6F38789D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90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1F5DF-3DAC-4C76-9FB2-2F9FD114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622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2D5F2-B968-41D0-92F1-354C6375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7241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HiveQL / Pig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65842-753D-412C-BA9A-9F0172CC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Correttezza prima. Organizzazione dopo. Ottimizzazione verificata con evidenze.</a:t>
            </a:r>
          </a:p>
        </p:txBody>
      </p:sp>
    </p:spTree>
    <p:extLst>
      <p:ext uri="{BB962C8B-B14F-4D97-AF65-F5344CB8AC3E}">
        <p14:creationId xmlns:p14="http://schemas.microsoft.com/office/powerpoint/2010/main" val="167723315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959F3-1FA2-47A6-9B18-FD2D1F94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CHIUSURA • HIVE/PIG → SPARK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D47DD-A287-4BBC-81E1-FB42EAE8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Hive e Pig ci hanno tolto il boilerplate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2B035-97FE-412B-8C62-7F8ABCD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22813-4BDA-4124-8350-7644FB1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93283-CB66-4FD2-BFEA-B9C39E0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La prossima domanda è: possiamo mantenere l’espressività dichiarativa e ottenere un motore più rapido, interattivo e adatto a Python?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1DB7A-D5E1-42E4-B439-2BCEC23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610C8-1F06-4321-8AD2-5AC3DFC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911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APACHE SPARK E PYSPARK</a:t>
            </a:r>
          </a:p>
        </p:txBody>
      </p:sp>
    </p:spTree>
    <p:extLst>
      <p:ext uri="{BB962C8B-B14F-4D97-AF65-F5344CB8AC3E}">
        <p14:creationId xmlns:p14="http://schemas.microsoft.com/office/powerpoint/2010/main" val="762370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2026-09-04T05:17:40.0710000Z</dcterms:created>
  <dcterms:modified xsi:type="dcterms:W3CDTF">2026-09-04T05:17:40.0710000Z</dcterms:modified>
</coreProperties>
</file>