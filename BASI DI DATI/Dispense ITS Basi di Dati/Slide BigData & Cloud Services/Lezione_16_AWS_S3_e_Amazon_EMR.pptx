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4" roundtripDataSignature="AMtx7mj/qLPlI51xHGypxA2m9OhhLFQa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74" Type="http://customschemas.google.com/relationships/presentationmetadata" Target="meta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Apri dichiarando che è l’ultima lezione. Non presentare AWS come un catalogo: seguiremo identità, storage, calcolo, osservabilità e costo lungo una sola pipeline.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What is Amazon EMR?: https://docs.aws.amazon.com/emr/latest/ManagementGuide/emr-what-is-emr.html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Raccogli tre categorie: tecnologia, sicurezza, costo. La risposta sarà una architettura verificabile e poi completamente ripulita.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Fai percepire la convergenza: il cloud non cancella le lezioni precedenti, le rende componenti di una piattaforma operata.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riga groupBy resta familiare. Le nuove responsabilità sono accesso, collocazione dei dati, configurazione, osservabilità e ciclo di vita.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What is Amazon EMR?: https://docs.aws.amazon.com/emr/latest/ManagementGuide/emr-what-is-emr.html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 la frase per superare la definizione riduttiva. L’API e la misurazione rendono possibile elasticità, automazione e guardrail.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Non serve una classificazione perfetta di ogni prodotto. Serve capire che gestito non significa senza responsabilità.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descrive una Region come una località con più Availability Zone, costituite da data center separati. Non dire che una AZ è una singola stanza o sempre un solo data center.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— Global infrastructure: https://docs.aws.amazon.com/whitepapers/latest/aws-overview/global-infrastructure.html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Nel laboratorio il default è eu-west-1, ma l’ambiente didattico può imporre un’altra regione. Tutte le risorse devono restare coerenti nella stessa regione.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gestisce l’infrastruttura sottostante; il cliente mantiene responsabilità che variano col servizio. Usa S3 public access come esempio concreto.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— Shared responsibility model: https://docs.aws.amazon.com/whitepapers/latest/aws-risk-and-compliance/shared-responsibility-model.html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Un account non è soltanto una login. È un confine di ownership, autorizzazione, quote e costi; le organizzazioni mature usano più account.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85" name="Google Shape;18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raccomanda credenziali temporanee, MFA e protezione del root. Nel laboratorio nessuna access key viene scritta nei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IAM — Security best practices: https://docs.aws.amazon.com/IAM/latest/UserGuide/best-practices.html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09" name="Google Shape;20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Leggi una policy come una frase. Effect completa la decisione Allow/Deny, ma queste quattro domande costruiscono il significato operativo.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25" name="Google Shape;22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Mostra che Resource limita l’autorizzazione al bucket del lab. La policy del runtime role non deve contenere S3FullAccess.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IAM — Security best practices: https://docs.aws.amazon.com/IAM/latest/UserGuide/best-practices.html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Job runtime roles: https://docs.aws.amazon.com/emr/latest/EMR-Serverless-UserGuide/security-iam-runtime-role.html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45" name="Google Shape;24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raccomanda ruoli e credenziali temporanee per i workload. Il trust dice chi può assumere; la permissions policy dice che cosa può fare.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IAM — Security best practices: https://docs.aws.amazon.com/IAM/latest/UserGuide/best-practices.html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Job runtime roles: https://docs.aws.amazon.com/emr/latest/EMR-Serverless-UserGuide/security-iam-runtime-role.html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56" name="Google Shape;25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policy del lab consente List sul solo bucket e Get/Put/Delete sui soli oggetti di quel bucket. Il ruolo dell’utente ha anche bisogno di PassRole controllato.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IAM — Security best practices: https://docs.aws.amazon.com/IAM/latest/UserGuide/best-practices.html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Job runtime roles: https://docs.aws.amazon.com/emr/latest/EMR-Serverless-UserGuide/security-iam-runtime-role.html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80" name="Google Shape;28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Introduci bucket, key, object e URI. Le slash fanno apparire cartelle nella console, ma fanno parte della key.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91" name="Google Shape;29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Questa distinzione aiuta con list, lifecycle e partition layout. La console simula cartelle per comodità.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15" name="Google Shape;31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Non presentare S3 come disco montato equivalente. Connettori e formati rendono possibile l’analytics senza trasformare l’object store in POSIX.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29" name="Google Shape;32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indica HDFS come storage effimero recuperato alla terminazione del cluster; S3 è spesso usato per input e output persistenti.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Architecture and service layers: https://docs.aws.amazon.com/emr/latest/ManagementGuide/emr-overview-arch.html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61" name="Google Shape;361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HDFS resta utile per intermediate results e workload con I/O locale, ma non è il repository persistente del data lake quando il cluster è transiente.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Architecture and service layers: https://docs.aws.amazon.com/emr/latest/ManagementGuide/emr-overview-arch.html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99" name="Google Shape;39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Questo è il cuore della data platform cloud moderna: storage e compute possono evolvere e scalare separatamente.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10" name="Google Shape;41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raccomanda tutti e quattro i controlli. I nuovi bucket non permettono accesso pubblico di default, ma policy o ACL potrebbero cambiarlo; il blocco aggiunge guardrail.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S3 — Block Public Access: https://docs.aws.amazon.com/AmazonS3/latest/userguide/access-control-block-public-access.html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34" name="Google Shape;43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S3 applica cifratura server-side di base ai nuovi upload. Non confondere encryption con autorizzazione: un oggetto cifrato può essere letto da chi possiede i permessi.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S3 — Default encryption FAQ: https://docs.aws.amazon.com/AmazonS3/latest/userguide/default-encryption-faq.html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58" name="Google Shape;458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Nel lab non abilitiamo versioning per evitare versioni nascoste durante cleanup. Usiamo una expiration a sette giorni come rete di sicurezza, non come sostituto della pulizia.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75" name="Google Shape;47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Ricollega allo schema-on-read e al quality gate. I prefix S3 rappresentano zone operative, ma governance e catalogo danno loro significato.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95" name="Google Shape;495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Ricollega Hive e Spark. La directory partition è una scelta fisica; non deve avere cardinalità incontrollata.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19" name="Google Shape;519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definisce EMR come piattaforma gestita per framework come Hadoop e Spark e per analytics e business intelligence.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What is Amazon EMR?: https://docs.aws.amazon.com/emr/latest/ManagementGuide/emr-what-is-emr.html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30" name="Google Shape;530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 questa mappa per evitare un elenco di prodotti. AWS documenta esplicitamente storage, resource management, framework e applications.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Architecture and service layers: https://docs.aws.amazon.com/emr/latest/ManagementGuide/emr-overview-arch.html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42" name="Google Shape;542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Non dichiarare un vincitore. La scelta dipende da HDFS, controllo infrastrutturale, Kubernetes esistente, isolamento, operatività e profilo dei job.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63" name="Google Shape;563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EMR Serverless non supporta HDFS; questo singolo requisito porta verso EC2. Il laboratorio sceglie Serverless perché il dato persistente è in S3.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Other considerations: https://docs.aws.amazon.com/emr/latest/EMR-Serverless-UserGuide/considerations.html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83" name="Google Shape;583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" name="Google Shape;620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primary gestisce; i core memorizzano HDFS ed eseguono; i task aggiungono compute senza DataNode. Questa è la topologia Hadoop nel cloud.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Primary, core and task nodes: https://docs.aws.amazon.com/emr/latest/ManagementGuide/emr-master-core-task-nodes.html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21" name="Google Shape;621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supporta anche configurazioni multi-primary per alta disponibilità, ma la lezione usa il ruolo logico, non il dimensionamento di produzione.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Primary, core and task nodes: https://docs.aws.amazon.com/emr/latest/ManagementGuide/emr-master-core-task-nodes.html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44" name="Google Shape;644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Questa doppia responsabilità spiega perché Spot sui core richiede cautela e perché separare S3 dal compute cambia il rischio.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Primary, core and task nodes: https://docs.aws.amazon.com/emr/latest/ManagementGuide/emr-master-core-task-nodes.html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68" name="Google Shape;668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documenta i task nodes come compute-only. La possibilità di usare Spot non elimina la necessità di proteggere application master e strategia di retry.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Primary, core and task nodes: https://docs.aws.amazon.com/emr/latest/ManagementGuide/emr-master-core-task-nodes.html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84" name="Google Shape;684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1" name="Google Shape;701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Ricollega alla Lezione 11. Su cluster EMR, YARN è il resource manager predefinito per molti framework.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Architecture and service layers: https://docs.aws.amazon.com/emr/latest/ManagementGuide/emr-overview-arch.html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02" name="Google Shape;702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4" name="Google Shape;724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descrive EMRFS come estensione per accedere direttamente a S3. Nelle release recenti S3A assume un ruolo centrale.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Architecture and service layers: https://docs.aws.amazon.com/emr/latest/ManagementGuide/emr-overview-arch.html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25" name="Google Shape;725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2" name="Google Shape;762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Questo dettaglio è temporale: va verificato prima di una nuova edizione del corso. Spiega il principio più stabile: Spark accede a S3 tramite un connector.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Architecture and service layers: https://docs.aws.amazon.com/emr/latest/ManagementGuide/emr-overview-arch.html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63" name="Google Shape;763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3" name="Google Shape;773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dato in S3 abilita il cluster transiente. HDFS contiene solo ciò che può essere perso o copiato prima della terminazione.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74" name="Google Shape;774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9" name="Google Shape;789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Non trasformare questa tabella in una policy universale. AWS avverte che rimuovere core nodes rischia data loss; i task non conservano HDFS.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Primary, core and task nodes: https://docs.aws.amazon.com/emr/latest/ManagementGuide/emr-master-core-task-nodes.html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790" name="Google Shape;790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7" name="Google Shape;827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Lezione 15 resta valida. EMR cambia provisioning, integrazioni e operations, non la semantica di DataFrame e DAG.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Architecture and service layers: https://docs.aws.amazon.com/emr/latest/ManagementGuide/emr-overview-arch.html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828" name="Google Shape;828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programma del corso viene chiuso esplicitamente: AWS EMR ospita i framework studiati. La profondità operativa resta maggiore su Spark.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— Architecture and service layers: https://docs.aws.amazon.com/emr/latest/ManagementGuide/emr-overview-arch.html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851" name="Google Shape;851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4" name="Google Shape;874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Evita configurazione manuale dopo l’avvio. Infrastructure as code e parametri versionati riducono drift, ma vanno testati.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875" name="Google Shape;875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2" name="Google Shape;912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 il confine operativo. Il laboratorio sceglie Serverless per un job intermittente e una classe che non deve amministrare istanze.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13" name="Google Shape;913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5" name="Google Shape;925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Questa distinzione evita di dire Hadoop su AWS uguale HDFS ovunque. HDFS appartiene alla modalità cluster EC2; Serverless usa S3 per input/output.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Other considerations: https://docs.aws.amazon.com/emr/latest/EMR-Serverless-UserGuide/considerations.html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26" name="Google Shape;926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6" name="Google Shape;936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L’application non è il job. Può ricevere più job run; i worker nascono in base alla domanda e alle configurazioni.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37" name="Google Shape;937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6" name="Google Shape;956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lab imposta 8 vCPU, 32 GB e 40 GB, con stop dopo cinque minuti. I numeri sono guardrail didattici, non sizing di produzione.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Getting started from AWS CLI: https://docs.aws.amazon.com/emr/latest/EMR-Serverless-UserGuide/gs-cli.html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Other considerations: https://docs.aws.amazon.com/emr/latest/EMR-Serverless-UserGuide/considerations.html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57" name="Google Shape;957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0" name="Google Shape;980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lab blocca emr-7.13.0 disponibile al momento della preparazione. La release deve essere riesaminata in future erogazioni.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81" name="Google Shape;981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3" name="Google Shape;993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richiede executionRoleArn. La policy deve contenere le autorizzazioni alle sorgenti, allo script, alle destinazioni e ai log scelti.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Job runtime roles: https://docs.aws.amazon.com/emr/latest/EMR-Serverless-UserGuide/security-iam-runtime-role.html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Getting started from AWS CLI: https://docs.aws.amazon.com/emr/latest/EMR-Serverless-UserGuide/gs-cli.html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994" name="Google Shape;994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4" name="Google Shape;1004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user policy deve limitare PassRole allo specifico ARN e al servizio emr-serverless.amazonaws.com.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Job runtime roles: https://docs.aws.amazon.com/emr/latest/EMR-Serverless-UserGuide/security-iam-runtime-role.html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05" name="Google Shape;1005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8" name="Google Shape;1028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lab usa solo S3 nella stessa regione e non richiede VPC. AWS indica la VPC per servizi privati o accesso esterno secondo l’architettura.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Other considerations: https://docs.aws.amazon.com/emr/latest/EMR-Serverless-UserGuide/considerations.html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29" name="Google Shape;1029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4" name="Google Shape;1044;p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Nel lab manteniamo managed storage e aggiungiamo S3 logging. AWS suggerisce di lasciare managed storage per usare le UI integrate.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Storing logs: https://docs.aws.amazon.com/emr/latest/EMR-Serverless-UserGuide/logging.html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45" name="Google Shape;1045;p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6" name="Google Shape;1076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Ricollega alla Lezione 15. Con managed logging, la console può rendere disponibile la UI; la retention dei log gestiti è limitata.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Storing logs: https://docs.aws.amazon.com/emr/latest/EMR-Serverless-UserGuide/logging.html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77" name="Google Shape;1077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1" name="Google Shape;1101;p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espone billedResourceUtilization nel getJobRun. Include un minimo di un minuto per worker e storage aggiuntivo oltre la quota indicata dalla documentazione.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Other considerations: https://docs.aws.amazon.com/emr/latest/EMR-Serverless-UserGuide/considerations.html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102" name="Google Shape;1102;p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2" name="Google Shape;1112;p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Evita un prezzo fisso nelle slide: varia per regione e tempo. Insegna unità di consumo, guardrail e misurazione effettiva.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113" name="Google Shape;1113;p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3" name="Google Shape;1133;p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 tag del lab identificano bucket, application, role e job. Un budget è un allarme, non un interruttore universale; il cleanup resta necessario.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Tagging resources: https://docs.aws.amazon.com/emr/latest/EMR-Serverless-UserGuide/tagging.html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Billing — Understanding unexpected charges: https://docs.aws.amazon.com/awsaccountbilling/latest/aboutv2/checklistforunwantedcharges.html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134" name="Google Shape;1134;p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7" name="Google Shape;1157;p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Imponi un ordine: stato, stateDetails, driver, executor, dati. Cambiare configurazioni casualmente cancella l’evidenza.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158" name="Google Shape;1158;p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1" name="Google Shape;1201;p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laboratorio non usa VPC, Glue o CloudWatch Logs per contenere superficie e permessi. La UI resta disponibile tramite managed logging.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Getting started from AWS CLI: https://docs.aws.amazon.com/emr/latest/EMR-Serverless-UserGuide/gs-cli.html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Storing logs: https://docs.aws.amazon.com/emr/latest/EMR-Serverless-UserGuide/logging.html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02" name="Google Shape;1202;p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5" name="Google Shape;1225;p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Leggi i guardrail prima dei comandi. Lo script cleanup rifiuta nomi che non rispettano il prefisso del lab.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26" name="Google Shape;1226;p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9" name="Google Shape;1249;p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Non eseguire run-all. Ogni gate ha una domanda e un’evidenza. Se un permesso manca, fermarsi e usare il percorso docente, non aggirare la policy.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50" name="Google Shape;1250;p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5" name="Google Shape;1275;p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Ricollega a Lezione 15: schema, lazy chain, action, cache, shuffle, write. La novità sono URI S3, runtime role e execution environment.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76" name="Google Shape;1276;p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5" name="Google Shape;1285;p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Il timestamp evita collisioni fra run. Il gate cerca file SUCCESS e un unico part JSON nelle metriche.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86" name="Google Shape;1286;p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5" name="Google Shape;1295;p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Un job SUCCESS senza conteggi può essere semanticamente sbagliato. Un output corretto senza cleanup è operativamente incompleto.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96" name="Google Shape;1296;p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5" name="Google Shape;1345;p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AWS raccomanda di eliminare le risorse del tutorial non più necessarie. Il cleanup non è una nota finale: vale punti nella valutazione.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Amazon EMR Serverless — Getting started from AWS CLI: https://docs.aws.amazon.com/emr/latest/EMR-Serverless-UserGuide/gs-cli.html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AWS Billing — Understanding unexpected charges: https://docs.aws.amazon.com/awsaccountbilling/latest/aboutv2/checklistforunwantedcharges.html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346" name="Google Shape;1346;p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6" name="Google Shape;1356;p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Chiudi il filo DATAFLIX: ogni database conserva il proprio dominio; gli eventi confluiscono nel lake; EMR elabora; governance attraversa tutto.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357" name="Google Shape;1357;p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0" name="Google Shape;1380;p6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Questa è la vera sintesi delle 80 ore. Ogni tecnologia risponde a una domanda; nessuna viene scelta per moda.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381" name="Google Shape;1381;p6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4" name="Google Shape;1424;p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Ogni gruppo presenta DATAFLIX in dieci minuti. Gli altri diventano review board e possono contestare una scelta soltanto proponendo un vincolo alternativo.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25" name="Google Shape;1425;p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7" name="Google Shape;1447;p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Usa il formato vero/falso con giustificazione. Ogni correzione deve richiamare una prova del laboratorio.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48" name="Google Shape;1448;p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9" name="Google Shape;1479;p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Fai ricostruire la pipeline completa: identity, upload, application, job, output, logs, report, cleanup.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80" name="Google Shape;1480;p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1" name="Google Shape;1511;p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Exit ticket finale: una scelta, un trade-off e una prova. Ringrazia la classe solo dopo aver raccolto l’ultima risposta.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Programma ufficiale “Basi di dati relazionali e non relazionali”, file fornito dal docente.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512" name="Google Shape;1512;p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4953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B8D9"/>
                </a:solidFill>
              </a:rPr>
              <a:t>BIG DATA &amp; CLOUD SERVICES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" y="1257300"/>
            <a:ext cx="75247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FFFFF"/>
                </a:solidFill>
              </a:rPr>
              <a:t>AWS, S3 e Amazon EMR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23900" y="2952750"/>
            <a:ext cx="781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C8D4DE"/>
                </a:solidFill>
              </a:rPr>
              <a:t>DATAFLIX porta la pipeline nel cloud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858250" y="1123950"/>
            <a:ext cx="2000250" cy="2381250"/>
          </a:xfrm>
          <a:prstGeom prst="roundRect">
            <a:avLst>
              <a:gd fmla="val 3810" name="adj"/>
            </a:avLst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991600" y="1504950"/>
            <a:ext cx="1714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B1F33"/>
                </a:solidFill>
              </a:rPr>
              <a:t>16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23900" y="60007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9FB0BF"/>
                </a:solidFill>
              </a:rPr>
              <a:t>Lezione 16 • chiusura del percorso da 80 ore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DATAFLIX • LEZIONE 16</a:t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La domanda conclusiva</a:t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02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B7E34B"/>
                </a:solidFill>
              </a:rPr>
              <a:t>“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Come portiamo la pipeline DATAFLIX nel cloud senza perdere sicurezza, controllo operativo e responsabilità sui costi?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IL PERCORSO</a:t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Sedici lezioni convergono in una piattaforma</a:t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03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81050" y="15240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666875" y="15240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MODELLA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762500" y="15240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SQL, NoSQL, CAP e polyglot persistence</a:t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781050" y="233362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666875" y="23336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DISTRIBUISCI</a:t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762500" y="233362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Hadoop, HDFS e MapReduce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781050" y="31432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03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1666875" y="31432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DICHIARA</a:t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762500" y="31432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Hive, formati e schema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81050" y="39528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04</a:t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666875" y="39528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ELABORA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762500" y="39528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Spark, DataFrame e DAG</a:t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81050" y="47625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A36A"/>
                </a:solidFill>
              </a:rPr>
              <a:t>05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666875" y="4762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OPERA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762500" y="47625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AWS, IAM, S3, EMR, log e costo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LOCAL → CLOUD</a:t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Il codice cambia poco; cambia il perimetro operativo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04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238500" y="2552700"/>
            <a:ext cx="171450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800600" y="238125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3238500" y="22098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upload</a:t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143750" y="2552700"/>
            <a:ext cx="171450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8705850" y="238125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143750" y="22098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submit</a:t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62000" y="2095500"/>
            <a:ext cx="247650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914400" y="2266950"/>
            <a:ext cx="2171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LAPTOP</a:t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914400" y="2628900"/>
            <a:ext cx="2171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dataset + PySpark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953000" y="2095500"/>
            <a:ext cx="219075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5105400" y="2266950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AMAZON S3</a:t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105400" y="2628900"/>
            <a:ext cx="1885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input + code</a:t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8858250" y="2095500"/>
            <a:ext cx="247650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9010650" y="2266950"/>
            <a:ext cx="2171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AMAZON EMR</a:t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9010650" y="2628900"/>
            <a:ext cx="2171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Spark job</a:t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571750" y="4762500"/>
            <a:ext cx="704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</a:rPr>
              <a:t>Identità • rete • log • capacità • costi • cleanup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CLOUD • MODELLO OPERATIVO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Cloud non significa “computer di qualcun altro”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05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00B8D9"/>
                </a:solidFill>
              </a:rPr>
              <a:t>“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È un modello operativo nel quale risorse, responsabilità, automazione e costo vengono esposti tramite servizi e API.</a:t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SERVICE MODELS</a:t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IaaS, PaaS e SaaS spostano responsabilità</a:t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06</a:t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57250" y="1666875"/>
            <a:ext cx="2857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952500" y="1800225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Modello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714750" y="1666875"/>
            <a:ext cx="4476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810000" y="1800225"/>
            <a:ext cx="4286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Gestisci soprattutto</a:t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8191500" y="1666875"/>
            <a:ext cx="31432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286750" y="1800225"/>
            <a:ext cx="295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Esempio mentale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857250" y="2162175"/>
            <a:ext cx="285750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990600" y="2276475"/>
            <a:ext cx="259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IaaS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714750" y="2162175"/>
            <a:ext cx="44767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848100" y="2276475"/>
            <a:ext cx="4210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OS, runtime, applicazione, dati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8191500" y="2162175"/>
            <a:ext cx="31432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8324850" y="2276475"/>
            <a:ext cx="2876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EC2</a:t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57250" y="2943225"/>
            <a:ext cx="285750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990600" y="3057525"/>
            <a:ext cx="259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PaaS / managed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714750" y="2943225"/>
            <a:ext cx="447675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848100" y="3057525"/>
            <a:ext cx="4210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configurazione, codice, dati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8191500" y="2943225"/>
            <a:ext cx="314325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324850" y="3057525"/>
            <a:ext cx="2876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Amazon EMR</a:t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57250" y="3724275"/>
            <a:ext cx="285750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990600" y="3838575"/>
            <a:ext cx="259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Serverless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714750" y="3724275"/>
            <a:ext cx="44767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3848100" y="3838575"/>
            <a:ext cx="4210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job, policy, dati, limiti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8191500" y="3724275"/>
            <a:ext cx="31432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8324850" y="3838575"/>
            <a:ext cx="2876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EMR Serverless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857250" y="4505325"/>
            <a:ext cx="285750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90600" y="4619625"/>
            <a:ext cx="259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SaaS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3714750" y="4505325"/>
            <a:ext cx="447675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3848100" y="4619625"/>
            <a:ext cx="4210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utenti, dati, configurazione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8191500" y="4505325"/>
            <a:ext cx="314325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324850" y="4619625"/>
            <a:ext cx="2876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servizio applicativo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GLOBAL INFRASTRUCTURE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Una Region contiene più Availability Zone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07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1143000" y="1809750"/>
            <a:ext cx="9906000" cy="3238500"/>
          </a:xfrm>
          <a:prstGeom prst="roundRect">
            <a:avLst>
              <a:gd fmla="val 2353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295400" y="1981200"/>
            <a:ext cx="960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REGION • EUROPE (IRELAND)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295400" y="2343150"/>
            <a:ext cx="96012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AZ A        AZ B        AZ 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strutture separate • rete a bassa latenza • servizi regionali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2000250" y="5429250"/>
            <a:ext cx="8191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FFFFF"/>
                </a:solidFill>
              </a:rPr>
              <a:t>La regione è una decisione su disponibilità, latenza, dati e catalogo servizi.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REGION DECISION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La regione modifica più di una coordinata</a:t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08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685800" y="1714500"/>
            <a:ext cx="5143500" cy="1476375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85800" y="1714500"/>
            <a:ext cx="51435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895350" y="192405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LATENZA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895350" y="2457450"/>
            <a:ext cx="472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distanza da utenti e sorgenti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210300" y="1714500"/>
            <a:ext cx="5143500" cy="1476375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6210300" y="1714500"/>
            <a:ext cx="51435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419850" y="192405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DATA</a:t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6419850" y="2457450"/>
            <a:ext cx="472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residenza e requisiti organizzativi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685800" y="3524250"/>
            <a:ext cx="5143500" cy="1476375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85800" y="3524250"/>
            <a:ext cx="51435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895350" y="373380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SERVIZI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895350" y="4267200"/>
            <a:ext cx="472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disponibilità e release possono variare</a:t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210300" y="3524250"/>
            <a:ext cx="5143500" cy="1476375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6210300" y="3524250"/>
            <a:ext cx="51435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6419850" y="373380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COSTO</a:t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419850" y="4267200"/>
            <a:ext cx="472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prezzi e trasferimenti dipendono dalla regione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SHARED RESPONSIBILITY</a:t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La sicurezza resta una responsabilità condivisa</a:t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09</a:t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10287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AWS • SECURITY OF THE CLOUD</a:t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Strutture fisiche, hardware, networking globale, hypervisor e parti gestite del servizio.</a:t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67056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CLIENTE • SECURITY IN THE CLOUD</a:t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Identità, policy, dati, configurazioni, codice, classificazione, log e scelte del servizio.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2809875" y="5619750"/>
            <a:ext cx="6572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Più il servizio è gestito, più cambia il confine; non scompare.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AWS ACCOUNT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L’account è un confine tecnico e finanziario</a:t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10</a:t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685800" y="2000250"/>
            <a:ext cx="2552700" cy="1905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685800" y="2000250"/>
            <a:ext cx="25527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8953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IDENTITÀ</a:t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895350" y="2743200"/>
            <a:ext cx="2133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principals, ruoli e policy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3467100" y="2000250"/>
            <a:ext cx="2552700" cy="1905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3467100" y="2000250"/>
            <a:ext cx="25527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36766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RISORSE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3676650" y="2743200"/>
            <a:ext cx="2133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ARN e ownership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248400" y="2000250"/>
            <a:ext cx="2552700" cy="1905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6248400" y="2000250"/>
            <a:ext cx="25527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64579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QUOTE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6457950" y="2743200"/>
            <a:ext cx="2133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limiti regionali e di servizio</a:t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9029700" y="2000250"/>
            <a:ext cx="2552700" cy="1905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9029700" y="2000250"/>
            <a:ext cx="25527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92392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BILLING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9239250" y="2743200"/>
            <a:ext cx="2133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misurazione e attribuzione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ROOT USER</a:t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L’utente root non è il normale amministratore</a:t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11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10287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ROOT</a:t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Credenziale del proprietario dell’account. Proteggere con MFA e usare soltanto per attività che la richiedono.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67056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WORKFORCE ACCESS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Federazione e ruoli con credenziali temporanee. Accesso attribuibile, limitato e revocabile.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IAM</a:t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IAM risponde a quattro domande</a:t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12</a:t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781050" y="17145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1666875" y="1714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CHI</a:t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4762500" y="17145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principal: persona, workload o servizio</a:t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781050" y="252412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1666875" y="25241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PUÒ FARE</a:t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4762500" y="252412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action: s3:GetObject, StartJobRun…</a:t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781050" y="33337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03</a:t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1666875" y="3333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SU COSA</a:t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4762500" y="33337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resource: ARN di bucket, ruolo, applicazione</a:t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781050" y="41433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04</a:t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1666875" y="41433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QUANDO</a:t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4762500" y="41433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condition: servizio, account, tag, rete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POLICY</a:t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Una policy è codice di autorizzazione</a:t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13</a:t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1714500" y="1809750"/>
            <a:ext cx="8763000" cy="2952750"/>
          </a:xfrm>
          <a:prstGeom prst="roundRect">
            <a:avLst>
              <a:gd fmla="val 2581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1943100" y="2019300"/>
            <a:ext cx="8305800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  "Effect": "Allow",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  "Action": ["s3:GetObject", "s3:PutObject"],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  "Resource": "arn:aws:s3:::dataflix-l16-.../*"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}</a:t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3857625" y="5191125"/>
            <a:ext cx="447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F5A5A"/>
                </a:solidFill>
              </a:rPr>
              <a:t>Nessun wildcard su tutti i bucket.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IAM ROLE</a:t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Un ruolo consegna credenziali temporanee al workload</a:t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14</a:t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3190875" y="2505075"/>
            <a:ext cx="152400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4562475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3190875" y="216217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assume</a:t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7477125" y="2505075"/>
            <a:ext cx="152400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8848725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7477125" y="216217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signed calls</a:t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762000" y="2047875"/>
            <a:ext cx="2428875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914400" y="2219325"/>
            <a:ext cx="2124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EMR SERVERLESS</a:t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914400" y="2581275"/>
            <a:ext cx="21240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service principal</a:t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4714875" y="2047875"/>
            <a:ext cx="276225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4867275" y="2219325"/>
            <a:ext cx="2457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RUNTIME ROLE</a:t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4867275" y="2581275"/>
            <a:ext cx="2457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temporary credentials</a:t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9001125" y="2047875"/>
            <a:ext cx="2428875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9153525" y="2219325"/>
            <a:ext cx="2124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AMAZON S3</a:t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9153525" y="2581275"/>
            <a:ext cx="21240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authorized objects</a:t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3381375" y="4810125"/>
            <a:ext cx="5429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Nessuna chiave permanente incorporata nel job.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IAM • LEAST PRIVILEGE</a:t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Least privilege è una direzione, non un’etichetta</a:t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15</a:t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B7E34B"/>
                </a:solidFill>
              </a:rPr>
              <a:t>“</a:t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Concedi soltanto azioni, risorse e condizioni necessarie; osserva l’uso; riduci ancora il perimetro.</a:t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AMAZON S3</a:t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S3 conserva oggetti dentro bucket</a:t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16</a:t>
            </a:r>
            <a:endParaRPr/>
          </a:p>
        </p:txBody>
      </p:sp>
      <p:sp>
        <p:nvSpPr>
          <p:cNvPr id="296" name="Google Shape;296;p16"/>
          <p:cNvSpPr/>
          <p:nvPr/>
        </p:nvSpPr>
        <p:spPr>
          <a:xfrm>
            <a:off x="857250" y="2000250"/>
            <a:ext cx="2381250" cy="1143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1009650" y="2171700"/>
            <a:ext cx="2076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BUCKET</a:t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1009650" y="2533650"/>
            <a:ext cx="2076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dataflix-l16-…</a:t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3238500" y="2409825"/>
            <a:ext cx="1381125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4467225" y="223837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3238500" y="2066925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contains</a:t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4619625" y="1666875"/>
            <a:ext cx="2952750" cy="85725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4772025" y="1838325"/>
            <a:ext cx="264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KEY</a:t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4772025" y="2200275"/>
            <a:ext cx="2647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input/events.csv</a:t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4619625" y="2952750"/>
            <a:ext cx="2952750" cy="85725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4772025" y="3124200"/>
            <a:ext cx="264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KEY</a:t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4772025" y="3486150"/>
            <a:ext cx="2647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code/job.py</a:t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8572500" y="2238375"/>
            <a:ext cx="2667000" cy="1143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8724900" y="2409825"/>
            <a:ext cx="236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OBJECT</a:t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8724900" y="2771775"/>
            <a:ext cx="2362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bytes + metadata</a:t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3238500" y="5095875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s3://bucket/key è un URI, non un path POSIX.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OBJECT KEY</a:t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La key è un nome completo, non una cartella reale</a:t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17</a:t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1143000" y="2000250"/>
            <a:ext cx="4572000" cy="1809750"/>
          </a:xfrm>
          <a:prstGeom prst="roundRect">
            <a:avLst>
              <a:gd fmla="val 4211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1314450" y="2152650"/>
            <a:ext cx="4229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s3://dataflix-l16-123/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  raw/2026/09/04/events.csv</a:t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6858000" y="2000250"/>
            <a:ext cx="3143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PREFIX</a:t>
            </a:r>
            <a:endParaRPr/>
          </a:p>
        </p:txBody>
      </p:sp>
      <p:sp>
        <p:nvSpPr>
          <p:cNvPr id="323" name="Google Shape;323;p17"/>
          <p:cNvSpPr/>
          <p:nvPr/>
        </p:nvSpPr>
        <p:spPr>
          <a:xfrm>
            <a:off x="6858000" y="2476500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11827"/>
                </a:solidFill>
              </a:rPr>
              <a:t>raw/2026/09/04/</a:t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6858000" y="3286125"/>
            <a:ext cx="3143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KEY COMPLETA</a:t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6858000" y="3762375"/>
            <a:ext cx="4095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11827"/>
                </a:solidFill>
              </a:rPr>
              <a:t>raw/2026/09/04/events.csv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STORAGE MODELS</a:t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Object, file e block storage rispondono a pattern diversi</a:t>
            </a:r>
            <a:endParaRPr/>
          </a:p>
        </p:txBody>
      </p:sp>
      <p:sp>
        <p:nvSpPr>
          <p:cNvPr id="333" name="Google Shape;333;p1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18</a:t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1095375" y="1809750"/>
            <a:ext cx="2952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1190625" y="1943100"/>
            <a:ext cx="2762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Modello</a:t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4048125" y="1809750"/>
            <a:ext cx="46672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4143375" y="1943100"/>
            <a:ext cx="4476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Accesso</a:t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8715375" y="1809750"/>
            <a:ext cx="30480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8810625" y="194310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Esempio</a:t>
            </a:r>
            <a:endParaRPr/>
          </a:p>
        </p:txBody>
      </p:sp>
      <p:sp>
        <p:nvSpPr>
          <p:cNvPr id="340" name="Google Shape;340;p18"/>
          <p:cNvSpPr/>
          <p:nvPr/>
        </p:nvSpPr>
        <p:spPr>
          <a:xfrm>
            <a:off x="1095375" y="2305050"/>
            <a:ext cx="295275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1228725" y="2419350"/>
            <a:ext cx="26860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OBJECT</a:t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4048125" y="2305050"/>
            <a:ext cx="466725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4181475" y="2419350"/>
            <a:ext cx="44005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key → oggetto intero/range</a:t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8715375" y="2305050"/>
            <a:ext cx="304800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8848725" y="2419350"/>
            <a:ext cx="27813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Amazon S3</a:t>
            </a:r>
            <a:endParaRPr/>
          </a:p>
        </p:txBody>
      </p:sp>
      <p:sp>
        <p:nvSpPr>
          <p:cNvPr id="346" name="Google Shape;346;p18"/>
          <p:cNvSpPr/>
          <p:nvPr/>
        </p:nvSpPr>
        <p:spPr>
          <a:xfrm>
            <a:off x="1095375" y="3181350"/>
            <a:ext cx="2952750" cy="87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1228725" y="3295650"/>
            <a:ext cx="26860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FILE</a:t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4048125" y="3181350"/>
            <a:ext cx="4667250" cy="87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4181475" y="3295650"/>
            <a:ext cx="44005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path e semantica filesystem</a:t>
            </a:r>
            <a:endParaRPr/>
          </a:p>
        </p:txBody>
      </p:sp>
      <p:sp>
        <p:nvSpPr>
          <p:cNvPr id="350" name="Google Shape;350;p18"/>
          <p:cNvSpPr/>
          <p:nvPr/>
        </p:nvSpPr>
        <p:spPr>
          <a:xfrm>
            <a:off x="8715375" y="3181350"/>
            <a:ext cx="3048000" cy="87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8848725" y="3295650"/>
            <a:ext cx="27813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EFS / HDFS</a:t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1095375" y="4057650"/>
            <a:ext cx="295275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"/>
          <p:cNvSpPr/>
          <p:nvPr/>
        </p:nvSpPr>
        <p:spPr>
          <a:xfrm>
            <a:off x="1228725" y="4171950"/>
            <a:ext cx="26860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BLOCK</a:t>
            </a:r>
            <a:endParaRPr/>
          </a:p>
        </p:txBody>
      </p:sp>
      <p:sp>
        <p:nvSpPr>
          <p:cNvPr id="354" name="Google Shape;354;p18"/>
          <p:cNvSpPr/>
          <p:nvPr/>
        </p:nvSpPr>
        <p:spPr>
          <a:xfrm>
            <a:off x="4048125" y="4057650"/>
            <a:ext cx="466725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"/>
          <p:cNvSpPr/>
          <p:nvPr/>
        </p:nvSpPr>
        <p:spPr>
          <a:xfrm>
            <a:off x="4181475" y="4171950"/>
            <a:ext cx="44005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blocchi collegati a un host</a:t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8715375" y="4057650"/>
            <a:ext cx="304800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8848725" y="4171950"/>
            <a:ext cx="27813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11827"/>
                </a:solidFill>
              </a:rPr>
              <a:t>EBS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HDFS vs S3</a:t>
            </a: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HDFS e S3 distribuiscono responsabilità diverse</a:t>
            </a: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19</a:t>
            </a:r>
            <a:endParaRPr/>
          </a:p>
        </p:txBody>
      </p:sp>
      <p:sp>
        <p:nvSpPr>
          <p:cNvPr id="366" name="Google Shape;366;p19"/>
          <p:cNvSpPr/>
          <p:nvPr/>
        </p:nvSpPr>
        <p:spPr>
          <a:xfrm>
            <a:off x="714375" y="1666875"/>
            <a:ext cx="2857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809625" y="1800225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Dimensione</a:t>
            </a:r>
            <a:endParaRPr/>
          </a:p>
        </p:txBody>
      </p:sp>
      <p:sp>
        <p:nvSpPr>
          <p:cNvPr id="368" name="Google Shape;368;p19"/>
          <p:cNvSpPr/>
          <p:nvPr/>
        </p:nvSpPr>
        <p:spPr>
          <a:xfrm>
            <a:off x="3571875" y="1666875"/>
            <a:ext cx="4095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3667125" y="180022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HDFS su cluster EMR</a:t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7667625" y="1666875"/>
            <a:ext cx="4095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7762875" y="180022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Amazon S3</a:t>
            </a:r>
            <a:endParaRPr/>
          </a:p>
        </p:txBody>
      </p:sp>
      <p:sp>
        <p:nvSpPr>
          <p:cNvPr id="372" name="Google Shape;372;p19"/>
          <p:cNvSpPr/>
          <p:nvPr/>
        </p:nvSpPr>
        <p:spPr>
          <a:xfrm>
            <a:off x="714375" y="2162175"/>
            <a:ext cx="285750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847725" y="2276475"/>
            <a:ext cx="2590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Ownership</a:t>
            </a: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3571875" y="2162175"/>
            <a:ext cx="4095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3705225" y="227647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cluster e DataNode</a:t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7667625" y="2162175"/>
            <a:ext cx="4095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7800975" y="227647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servizio separato</a:t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714375" y="2981325"/>
            <a:ext cx="285750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847725" y="3095625"/>
            <a:ext cx="2590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Durata</a:t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3571875" y="2981325"/>
            <a:ext cx="4095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3705225" y="309562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effimero col cluster</a:t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7667625" y="2981325"/>
            <a:ext cx="4095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7800975" y="309562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indipendente dal compute</a:t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714375" y="3800475"/>
            <a:ext cx="285750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847725" y="3914775"/>
            <a:ext cx="2590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Accesso</a:t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3571875" y="3800475"/>
            <a:ext cx="4095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3705225" y="391477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filesystem distribuito</a:t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7667625" y="3800475"/>
            <a:ext cx="4095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7800975" y="391477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object API / connector</a:t>
            </a: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714375" y="4619625"/>
            <a:ext cx="285750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"/>
          <p:cNvSpPr/>
          <p:nvPr/>
        </p:nvSpPr>
        <p:spPr>
          <a:xfrm>
            <a:off x="847725" y="4733925"/>
            <a:ext cx="2590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Uso tipico</a:t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3571875" y="4619625"/>
            <a:ext cx="4095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3705225" y="473392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shuffle, cache, temporanei</a:t>
            </a:r>
            <a:endParaRPr/>
          </a:p>
        </p:txBody>
      </p:sp>
      <p:sp>
        <p:nvSpPr>
          <p:cNvPr id="394" name="Google Shape;394;p19"/>
          <p:cNvSpPr/>
          <p:nvPr/>
        </p:nvSpPr>
        <p:spPr>
          <a:xfrm>
            <a:off x="7667625" y="4619625"/>
            <a:ext cx="4095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>
            <a:off x="7800975" y="473392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input, output, data lake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EMR ON EC2 • HDFS</a:t>
            </a: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Terminare il cluster significa terminare HDFS</a:t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20</a:t>
            </a:r>
            <a:endParaRPr/>
          </a:p>
        </p:txBody>
      </p:sp>
      <p:sp>
        <p:nvSpPr>
          <p:cNvPr id="404" name="Google Shape;404;p20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EF5A5A"/>
                </a:solidFill>
              </a:rPr>
              <a:t>“</a:t>
            </a:r>
            <a:endParaRPr/>
          </a:p>
        </p:txBody>
      </p:sp>
      <p:sp>
        <p:nvSpPr>
          <p:cNvPr id="405" name="Google Shape;405;p20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Su EMR on EC2, i dati importanti devono essere copiati fuori da HDFS prima della terminazione.</a:t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1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DECOUPLING</a:t>
            </a: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Separare storage e compute cambia il ciclo di vita</a:t>
            </a:r>
            <a:endParaRPr/>
          </a:p>
        </p:txBody>
      </p:sp>
      <p:sp>
        <p:nvSpPr>
          <p:cNvPr id="414" name="Google Shape;414;p2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21</a:t>
            </a:r>
            <a:endParaRPr/>
          </a:p>
        </p:txBody>
      </p:sp>
      <p:sp>
        <p:nvSpPr>
          <p:cNvPr id="415" name="Google Shape;415;p21"/>
          <p:cNvSpPr/>
          <p:nvPr/>
        </p:nvSpPr>
        <p:spPr>
          <a:xfrm>
            <a:off x="3524250" y="2505075"/>
            <a:ext cx="1524000" cy="381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1"/>
          <p:cNvSpPr/>
          <p:nvPr/>
        </p:nvSpPr>
        <p:spPr>
          <a:xfrm>
            <a:off x="4895850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00B8D9"/>
                </a:solidFill>
              </a:rPr>
              <a:t>›</a:t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3524250" y="216217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B8D9"/>
                </a:solidFill>
              </a:rPr>
              <a:t>read</a:t>
            </a:r>
            <a:endParaRPr/>
          </a:p>
        </p:txBody>
      </p:sp>
      <p:sp>
        <p:nvSpPr>
          <p:cNvPr id="418" name="Google Shape;418;p21"/>
          <p:cNvSpPr/>
          <p:nvPr/>
        </p:nvSpPr>
        <p:spPr>
          <a:xfrm>
            <a:off x="7143750" y="2505075"/>
            <a:ext cx="152400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8515350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420" name="Google Shape;420;p21"/>
          <p:cNvSpPr/>
          <p:nvPr/>
        </p:nvSpPr>
        <p:spPr>
          <a:xfrm>
            <a:off x="7143750" y="216217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write</a:t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857250" y="2047875"/>
            <a:ext cx="266700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1"/>
          <p:cNvSpPr/>
          <p:nvPr/>
        </p:nvSpPr>
        <p:spPr>
          <a:xfrm>
            <a:off x="1009650" y="2219325"/>
            <a:ext cx="236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AMAZON S3</a:t>
            </a:r>
            <a:endParaRPr/>
          </a:p>
        </p:txBody>
      </p:sp>
      <p:sp>
        <p:nvSpPr>
          <p:cNvPr id="423" name="Google Shape;423;p21"/>
          <p:cNvSpPr/>
          <p:nvPr/>
        </p:nvSpPr>
        <p:spPr>
          <a:xfrm>
            <a:off x="1009650" y="2581275"/>
            <a:ext cx="2362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persiste fra i job</a:t>
            </a:r>
            <a:endParaRPr/>
          </a:p>
        </p:txBody>
      </p:sp>
      <p:sp>
        <p:nvSpPr>
          <p:cNvPr id="424" name="Google Shape;424;p21"/>
          <p:cNvSpPr/>
          <p:nvPr/>
        </p:nvSpPr>
        <p:spPr>
          <a:xfrm>
            <a:off x="5048250" y="2047875"/>
            <a:ext cx="209550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1"/>
          <p:cNvSpPr/>
          <p:nvPr/>
        </p:nvSpPr>
        <p:spPr>
          <a:xfrm>
            <a:off x="5200650" y="221932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EMR</a:t>
            </a:r>
            <a:endParaRPr/>
          </a:p>
        </p:txBody>
      </p:sp>
      <p:sp>
        <p:nvSpPr>
          <p:cNvPr id="426" name="Google Shape;426;p21"/>
          <p:cNvSpPr/>
          <p:nvPr/>
        </p:nvSpPr>
        <p:spPr>
          <a:xfrm>
            <a:off x="5200650" y="2581275"/>
            <a:ext cx="1790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crea / scala / termina</a:t>
            </a:r>
            <a:endParaRPr/>
          </a:p>
        </p:txBody>
      </p:sp>
      <p:sp>
        <p:nvSpPr>
          <p:cNvPr id="427" name="Google Shape;427;p21"/>
          <p:cNvSpPr/>
          <p:nvPr/>
        </p:nvSpPr>
        <p:spPr>
          <a:xfrm>
            <a:off x="8667750" y="2047875"/>
            <a:ext cx="266700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"/>
          <p:cNvSpPr/>
          <p:nvPr/>
        </p:nvSpPr>
        <p:spPr>
          <a:xfrm>
            <a:off x="8820150" y="2219325"/>
            <a:ext cx="236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AMAZON S3</a:t>
            </a:r>
            <a:endParaRPr/>
          </a:p>
        </p:txBody>
      </p:sp>
      <p:sp>
        <p:nvSpPr>
          <p:cNvPr id="429" name="Google Shape;429;p21"/>
          <p:cNvSpPr/>
          <p:nvPr/>
        </p:nvSpPr>
        <p:spPr>
          <a:xfrm>
            <a:off x="8820150" y="2581275"/>
            <a:ext cx="2362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output riusabile</a:t>
            </a:r>
            <a:endParaRPr/>
          </a:p>
        </p:txBody>
      </p:sp>
      <p:sp>
        <p:nvSpPr>
          <p:cNvPr id="430" name="Google Shape;430;p21"/>
          <p:cNvSpPr/>
          <p:nvPr/>
        </p:nvSpPr>
        <p:spPr>
          <a:xfrm>
            <a:off x="3524250" y="4857750"/>
            <a:ext cx="514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</a:rPr>
              <a:t>Il dato sopravvive al motore che lo elabora.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2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S3 SECURITY</a:t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Block Public Access deve restare attivo</a:t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22</a:t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685800" y="1952625"/>
            <a:ext cx="2552700" cy="219075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685800" y="1952625"/>
            <a:ext cx="2552700" cy="85725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895350" y="216217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BLOCK PUBLIC ACLS</a:t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895350" y="2695575"/>
            <a:ext cx="2133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rifiuta nuove ACL pubbliche</a:t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3467100" y="1952625"/>
            <a:ext cx="2552700" cy="219075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3467100" y="1952625"/>
            <a:ext cx="25527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3676650" y="216217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IGNORE PUBLIC ACLS</a:t>
            </a:r>
            <a:endParaRPr/>
          </a:p>
        </p:txBody>
      </p:sp>
      <p:sp>
        <p:nvSpPr>
          <p:cNvPr id="446" name="Google Shape;446;p22"/>
          <p:cNvSpPr/>
          <p:nvPr/>
        </p:nvSpPr>
        <p:spPr>
          <a:xfrm>
            <a:off x="3676650" y="2695575"/>
            <a:ext cx="2133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non applica ACL pubbliche</a:t>
            </a:r>
            <a:endParaRPr/>
          </a:p>
        </p:txBody>
      </p:sp>
      <p:sp>
        <p:nvSpPr>
          <p:cNvPr id="447" name="Google Shape;447;p22"/>
          <p:cNvSpPr/>
          <p:nvPr/>
        </p:nvSpPr>
        <p:spPr>
          <a:xfrm>
            <a:off x="6248400" y="1952625"/>
            <a:ext cx="2552700" cy="219075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2"/>
          <p:cNvSpPr/>
          <p:nvPr/>
        </p:nvSpPr>
        <p:spPr>
          <a:xfrm>
            <a:off x="6248400" y="1952625"/>
            <a:ext cx="25527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/>
          <p:nvPr/>
        </p:nvSpPr>
        <p:spPr>
          <a:xfrm>
            <a:off x="6457950" y="216217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BLOCK PUBLIC POLICY</a:t>
            </a:r>
            <a:endParaRPr/>
          </a:p>
        </p:txBody>
      </p:sp>
      <p:sp>
        <p:nvSpPr>
          <p:cNvPr id="450" name="Google Shape;450;p22"/>
          <p:cNvSpPr/>
          <p:nvPr/>
        </p:nvSpPr>
        <p:spPr>
          <a:xfrm>
            <a:off x="6457950" y="2695575"/>
            <a:ext cx="2133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rifiuta policy pubbliche</a:t>
            </a:r>
            <a:endParaRPr/>
          </a:p>
        </p:txBody>
      </p:sp>
      <p:sp>
        <p:nvSpPr>
          <p:cNvPr id="451" name="Google Shape;451;p22"/>
          <p:cNvSpPr/>
          <p:nvPr/>
        </p:nvSpPr>
        <p:spPr>
          <a:xfrm>
            <a:off x="9029700" y="1952625"/>
            <a:ext cx="2552700" cy="219075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2"/>
          <p:cNvSpPr/>
          <p:nvPr/>
        </p:nvSpPr>
        <p:spPr>
          <a:xfrm>
            <a:off x="9029700" y="1952625"/>
            <a:ext cx="25527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2"/>
          <p:cNvSpPr/>
          <p:nvPr/>
        </p:nvSpPr>
        <p:spPr>
          <a:xfrm>
            <a:off x="9239250" y="216217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RESTRICT PUBLIC BUCKETS</a:t>
            </a: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9239250" y="2695575"/>
            <a:ext cx="2133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limita bucket con policy pubblica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3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S3 ENCRYPTION</a:t>
            </a:r>
            <a:endParaRPr/>
          </a:p>
        </p:txBody>
      </p:sp>
      <p:sp>
        <p:nvSpPr>
          <p:cNvPr id="461" name="Google Shape;461;p2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Cifratura a riposo è il punto di partenza</a:t>
            </a:r>
            <a:endParaRPr/>
          </a:p>
        </p:txBody>
      </p:sp>
      <p:sp>
        <p:nvSpPr>
          <p:cNvPr id="462" name="Google Shape;462;p2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23</a:t>
            </a:r>
            <a:endParaRPr/>
          </a:p>
        </p:txBody>
      </p:sp>
      <p:sp>
        <p:nvSpPr>
          <p:cNvPr id="463" name="Google Shape;463;p23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3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3"/>
          <p:cNvSpPr/>
          <p:nvPr/>
        </p:nvSpPr>
        <p:spPr>
          <a:xfrm>
            <a:off x="10287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SSE-S3</a:t>
            </a:r>
            <a:endParaRPr/>
          </a:p>
        </p:txBody>
      </p:sp>
      <p:sp>
        <p:nvSpPr>
          <p:cNvPr id="468" name="Google Shape;468;p23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Chiavi gestite da S3. Configurazione semplice; cifratura server-side di base per gli oggetti.</a:t>
            </a: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67056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SSE-KMS</a:t>
            </a:r>
            <a:endParaRPr/>
          </a:p>
        </p:txBody>
      </p:sp>
      <p:sp>
        <p:nvSpPr>
          <p:cNvPr id="470" name="Google Shape;470;p23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Chiavi e policy KMS, audit e controllo più granulare; introduce autorizzazioni e costi da progettare.</a:t>
            </a:r>
            <a:endParaRPr/>
          </a:p>
        </p:txBody>
      </p:sp>
      <p:sp>
        <p:nvSpPr>
          <p:cNvPr id="471" name="Google Shape;471;p23"/>
          <p:cNvSpPr/>
          <p:nvPr/>
        </p:nvSpPr>
        <p:spPr>
          <a:xfrm>
            <a:off x="2000250" y="5524500"/>
            <a:ext cx="819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1F33"/>
                </a:solidFill>
              </a:rPr>
              <a:t>Il laboratorio rende esplicita SSE-S3; i dati sensibili richiedono una decisione più ampia.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4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S3 LIFECYCLE</a:t>
            </a:r>
            <a:endParaRPr/>
          </a:p>
        </p:txBody>
      </p:sp>
      <p:sp>
        <p:nvSpPr>
          <p:cNvPr id="478" name="Google Shape;478;p2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Versioning e lifecycle governano il tempo</a:t>
            </a:r>
            <a:endParaRPr/>
          </a:p>
        </p:txBody>
      </p:sp>
      <p:sp>
        <p:nvSpPr>
          <p:cNvPr id="479" name="Google Shape;479;p2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24</a:t>
            </a: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904875" y="2047875"/>
            <a:ext cx="3143250" cy="2238375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4"/>
          <p:cNvSpPr/>
          <p:nvPr/>
        </p:nvSpPr>
        <p:spPr>
          <a:xfrm>
            <a:off x="904875" y="2047875"/>
            <a:ext cx="314325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1114425" y="2257425"/>
            <a:ext cx="2724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VERSIONING</a:t>
            </a:r>
            <a:endParaRPr/>
          </a:p>
        </p:txBody>
      </p:sp>
      <p:sp>
        <p:nvSpPr>
          <p:cNvPr id="483" name="Google Shape;483;p24"/>
          <p:cNvSpPr/>
          <p:nvPr/>
        </p:nvSpPr>
        <p:spPr>
          <a:xfrm>
            <a:off x="1114425" y="2790825"/>
            <a:ext cx="2724150" cy="134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conserva più versioni; migliora recovery ma aumenta storage</a:t>
            </a:r>
            <a:endParaRPr/>
          </a:p>
        </p:txBody>
      </p:sp>
      <p:sp>
        <p:nvSpPr>
          <p:cNvPr id="484" name="Google Shape;484;p24"/>
          <p:cNvSpPr/>
          <p:nvPr/>
        </p:nvSpPr>
        <p:spPr>
          <a:xfrm>
            <a:off x="4619625" y="2047875"/>
            <a:ext cx="3143250" cy="2238375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4"/>
          <p:cNvSpPr/>
          <p:nvPr/>
        </p:nvSpPr>
        <p:spPr>
          <a:xfrm>
            <a:off x="4619625" y="2047875"/>
            <a:ext cx="314325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"/>
          <p:cNvSpPr/>
          <p:nvPr/>
        </p:nvSpPr>
        <p:spPr>
          <a:xfrm>
            <a:off x="4829175" y="2257425"/>
            <a:ext cx="2724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LIFECYCLE</a:t>
            </a: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4829175" y="2790825"/>
            <a:ext cx="2724150" cy="134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transizione o scadenza secondo regole e prefix/tag</a:t>
            </a:r>
            <a:endParaRPr/>
          </a:p>
        </p:txBody>
      </p:sp>
      <p:sp>
        <p:nvSpPr>
          <p:cNvPr id="488" name="Google Shape;488;p24"/>
          <p:cNvSpPr/>
          <p:nvPr/>
        </p:nvSpPr>
        <p:spPr>
          <a:xfrm>
            <a:off x="8334375" y="2047875"/>
            <a:ext cx="3143250" cy="2238375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4"/>
          <p:cNvSpPr/>
          <p:nvPr/>
        </p:nvSpPr>
        <p:spPr>
          <a:xfrm>
            <a:off x="8334375" y="2047875"/>
            <a:ext cx="314325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4"/>
          <p:cNvSpPr/>
          <p:nvPr/>
        </p:nvSpPr>
        <p:spPr>
          <a:xfrm>
            <a:off x="8543925" y="2257425"/>
            <a:ext cx="2724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LAB SAFETY NET</a:t>
            </a:r>
            <a:endParaRPr/>
          </a:p>
        </p:txBody>
      </p:sp>
      <p:sp>
        <p:nvSpPr>
          <p:cNvPr id="491" name="Google Shape;491;p24"/>
          <p:cNvSpPr/>
          <p:nvPr/>
        </p:nvSpPr>
        <p:spPr>
          <a:xfrm>
            <a:off x="8543925" y="2790825"/>
            <a:ext cx="2724150" cy="134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oggetti eliminati dopo 7 giorni; bucket da cancellare subito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5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DATA LAKE ZONES</a:t>
            </a:r>
            <a:endParaRPr/>
          </a:p>
        </p:txBody>
      </p:sp>
      <p:sp>
        <p:nvSpPr>
          <p:cNvPr id="498" name="Google Shape;498;p2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Un data lake separa significati e qualità</a:t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25</a:t>
            </a:r>
            <a:endParaRPr/>
          </a:p>
        </p:txBody>
      </p:sp>
      <p:sp>
        <p:nvSpPr>
          <p:cNvPr id="500" name="Google Shape;500;p25"/>
          <p:cNvSpPr/>
          <p:nvPr/>
        </p:nvSpPr>
        <p:spPr>
          <a:xfrm>
            <a:off x="3143250" y="2505075"/>
            <a:ext cx="95250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3943350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3143250" y="2162175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validate</a:t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6953250" y="2505075"/>
            <a:ext cx="95250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5"/>
          <p:cNvSpPr/>
          <p:nvPr/>
        </p:nvSpPr>
        <p:spPr>
          <a:xfrm>
            <a:off x="7753350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6953250" y="2162175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serve</a:t>
            </a: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762000" y="2000250"/>
            <a:ext cx="2381250" cy="1285875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"/>
          <p:cNvSpPr/>
          <p:nvPr/>
        </p:nvSpPr>
        <p:spPr>
          <a:xfrm>
            <a:off x="914400" y="2171700"/>
            <a:ext cx="2076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RAW</a:t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914400" y="2533650"/>
            <a:ext cx="2076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immutabile • audit</a:t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4095750" y="2000250"/>
            <a:ext cx="2857500" cy="1285875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4248150" y="2171700"/>
            <a:ext cx="255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CURATED</a:t>
            </a:r>
            <a:endParaRPr/>
          </a:p>
        </p:txBody>
      </p:sp>
      <p:sp>
        <p:nvSpPr>
          <p:cNvPr id="511" name="Google Shape;511;p25"/>
          <p:cNvSpPr/>
          <p:nvPr/>
        </p:nvSpPr>
        <p:spPr>
          <a:xfrm>
            <a:off x="4248150" y="2533650"/>
            <a:ext cx="25527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typed • quality gate</a:t>
            </a:r>
            <a:endParaRPr/>
          </a:p>
        </p:txBody>
      </p:sp>
      <p:sp>
        <p:nvSpPr>
          <p:cNvPr id="512" name="Google Shape;512;p25"/>
          <p:cNvSpPr/>
          <p:nvPr/>
        </p:nvSpPr>
        <p:spPr>
          <a:xfrm>
            <a:off x="7905750" y="2000250"/>
            <a:ext cx="3429000" cy="1285875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8058150" y="2171700"/>
            <a:ext cx="312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ANALYTICS</a:t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8058150" y="2533650"/>
            <a:ext cx="31242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aggregati • consumo</a:t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3429000" y="504825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Le zone sono contratti, non soltanto cartelle.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6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PARTITIONED LAYOUT</a:t>
            </a:r>
            <a:endParaRPr/>
          </a:p>
        </p:txBody>
      </p:sp>
      <p:sp>
        <p:nvSpPr>
          <p:cNvPr id="522" name="Google Shape;522;p2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La disposizione delle key influenza la scansione</a:t>
            </a:r>
            <a:endParaRPr/>
          </a:p>
        </p:txBody>
      </p:sp>
      <p:sp>
        <p:nvSpPr>
          <p:cNvPr id="523" name="Google Shape;523;p2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26</a:t>
            </a:r>
            <a:endParaRPr/>
          </a:p>
        </p:txBody>
      </p:sp>
      <p:sp>
        <p:nvSpPr>
          <p:cNvPr id="524" name="Google Shape;524;p26"/>
          <p:cNvSpPr/>
          <p:nvPr/>
        </p:nvSpPr>
        <p:spPr>
          <a:xfrm>
            <a:off x="1428750" y="1809750"/>
            <a:ext cx="9334500" cy="2857500"/>
          </a:xfrm>
          <a:prstGeom prst="roundRect">
            <a:avLst>
              <a:gd fmla="val 2667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1657350" y="2019300"/>
            <a:ext cx="88773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s3://bucket/curated/events/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  event_date=2026-08-01/part-0000.parquet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  event_date=2026-08-02/part-0000.parquet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DFF6FB"/>
                </a:solidFill>
              </a:rPr>
              <a:t>  event_date=2026-08-03/part-0000.parquet</a:t>
            </a:r>
            <a:endParaRPr/>
          </a:p>
        </p:txBody>
      </p:sp>
      <p:sp>
        <p:nvSpPr>
          <p:cNvPr id="526" name="Google Shape;526;p26"/>
          <p:cNvSpPr/>
          <p:nvPr/>
        </p:nvSpPr>
        <p:spPr>
          <a:xfrm>
            <a:off x="2857500" y="5191125"/>
            <a:ext cx="647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Il filtro sulla data può evitare prefix e file non necessari.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7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AMAZON EMR</a:t>
            </a:r>
            <a:endParaRPr/>
          </a:p>
        </p:txBody>
      </p:sp>
      <p:sp>
        <p:nvSpPr>
          <p:cNvPr id="533" name="Google Shape;533;p2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Amazon EMR esegue framework Big Data gestiti</a:t>
            </a: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27</a:t>
            </a:r>
            <a:endParaRPr/>
          </a:p>
        </p:txBody>
      </p:sp>
      <p:sp>
        <p:nvSpPr>
          <p:cNvPr id="535" name="Google Shape;535;p27"/>
          <p:cNvSpPr/>
          <p:nvPr/>
        </p:nvSpPr>
        <p:spPr>
          <a:xfrm>
            <a:off x="1143000" y="2000250"/>
            <a:ext cx="2667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8A4C"/>
                </a:solidFill>
              </a:rPr>
              <a:t>HADOOP</a:t>
            </a: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4762500" y="2000250"/>
            <a:ext cx="2667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0B8D9"/>
                </a:solidFill>
              </a:rPr>
              <a:t>SPARK</a:t>
            </a: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8382000" y="2000250"/>
            <a:ext cx="2667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7C6EE6"/>
                </a:solidFill>
              </a:rPr>
              <a:t>HIVE</a:t>
            </a:r>
            <a:endParaRPr/>
          </a:p>
        </p:txBody>
      </p:sp>
      <p:sp>
        <p:nvSpPr>
          <p:cNvPr id="538" name="Google Shape;538;p27"/>
          <p:cNvSpPr/>
          <p:nvPr/>
        </p:nvSpPr>
        <p:spPr>
          <a:xfrm>
            <a:off x="1619250" y="3714750"/>
            <a:ext cx="8953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B1F33"/>
                </a:solidFill>
              </a:rPr>
              <a:t>Processa e sposta grandi quantità di dati fra S3, database e altri servizi AWS.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8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SERVICE LAYERS</a:t>
            </a:r>
            <a:endParaRPr/>
          </a:p>
        </p:txBody>
      </p:sp>
      <p:sp>
        <p:nvSpPr>
          <p:cNvPr id="545" name="Google Shape;545;p2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EMR è composto da quattro livelli</a:t>
            </a:r>
            <a:endParaRPr/>
          </a:p>
        </p:txBody>
      </p:sp>
      <p:sp>
        <p:nvSpPr>
          <p:cNvPr id="546" name="Google Shape;546;p2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28</a:t>
            </a:r>
            <a:endParaRPr/>
          </a:p>
        </p:txBody>
      </p:sp>
      <p:sp>
        <p:nvSpPr>
          <p:cNvPr id="547" name="Google Shape;547;p28"/>
          <p:cNvSpPr/>
          <p:nvPr/>
        </p:nvSpPr>
        <p:spPr>
          <a:xfrm>
            <a:off x="781050" y="157162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548" name="Google Shape;548;p28"/>
          <p:cNvSpPr/>
          <p:nvPr/>
        </p:nvSpPr>
        <p:spPr>
          <a:xfrm>
            <a:off x="1666875" y="15716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STORAGE</a:t>
            </a:r>
            <a:endParaRPr/>
          </a:p>
        </p:txBody>
      </p:sp>
      <p:sp>
        <p:nvSpPr>
          <p:cNvPr id="549" name="Google Shape;549;p28"/>
          <p:cNvSpPr/>
          <p:nvPr/>
        </p:nvSpPr>
        <p:spPr>
          <a:xfrm>
            <a:off x="4762500" y="157162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HDFS • S3 • local storage</a:t>
            </a:r>
            <a:endParaRPr/>
          </a:p>
        </p:txBody>
      </p:sp>
      <p:sp>
        <p:nvSpPr>
          <p:cNvPr id="550" name="Google Shape;550;p28"/>
          <p:cNvSpPr/>
          <p:nvPr/>
        </p:nvSpPr>
        <p:spPr>
          <a:xfrm>
            <a:off x="781050" y="23812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551" name="Google Shape;551;p28"/>
          <p:cNvSpPr/>
          <p:nvPr/>
        </p:nvSpPr>
        <p:spPr>
          <a:xfrm>
            <a:off x="1666875" y="23812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RESOURCE</a:t>
            </a:r>
            <a:endParaRPr/>
          </a:p>
        </p:txBody>
      </p:sp>
      <p:sp>
        <p:nvSpPr>
          <p:cNvPr id="552" name="Google Shape;552;p28"/>
          <p:cNvSpPr/>
          <p:nvPr/>
        </p:nvSpPr>
        <p:spPr>
          <a:xfrm>
            <a:off x="4762500" y="23812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YARN o gestione specifica del deployment</a:t>
            </a:r>
            <a:endParaRPr/>
          </a:p>
        </p:txBody>
      </p:sp>
      <p:sp>
        <p:nvSpPr>
          <p:cNvPr id="553" name="Google Shape;553;p28"/>
          <p:cNvSpPr/>
          <p:nvPr/>
        </p:nvSpPr>
        <p:spPr>
          <a:xfrm>
            <a:off x="781050" y="31908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03</a:t>
            </a:r>
            <a:endParaRPr/>
          </a:p>
        </p:txBody>
      </p:sp>
      <p:sp>
        <p:nvSpPr>
          <p:cNvPr id="554" name="Google Shape;554;p28"/>
          <p:cNvSpPr/>
          <p:nvPr/>
        </p:nvSpPr>
        <p:spPr>
          <a:xfrm>
            <a:off x="1666875" y="31908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FRAMEWORK</a:t>
            </a:r>
            <a:endParaRPr/>
          </a:p>
        </p:txBody>
      </p:sp>
      <p:sp>
        <p:nvSpPr>
          <p:cNvPr id="555" name="Google Shape;555;p28"/>
          <p:cNvSpPr/>
          <p:nvPr/>
        </p:nvSpPr>
        <p:spPr>
          <a:xfrm>
            <a:off x="4762500" y="31908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MapReduce • Spark</a:t>
            </a:r>
            <a:endParaRPr/>
          </a:p>
        </p:txBody>
      </p:sp>
      <p:sp>
        <p:nvSpPr>
          <p:cNvPr id="556" name="Google Shape;556;p28"/>
          <p:cNvSpPr/>
          <p:nvPr/>
        </p:nvSpPr>
        <p:spPr>
          <a:xfrm>
            <a:off x="781050" y="40005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04</a:t>
            </a:r>
            <a:endParaRPr/>
          </a:p>
        </p:txBody>
      </p:sp>
      <p:sp>
        <p:nvSpPr>
          <p:cNvPr id="557" name="Google Shape;557;p28"/>
          <p:cNvSpPr/>
          <p:nvPr/>
        </p:nvSpPr>
        <p:spPr>
          <a:xfrm>
            <a:off x="1666875" y="4000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APPLICATION</a:t>
            </a:r>
            <a:endParaRPr/>
          </a:p>
        </p:txBody>
      </p:sp>
      <p:sp>
        <p:nvSpPr>
          <p:cNvPr id="558" name="Google Shape;558;p28"/>
          <p:cNvSpPr/>
          <p:nvPr/>
        </p:nvSpPr>
        <p:spPr>
          <a:xfrm>
            <a:off x="4762500" y="40005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Hive • Pig • Spark SQL • MLlib</a:t>
            </a:r>
            <a:endParaRPr/>
          </a:p>
        </p:txBody>
      </p:sp>
      <p:sp>
        <p:nvSpPr>
          <p:cNvPr id="559" name="Google Shape;559;p28"/>
          <p:cNvSpPr/>
          <p:nvPr/>
        </p:nvSpPr>
        <p:spPr>
          <a:xfrm>
            <a:off x="3190875" y="5334000"/>
            <a:ext cx="581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Il deployment cambia chi gestisce ciascun livello.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9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DEPLOYMENT OPTIONS</a:t>
            </a:r>
            <a:endParaRPr/>
          </a:p>
        </p:txBody>
      </p:sp>
      <p:sp>
        <p:nvSpPr>
          <p:cNvPr id="566" name="Google Shape;566;p2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Amazon EMR offre tre forme operative</a:t>
            </a:r>
            <a:endParaRPr/>
          </a:p>
        </p:txBody>
      </p:sp>
      <p:sp>
        <p:nvSpPr>
          <p:cNvPr id="567" name="Google Shape;567;p2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29</a:t>
            </a:r>
            <a:endParaRPr/>
          </a:p>
        </p:txBody>
      </p:sp>
      <p:sp>
        <p:nvSpPr>
          <p:cNvPr id="568" name="Google Shape;568;p29"/>
          <p:cNvSpPr/>
          <p:nvPr/>
        </p:nvSpPr>
        <p:spPr>
          <a:xfrm>
            <a:off x="904875" y="1952625"/>
            <a:ext cx="3143250" cy="238125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9"/>
          <p:cNvSpPr/>
          <p:nvPr/>
        </p:nvSpPr>
        <p:spPr>
          <a:xfrm>
            <a:off x="904875" y="1952625"/>
            <a:ext cx="314325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9"/>
          <p:cNvSpPr/>
          <p:nvPr/>
        </p:nvSpPr>
        <p:spPr>
          <a:xfrm>
            <a:off x="1114425" y="2162175"/>
            <a:ext cx="2724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EMR ON EC2</a:t>
            </a:r>
            <a:endParaRPr/>
          </a:p>
        </p:txBody>
      </p:sp>
      <p:sp>
        <p:nvSpPr>
          <p:cNvPr id="571" name="Google Shape;571;p29"/>
          <p:cNvSpPr/>
          <p:nvPr/>
        </p:nvSpPr>
        <p:spPr>
          <a:xfrm>
            <a:off x="1114425" y="2695575"/>
            <a:ext cx="27241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cluster, HDFS, YARN, nodi controllabili</a:t>
            </a:r>
            <a:endParaRPr/>
          </a:p>
        </p:txBody>
      </p:sp>
      <p:sp>
        <p:nvSpPr>
          <p:cNvPr id="572" name="Google Shape;572;p29"/>
          <p:cNvSpPr/>
          <p:nvPr/>
        </p:nvSpPr>
        <p:spPr>
          <a:xfrm>
            <a:off x="4619625" y="1952625"/>
            <a:ext cx="3143250" cy="238125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9"/>
          <p:cNvSpPr/>
          <p:nvPr/>
        </p:nvSpPr>
        <p:spPr>
          <a:xfrm>
            <a:off x="4619625" y="1952625"/>
            <a:ext cx="314325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9"/>
          <p:cNvSpPr/>
          <p:nvPr/>
        </p:nvSpPr>
        <p:spPr>
          <a:xfrm>
            <a:off x="4829175" y="2162175"/>
            <a:ext cx="2724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EMR ON EKS</a:t>
            </a:r>
            <a:endParaRPr/>
          </a:p>
        </p:txBody>
      </p:sp>
      <p:sp>
        <p:nvSpPr>
          <p:cNvPr id="575" name="Google Shape;575;p29"/>
          <p:cNvSpPr/>
          <p:nvPr/>
        </p:nvSpPr>
        <p:spPr>
          <a:xfrm>
            <a:off x="4829175" y="2695575"/>
            <a:ext cx="27241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job EMR su cluster Kubernetes esistente</a:t>
            </a:r>
            <a:endParaRPr/>
          </a:p>
        </p:txBody>
      </p:sp>
      <p:sp>
        <p:nvSpPr>
          <p:cNvPr id="576" name="Google Shape;576;p29"/>
          <p:cNvSpPr/>
          <p:nvPr/>
        </p:nvSpPr>
        <p:spPr>
          <a:xfrm>
            <a:off x="8334375" y="1952625"/>
            <a:ext cx="3143250" cy="238125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9"/>
          <p:cNvSpPr/>
          <p:nvPr/>
        </p:nvSpPr>
        <p:spPr>
          <a:xfrm>
            <a:off x="8334375" y="1952625"/>
            <a:ext cx="314325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9"/>
          <p:cNvSpPr/>
          <p:nvPr/>
        </p:nvSpPr>
        <p:spPr>
          <a:xfrm>
            <a:off x="8543925" y="2162175"/>
            <a:ext cx="2724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EMR SERVERLESS</a:t>
            </a:r>
            <a:endParaRPr/>
          </a:p>
        </p:txBody>
      </p:sp>
      <p:sp>
        <p:nvSpPr>
          <p:cNvPr id="579" name="Google Shape;579;p29"/>
          <p:cNvSpPr/>
          <p:nvPr/>
        </p:nvSpPr>
        <p:spPr>
          <a:xfrm>
            <a:off x="8543925" y="2695575"/>
            <a:ext cx="27241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applicazioni Spark/Hive senza cluster gestito dall’utente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0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DEPLOYMENT DECISION</a:t>
            </a:r>
            <a:endParaRPr/>
          </a:p>
        </p:txBody>
      </p:sp>
      <p:sp>
        <p:nvSpPr>
          <p:cNvPr id="586" name="Google Shape;586;p30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La scelta parte dal vincolo, non dal nome</a:t>
            </a:r>
            <a:endParaRPr/>
          </a:p>
        </p:txBody>
      </p:sp>
      <p:sp>
        <p:nvSpPr>
          <p:cNvPr id="587" name="Google Shape;587;p3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30</a:t>
            </a:r>
            <a:endParaRPr/>
          </a:p>
        </p:txBody>
      </p:sp>
      <p:sp>
        <p:nvSpPr>
          <p:cNvPr id="588" name="Google Shape;588;p30"/>
          <p:cNvSpPr/>
          <p:nvPr/>
        </p:nvSpPr>
        <p:spPr>
          <a:xfrm>
            <a:off x="714375" y="1666875"/>
            <a:ext cx="3714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0"/>
          <p:cNvSpPr/>
          <p:nvPr/>
        </p:nvSpPr>
        <p:spPr>
          <a:xfrm>
            <a:off x="809625" y="1800225"/>
            <a:ext cx="3524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Domanda</a:t>
            </a:r>
            <a:endParaRPr/>
          </a:p>
        </p:txBody>
      </p:sp>
      <p:sp>
        <p:nvSpPr>
          <p:cNvPr id="590" name="Google Shape;590;p30"/>
          <p:cNvSpPr/>
          <p:nvPr/>
        </p:nvSpPr>
        <p:spPr>
          <a:xfrm>
            <a:off x="4429125" y="1666875"/>
            <a:ext cx="4095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0"/>
          <p:cNvSpPr/>
          <p:nvPr/>
        </p:nvSpPr>
        <p:spPr>
          <a:xfrm>
            <a:off x="4524375" y="180022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Se sì</a:t>
            </a:r>
            <a:endParaRPr/>
          </a:p>
        </p:txBody>
      </p:sp>
      <p:sp>
        <p:nvSpPr>
          <p:cNvPr id="592" name="Google Shape;592;p30"/>
          <p:cNvSpPr/>
          <p:nvPr/>
        </p:nvSpPr>
        <p:spPr>
          <a:xfrm>
            <a:off x="8524875" y="1666875"/>
            <a:ext cx="34290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0"/>
          <p:cNvSpPr/>
          <p:nvPr/>
        </p:nvSpPr>
        <p:spPr>
          <a:xfrm>
            <a:off x="8620125" y="1800225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Candidato</a:t>
            </a:r>
            <a:endParaRPr/>
          </a:p>
        </p:txBody>
      </p:sp>
      <p:sp>
        <p:nvSpPr>
          <p:cNvPr id="594" name="Google Shape;594;p30"/>
          <p:cNvSpPr/>
          <p:nvPr/>
        </p:nvSpPr>
        <p:spPr>
          <a:xfrm>
            <a:off x="714375" y="2162175"/>
            <a:ext cx="3714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0"/>
          <p:cNvSpPr/>
          <p:nvPr/>
        </p:nvSpPr>
        <p:spPr>
          <a:xfrm>
            <a:off x="847725" y="2276475"/>
            <a:ext cx="3448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Serve HDFS?</a:t>
            </a:r>
            <a:endParaRPr/>
          </a:p>
        </p:txBody>
      </p:sp>
      <p:sp>
        <p:nvSpPr>
          <p:cNvPr id="596" name="Google Shape;596;p30"/>
          <p:cNvSpPr/>
          <p:nvPr/>
        </p:nvSpPr>
        <p:spPr>
          <a:xfrm>
            <a:off x="4429125" y="2162175"/>
            <a:ext cx="4095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0"/>
          <p:cNvSpPr/>
          <p:nvPr/>
        </p:nvSpPr>
        <p:spPr>
          <a:xfrm>
            <a:off x="4562475" y="227647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storage nel cluster</a:t>
            </a:r>
            <a:endParaRPr/>
          </a:p>
        </p:txBody>
      </p:sp>
      <p:sp>
        <p:nvSpPr>
          <p:cNvPr id="598" name="Google Shape;598;p30"/>
          <p:cNvSpPr/>
          <p:nvPr/>
        </p:nvSpPr>
        <p:spPr>
          <a:xfrm>
            <a:off x="8524875" y="2162175"/>
            <a:ext cx="342900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0"/>
          <p:cNvSpPr/>
          <p:nvPr/>
        </p:nvSpPr>
        <p:spPr>
          <a:xfrm>
            <a:off x="8658225" y="2276475"/>
            <a:ext cx="316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EMR on EC2</a:t>
            </a:r>
            <a:endParaRPr/>
          </a:p>
        </p:txBody>
      </p:sp>
      <p:sp>
        <p:nvSpPr>
          <p:cNvPr id="600" name="Google Shape;600;p30"/>
          <p:cNvSpPr/>
          <p:nvPr/>
        </p:nvSpPr>
        <p:spPr>
          <a:xfrm>
            <a:off x="714375" y="2981325"/>
            <a:ext cx="3714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0"/>
          <p:cNvSpPr/>
          <p:nvPr/>
        </p:nvSpPr>
        <p:spPr>
          <a:xfrm>
            <a:off x="847725" y="3095625"/>
            <a:ext cx="3448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Esiste una piattaforma EKS?</a:t>
            </a:r>
            <a:endParaRPr/>
          </a:p>
        </p:txBody>
      </p:sp>
      <p:sp>
        <p:nvSpPr>
          <p:cNvPr id="602" name="Google Shape;602;p30"/>
          <p:cNvSpPr/>
          <p:nvPr/>
        </p:nvSpPr>
        <p:spPr>
          <a:xfrm>
            <a:off x="4429125" y="2981325"/>
            <a:ext cx="4095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0"/>
          <p:cNvSpPr/>
          <p:nvPr/>
        </p:nvSpPr>
        <p:spPr>
          <a:xfrm>
            <a:off x="4562475" y="309562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policy e operations Kubernetes</a:t>
            </a:r>
            <a:endParaRPr/>
          </a:p>
        </p:txBody>
      </p:sp>
      <p:sp>
        <p:nvSpPr>
          <p:cNvPr id="604" name="Google Shape;604;p30"/>
          <p:cNvSpPr/>
          <p:nvPr/>
        </p:nvSpPr>
        <p:spPr>
          <a:xfrm>
            <a:off x="8524875" y="2981325"/>
            <a:ext cx="342900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0"/>
          <p:cNvSpPr/>
          <p:nvPr/>
        </p:nvSpPr>
        <p:spPr>
          <a:xfrm>
            <a:off x="8658225" y="3095625"/>
            <a:ext cx="316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EMR on EKS</a:t>
            </a:r>
            <a:endParaRPr/>
          </a:p>
        </p:txBody>
      </p:sp>
      <p:sp>
        <p:nvSpPr>
          <p:cNvPr id="606" name="Google Shape;606;p30"/>
          <p:cNvSpPr/>
          <p:nvPr/>
        </p:nvSpPr>
        <p:spPr>
          <a:xfrm>
            <a:off x="714375" y="3800475"/>
            <a:ext cx="3714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0"/>
          <p:cNvSpPr/>
          <p:nvPr/>
        </p:nvSpPr>
        <p:spPr>
          <a:xfrm>
            <a:off x="847725" y="3914775"/>
            <a:ext cx="3448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Job intermittenti?</a:t>
            </a:r>
            <a:endParaRPr/>
          </a:p>
        </p:txBody>
      </p:sp>
      <p:sp>
        <p:nvSpPr>
          <p:cNvPr id="608" name="Google Shape;608;p30"/>
          <p:cNvSpPr/>
          <p:nvPr/>
        </p:nvSpPr>
        <p:spPr>
          <a:xfrm>
            <a:off x="4429125" y="3800475"/>
            <a:ext cx="4095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0"/>
          <p:cNvSpPr/>
          <p:nvPr/>
        </p:nvSpPr>
        <p:spPr>
          <a:xfrm>
            <a:off x="4562475" y="391477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capacità on demand</a:t>
            </a:r>
            <a:endParaRPr/>
          </a:p>
        </p:txBody>
      </p:sp>
      <p:sp>
        <p:nvSpPr>
          <p:cNvPr id="610" name="Google Shape;610;p30"/>
          <p:cNvSpPr/>
          <p:nvPr/>
        </p:nvSpPr>
        <p:spPr>
          <a:xfrm>
            <a:off x="8524875" y="3800475"/>
            <a:ext cx="342900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0"/>
          <p:cNvSpPr/>
          <p:nvPr/>
        </p:nvSpPr>
        <p:spPr>
          <a:xfrm>
            <a:off x="8658225" y="3914775"/>
            <a:ext cx="316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EMR Serverless</a:t>
            </a:r>
            <a:endParaRPr/>
          </a:p>
        </p:txBody>
      </p:sp>
      <p:sp>
        <p:nvSpPr>
          <p:cNvPr id="612" name="Google Shape;612;p30"/>
          <p:cNvSpPr/>
          <p:nvPr/>
        </p:nvSpPr>
        <p:spPr>
          <a:xfrm>
            <a:off x="714375" y="4619625"/>
            <a:ext cx="3714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0"/>
          <p:cNvSpPr/>
          <p:nvPr/>
        </p:nvSpPr>
        <p:spPr>
          <a:xfrm>
            <a:off x="847725" y="4733925"/>
            <a:ext cx="3448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Controllo fine dei nodi?</a:t>
            </a:r>
            <a:endParaRPr/>
          </a:p>
        </p:txBody>
      </p:sp>
      <p:sp>
        <p:nvSpPr>
          <p:cNvPr id="614" name="Google Shape;614;p30"/>
          <p:cNvSpPr/>
          <p:nvPr/>
        </p:nvSpPr>
        <p:spPr>
          <a:xfrm>
            <a:off x="4429125" y="4619625"/>
            <a:ext cx="4095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0"/>
          <p:cNvSpPr/>
          <p:nvPr/>
        </p:nvSpPr>
        <p:spPr>
          <a:xfrm>
            <a:off x="4562475" y="4733925"/>
            <a:ext cx="3829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instance type, fleet, daemon</a:t>
            </a:r>
            <a:endParaRPr/>
          </a:p>
        </p:txBody>
      </p:sp>
      <p:sp>
        <p:nvSpPr>
          <p:cNvPr id="616" name="Google Shape;616;p30"/>
          <p:cNvSpPr/>
          <p:nvPr/>
        </p:nvSpPr>
        <p:spPr>
          <a:xfrm>
            <a:off x="8524875" y="4619625"/>
            <a:ext cx="342900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0"/>
          <p:cNvSpPr/>
          <p:nvPr/>
        </p:nvSpPr>
        <p:spPr>
          <a:xfrm>
            <a:off x="8658225" y="4733925"/>
            <a:ext cx="316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EMR on EC2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1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PRIMARY • CORE • TASK</a:t>
            </a:r>
            <a:endParaRPr/>
          </a:p>
        </p:txBody>
      </p:sp>
      <p:sp>
        <p:nvSpPr>
          <p:cNvPr id="624" name="Google Shape;624;p31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Un cluster EMR su EC2 separa tre ruoli</a:t>
            </a:r>
            <a:endParaRPr/>
          </a:p>
        </p:txBody>
      </p:sp>
      <p:sp>
        <p:nvSpPr>
          <p:cNvPr id="625" name="Google Shape;625;p3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31</a:t>
            </a:r>
            <a:endParaRPr/>
          </a:p>
        </p:txBody>
      </p:sp>
      <p:sp>
        <p:nvSpPr>
          <p:cNvPr id="626" name="Google Shape;626;p31"/>
          <p:cNvSpPr/>
          <p:nvPr/>
        </p:nvSpPr>
        <p:spPr>
          <a:xfrm>
            <a:off x="2762250" y="2790825"/>
            <a:ext cx="114300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1"/>
          <p:cNvSpPr/>
          <p:nvPr/>
        </p:nvSpPr>
        <p:spPr>
          <a:xfrm>
            <a:off x="3752850" y="261937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628" name="Google Shape;628;p31"/>
          <p:cNvSpPr/>
          <p:nvPr/>
        </p:nvSpPr>
        <p:spPr>
          <a:xfrm>
            <a:off x="2762250" y="2447925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manage</a:t>
            </a:r>
            <a:endParaRPr/>
          </a:p>
        </p:txBody>
      </p:sp>
      <p:sp>
        <p:nvSpPr>
          <p:cNvPr id="629" name="Google Shape;629;p31"/>
          <p:cNvSpPr/>
          <p:nvPr/>
        </p:nvSpPr>
        <p:spPr>
          <a:xfrm>
            <a:off x="8286750" y="2790825"/>
            <a:ext cx="114300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1"/>
          <p:cNvSpPr/>
          <p:nvPr/>
        </p:nvSpPr>
        <p:spPr>
          <a:xfrm>
            <a:off x="9277350" y="261937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631" name="Google Shape;631;p31"/>
          <p:cNvSpPr/>
          <p:nvPr/>
        </p:nvSpPr>
        <p:spPr>
          <a:xfrm>
            <a:off x="8286750" y="2447925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schedule</a:t>
            </a:r>
            <a:endParaRPr/>
          </a:p>
        </p:txBody>
      </p:sp>
      <p:sp>
        <p:nvSpPr>
          <p:cNvPr id="632" name="Google Shape;632;p31"/>
          <p:cNvSpPr/>
          <p:nvPr/>
        </p:nvSpPr>
        <p:spPr>
          <a:xfrm>
            <a:off x="666750" y="2095500"/>
            <a:ext cx="2095500" cy="1285875"/>
          </a:xfrm>
          <a:prstGeom prst="roundRect">
            <a:avLst>
              <a:gd fmla="val 5926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1"/>
          <p:cNvSpPr/>
          <p:nvPr/>
        </p:nvSpPr>
        <p:spPr>
          <a:xfrm>
            <a:off x="819150" y="2266950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PRIMARY</a:t>
            </a:r>
            <a:endParaRPr/>
          </a:p>
        </p:txBody>
      </p:sp>
      <p:sp>
        <p:nvSpPr>
          <p:cNvPr id="634" name="Google Shape;634;p31"/>
          <p:cNvSpPr/>
          <p:nvPr/>
        </p:nvSpPr>
        <p:spPr>
          <a:xfrm>
            <a:off x="819150" y="2628900"/>
            <a:ext cx="17907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NameNode • ResourceManager</a:t>
            </a:r>
            <a:endParaRPr/>
          </a:p>
        </p:txBody>
      </p:sp>
      <p:sp>
        <p:nvSpPr>
          <p:cNvPr id="635" name="Google Shape;635;p31"/>
          <p:cNvSpPr/>
          <p:nvPr/>
        </p:nvSpPr>
        <p:spPr>
          <a:xfrm>
            <a:off x="3905250" y="1714500"/>
            <a:ext cx="4381500" cy="2047875"/>
          </a:xfrm>
          <a:prstGeom prst="roundRect">
            <a:avLst>
              <a:gd fmla="val 3721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1"/>
          <p:cNvSpPr/>
          <p:nvPr/>
        </p:nvSpPr>
        <p:spPr>
          <a:xfrm>
            <a:off x="4057650" y="1885950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CORE NODES</a:t>
            </a:r>
            <a:endParaRPr/>
          </a:p>
        </p:txBody>
      </p:sp>
      <p:sp>
        <p:nvSpPr>
          <p:cNvPr id="637" name="Google Shape;637;p31"/>
          <p:cNvSpPr/>
          <p:nvPr/>
        </p:nvSpPr>
        <p:spPr>
          <a:xfrm>
            <a:off x="4057650" y="2247900"/>
            <a:ext cx="407670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DataNode • NodeManager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HDFS + compute</a:t>
            </a:r>
            <a:endParaRPr/>
          </a:p>
        </p:txBody>
      </p:sp>
      <p:sp>
        <p:nvSpPr>
          <p:cNvPr id="638" name="Google Shape;638;p31"/>
          <p:cNvSpPr/>
          <p:nvPr/>
        </p:nvSpPr>
        <p:spPr>
          <a:xfrm>
            <a:off x="9429750" y="2095500"/>
            <a:ext cx="2095500" cy="1285875"/>
          </a:xfrm>
          <a:prstGeom prst="roundRect">
            <a:avLst>
              <a:gd fmla="val 5926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1"/>
          <p:cNvSpPr/>
          <p:nvPr/>
        </p:nvSpPr>
        <p:spPr>
          <a:xfrm>
            <a:off x="9582150" y="2266950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TASK NODES</a:t>
            </a:r>
            <a:endParaRPr/>
          </a:p>
        </p:txBody>
      </p:sp>
      <p:sp>
        <p:nvSpPr>
          <p:cNvPr id="640" name="Google Shape;640;p31"/>
          <p:cNvSpPr/>
          <p:nvPr/>
        </p:nvSpPr>
        <p:spPr>
          <a:xfrm>
            <a:off x="9582150" y="2628900"/>
            <a:ext cx="17907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compute only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2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PRIMARY NODE</a:t>
            </a:r>
            <a:endParaRPr/>
          </a:p>
        </p:txBody>
      </p:sp>
      <p:sp>
        <p:nvSpPr>
          <p:cNvPr id="647" name="Google Shape;647;p3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primary coordina cluster e servizi master</a:t>
            </a:r>
            <a:endParaRPr/>
          </a:p>
        </p:txBody>
      </p:sp>
      <p:sp>
        <p:nvSpPr>
          <p:cNvPr id="648" name="Google Shape;648;p3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32</a:t>
            </a:r>
            <a:endParaRPr/>
          </a:p>
        </p:txBody>
      </p:sp>
      <p:sp>
        <p:nvSpPr>
          <p:cNvPr id="649" name="Google Shape;649;p32"/>
          <p:cNvSpPr/>
          <p:nvPr/>
        </p:nvSpPr>
        <p:spPr>
          <a:xfrm>
            <a:off x="685800" y="2047875"/>
            <a:ext cx="2552700" cy="1905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2"/>
          <p:cNvSpPr/>
          <p:nvPr/>
        </p:nvSpPr>
        <p:spPr>
          <a:xfrm>
            <a:off x="685800" y="2047875"/>
            <a:ext cx="25527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2"/>
          <p:cNvSpPr/>
          <p:nvPr/>
        </p:nvSpPr>
        <p:spPr>
          <a:xfrm>
            <a:off x="895350" y="225742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YARN</a:t>
            </a:r>
            <a:endParaRPr/>
          </a:p>
        </p:txBody>
      </p:sp>
      <p:sp>
        <p:nvSpPr>
          <p:cNvPr id="652" name="Google Shape;652;p32"/>
          <p:cNvSpPr/>
          <p:nvPr/>
        </p:nvSpPr>
        <p:spPr>
          <a:xfrm>
            <a:off x="895350" y="2790825"/>
            <a:ext cx="2133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ResourceManager</a:t>
            </a:r>
            <a:endParaRPr/>
          </a:p>
        </p:txBody>
      </p:sp>
      <p:sp>
        <p:nvSpPr>
          <p:cNvPr id="653" name="Google Shape;653;p32"/>
          <p:cNvSpPr/>
          <p:nvPr/>
        </p:nvSpPr>
        <p:spPr>
          <a:xfrm>
            <a:off x="3467100" y="2047875"/>
            <a:ext cx="2552700" cy="1905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3467100" y="2047875"/>
            <a:ext cx="25527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2"/>
          <p:cNvSpPr/>
          <p:nvPr/>
        </p:nvSpPr>
        <p:spPr>
          <a:xfrm>
            <a:off x="3676650" y="225742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HDFS</a:t>
            </a:r>
            <a:endParaRPr/>
          </a:p>
        </p:txBody>
      </p:sp>
      <p:sp>
        <p:nvSpPr>
          <p:cNvPr id="656" name="Google Shape;656;p32"/>
          <p:cNvSpPr/>
          <p:nvPr/>
        </p:nvSpPr>
        <p:spPr>
          <a:xfrm>
            <a:off x="3676650" y="2790825"/>
            <a:ext cx="2133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NameNode</a:t>
            </a:r>
            <a:endParaRPr/>
          </a:p>
        </p:txBody>
      </p:sp>
      <p:sp>
        <p:nvSpPr>
          <p:cNvPr id="657" name="Google Shape;657;p32"/>
          <p:cNvSpPr/>
          <p:nvPr/>
        </p:nvSpPr>
        <p:spPr>
          <a:xfrm>
            <a:off x="6248400" y="2047875"/>
            <a:ext cx="2552700" cy="1905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2"/>
          <p:cNvSpPr/>
          <p:nvPr/>
        </p:nvSpPr>
        <p:spPr>
          <a:xfrm>
            <a:off x="6248400" y="2047875"/>
            <a:ext cx="25527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2"/>
          <p:cNvSpPr/>
          <p:nvPr/>
        </p:nvSpPr>
        <p:spPr>
          <a:xfrm>
            <a:off x="6457950" y="225742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JOBS</a:t>
            </a:r>
            <a:endParaRPr/>
          </a:p>
        </p:txBody>
      </p:sp>
      <p:sp>
        <p:nvSpPr>
          <p:cNvPr id="660" name="Google Shape;660;p32"/>
          <p:cNvSpPr/>
          <p:nvPr/>
        </p:nvSpPr>
        <p:spPr>
          <a:xfrm>
            <a:off x="6457950" y="2790825"/>
            <a:ext cx="2133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stato e coordinamento</a:t>
            </a:r>
            <a:endParaRPr/>
          </a:p>
        </p:txBody>
      </p:sp>
      <p:sp>
        <p:nvSpPr>
          <p:cNvPr id="661" name="Google Shape;661;p32"/>
          <p:cNvSpPr/>
          <p:nvPr/>
        </p:nvSpPr>
        <p:spPr>
          <a:xfrm>
            <a:off x="9029700" y="2047875"/>
            <a:ext cx="2552700" cy="1905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2"/>
          <p:cNvSpPr/>
          <p:nvPr/>
        </p:nvSpPr>
        <p:spPr>
          <a:xfrm>
            <a:off x="9029700" y="2047875"/>
            <a:ext cx="25527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2"/>
          <p:cNvSpPr/>
          <p:nvPr/>
        </p:nvSpPr>
        <p:spPr>
          <a:xfrm>
            <a:off x="9239250" y="225742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HEALTH</a:t>
            </a:r>
            <a:endParaRPr/>
          </a:p>
        </p:txBody>
      </p:sp>
      <p:sp>
        <p:nvSpPr>
          <p:cNvPr id="664" name="Google Shape;664;p32"/>
          <p:cNvSpPr/>
          <p:nvPr/>
        </p:nvSpPr>
        <p:spPr>
          <a:xfrm>
            <a:off x="9239250" y="2790825"/>
            <a:ext cx="2133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controllo instance group/fleet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3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CORE NODES</a:t>
            </a:r>
            <a:endParaRPr/>
          </a:p>
        </p:txBody>
      </p:sp>
      <p:sp>
        <p:nvSpPr>
          <p:cNvPr id="671" name="Google Shape;671;p3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 core nodes uniscono storage e calcolo</a:t>
            </a:r>
            <a:endParaRPr/>
          </a:p>
        </p:txBody>
      </p:sp>
      <p:sp>
        <p:nvSpPr>
          <p:cNvPr id="672" name="Google Shape;672;p3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33</a:t>
            </a:r>
            <a:endParaRPr/>
          </a:p>
        </p:txBody>
      </p:sp>
      <p:sp>
        <p:nvSpPr>
          <p:cNvPr id="673" name="Google Shape;673;p33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3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3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3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3"/>
          <p:cNvSpPr/>
          <p:nvPr/>
        </p:nvSpPr>
        <p:spPr>
          <a:xfrm>
            <a:off x="10287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HDFS</a:t>
            </a:r>
            <a:endParaRPr/>
          </a:p>
        </p:txBody>
      </p:sp>
      <p:sp>
        <p:nvSpPr>
          <p:cNvPr id="678" name="Google Shape;678;p33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DataNode conserva blocchi. Rimuovere core nodes può causare perdita di dati se la replica e il decommission non sono gestiti.</a:t>
            </a:r>
            <a:endParaRPr/>
          </a:p>
        </p:txBody>
      </p:sp>
      <p:sp>
        <p:nvSpPr>
          <p:cNvPr id="679" name="Google Shape;679;p33"/>
          <p:cNvSpPr/>
          <p:nvPr/>
        </p:nvSpPr>
        <p:spPr>
          <a:xfrm>
            <a:off x="67056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COMPUTE</a:t>
            </a:r>
            <a:endParaRPr/>
          </a:p>
        </p:txBody>
      </p:sp>
      <p:sp>
        <p:nvSpPr>
          <p:cNvPr id="680" name="Google Shape;680;p33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NodeManager, MapReduce task e Spark executor usano CPU e memoria del nodo.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4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TASK NODES</a:t>
            </a:r>
            <a:endParaRPr/>
          </a:p>
        </p:txBody>
      </p:sp>
      <p:sp>
        <p:nvSpPr>
          <p:cNvPr id="687" name="Google Shape;687;p3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 task nodes aggiungono compute senza HDFS</a:t>
            </a:r>
            <a:endParaRPr/>
          </a:p>
        </p:txBody>
      </p:sp>
      <p:sp>
        <p:nvSpPr>
          <p:cNvPr id="688" name="Google Shape;688;p3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34</a:t>
            </a:r>
            <a:endParaRPr/>
          </a:p>
        </p:txBody>
      </p:sp>
      <p:sp>
        <p:nvSpPr>
          <p:cNvPr id="689" name="Google Shape;689;p34"/>
          <p:cNvSpPr/>
          <p:nvPr/>
        </p:nvSpPr>
        <p:spPr>
          <a:xfrm>
            <a:off x="857250" y="2190750"/>
            <a:ext cx="2857500" cy="1143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4"/>
          <p:cNvSpPr/>
          <p:nvPr/>
        </p:nvSpPr>
        <p:spPr>
          <a:xfrm>
            <a:off x="1009650" y="2362200"/>
            <a:ext cx="255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NO DATANODE</a:t>
            </a:r>
            <a:endParaRPr/>
          </a:p>
        </p:txBody>
      </p:sp>
      <p:sp>
        <p:nvSpPr>
          <p:cNvPr id="691" name="Google Shape;691;p34"/>
          <p:cNvSpPr/>
          <p:nvPr/>
        </p:nvSpPr>
        <p:spPr>
          <a:xfrm>
            <a:off x="1009650" y="2724150"/>
            <a:ext cx="2552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non conservano blocchi HDFS</a:t>
            </a:r>
            <a:endParaRPr/>
          </a:p>
        </p:txBody>
      </p:sp>
      <p:sp>
        <p:nvSpPr>
          <p:cNvPr id="692" name="Google Shape;692;p34"/>
          <p:cNvSpPr/>
          <p:nvPr/>
        </p:nvSpPr>
        <p:spPr>
          <a:xfrm>
            <a:off x="4667250" y="2190750"/>
            <a:ext cx="2857500" cy="1143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4"/>
          <p:cNvSpPr/>
          <p:nvPr/>
        </p:nvSpPr>
        <p:spPr>
          <a:xfrm>
            <a:off x="4819650" y="2362200"/>
            <a:ext cx="255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YES COMPUTE</a:t>
            </a:r>
            <a:endParaRPr/>
          </a:p>
        </p:txBody>
      </p:sp>
      <p:sp>
        <p:nvSpPr>
          <p:cNvPr id="694" name="Google Shape;694;p34"/>
          <p:cNvSpPr/>
          <p:nvPr/>
        </p:nvSpPr>
        <p:spPr>
          <a:xfrm>
            <a:off x="4819650" y="2724150"/>
            <a:ext cx="2552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MapReduce task • Spark executor</a:t>
            </a:r>
            <a:endParaRPr/>
          </a:p>
        </p:txBody>
      </p:sp>
      <p:sp>
        <p:nvSpPr>
          <p:cNvPr id="695" name="Google Shape;695;p34"/>
          <p:cNvSpPr/>
          <p:nvPr/>
        </p:nvSpPr>
        <p:spPr>
          <a:xfrm>
            <a:off x="8477250" y="2190750"/>
            <a:ext cx="2857500" cy="1143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4"/>
          <p:cNvSpPr/>
          <p:nvPr/>
        </p:nvSpPr>
        <p:spPr>
          <a:xfrm>
            <a:off x="8629650" y="2362200"/>
            <a:ext cx="255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ELASTIC</a:t>
            </a:r>
            <a:endParaRPr/>
          </a:p>
        </p:txBody>
      </p:sp>
      <p:sp>
        <p:nvSpPr>
          <p:cNvPr id="697" name="Google Shape;697;p34"/>
          <p:cNvSpPr/>
          <p:nvPr/>
        </p:nvSpPr>
        <p:spPr>
          <a:xfrm>
            <a:off x="8629650" y="2724150"/>
            <a:ext cx="2552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aggiungibili e rimovibili</a:t>
            </a:r>
            <a:endParaRPr/>
          </a:p>
        </p:txBody>
      </p:sp>
      <p:sp>
        <p:nvSpPr>
          <p:cNvPr id="698" name="Google Shape;698;p34"/>
          <p:cNvSpPr/>
          <p:nvPr/>
        </p:nvSpPr>
        <p:spPr>
          <a:xfrm>
            <a:off x="2714625" y="5000625"/>
            <a:ext cx="6762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Il ruolo task è il candidato naturale per capacità volatile.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5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YARN ON EMR</a:t>
            </a:r>
            <a:endParaRPr/>
          </a:p>
        </p:txBody>
      </p:sp>
      <p:sp>
        <p:nvSpPr>
          <p:cNvPr id="705" name="Google Shape;705;p3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YARN assegna risorse ai framework</a:t>
            </a:r>
            <a:endParaRPr/>
          </a:p>
        </p:txBody>
      </p:sp>
      <p:sp>
        <p:nvSpPr>
          <p:cNvPr id="706" name="Google Shape;706;p3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35</a:t>
            </a:r>
            <a:endParaRPr/>
          </a:p>
        </p:txBody>
      </p:sp>
      <p:sp>
        <p:nvSpPr>
          <p:cNvPr id="707" name="Google Shape;707;p35"/>
          <p:cNvSpPr/>
          <p:nvPr/>
        </p:nvSpPr>
        <p:spPr>
          <a:xfrm>
            <a:off x="3476625" y="2505075"/>
            <a:ext cx="152400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5"/>
          <p:cNvSpPr/>
          <p:nvPr/>
        </p:nvSpPr>
        <p:spPr>
          <a:xfrm>
            <a:off x="4848225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709" name="Google Shape;709;p35"/>
          <p:cNvSpPr/>
          <p:nvPr/>
        </p:nvSpPr>
        <p:spPr>
          <a:xfrm>
            <a:off x="3476625" y="216217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containers</a:t>
            </a:r>
            <a:endParaRPr/>
          </a:p>
        </p:txBody>
      </p:sp>
      <p:sp>
        <p:nvSpPr>
          <p:cNvPr id="710" name="Google Shape;710;p35"/>
          <p:cNvSpPr/>
          <p:nvPr/>
        </p:nvSpPr>
        <p:spPr>
          <a:xfrm>
            <a:off x="7191375" y="2505075"/>
            <a:ext cx="152400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5"/>
          <p:cNvSpPr/>
          <p:nvPr/>
        </p:nvSpPr>
        <p:spPr>
          <a:xfrm>
            <a:off x="8562975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712" name="Google Shape;712;p35"/>
          <p:cNvSpPr/>
          <p:nvPr/>
        </p:nvSpPr>
        <p:spPr>
          <a:xfrm>
            <a:off x="7191375" y="216217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tasks</a:t>
            </a:r>
            <a:endParaRPr/>
          </a:p>
        </p:txBody>
      </p:sp>
      <p:sp>
        <p:nvSpPr>
          <p:cNvPr id="713" name="Google Shape;713;p35"/>
          <p:cNvSpPr/>
          <p:nvPr/>
        </p:nvSpPr>
        <p:spPr>
          <a:xfrm>
            <a:off x="762000" y="2000250"/>
            <a:ext cx="2714625" cy="1238250"/>
          </a:xfrm>
          <a:prstGeom prst="roundRect">
            <a:avLst>
              <a:gd fmla="val 6154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5"/>
          <p:cNvSpPr/>
          <p:nvPr/>
        </p:nvSpPr>
        <p:spPr>
          <a:xfrm>
            <a:off x="914400" y="2171700"/>
            <a:ext cx="2409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RESOURCEMANAGER</a:t>
            </a:r>
            <a:endParaRPr/>
          </a:p>
        </p:txBody>
      </p:sp>
      <p:sp>
        <p:nvSpPr>
          <p:cNvPr id="715" name="Google Shape;715;p35"/>
          <p:cNvSpPr/>
          <p:nvPr/>
        </p:nvSpPr>
        <p:spPr>
          <a:xfrm>
            <a:off x="914400" y="2533650"/>
            <a:ext cx="24098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cluster resources</a:t>
            </a:r>
            <a:endParaRPr/>
          </a:p>
        </p:txBody>
      </p:sp>
      <p:sp>
        <p:nvSpPr>
          <p:cNvPr id="716" name="Google Shape;716;p35"/>
          <p:cNvSpPr/>
          <p:nvPr/>
        </p:nvSpPr>
        <p:spPr>
          <a:xfrm>
            <a:off x="5000625" y="2000250"/>
            <a:ext cx="2190750" cy="1238250"/>
          </a:xfrm>
          <a:prstGeom prst="roundRect">
            <a:avLst>
              <a:gd fmla="val 6154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5"/>
          <p:cNvSpPr/>
          <p:nvPr/>
        </p:nvSpPr>
        <p:spPr>
          <a:xfrm>
            <a:off x="5153025" y="2171700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NODEMANAGER</a:t>
            </a:r>
            <a:endParaRPr/>
          </a:p>
        </p:txBody>
      </p:sp>
      <p:sp>
        <p:nvSpPr>
          <p:cNvPr id="718" name="Google Shape;718;p35"/>
          <p:cNvSpPr/>
          <p:nvPr/>
        </p:nvSpPr>
        <p:spPr>
          <a:xfrm>
            <a:off x="5153025" y="2533650"/>
            <a:ext cx="18859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node resources</a:t>
            </a:r>
            <a:endParaRPr/>
          </a:p>
        </p:txBody>
      </p:sp>
      <p:sp>
        <p:nvSpPr>
          <p:cNvPr id="719" name="Google Shape;719;p35"/>
          <p:cNvSpPr/>
          <p:nvPr/>
        </p:nvSpPr>
        <p:spPr>
          <a:xfrm>
            <a:off x="8715375" y="2000250"/>
            <a:ext cx="2714625" cy="1238250"/>
          </a:xfrm>
          <a:prstGeom prst="roundRect">
            <a:avLst>
              <a:gd fmla="val 6154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5"/>
          <p:cNvSpPr/>
          <p:nvPr/>
        </p:nvSpPr>
        <p:spPr>
          <a:xfrm>
            <a:off x="8867775" y="2171700"/>
            <a:ext cx="2409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APPLICATION</a:t>
            </a:r>
            <a:endParaRPr/>
          </a:p>
        </p:txBody>
      </p:sp>
      <p:sp>
        <p:nvSpPr>
          <p:cNvPr id="721" name="Google Shape;721;p35"/>
          <p:cNvSpPr/>
          <p:nvPr/>
        </p:nvSpPr>
        <p:spPr>
          <a:xfrm>
            <a:off x="8867775" y="2533650"/>
            <a:ext cx="24098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MapReduce / Spark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6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HDFS • EMRFS • S3A</a:t>
            </a:r>
            <a:endParaRPr/>
          </a:p>
        </p:txBody>
      </p:sp>
      <p:sp>
        <p:nvSpPr>
          <p:cNvPr id="728" name="Google Shape;728;p3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EMR può leggere S3 come filesystem Hadoop</a:t>
            </a:r>
            <a:endParaRPr/>
          </a:p>
        </p:txBody>
      </p:sp>
      <p:sp>
        <p:nvSpPr>
          <p:cNvPr id="729" name="Google Shape;729;p3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36</a:t>
            </a:r>
            <a:endParaRPr/>
          </a:p>
        </p:txBody>
      </p:sp>
      <p:sp>
        <p:nvSpPr>
          <p:cNvPr id="730" name="Google Shape;730;p36"/>
          <p:cNvSpPr/>
          <p:nvPr/>
        </p:nvSpPr>
        <p:spPr>
          <a:xfrm>
            <a:off x="857250" y="1666875"/>
            <a:ext cx="27622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6"/>
          <p:cNvSpPr/>
          <p:nvPr/>
        </p:nvSpPr>
        <p:spPr>
          <a:xfrm>
            <a:off x="952500" y="1800225"/>
            <a:ext cx="2571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Layer</a:t>
            </a:r>
            <a:endParaRPr/>
          </a:p>
        </p:txBody>
      </p:sp>
      <p:sp>
        <p:nvSpPr>
          <p:cNvPr id="732" name="Google Shape;732;p36"/>
          <p:cNvSpPr/>
          <p:nvPr/>
        </p:nvSpPr>
        <p:spPr>
          <a:xfrm>
            <a:off x="3619500" y="1666875"/>
            <a:ext cx="42862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6"/>
          <p:cNvSpPr/>
          <p:nvPr/>
        </p:nvSpPr>
        <p:spPr>
          <a:xfrm>
            <a:off x="3714750" y="180022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Dove vive il dato</a:t>
            </a:r>
            <a:endParaRPr/>
          </a:p>
        </p:txBody>
      </p:sp>
      <p:sp>
        <p:nvSpPr>
          <p:cNvPr id="734" name="Google Shape;734;p36"/>
          <p:cNvSpPr/>
          <p:nvPr/>
        </p:nvSpPr>
        <p:spPr>
          <a:xfrm>
            <a:off x="7905750" y="1666875"/>
            <a:ext cx="34290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6"/>
          <p:cNvSpPr/>
          <p:nvPr/>
        </p:nvSpPr>
        <p:spPr>
          <a:xfrm>
            <a:off x="8001000" y="1800225"/>
            <a:ext cx="3238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Ciclo di vita</a:t>
            </a:r>
            <a:endParaRPr/>
          </a:p>
        </p:txBody>
      </p:sp>
      <p:sp>
        <p:nvSpPr>
          <p:cNvPr id="736" name="Google Shape;736;p36"/>
          <p:cNvSpPr/>
          <p:nvPr/>
        </p:nvSpPr>
        <p:spPr>
          <a:xfrm>
            <a:off x="857250" y="2162175"/>
            <a:ext cx="27622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6"/>
          <p:cNvSpPr/>
          <p:nvPr/>
        </p:nvSpPr>
        <p:spPr>
          <a:xfrm>
            <a:off x="990600" y="2276475"/>
            <a:ext cx="24955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HDFS</a:t>
            </a:r>
            <a:endParaRPr/>
          </a:p>
        </p:txBody>
      </p:sp>
      <p:sp>
        <p:nvSpPr>
          <p:cNvPr id="738" name="Google Shape;738;p36"/>
          <p:cNvSpPr/>
          <p:nvPr/>
        </p:nvSpPr>
        <p:spPr>
          <a:xfrm>
            <a:off x="3619500" y="2162175"/>
            <a:ext cx="42862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6"/>
          <p:cNvSpPr/>
          <p:nvPr/>
        </p:nvSpPr>
        <p:spPr>
          <a:xfrm>
            <a:off x="3752850" y="2276475"/>
            <a:ext cx="40195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dischi dei core nodes</a:t>
            </a:r>
            <a:endParaRPr/>
          </a:p>
        </p:txBody>
      </p:sp>
      <p:sp>
        <p:nvSpPr>
          <p:cNvPr id="740" name="Google Shape;740;p36"/>
          <p:cNvSpPr/>
          <p:nvPr/>
        </p:nvSpPr>
        <p:spPr>
          <a:xfrm>
            <a:off x="7905750" y="2162175"/>
            <a:ext cx="342900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6"/>
          <p:cNvSpPr/>
          <p:nvPr/>
        </p:nvSpPr>
        <p:spPr>
          <a:xfrm>
            <a:off x="8039100" y="2276475"/>
            <a:ext cx="316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cluster</a:t>
            </a:r>
            <a:endParaRPr/>
          </a:p>
        </p:txBody>
      </p:sp>
      <p:sp>
        <p:nvSpPr>
          <p:cNvPr id="742" name="Google Shape;742;p36"/>
          <p:cNvSpPr/>
          <p:nvPr/>
        </p:nvSpPr>
        <p:spPr>
          <a:xfrm>
            <a:off x="857250" y="2981325"/>
            <a:ext cx="27622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6"/>
          <p:cNvSpPr/>
          <p:nvPr/>
        </p:nvSpPr>
        <p:spPr>
          <a:xfrm>
            <a:off x="990600" y="3095625"/>
            <a:ext cx="24955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EMRFS</a:t>
            </a:r>
            <a:endParaRPr/>
          </a:p>
        </p:txBody>
      </p:sp>
      <p:sp>
        <p:nvSpPr>
          <p:cNvPr id="744" name="Google Shape;744;p36"/>
          <p:cNvSpPr/>
          <p:nvPr/>
        </p:nvSpPr>
        <p:spPr>
          <a:xfrm>
            <a:off x="3619500" y="2981325"/>
            <a:ext cx="42862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6"/>
          <p:cNvSpPr/>
          <p:nvPr/>
        </p:nvSpPr>
        <p:spPr>
          <a:xfrm>
            <a:off x="3752850" y="3095625"/>
            <a:ext cx="40195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Amazon S3 via connettore EMR</a:t>
            </a:r>
            <a:endParaRPr/>
          </a:p>
        </p:txBody>
      </p:sp>
      <p:sp>
        <p:nvSpPr>
          <p:cNvPr id="746" name="Google Shape;746;p36"/>
          <p:cNvSpPr/>
          <p:nvPr/>
        </p:nvSpPr>
        <p:spPr>
          <a:xfrm>
            <a:off x="7905750" y="2981325"/>
            <a:ext cx="342900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6"/>
          <p:cNvSpPr/>
          <p:nvPr/>
        </p:nvSpPr>
        <p:spPr>
          <a:xfrm>
            <a:off x="8039100" y="3095625"/>
            <a:ext cx="316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bucket</a:t>
            </a:r>
            <a:endParaRPr/>
          </a:p>
        </p:txBody>
      </p:sp>
      <p:sp>
        <p:nvSpPr>
          <p:cNvPr id="748" name="Google Shape;748;p36"/>
          <p:cNvSpPr/>
          <p:nvPr/>
        </p:nvSpPr>
        <p:spPr>
          <a:xfrm>
            <a:off x="857250" y="3800475"/>
            <a:ext cx="27622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6"/>
          <p:cNvSpPr/>
          <p:nvPr/>
        </p:nvSpPr>
        <p:spPr>
          <a:xfrm>
            <a:off x="990600" y="3914775"/>
            <a:ext cx="24955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S3A</a:t>
            </a:r>
            <a:endParaRPr/>
          </a:p>
        </p:txBody>
      </p:sp>
      <p:sp>
        <p:nvSpPr>
          <p:cNvPr id="750" name="Google Shape;750;p36"/>
          <p:cNvSpPr/>
          <p:nvPr/>
        </p:nvSpPr>
        <p:spPr>
          <a:xfrm>
            <a:off x="3619500" y="3800475"/>
            <a:ext cx="42862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6"/>
          <p:cNvSpPr/>
          <p:nvPr/>
        </p:nvSpPr>
        <p:spPr>
          <a:xfrm>
            <a:off x="3752850" y="3914775"/>
            <a:ext cx="40195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Amazon S3 via Hadoop connector</a:t>
            </a:r>
            <a:endParaRPr/>
          </a:p>
        </p:txBody>
      </p:sp>
      <p:sp>
        <p:nvSpPr>
          <p:cNvPr id="752" name="Google Shape;752;p36"/>
          <p:cNvSpPr/>
          <p:nvPr/>
        </p:nvSpPr>
        <p:spPr>
          <a:xfrm>
            <a:off x="7905750" y="3800475"/>
            <a:ext cx="342900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6"/>
          <p:cNvSpPr/>
          <p:nvPr/>
        </p:nvSpPr>
        <p:spPr>
          <a:xfrm>
            <a:off x="8039100" y="3914775"/>
            <a:ext cx="316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bucket</a:t>
            </a:r>
            <a:endParaRPr/>
          </a:p>
        </p:txBody>
      </p:sp>
      <p:sp>
        <p:nvSpPr>
          <p:cNvPr id="754" name="Google Shape;754;p36"/>
          <p:cNvSpPr/>
          <p:nvPr/>
        </p:nvSpPr>
        <p:spPr>
          <a:xfrm>
            <a:off x="857250" y="4619625"/>
            <a:ext cx="27622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6"/>
          <p:cNvSpPr/>
          <p:nvPr/>
        </p:nvSpPr>
        <p:spPr>
          <a:xfrm>
            <a:off x="990600" y="4733925"/>
            <a:ext cx="24955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LOCAL</a:t>
            </a:r>
            <a:endParaRPr/>
          </a:p>
        </p:txBody>
      </p:sp>
      <p:sp>
        <p:nvSpPr>
          <p:cNvPr id="756" name="Google Shape;756;p36"/>
          <p:cNvSpPr/>
          <p:nvPr/>
        </p:nvSpPr>
        <p:spPr>
          <a:xfrm>
            <a:off x="3619500" y="4619625"/>
            <a:ext cx="42862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6"/>
          <p:cNvSpPr/>
          <p:nvPr/>
        </p:nvSpPr>
        <p:spPr>
          <a:xfrm>
            <a:off x="3752850" y="4733925"/>
            <a:ext cx="40195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disco della singola istanza</a:t>
            </a:r>
            <a:endParaRPr/>
          </a:p>
        </p:txBody>
      </p:sp>
      <p:sp>
        <p:nvSpPr>
          <p:cNvPr id="758" name="Google Shape;758;p36"/>
          <p:cNvSpPr/>
          <p:nvPr/>
        </p:nvSpPr>
        <p:spPr>
          <a:xfrm>
            <a:off x="7905750" y="4619625"/>
            <a:ext cx="342900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6"/>
          <p:cNvSpPr/>
          <p:nvPr/>
        </p:nvSpPr>
        <p:spPr>
          <a:xfrm>
            <a:off x="8039100" y="4733925"/>
            <a:ext cx="3162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istanza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7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AMAZON EMR • S3 CONNECTOR</a:t>
            </a:r>
            <a:endParaRPr/>
          </a:p>
        </p:txBody>
      </p:sp>
      <p:sp>
        <p:nvSpPr>
          <p:cNvPr id="766" name="Google Shape;766;p3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Dalla release EMR 7.10, S3A è il connettore predefinito</a:t>
            </a:r>
            <a:endParaRPr/>
          </a:p>
        </p:txBody>
      </p:sp>
      <p:sp>
        <p:nvSpPr>
          <p:cNvPr id="767" name="Google Shape;767;p3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37</a:t>
            </a:r>
            <a:endParaRPr/>
          </a:p>
        </p:txBody>
      </p:sp>
      <p:sp>
        <p:nvSpPr>
          <p:cNvPr id="768" name="Google Shape;768;p37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00B8D9"/>
                </a:solidFill>
              </a:rPr>
              <a:t>“</a:t>
            </a:r>
            <a:endParaRPr/>
          </a:p>
        </p:txBody>
      </p:sp>
      <p:sp>
        <p:nvSpPr>
          <p:cNvPr id="769" name="Google Shape;769;p37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Per gli schemi s3://, s3a:// e s3n:// sui cluster EMR, la documentazione indica S3A come file system predefinito.</a:t>
            </a:r>
            <a:endParaRPr/>
          </a:p>
        </p:txBody>
      </p:sp>
      <p:sp>
        <p:nvSpPr>
          <p:cNvPr id="770" name="Google Shape;770;p37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8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CLUSTER LIFECYCLE</a:t>
            </a:r>
            <a:endParaRPr/>
          </a:p>
        </p:txBody>
      </p:sp>
      <p:sp>
        <p:nvSpPr>
          <p:cNvPr id="777" name="Google Shape;777;p3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Cluster transiente e persistente ottimizzano obiettivi diversi</a:t>
            </a:r>
            <a:endParaRPr/>
          </a:p>
        </p:txBody>
      </p:sp>
      <p:sp>
        <p:nvSpPr>
          <p:cNvPr id="778" name="Google Shape;778;p3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38</a:t>
            </a:r>
            <a:endParaRPr/>
          </a:p>
        </p:txBody>
      </p:sp>
      <p:sp>
        <p:nvSpPr>
          <p:cNvPr id="779" name="Google Shape;779;p38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8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8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8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8"/>
          <p:cNvSpPr/>
          <p:nvPr/>
        </p:nvSpPr>
        <p:spPr>
          <a:xfrm>
            <a:off x="10287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TRANSIENT</a:t>
            </a:r>
            <a:endParaRPr/>
          </a:p>
        </p:txBody>
      </p:sp>
      <p:sp>
        <p:nvSpPr>
          <p:cNvPr id="784" name="Google Shape;784;p38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Nasce per una pipeline, legge S3, produce output e termina. Isolamento e costo legati al job; startup da considerare.</a:t>
            </a:r>
            <a:endParaRPr/>
          </a:p>
        </p:txBody>
      </p:sp>
      <p:sp>
        <p:nvSpPr>
          <p:cNvPr id="785" name="Google Shape;785;p38"/>
          <p:cNvSpPr/>
          <p:nvPr/>
        </p:nvSpPr>
        <p:spPr>
          <a:xfrm>
            <a:off x="67056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PERSISTENT</a:t>
            </a:r>
            <a:endParaRPr/>
          </a:p>
        </p:txBody>
      </p:sp>
      <p:sp>
        <p:nvSpPr>
          <p:cNvPr id="786" name="Google Shape;786;p38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Resta disponibile per job ripetuti o interattivi. Minore latenza di avvio; patch, capacità idle e drift da governare.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9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SPOT CAPACITY</a:t>
            </a:r>
            <a:endParaRPr/>
          </a:p>
        </p:txBody>
      </p:sp>
      <p:sp>
        <p:nvSpPr>
          <p:cNvPr id="793" name="Google Shape;793;p3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Spot riduce il prezzo e aumenta la probabilità di interruzione</a:t>
            </a:r>
            <a:endParaRPr/>
          </a:p>
        </p:txBody>
      </p:sp>
      <p:sp>
        <p:nvSpPr>
          <p:cNvPr id="794" name="Google Shape;794;p3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39</a:t>
            </a:r>
            <a:endParaRPr/>
          </a:p>
        </p:txBody>
      </p:sp>
      <p:sp>
        <p:nvSpPr>
          <p:cNvPr id="795" name="Google Shape;795;p39"/>
          <p:cNvSpPr/>
          <p:nvPr/>
        </p:nvSpPr>
        <p:spPr>
          <a:xfrm>
            <a:off x="809625" y="1762125"/>
            <a:ext cx="27622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9"/>
          <p:cNvSpPr/>
          <p:nvPr/>
        </p:nvSpPr>
        <p:spPr>
          <a:xfrm>
            <a:off x="904875" y="1895475"/>
            <a:ext cx="2571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Uso</a:t>
            </a:r>
            <a:endParaRPr/>
          </a:p>
        </p:txBody>
      </p:sp>
      <p:sp>
        <p:nvSpPr>
          <p:cNvPr id="797" name="Google Shape;797;p39"/>
          <p:cNvSpPr/>
          <p:nvPr/>
        </p:nvSpPr>
        <p:spPr>
          <a:xfrm>
            <a:off x="3571875" y="1762125"/>
            <a:ext cx="4000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9"/>
          <p:cNvSpPr/>
          <p:nvPr/>
        </p:nvSpPr>
        <p:spPr>
          <a:xfrm>
            <a:off x="3667125" y="1895475"/>
            <a:ext cx="3810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Scelta prudente</a:t>
            </a:r>
            <a:endParaRPr/>
          </a:p>
        </p:txBody>
      </p:sp>
      <p:sp>
        <p:nvSpPr>
          <p:cNvPr id="799" name="Google Shape;799;p39"/>
          <p:cNvSpPr/>
          <p:nvPr/>
        </p:nvSpPr>
        <p:spPr>
          <a:xfrm>
            <a:off x="7572375" y="1762125"/>
            <a:ext cx="4000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9"/>
          <p:cNvSpPr/>
          <p:nvPr/>
        </p:nvSpPr>
        <p:spPr>
          <a:xfrm>
            <a:off x="7667625" y="1895475"/>
            <a:ext cx="3810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Rischio</a:t>
            </a:r>
            <a:endParaRPr/>
          </a:p>
        </p:txBody>
      </p:sp>
      <p:sp>
        <p:nvSpPr>
          <p:cNvPr id="801" name="Google Shape;801;p39"/>
          <p:cNvSpPr/>
          <p:nvPr/>
        </p:nvSpPr>
        <p:spPr>
          <a:xfrm>
            <a:off x="809625" y="2257425"/>
            <a:ext cx="2762250" cy="8382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9"/>
          <p:cNvSpPr/>
          <p:nvPr/>
        </p:nvSpPr>
        <p:spPr>
          <a:xfrm>
            <a:off x="942975" y="2371725"/>
            <a:ext cx="24955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Primary</a:t>
            </a:r>
            <a:endParaRPr/>
          </a:p>
        </p:txBody>
      </p:sp>
      <p:sp>
        <p:nvSpPr>
          <p:cNvPr id="803" name="Google Shape;803;p39"/>
          <p:cNvSpPr/>
          <p:nvPr/>
        </p:nvSpPr>
        <p:spPr>
          <a:xfrm>
            <a:off x="3571875" y="2257425"/>
            <a:ext cx="4000500" cy="8382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9"/>
          <p:cNvSpPr/>
          <p:nvPr/>
        </p:nvSpPr>
        <p:spPr>
          <a:xfrm>
            <a:off x="3705225" y="2371725"/>
            <a:ext cx="373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On-Demand</a:t>
            </a:r>
            <a:endParaRPr/>
          </a:p>
        </p:txBody>
      </p:sp>
      <p:sp>
        <p:nvSpPr>
          <p:cNvPr id="805" name="Google Shape;805;p39"/>
          <p:cNvSpPr/>
          <p:nvPr/>
        </p:nvSpPr>
        <p:spPr>
          <a:xfrm>
            <a:off x="7572375" y="2257425"/>
            <a:ext cx="4000500" cy="8382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9"/>
          <p:cNvSpPr/>
          <p:nvPr/>
        </p:nvSpPr>
        <p:spPr>
          <a:xfrm>
            <a:off x="7705725" y="2371725"/>
            <a:ext cx="373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coordinamento critico</a:t>
            </a:r>
            <a:endParaRPr/>
          </a:p>
        </p:txBody>
      </p:sp>
      <p:sp>
        <p:nvSpPr>
          <p:cNvPr id="807" name="Google Shape;807;p39"/>
          <p:cNvSpPr/>
          <p:nvPr/>
        </p:nvSpPr>
        <p:spPr>
          <a:xfrm>
            <a:off x="809625" y="3095625"/>
            <a:ext cx="276225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9"/>
          <p:cNvSpPr/>
          <p:nvPr/>
        </p:nvSpPr>
        <p:spPr>
          <a:xfrm>
            <a:off x="942975" y="3209925"/>
            <a:ext cx="24955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Core con HDFS</a:t>
            </a:r>
            <a:endParaRPr/>
          </a:p>
        </p:txBody>
      </p:sp>
      <p:sp>
        <p:nvSpPr>
          <p:cNvPr id="809" name="Google Shape;809;p39"/>
          <p:cNvSpPr/>
          <p:nvPr/>
        </p:nvSpPr>
        <p:spPr>
          <a:xfrm>
            <a:off x="3571875" y="3095625"/>
            <a:ext cx="400050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9"/>
          <p:cNvSpPr/>
          <p:nvPr/>
        </p:nvSpPr>
        <p:spPr>
          <a:xfrm>
            <a:off x="3705225" y="3209925"/>
            <a:ext cx="373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cautela / On-Demand</a:t>
            </a:r>
            <a:endParaRPr/>
          </a:p>
        </p:txBody>
      </p:sp>
      <p:sp>
        <p:nvSpPr>
          <p:cNvPr id="811" name="Google Shape;811;p39"/>
          <p:cNvSpPr/>
          <p:nvPr/>
        </p:nvSpPr>
        <p:spPr>
          <a:xfrm>
            <a:off x="7572375" y="3095625"/>
            <a:ext cx="400050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9"/>
          <p:cNvSpPr/>
          <p:nvPr/>
        </p:nvSpPr>
        <p:spPr>
          <a:xfrm>
            <a:off x="7705725" y="3209925"/>
            <a:ext cx="373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perdita blocchi e stabilità</a:t>
            </a:r>
            <a:endParaRPr/>
          </a:p>
        </p:txBody>
      </p:sp>
      <p:sp>
        <p:nvSpPr>
          <p:cNvPr id="813" name="Google Shape;813;p39"/>
          <p:cNvSpPr/>
          <p:nvPr/>
        </p:nvSpPr>
        <p:spPr>
          <a:xfrm>
            <a:off x="809625" y="3933825"/>
            <a:ext cx="2762250" cy="8382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9"/>
          <p:cNvSpPr/>
          <p:nvPr/>
        </p:nvSpPr>
        <p:spPr>
          <a:xfrm>
            <a:off x="942975" y="4048125"/>
            <a:ext cx="24955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Task</a:t>
            </a:r>
            <a:endParaRPr/>
          </a:p>
        </p:txBody>
      </p:sp>
      <p:sp>
        <p:nvSpPr>
          <p:cNvPr id="815" name="Google Shape;815;p39"/>
          <p:cNvSpPr/>
          <p:nvPr/>
        </p:nvSpPr>
        <p:spPr>
          <a:xfrm>
            <a:off x="3571875" y="3933825"/>
            <a:ext cx="4000500" cy="8382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9"/>
          <p:cNvSpPr/>
          <p:nvPr/>
        </p:nvSpPr>
        <p:spPr>
          <a:xfrm>
            <a:off x="3705225" y="4048125"/>
            <a:ext cx="373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Spot possibile</a:t>
            </a:r>
            <a:endParaRPr/>
          </a:p>
        </p:txBody>
      </p:sp>
      <p:sp>
        <p:nvSpPr>
          <p:cNvPr id="817" name="Google Shape;817;p39"/>
          <p:cNvSpPr/>
          <p:nvPr/>
        </p:nvSpPr>
        <p:spPr>
          <a:xfrm>
            <a:off x="7572375" y="3933825"/>
            <a:ext cx="4000500" cy="8382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9"/>
          <p:cNvSpPr/>
          <p:nvPr/>
        </p:nvSpPr>
        <p:spPr>
          <a:xfrm>
            <a:off x="7705725" y="4048125"/>
            <a:ext cx="373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retry e capacità variabile</a:t>
            </a:r>
            <a:endParaRPr/>
          </a:p>
        </p:txBody>
      </p:sp>
      <p:sp>
        <p:nvSpPr>
          <p:cNvPr id="819" name="Google Shape;819;p39"/>
          <p:cNvSpPr/>
          <p:nvPr/>
        </p:nvSpPr>
        <p:spPr>
          <a:xfrm>
            <a:off x="809625" y="4772025"/>
            <a:ext cx="276225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9"/>
          <p:cNvSpPr/>
          <p:nvPr/>
        </p:nvSpPr>
        <p:spPr>
          <a:xfrm>
            <a:off x="942975" y="4886325"/>
            <a:ext cx="24955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Serverless</a:t>
            </a:r>
            <a:endParaRPr/>
          </a:p>
        </p:txBody>
      </p:sp>
      <p:sp>
        <p:nvSpPr>
          <p:cNvPr id="821" name="Google Shape;821;p39"/>
          <p:cNvSpPr/>
          <p:nvPr/>
        </p:nvSpPr>
        <p:spPr>
          <a:xfrm>
            <a:off x="3571875" y="4772025"/>
            <a:ext cx="400050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9"/>
          <p:cNvSpPr/>
          <p:nvPr/>
        </p:nvSpPr>
        <p:spPr>
          <a:xfrm>
            <a:off x="3705225" y="4886325"/>
            <a:ext cx="373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astratto dal tipo di acquisto</a:t>
            </a:r>
            <a:endParaRPr/>
          </a:p>
        </p:txBody>
      </p:sp>
      <p:sp>
        <p:nvSpPr>
          <p:cNvPr id="823" name="Google Shape;823;p39"/>
          <p:cNvSpPr/>
          <p:nvPr/>
        </p:nvSpPr>
        <p:spPr>
          <a:xfrm>
            <a:off x="7572375" y="4772025"/>
            <a:ext cx="400050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9"/>
          <p:cNvSpPr/>
          <p:nvPr/>
        </p:nvSpPr>
        <p:spPr>
          <a:xfrm>
            <a:off x="7705725" y="4886325"/>
            <a:ext cx="3733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limiti e disponibilità servizio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0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SPARK ON EMR</a:t>
            </a:r>
            <a:endParaRPr/>
          </a:p>
        </p:txBody>
      </p:sp>
      <p:sp>
        <p:nvSpPr>
          <p:cNvPr id="831" name="Google Shape;831;p40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Spark su EMR conserva driver, executor, stage e task</a:t>
            </a:r>
            <a:endParaRPr/>
          </a:p>
        </p:txBody>
      </p:sp>
      <p:sp>
        <p:nvSpPr>
          <p:cNvPr id="832" name="Google Shape;832;p4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40</a:t>
            </a:r>
            <a:endParaRPr/>
          </a:p>
        </p:txBody>
      </p:sp>
      <p:sp>
        <p:nvSpPr>
          <p:cNvPr id="833" name="Google Shape;833;p40"/>
          <p:cNvSpPr/>
          <p:nvPr/>
        </p:nvSpPr>
        <p:spPr>
          <a:xfrm>
            <a:off x="3048000" y="2505075"/>
            <a:ext cx="133350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0"/>
          <p:cNvSpPr/>
          <p:nvPr/>
        </p:nvSpPr>
        <p:spPr>
          <a:xfrm>
            <a:off x="4229100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835" name="Google Shape;835;p40"/>
          <p:cNvSpPr/>
          <p:nvPr/>
        </p:nvSpPr>
        <p:spPr>
          <a:xfrm>
            <a:off x="3048000" y="2162175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submit</a:t>
            </a:r>
            <a:endParaRPr/>
          </a:p>
        </p:txBody>
      </p:sp>
      <p:sp>
        <p:nvSpPr>
          <p:cNvPr id="836" name="Google Shape;836;p40"/>
          <p:cNvSpPr/>
          <p:nvPr/>
        </p:nvSpPr>
        <p:spPr>
          <a:xfrm>
            <a:off x="7334250" y="2505075"/>
            <a:ext cx="133350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40"/>
          <p:cNvSpPr/>
          <p:nvPr/>
        </p:nvSpPr>
        <p:spPr>
          <a:xfrm>
            <a:off x="8515350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838" name="Google Shape;838;p40"/>
          <p:cNvSpPr/>
          <p:nvPr/>
        </p:nvSpPr>
        <p:spPr>
          <a:xfrm>
            <a:off x="7334250" y="2162175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read/write</a:t>
            </a:r>
            <a:endParaRPr/>
          </a:p>
        </p:txBody>
      </p:sp>
      <p:sp>
        <p:nvSpPr>
          <p:cNvPr id="839" name="Google Shape;839;p40"/>
          <p:cNvSpPr/>
          <p:nvPr/>
        </p:nvSpPr>
        <p:spPr>
          <a:xfrm>
            <a:off x="762000" y="2047875"/>
            <a:ext cx="2286000" cy="1143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0"/>
          <p:cNvSpPr/>
          <p:nvPr/>
        </p:nvSpPr>
        <p:spPr>
          <a:xfrm>
            <a:off x="914400" y="221932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JOB</a:t>
            </a:r>
            <a:endParaRPr/>
          </a:p>
        </p:txBody>
      </p:sp>
      <p:sp>
        <p:nvSpPr>
          <p:cNvPr id="841" name="Google Shape;841;p40"/>
          <p:cNvSpPr/>
          <p:nvPr/>
        </p:nvSpPr>
        <p:spPr>
          <a:xfrm>
            <a:off x="914400" y="258127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spark-submit</a:t>
            </a:r>
            <a:endParaRPr/>
          </a:p>
        </p:txBody>
      </p:sp>
      <p:sp>
        <p:nvSpPr>
          <p:cNvPr id="842" name="Google Shape;842;p40"/>
          <p:cNvSpPr/>
          <p:nvPr/>
        </p:nvSpPr>
        <p:spPr>
          <a:xfrm>
            <a:off x="4381500" y="1857375"/>
            <a:ext cx="2952750" cy="1524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40"/>
          <p:cNvSpPr/>
          <p:nvPr/>
        </p:nvSpPr>
        <p:spPr>
          <a:xfrm>
            <a:off x="4533900" y="2028825"/>
            <a:ext cx="264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SPARK RUNTIME</a:t>
            </a:r>
            <a:endParaRPr/>
          </a:p>
        </p:txBody>
      </p:sp>
      <p:sp>
        <p:nvSpPr>
          <p:cNvPr id="844" name="Google Shape;844;p40"/>
          <p:cNvSpPr/>
          <p:nvPr/>
        </p:nvSpPr>
        <p:spPr>
          <a:xfrm>
            <a:off x="4533900" y="2390775"/>
            <a:ext cx="26479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driver • executor • DAG</a:t>
            </a:r>
            <a:endParaRPr/>
          </a:p>
        </p:txBody>
      </p:sp>
      <p:sp>
        <p:nvSpPr>
          <p:cNvPr id="845" name="Google Shape;845;p40"/>
          <p:cNvSpPr/>
          <p:nvPr/>
        </p:nvSpPr>
        <p:spPr>
          <a:xfrm>
            <a:off x="8667750" y="2047875"/>
            <a:ext cx="2762250" cy="11430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40"/>
          <p:cNvSpPr/>
          <p:nvPr/>
        </p:nvSpPr>
        <p:spPr>
          <a:xfrm>
            <a:off x="8820150" y="2219325"/>
            <a:ext cx="2457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B1F33"/>
                </a:solidFill>
              </a:rPr>
              <a:t>S3 / HDFS</a:t>
            </a:r>
            <a:endParaRPr/>
          </a:p>
        </p:txBody>
      </p:sp>
      <p:sp>
        <p:nvSpPr>
          <p:cNvPr id="847" name="Google Shape;847;p40"/>
          <p:cNvSpPr/>
          <p:nvPr/>
        </p:nvSpPr>
        <p:spPr>
          <a:xfrm>
            <a:off x="8820150" y="2581275"/>
            <a:ext cx="2457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52606D"/>
                </a:solidFill>
              </a:rPr>
              <a:t>data + shuffle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1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HADOOP ECOSYSTEM</a:t>
            </a:r>
            <a:endParaRPr/>
          </a:p>
        </p:txBody>
      </p:sp>
      <p:sp>
        <p:nvSpPr>
          <p:cNvPr id="854" name="Google Shape;854;p41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MapReduce, Hive e Pig restano disponibili su EMR</a:t>
            </a:r>
            <a:endParaRPr/>
          </a:p>
        </p:txBody>
      </p:sp>
      <p:sp>
        <p:nvSpPr>
          <p:cNvPr id="855" name="Google Shape;855;p4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41</a:t>
            </a:r>
            <a:endParaRPr/>
          </a:p>
        </p:txBody>
      </p:sp>
      <p:sp>
        <p:nvSpPr>
          <p:cNvPr id="856" name="Google Shape;856;p41"/>
          <p:cNvSpPr/>
          <p:nvPr/>
        </p:nvSpPr>
        <p:spPr>
          <a:xfrm>
            <a:off x="685800" y="2000250"/>
            <a:ext cx="2552700" cy="1952625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1"/>
          <p:cNvSpPr/>
          <p:nvPr/>
        </p:nvSpPr>
        <p:spPr>
          <a:xfrm>
            <a:off x="685800" y="2000250"/>
            <a:ext cx="25527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1"/>
          <p:cNvSpPr/>
          <p:nvPr/>
        </p:nvSpPr>
        <p:spPr>
          <a:xfrm>
            <a:off x="8953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MAPREDUCE</a:t>
            </a:r>
            <a:endParaRPr/>
          </a:p>
        </p:txBody>
      </p:sp>
      <p:sp>
        <p:nvSpPr>
          <p:cNvPr id="859" name="Google Shape;859;p41"/>
          <p:cNvSpPr/>
          <p:nvPr/>
        </p:nvSpPr>
        <p:spPr>
          <a:xfrm>
            <a:off x="895350" y="2743200"/>
            <a:ext cx="21336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key/value e batch distribuito</a:t>
            </a:r>
            <a:endParaRPr/>
          </a:p>
        </p:txBody>
      </p:sp>
      <p:sp>
        <p:nvSpPr>
          <p:cNvPr id="860" name="Google Shape;860;p41"/>
          <p:cNvSpPr/>
          <p:nvPr/>
        </p:nvSpPr>
        <p:spPr>
          <a:xfrm>
            <a:off x="3467100" y="2000250"/>
            <a:ext cx="2552700" cy="1952625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1"/>
          <p:cNvSpPr/>
          <p:nvPr/>
        </p:nvSpPr>
        <p:spPr>
          <a:xfrm>
            <a:off x="3467100" y="2000250"/>
            <a:ext cx="25527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41"/>
          <p:cNvSpPr/>
          <p:nvPr/>
        </p:nvSpPr>
        <p:spPr>
          <a:xfrm>
            <a:off x="36766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HIVE</a:t>
            </a:r>
            <a:endParaRPr/>
          </a:p>
        </p:txBody>
      </p:sp>
      <p:sp>
        <p:nvSpPr>
          <p:cNvPr id="863" name="Google Shape;863;p41"/>
          <p:cNvSpPr/>
          <p:nvPr/>
        </p:nvSpPr>
        <p:spPr>
          <a:xfrm>
            <a:off x="3676650" y="2743200"/>
            <a:ext cx="21336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SQL e catalogo</a:t>
            </a:r>
            <a:endParaRPr/>
          </a:p>
        </p:txBody>
      </p:sp>
      <p:sp>
        <p:nvSpPr>
          <p:cNvPr id="864" name="Google Shape;864;p41"/>
          <p:cNvSpPr/>
          <p:nvPr/>
        </p:nvSpPr>
        <p:spPr>
          <a:xfrm>
            <a:off x="6248400" y="2000250"/>
            <a:ext cx="2552700" cy="1952625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1"/>
          <p:cNvSpPr/>
          <p:nvPr/>
        </p:nvSpPr>
        <p:spPr>
          <a:xfrm>
            <a:off x="6248400" y="2000250"/>
            <a:ext cx="25527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1"/>
          <p:cNvSpPr/>
          <p:nvPr/>
        </p:nvSpPr>
        <p:spPr>
          <a:xfrm>
            <a:off x="64579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PIG</a:t>
            </a:r>
            <a:endParaRPr/>
          </a:p>
        </p:txBody>
      </p:sp>
      <p:sp>
        <p:nvSpPr>
          <p:cNvPr id="867" name="Google Shape;867;p41"/>
          <p:cNvSpPr/>
          <p:nvPr/>
        </p:nvSpPr>
        <p:spPr>
          <a:xfrm>
            <a:off x="6457950" y="2743200"/>
            <a:ext cx="21336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data flow storico</a:t>
            </a:r>
            <a:endParaRPr/>
          </a:p>
        </p:txBody>
      </p:sp>
      <p:sp>
        <p:nvSpPr>
          <p:cNvPr id="868" name="Google Shape;868;p41"/>
          <p:cNvSpPr/>
          <p:nvPr/>
        </p:nvSpPr>
        <p:spPr>
          <a:xfrm>
            <a:off x="9029700" y="2000250"/>
            <a:ext cx="2552700" cy="1952625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1"/>
          <p:cNvSpPr/>
          <p:nvPr/>
        </p:nvSpPr>
        <p:spPr>
          <a:xfrm>
            <a:off x="9029700" y="2000250"/>
            <a:ext cx="25527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1"/>
          <p:cNvSpPr/>
          <p:nvPr/>
        </p:nvSpPr>
        <p:spPr>
          <a:xfrm>
            <a:off x="92392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SPARK</a:t>
            </a:r>
            <a:endParaRPr/>
          </a:p>
        </p:txBody>
      </p:sp>
      <p:sp>
        <p:nvSpPr>
          <p:cNvPr id="871" name="Google Shape;871;p41"/>
          <p:cNvSpPr/>
          <p:nvPr/>
        </p:nvSpPr>
        <p:spPr>
          <a:xfrm>
            <a:off x="9239250" y="2743200"/>
            <a:ext cx="21336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DAG, SQL, streaming, ML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2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CLUSTER CONFIGURATION</a:t>
            </a:r>
            <a:endParaRPr/>
          </a:p>
        </p:txBody>
      </p:sp>
      <p:sp>
        <p:nvSpPr>
          <p:cNvPr id="878" name="Google Shape;878;p4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Release, configuration e bootstrap rendono il cluster riproducibile</a:t>
            </a:r>
            <a:endParaRPr/>
          </a:p>
        </p:txBody>
      </p:sp>
      <p:sp>
        <p:nvSpPr>
          <p:cNvPr id="879" name="Google Shape;879;p4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42</a:t>
            </a:r>
            <a:endParaRPr/>
          </a:p>
        </p:txBody>
      </p:sp>
      <p:sp>
        <p:nvSpPr>
          <p:cNvPr id="880" name="Google Shape;880;p42"/>
          <p:cNvSpPr/>
          <p:nvPr/>
        </p:nvSpPr>
        <p:spPr>
          <a:xfrm>
            <a:off x="762000" y="1666875"/>
            <a:ext cx="2857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42"/>
          <p:cNvSpPr/>
          <p:nvPr/>
        </p:nvSpPr>
        <p:spPr>
          <a:xfrm>
            <a:off x="857250" y="1800225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Meccanismo</a:t>
            </a:r>
            <a:endParaRPr/>
          </a:p>
        </p:txBody>
      </p:sp>
      <p:sp>
        <p:nvSpPr>
          <p:cNvPr id="882" name="Google Shape;882;p42"/>
          <p:cNvSpPr/>
          <p:nvPr/>
        </p:nvSpPr>
        <p:spPr>
          <a:xfrm>
            <a:off x="3619500" y="1666875"/>
            <a:ext cx="4476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42"/>
          <p:cNvSpPr/>
          <p:nvPr/>
        </p:nvSpPr>
        <p:spPr>
          <a:xfrm>
            <a:off x="3714750" y="1800225"/>
            <a:ext cx="4286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Definisce</a:t>
            </a:r>
            <a:endParaRPr/>
          </a:p>
        </p:txBody>
      </p:sp>
      <p:sp>
        <p:nvSpPr>
          <p:cNvPr id="884" name="Google Shape;884;p42"/>
          <p:cNvSpPr/>
          <p:nvPr/>
        </p:nvSpPr>
        <p:spPr>
          <a:xfrm>
            <a:off x="8096250" y="1666875"/>
            <a:ext cx="3333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42"/>
          <p:cNvSpPr/>
          <p:nvPr/>
        </p:nvSpPr>
        <p:spPr>
          <a:xfrm>
            <a:off x="8191500" y="1800225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Attenzione</a:t>
            </a:r>
            <a:endParaRPr/>
          </a:p>
        </p:txBody>
      </p:sp>
      <p:sp>
        <p:nvSpPr>
          <p:cNvPr id="886" name="Google Shape;886;p42"/>
          <p:cNvSpPr/>
          <p:nvPr/>
        </p:nvSpPr>
        <p:spPr>
          <a:xfrm>
            <a:off x="762000" y="2162175"/>
            <a:ext cx="285750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2"/>
          <p:cNvSpPr/>
          <p:nvPr/>
        </p:nvSpPr>
        <p:spPr>
          <a:xfrm>
            <a:off x="895350" y="2276475"/>
            <a:ext cx="2590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Release label</a:t>
            </a:r>
            <a:endParaRPr/>
          </a:p>
        </p:txBody>
      </p:sp>
      <p:sp>
        <p:nvSpPr>
          <p:cNvPr id="888" name="Google Shape;888;p42"/>
          <p:cNvSpPr/>
          <p:nvPr/>
        </p:nvSpPr>
        <p:spPr>
          <a:xfrm>
            <a:off x="3619500" y="2162175"/>
            <a:ext cx="4476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2"/>
          <p:cNvSpPr/>
          <p:nvPr/>
        </p:nvSpPr>
        <p:spPr>
          <a:xfrm>
            <a:off x="3752850" y="2276475"/>
            <a:ext cx="4210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versioni applicazioni</a:t>
            </a:r>
            <a:endParaRPr/>
          </a:p>
        </p:txBody>
      </p:sp>
      <p:sp>
        <p:nvSpPr>
          <p:cNvPr id="890" name="Google Shape;890;p42"/>
          <p:cNvSpPr/>
          <p:nvPr/>
        </p:nvSpPr>
        <p:spPr>
          <a:xfrm>
            <a:off x="8096250" y="2162175"/>
            <a:ext cx="3333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42"/>
          <p:cNvSpPr/>
          <p:nvPr/>
        </p:nvSpPr>
        <p:spPr>
          <a:xfrm>
            <a:off x="8229600" y="2276475"/>
            <a:ext cx="3067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compatibilità e upgrade</a:t>
            </a:r>
            <a:endParaRPr/>
          </a:p>
        </p:txBody>
      </p:sp>
      <p:sp>
        <p:nvSpPr>
          <p:cNvPr id="892" name="Google Shape;892;p42"/>
          <p:cNvSpPr/>
          <p:nvPr/>
        </p:nvSpPr>
        <p:spPr>
          <a:xfrm>
            <a:off x="762000" y="2981325"/>
            <a:ext cx="285750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42"/>
          <p:cNvSpPr/>
          <p:nvPr/>
        </p:nvSpPr>
        <p:spPr>
          <a:xfrm>
            <a:off x="895350" y="3095625"/>
            <a:ext cx="2590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Configuration</a:t>
            </a:r>
            <a:endParaRPr/>
          </a:p>
        </p:txBody>
      </p:sp>
      <p:sp>
        <p:nvSpPr>
          <p:cNvPr id="894" name="Google Shape;894;p42"/>
          <p:cNvSpPr/>
          <p:nvPr/>
        </p:nvSpPr>
        <p:spPr>
          <a:xfrm>
            <a:off x="3619500" y="2981325"/>
            <a:ext cx="4476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42"/>
          <p:cNvSpPr/>
          <p:nvPr/>
        </p:nvSpPr>
        <p:spPr>
          <a:xfrm>
            <a:off x="3752850" y="3095625"/>
            <a:ext cx="4210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proprietà Spark/Hadoop</a:t>
            </a:r>
            <a:endParaRPr/>
          </a:p>
        </p:txBody>
      </p:sp>
      <p:sp>
        <p:nvSpPr>
          <p:cNvPr id="896" name="Google Shape;896;p42"/>
          <p:cNvSpPr/>
          <p:nvPr/>
        </p:nvSpPr>
        <p:spPr>
          <a:xfrm>
            <a:off x="8096250" y="2981325"/>
            <a:ext cx="3333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2"/>
          <p:cNvSpPr/>
          <p:nvPr/>
        </p:nvSpPr>
        <p:spPr>
          <a:xfrm>
            <a:off x="8229600" y="3095625"/>
            <a:ext cx="3067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validare classificazioni</a:t>
            </a:r>
            <a:endParaRPr/>
          </a:p>
        </p:txBody>
      </p:sp>
      <p:sp>
        <p:nvSpPr>
          <p:cNvPr id="898" name="Google Shape;898;p42"/>
          <p:cNvSpPr/>
          <p:nvPr/>
        </p:nvSpPr>
        <p:spPr>
          <a:xfrm>
            <a:off x="762000" y="3800475"/>
            <a:ext cx="285750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2"/>
          <p:cNvSpPr/>
          <p:nvPr/>
        </p:nvSpPr>
        <p:spPr>
          <a:xfrm>
            <a:off x="895350" y="3914775"/>
            <a:ext cx="2590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Bootstrap action</a:t>
            </a:r>
            <a:endParaRPr/>
          </a:p>
        </p:txBody>
      </p:sp>
      <p:sp>
        <p:nvSpPr>
          <p:cNvPr id="900" name="Google Shape;900;p42"/>
          <p:cNvSpPr/>
          <p:nvPr/>
        </p:nvSpPr>
        <p:spPr>
          <a:xfrm>
            <a:off x="3619500" y="3800475"/>
            <a:ext cx="4476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42"/>
          <p:cNvSpPr/>
          <p:nvPr/>
        </p:nvSpPr>
        <p:spPr>
          <a:xfrm>
            <a:off x="3752850" y="3914775"/>
            <a:ext cx="4210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script prima dei servizi</a:t>
            </a:r>
            <a:endParaRPr/>
          </a:p>
        </p:txBody>
      </p:sp>
      <p:sp>
        <p:nvSpPr>
          <p:cNvPr id="902" name="Google Shape;902;p42"/>
          <p:cNvSpPr/>
          <p:nvPr/>
        </p:nvSpPr>
        <p:spPr>
          <a:xfrm>
            <a:off x="8096250" y="3800475"/>
            <a:ext cx="3333750" cy="8191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42"/>
          <p:cNvSpPr/>
          <p:nvPr/>
        </p:nvSpPr>
        <p:spPr>
          <a:xfrm>
            <a:off x="8229600" y="3914775"/>
            <a:ext cx="3067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idempotenza e failure</a:t>
            </a:r>
            <a:endParaRPr/>
          </a:p>
        </p:txBody>
      </p:sp>
      <p:sp>
        <p:nvSpPr>
          <p:cNvPr id="904" name="Google Shape;904;p42"/>
          <p:cNvSpPr/>
          <p:nvPr/>
        </p:nvSpPr>
        <p:spPr>
          <a:xfrm>
            <a:off x="762000" y="4619625"/>
            <a:ext cx="285750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2"/>
          <p:cNvSpPr/>
          <p:nvPr/>
        </p:nvSpPr>
        <p:spPr>
          <a:xfrm>
            <a:off x="895350" y="4733925"/>
            <a:ext cx="2590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Step</a:t>
            </a:r>
            <a:endParaRPr/>
          </a:p>
        </p:txBody>
      </p:sp>
      <p:sp>
        <p:nvSpPr>
          <p:cNvPr id="906" name="Google Shape;906;p42"/>
          <p:cNvSpPr/>
          <p:nvPr/>
        </p:nvSpPr>
        <p:spPr>
          <a:xfrm>
            <a:off x="3619500" y="4619625"/>
            <a:ext cx="4476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2"/>
          <p:cNvSpPr/>
          <p:nvPr/>
        </p:nvSpPr>
        <p:spPr>
          <a:xfrm>
            <a:off x="3752850" y="4733925"/>
            <a:ext cx="4210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job eseguito sul cluster</a:t>
            </a:r>
            <a:endParaRPr/>
          </a:p>
        </p:txBody>
      </p:sp>
      <p:sp>
        <p:nvSpPr>
          <p:cNvPr id="908" name="Google Shape;908;p42"/>
          <p:cNvSpPr/>
          <p:nvPr/>
        </p:nvSpPr>
        <p:spPr>
          <a:xfrm>
            <a:off x="8096250" y="4619625"/>
            <a:ext cx="3333750" cy="819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2"/>
          <p:cNvSpPr/>
          <p:nvPr/>
        </p:nvSpPr>
        <p:spPr>
          <a:xfrm>
            <a:off x="8229600" y="4733925"/>
            <a:ext cx="30670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failure action e dipendenze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3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SERVERLESS</a:t>
            </a:r>
            <a:endParaRPr/>
          </a:p>
        </p:txBody>
      </p:sp>
      <p:sp>
        <p:nvSpPr>
          <p:cNvPr id="916" name="Google Shape;916;p4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EMR Serverless elimina il cluster da amministrare</a:t>
            </a:r>
            <a:endParaRPr/>
          </a:p>
        </p:txBody>
      </p:sp>
      <p:sp>
        <p:nvSpPr>
          <p:cNvPr id="917" name="Google Shape;917;p4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43</a:t>
            </a:r>
            <a:endParaRPr/>
          </a:p>
        </p:txBody>
      </p:sp>
      <p:sp>
        <p:nvSpPr>
          <p:cNvPr id="918" name="Google Shape;918;p43"/>
          <p:cNvSpPr/>
          <p:nvPr/>
        </p:nvSpPr>
        <p:spPr>
          <a:xfrm>
            <a:off x="1047750" y="1857375"/>
            <a:ext cx="4000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TU DEFINISCI</a:t>
            </a:r>
            <a:endParaRPr/>
          </a:p>
        </p:txBody>
      </p:sp>
      <p:sp>
        <p:nvSpPr>
          <p:cNvPr id="919" name="Google Shape;919;p43"/>
          <p:cNvSpPr/>
          <p:nvPr/>
        </p:nvSpPr>
        <p:spPr>
          <a:xfrm>
            <a:off x="1047750" y="2428875"/>
            <a:ext cx="4476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application • job • runtime role • capacità massima</a:t>
            </a:r>
            <a:endParaRPr/>
          </a:p>
        </p:txBody>
      </p:sp>
      <p:sp>
        <p:nvSpPr>
          <p:cNvPr id="920" name="Google Shape;920;p43"/>
          <p:cNvSpPr/>
          <p:nvPr/>
        </p:nvSpPr>
        <p:spPr>
          <a:xfrm>
            <a:off x="6953250" y="1857375"/>
            <a:ext cx="4000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AWS GESTISCE</a:t>
            </a:r>
            <a:endParaRPr/>
          </a:p>
        </p:txBody>
      </p:sp>
      <p:sp>
        <p:nvSpPr>
          <p:cNvPr id="921" name="Google Shape;921;p43"/>
          <p:cNvSpPr/>
          <p:nvPr/>
        </p:nvSpPr>
        <p:spPr>
          <a:xfrm>
            <a:off x="6953250" y="2428875"/>
            <a:ext cx="44767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worker provisioning • sostituzione • scaling del runtime</a:t>
            </a:r>
            <a:endParaRPr/>
          </a:p>
        </p:txBody>
      </p:sp>
      <p:sp>
        <p:nvSpPr>
          <p:cNvPr id="922" name="Google Shape;922;p43"/>
          <p:cNvSpPr/>
          <p:nvPr/>
        </p:nvSpPr>
        <p:spPr>
          <a:xfrm>
            <a:off x="2095500" y="485775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Serverless riduce operations; non elimina configurazione, dati, policy e costi.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4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SERVERLESS • STORAGE</a:t>
            </a:r>
            <a:endParaRPr/>
          </a:p>
        </p:txBody>
      </p:sp>
      <p:sp>
        <p:nvSpPr>
          <p:cNvPr id="929" name="Google Shape;929;p4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EMR Serverless non supporta HDFS</a:t>
            </a:r>
            <a:endParaRPr/>
          </a:p>
        </p:txBody>
      </p:sp>
      <p:sp>
        <p:nvSpPr>
          <p:cNvPr id="930" name="Google Shape;930;p4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44</a:t>
            </a:r>
            <a:endParaRPr/>
          </a:p>
        </p:txBody>
      </p:sp>
      <p:sp>
        <p:nvSpPr>
          <p:cNvPr id="931" name="Google Shape;931;p44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EF5A5A"/>
                </a:solidFill>
              </a:rPr>
              <a:t>“</a:t>
            </a:r>
            <a:endParaRPr/>
          </a:p>
        </p:txBody>
      </p:sp>
      <p:sp>
        <p:nvSpPr>
          <p:cNvPr id="932" name="Google Shape;932;p44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I dischi locali dei worker sono temporanei e servono a shuffle e processing. Il dato persistente del laboratorio vive in S3.</a:t>
            </a:r>
            <a:endParaRPr/>
          </a:p>
        </p:txBody>
      </p:sp>
      <p:sp>
        <p:nvSpPr>
          <p:cNvPr id="933" name="Google Shape;933;p44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5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SERVERLESS OBJECTS</a:t>
            </a:r>
            <a:endParaRPr/>
          </a:p>
        </p:txBody>
      </p:sp>
      <p:sp>
        <p:nvSpPr>
          <p:cNvPr id="940" name="Google Shape;940;p4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Application, job run e worker hanno cicli diversi</a:t>
            </a:r>
            <a:endParaRPr/>
          </a:p>
        </p:txBody>
      </p:sp>
      <p:sp>
        <p:nvSpPr>
          <p:cNvPr id="941" name="Google Shape;941;p4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45</a:t>
            </a:r>
            <a:endParaRPr/>
          </a:p>
        </p:txBody>
      </p:sp>
      <p:sp>
        <p:nvSpPr>
          <p:cNvPr id="942" name="Google Shape;942;p45"/>
          <p:cNvSpPr/>
          <p:nvPr/>
        </p:nvSpPr>
        <p:spPr>
          <a:xfrm>
            <a:off x="781050" y="17145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943" name="Google Shape;943;p45"/>
          <p:cNvSpPr/>
          <p:nvPr/>
        </p:nvSpPr>
        <p:spPr>
          <a:xfrm>
            <a:off x="1666875" y="1714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APPLICATION</a:t>
            </a:r>
            <a:endParaRPr/>
          </a:p>
        </p:txBody>
      </p:sp>
      <p:sp>
        <p:nvSpPr>
          <p:cNvPr id="944" name="Google Shape;944;p45"/>
          <p:cNvSpPr/>
          <p:nvPr/>
        </p:nvSpPr>
        <p:spPr>
          <a:xfrm>
            <a:off x="4762500" y="17145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runtime Spark/Hive e limiti condivisi</a:t>
            </a:r>
            <a:endParaRPr/>
          </a:p>
        </p:txBody>
      </p:sp>
      <p:sp>
        <p:nvSpPr>
          <p:cNvPr id="945" name="Google Shape;945;p45"/>
          <p:cNvSpPr/>
          <p:nvPr/>
        </p:nvSpPr>
        <p:spPr>
          <a:xfrm>
            <a:off x="781050" y="25717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946" name="Google Shape;946;p45"/>
          <p:cNvSpPr/>
          <p:nvPr/>
        </p:nvSpPr>
        <p:spPr>
          <a:xfrm>
            <a:off x="1666875" y="2571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JOB RUN</a:t>
            </a:r>
            <a:endParaRPr/>
          </a:p>
        </p:txBody>
      </p:sp>
      <p:sp>
        <p:nvSpPr>
          <p:cNvPr id="947" name="Google Shape;947;p45"/>
          <p:cNvSpPr/>
          <p:nvPr/>
        </p:nvSpPr>
        <p:spPr>
          <a:xfrm>
            <a:off x="4762500" y="25717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una richiesta con driver, argomenti e ruolo</a:t>
            </a:r>
            <a:endParaRPr/>
          </a:p>
        </p:txBody>
      </p:sp>
      <p:sp>
        <p:nvSpPr>
          <p:cNvPr id="948" name="Google Shape;948;p45"/>
          <p:cNvSpPr/>
          <p:nvPr/>
        </p:nvSpPr>
        <p:spPr>
          <a:xfrm>
            <a:off x="781050" y="34290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03</a:t>
            </a:r>
            <a:endParaRPr/>
          </a:p>
        </p:txBody>
      </p:sp>
      <p:sp>
        <p:nvSpPr>
          <p:cNvPr id="949" name="Google Shape;949;p45"/>
          <p:cNvSpPr/>
          <p:nvPr/>
        </p:nvSpPr>
        <p:spPr>
          <a:xfrm>
            <a:off x="1666875" y="34290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WORKERS</a:t>
            </a:r>
            <a:endParaRPr/>
          </a:p>
        </p:txBody>
      </p:sp>
      <p:sp>
        <p:nvSpPr>
          <p:cNvPr id="950" name="Google Shape;950;p45"/>
          <p:cNvSpPr/>
          <p:nvPr/>
        </p:nvSpPr>
        <p:spPr>
          <a:xfrm>
            <a:off x="4762500" y="34290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capacità allocata per driver ed executor</a:t>
            </a:r>
            <a:endParaRPr/>
          </a:p>
        </p:txBody>
      </p:sp>
      <p:sp>
        <p:nvSpPr>
          <p:cNvPr id="951" name="Google Shape;951;p45"/>
          <p:cNvSpPr/>
          <p:nvPr/>
        </p:nvSpPr>
        <p:spPr>
          <a:xfrm>
            <a:off x="781050" y="42862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04</a:t>
            </a:r>
            <a:endParaRPr/>
          </a:p>
        </p:txBody>
      </p:sp>
      <p:sp>
        <p:nvSpPr>
          <p:cNvPr id="952" name="Google Shape;952;p45"/>
          <p:cNvSpPr/>
          <p:nvPr/>
        </p:nvSpPr>
        <p:spPr>
          <a:xfrm>
            <a:off x="1666875" y="42862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OUTPUT</a:t>
            </a:r>
            <a:endParaRPr/>
          </a:p>
        </p:txBody>
      </p:sp>
      <p:sp>
        <p:nvSpPr>
          <p:cNvPr id="953" name="Google Shape;953;p45"/>
          <p:cNvSpPr/>
          <p:nvPr/>
        </p:nvSpPr>
        <p:spPr>
          <a:xfrm>
            <a:off x="4762500" y="42862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dato persistente e log fuori dai worker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6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CAPACITY</a:t>
            </a:r>
            <a:endParaRPr/>
          </a:p>
        </p:txBody>
      </p:sp>
      <p:sp>
        <p:nvSpPr>
          <p:cNvPr id="960" name="Google Shape;960;p4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Auto-start, auto-stop e maximum capacity sono guardrail</a:t>
            </a:r>
            <a:endParaRPr/>
          </a:p>
        </p:txBody>
      </p:sp>
      <p:sp>
        <p:nvSpPr>
          <p:cNvPr id="961" name="Google Shape;961;p4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46</a:t>
            </a:r>
            <a:endParaRPr/>
          </a:p>
        </p:txBody>
      </p:sp>
      <p:sp>
        <p:nvSpPr>
          <p:cNvPr id="962" name="Google Shape;962;p46"/>
          <p:cNvSpPr/>
          <p:nvPr/>
        </p:nvSpPr>
        <p:spPr>
          <a:xfrm>
            <a:off x="685800" y="2000250"/>
            <a:ext cx="2552700" cy="200025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6"/>
          <p:cNvSpPr/>
          <p:nvPr/>
        </p:nvSpPr>
        <p:spPr>
          <a:xfrm>
            <a:off x="685800" y="2000250"/>
            <a:ext cx="25527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6"/>
          <p:cNvSpPr/>
          <p:nvPr/>
        </p:nvSpPr>
        <p:spPr>
          <a:xfrm>
            <a:off x="8953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AUTO-START</a:t>
            </a:r>
            <a:endParaRPr/>
          </a:p>
        </p:txBody>
      </p:sp>
      <p:sp>
        <p:nvSpPr>
          <p:cNvPr id="965" name="Google Shape;965;p46"/>
          <p:cNvSpPr/>
          <p:nvPr/>
        </p:nvSpPr>
        <p:spPr>
          <a:xfrm>
            <a:off x="895350" y="2743200"/>
            <a:ext cx="21336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avvia alla submission</a:t>
            </a:r>
            <a:endParaRPr/>
          </a:p>
        </p:txBody>
      </p:sp>
      <p:sp>
        <p:nvSpPr>
          <p:cNvPr id="966" name="Google Shape;966;p46"/>
          <p:cNvSpPr/>
          <p:nvPr/>
        </p:nvSpPr>
        <p:spPr>
          <a:xfrm>
            <a:off x="3467100" y="2000250"/>
            <a:ext cx="2552700" cy="200025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6"/>
          <p:cNvSpPr/>
          <p:nvPr/>
        </p:nvSpPr>
        <p:spPr>
          <a:xfrm>
            <a:off x="3467100" y="2000250"/>
            <a:ext cx="25527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6"/>
          <p:cNvSpPr/>
          <p:nvPr/>
        </p:nvSpPr>
        <p:spPr>
          <a:xfrm>
            <a:off x="36766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AUTO-STOP</a:t>
            </a:r>
            <a:endParaRPr/>
          </a:p>
        </p:txBody>
      </p:sp>
      <p:sp>
        <p:nvSpPr>
          <p:cNvPr id="969" name="Google Shape;969;p46"/>
          <p:cNvSpPr/>
          <p:nvPr/>
        </p:nvSpPr>
        <p:spPr>
          <a:xfrm>
            <a:off x="3676650" y="2743200"/>
            <a:ext cx="21336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ferma dopo inattività</a:t>
            </a:r>
            <a:endParaRPr/>
          </a:p>
        </p:txBody>
      </p:sp>
      <p:sp>
        <p:nvSpPr>
          <p:cNvPr id="970" name="Google Shape;970;p46"/>
          <p:cNvSpPr/>
          <p:nvPr/>
        </p:nvSpPr>
        <p:spPr>
          <a:xfrm>
            <a:off x="6248400" y="2000250"/>
            <a:ext cx="2552700" cy="200025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6"/>
          <p:cNvSpPr/>
          <p:nvPr/>
        </p:nvSpPr>
        <p:spPr>
          <a:xfrm>
            <a:off x="6248400" y="2000250"/>
            <a:ext cx="2552700" cy="85725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6"/>
          <p:cNvSpPr/>
          <p:nvPr/>
        </p:nvSpPr>
        <p:spPr>
          <a:xfrm>
            <a:off x="64579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MAX CAPACITY</a:t>
            </a:r>
            <a:endParaRPr/>
          </a:p>
        </p:txBody>
      </p:sp>
      <p:sp>
        <p:nvSpPr>
          <p:cNvPr id="973" name="Google Shape;973;p46"/>
          <p:cNvSpPr/>
          <p:nvPr/>
        </p:nvSpPr>
        <p:spPr>
          <a:xfrm>
            <a:off x="6457950" y="2743200"/>
            <a:ext cx="21336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limita CPU, memoria e disco</a:t>
            </a:r>
            <a:endParaRPr/>
          </a:p>
        </p:txBody>
      </p:sp>
      <p:sp>
        <p:nvSpPr>
          <p:cNvPr id="974" name="Google Shape;974;p46"/>
          <p:cNvSpPr/>
          <p:nvPr/>
        </p:nvSpPr>
        <p:spPr>
          <a:xfrm>
            <a:off x="9029700" y="2000250"/>
            <a:ext cx="2552700" cy="200025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46"/>
          <p:cNvSpPr/>
          <p:nvPr/>
        </p:nvSpPr>
        <p:spPr>
          <a:xfrm>
            <a:off x="9029700" y="2000250"/>
            <a:ext cx="25527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6"/>
          <p:cNvSpPr/>
          <p:nvPr/>
        </p:nvSpPr>
        <p:spPr>
          <a:xfrm>
            <a:off x="92392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NO PREINIT</a:t>
            </a:r>
            <a:endParaRPr/>
          </a:p>
        </p:txBody>
      </p:sp>
      <p:sp>
        <p:nvSpPr>
          <p:cNvPr id="977" name="Google Shape;977;p46"/>
          <p:cNvSpPr/>
          <p:nvPr/>
        </p:nvSpPr>
        <p:spPr>
          <a:xfrm>
            <a:off x="9239250" y="2743200"/>
            <a:ext cx="21336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evita capacità idle nel laboratorio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47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RELEASE LABEL</a:t>
            </a:r>
            <a:endParaRPr/>
          </a:p>
        </p:txBody>
      </p:sp>
      <p:sp>
        <p:nvSpPr>
          <p:cNvPr id="984" name="Google Shape;984;p4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La release label blocca un ambiente noto</a:t>
            </a:r>
            <a:endParaRPr/>
          </a:p>
        </p:txBody>
      </p:sp>
      <p:sp>
        <p:nvSpPr>
          <p:cNvPr id="985" name="Google Shape;985;p4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47</a:t>
            </a:r>
            <a:endParaRPr/>
          </a:p>
        </p:txBody>
      </p:sp>
      <p:sp>
        <p:nvSpPr>
          <p:cNvPr id="986" name="Google Shape;986;p47"/>
          <p:cNvSpPr/>
          <p:nvPr/>
        </p:nvSpPr>
        <p:spPr>
          <a:xfrm>
            <a:off x="1428750" y="2095500"/>
            <a:ext cx="5905500" cy="952500"/>
          </a:xfrm>
          <a:prstGeom prst="roundRect">
            <a:avLst>
              <a:gd fmla="val 8000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47"/>
          <p:cNvSpPr/>
          <p:nvPr/>
        </p:nvSpPr>
        <p:spPr>
          <a:xfrm>
            <a:off x="1600200" y="2247900"/>
            <a:ext cx="55626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DFF6FB"/>
                </a:solidFill>
              </a:rPr>
              <a:t>--release-label emr-7.13.0</a:t>
            </a:r>
            <a:endParaRPr/>
          </a:p>
        </p:txBody>
      </p:sp>
      <p:sp>
        <p:nvSpPr>
          <p:cNvPr id="988" name="Google Shape;988;p47"/>
          <p:cNvSpPr/>
          <p:nvPr/>
        </p:nvSpPr>
        <p:spPr>
          <a:xfrm>
            <a:off x="8096250" y="19526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Controlla prima del corso:</a:t>
            </a:r>
            <a:endParaRPr/>
          </a:p>
        </p:txBody>
      </p:sp>
      <p:sp>
        <p:nvSpPr>
          <p:cNvPr id="989" name="Google Shape;989;p47"/>
          <p:cNvSpPr/>
          <p:nvPr/>
        </p:nvSpPr>
        <p:spPr>
          <a:xfrm>
            <a:off x="8096250" y="2476500"/>
            <a:ext cx="31432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• regione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• component versions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• deprecazioni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• compatibilità del job</a:t>
            </a:r>
            <a:endParaRPr/>
          </a:p>
        </p:txBody>
      </p:sp>
      <p:sp>
        <p:nvSpPr>
          <p:cNvPr id="990" name="Google Shape;990;p47"/>
          <p:cNvSpPr/>
          <p:nvPr/>
        </p:nvSpPr>
        <p:spPr>
          <a:xfrm>
            <a:off x="3238500" y="49530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F5A5A"/>
                </a:solidFill>
              </a:rPr>
              <a:t>“latest” non è un contratto riproducibile.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8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JOB RUNTIME ROLE</a:t>
            </a:r>
            <a:endParaRPr/>
          </a:p>
        </p:txBody>
      </p:sp>
      <p:sp>
        <p:nvSpPr>
          <p:cNvPr id="997" name="Google Shape;997;p4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runtime role accompagna ogni job</a:t>
            </a:r>
            <a:endParaRPr/>
          </a:p>
        </p:txBody>
      </p:sp>
      <p:sp>
        <p:nvSpPr>
          <p:cNvPr id="998" name="Google Shape;998;p4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48</a:t>
            </a:r>
            <a:endParaRPr/>
          </a:p>
        </p:txBody>
      </p:sp>
      <p:sp>
        <p:nvSpPr>
          <p:cNvPr id="999" name="Google Shape;999;p48"/>
          <p:cNvSpPr/>
          <p:nvPr/>
        </p:nvSpPr>
        <p:spPr>
          <a:xfrm>
            <a:off x="1381125" y="1809750"/>
            <a:ext cx="9429750" cy="2952750"/>
          </a:xfrm>
          <a:prstGeom prst="roundRect">
            <a:avLst>
              <a:gd fmla="val 2581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8"/>
          <p:cNvSpPr/>
          <p:nvPr/>
        </p:nvSpPr>
        <p:spPr>
          <a:xfrm>
            <a:off x="1609725" y="2019300"/>
            <a:ext cx="8972550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FF6FB"/>
                </a:solidFill>
              </a:rPr>
              <a:t>aws emr-serverless start-job-run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FF6FB"/>
                </a:solidFill>
              </a:rPr>
              <a:t>  --application-id "$APP_ID"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FF6FB"/>
                </a:solidFill>
              </a:rPr>
              <a:t>  --execution-role-arn "$RUNTIME_ROLE_ARN"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FF6FB"/>
                </a:solidFill>
              </a:rPr>
              <a:t>  --job-driver file://job-driver.json</a:t>
            </a:r>
            <a:endParaRPr/>
          </a:p>
        </p:txBody>
      </p:sp>
      <p:sp>
        <p:nvSpPr>
          <p:cNvPr id="1001" name="Google Shape;1001;p48"/>
          <p:cNvSpPr/>
          <p:nvPr/>
        </p:nvSpPr>
        <p:spPr>
          <a:xfrm>
            <a:off x="2333625" y="5191125"/>
            <a:ext cx="7524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Il job usa il ruolo per leggere input, codice, output e log autorizzati.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9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IAM:PASSROLE</a:t>
            </a:r>
            <a:endParaRPr/>
          </a:p>
        </p:txBody>
      </p:sp>
      <p:sp>
        <p:nvSpPr>
          <p:cNvPr id="1008" name="Google Shape;1008;p4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PassRole autorizza il passaggio di un ruolo approvato</a:t>
            </a:r>
            <a:endParaRPr/>
          </a:p>
        </p:txBody>
      </p:sp>
      <p:sp>
        <p:nvSpPr>
          <p:cNvPr id="1009" name="Google Shape;1009;p4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49</a:t>
            </a:r>
            <a:endParaRPr/>
          </a:p>
        </p:txBody>
      </p:sp>
      <p:sp>
        <p:nvSpPr>
          <p:cNvPr id="1010" name="Google Shape;1010;p49"/>
          <p:cNvSpPr/>
          <p:nvPr/>
        </p:nvSpPr>
        <p:spPr>
          <a:xfrm>
            <a:off x="3238500" y="2505075"/>
            <a:ext cx="152400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9"/>
          <p:cNvSpPr/>
          <p:nvPr/>
        </p:nvSpPr>
        <p:spPr>
          <a:xfrm>
            <a:off x="4610100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1012" name="Google Shape;1012;p49"/>
          <p:cNvSpPr/>
          <p:nvPr/>
        </p:nvSpPr>
        <p:spPr>
          <a:xfrm>
            <a:off x="3238500" y="216217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PassRole</a:t>
            </a:r>
            <a:endParaRPr/>
          </a:p>
        </p:txBody>
      </p:sp>
      <p:sp>
        <p:nvSpPr>
          <p:cNvPr id="1013" name="Google Shape;1013;p49"/>
          <p:cNvSpPr/>
          <p:nvPr/>
        </p:nvSpPr>
        <p:spPr>
          <a:xfrm>
            <a:off x="7524750" y="2505075"/>
            <a:ext cx="152400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49"/>
          <p:cNvSpPr/>
          <p:nvPr/>
        </p:nvSpPr>
        <p:spPr>
          <a:xfrm>
            <a:off x="8896350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1015" name="Google Shape;1015;p49"/>
          <p:cNvSpPr/>
          <p:nvPr/>
        </p:nvSpPr>
        <p:spPr>
          <a:xfrm>
            <a:off x="7524750" y="216217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AssumeRole</a:t>
            </a:r>
            <a:endParaRPr/>
          </a:p>
        </p:txBody>
      </p:sp>
      <p:sp>
        <p:nvSpPr>
          <p:cNvPr id="1016" name="Google Shape;1016;p49"/>
          <p:cNvSpPr/>
          <p:nvPr/>
        </p:nvSpPr>
        <p:spPr>
          <a:xfrm>
            <a:off x="762000" y="2047875"/>
            <a:ext cx="247650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9"/>
          <p:cNvSpPr/>
          <p:nvPr/>
        </p:nvSpPr>
        <p:spPr>
          <a:xfrm>
            <a:off x="914400" y="2219325"/>
            <a:ext cx="2171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STUDENTE</a:t>
            </a:r>
            <a:endParaRPr/>
          </a:p>
        </p:txBody>
      </p:sp>
      <p:sp>
        <p:nvSpPr>
          <p:cNvPr id="1018" name="Google Shape;1018;p49"/>
          <p:cNvSpPr/>
          <p:nvPr/>
        </p:nvSpPr>
        <p:spPr>
          <a:xfrm>
            <a:off x="914400" y="2581275"/>
            <a:ext cx="2171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caller identity</a:t>
            </a:r>
            <a:endParaRPr/>
          </a:p>
        </p:txBody>
      </p:sp>
      <p:sp>
        <p:nvSpPr>
          <p:cNvPr id="1019" name="Google Shape;1019;p49"/>
          <p:cNvSpPr/>
          <p:nvPr/>
        </p:nvSpPr>
        <p:spPr>
          <a:xfrm>
            <a:off x="4762500" y="2047875"/>
            <a:ext cx="276225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9"/>
          <p:cNvSpPr/>
          <p:nvPr/>
        </p:nvSpPr>
        <p:spPr>
          <a:xfrm>
            <a:off x="4914900" y="2219325"/>
            <a:ext cx="2457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EMR SERVERLESS</a:t>
            </a:r>
            <a:endParaRPr/>
          </a:p>
        </p:txBody>
      </p:sp>
      <p:sp>
        <p:nvSpPr>
          <p:cNvPr id="1021" name="Google Shape;1021;p49"/>
          <p:cNvSpPr/>
          <p:nvPr/>
        </p:nvSpPr>
        <p:spPr>
          <a:xfrm>
            <a:off x="4914900" y="2581275"/>
            <a:ext cx="2457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service</a:t>
            </a:r>
            <a:endParaRPr/>
          </a:p>
        </p:txBody>
      </p:sp>
      <p:sp>
        <p:nvSpPr>
          <p:cNvPr id="1022" name="Google Shape;1022;p49"/>
          <p:cNvSpPr/>
          <p:nvPr/>
        </p:nvSpPr>
        <p:spPr>
          <a:xfrm>
            <a:off x="9048750" y="2047875"/>
            <a:ext cx="2381250" cy="1143000"/>
          </a:xfrm>
          <a:prstGeom prst="roundRect">
            <a:avLst>
              <a:gd fmla="val 6667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49"/>
          <p:cNvSpPr/>
          <p:nvPr/>
        </p:nvSpPr>
        <p:spPr>
          <a:xfrm>
            <a:off x="9201150" y="2219325"/>
            <a:ext cx="2076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RUNTIME ROLE</a:t>
            </a:r>
            <a:endParaRPr/>
          </a:p>
        </p:txBody>
      </p:sp>
      <p:sp>
        <p:nvSpPr>
          <p:cNvPr id="1024" name="Google Shape;1024;p49"/>
          <p:cNvSpPr/>
          <p:nvPr/>
        </p:nvSpPr>
        <p:spPr>
          <a:xfrm>
            <a:off x="9201150" y="2581275"/>
            <a:ext cx="2076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S3-only</a:t>
            </a:r>
            <a:endParaRPr/>
          </a:p>
        </p:txBody>
      </p:sp>
      <p:sp>
        <p:nvSpPr>
          <p:cNvPr id="1025" name="Google Shape;1025;p49"/>
          <p:cNvSpPr/>
          <p:nvPr/>
        </p:nvSpPr>
        <p:spPr>
          <a:xfrm>
            <a:off x="2571750" y="4857750"/>
            <a:ext cx="704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PassRole non concede al chiamante i permessi contenuti nel ruolo.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50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NETWORK</a:t>
            </a:r>
            <a:endParaRPr/>
          </a:p>
        </p:txBody>
      </p:sp>
      <p:sp>
        <p:nvSpPr>
          <p:cNvPr id="1032" name="Google Shape;1032;p50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La VPC serve quando il job deve raggiungere reti private</a:t>
            </a:r>
            <a:endParaRPr/>
          </a:p>
        </p:txBody>
      </p:sp>
      <p:sp>
        <p:nvSpPr>
          <p:cNvPr id="1033" name="Google Shape;1033;p5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50</a:t>
            </a:r>
            <a:endParaRPr/>
          </a:p>
        </p:txBody>
      </p:sp>
      <p:sp>
        <p:nvSpPr>
          <p:cNvPr id="1034" name="Google Shape;1034;p50"/>
          <p:cNvSpPr/>
          <p:nvPr/>
        </p:nvSpPr>
        <p:spPr>
          <a:xfrm>
            <a:off x="6858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50"/>
          <p:cNvSpPr/>
          <p:nvPr/>
        </p:nvSpPr>
        <p:spPr>
          <a:xfrm>
            <a:off x="6362700" y="1809750"/>
            <a:ext cx="51435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50"/>
          <p:cNvSpPr/>
          <p:nvPr/>
        </p:nvSpPr>
        <p:spPr>
          <a:xfrm>
            <a:off x="685800" y="1809750"/>
            <a:ext cx="51435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50"/>
          <p:cNvSpPr/>
          <p:nvPr/>
        </p:nvSpPr>
        <p:spPr>
          <a:xfrm>
            <a:off x="6362700" y="1809750"/>
            <a:ext cx="5143500" cy="762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0"/>
          <p:cNvSpPr/>
          <p:nvPr/>
        </p:nvSpPr>
        <p:spPr>
          <a:xfrm>
            <a:off x="10287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SENZA VPC</a:t>
            </a:r>
            <a:endParaRPr/>
          </a:p>
        </p:txBody>
      </p:sp>
      <p:sp>
        <p:nvSpPr>
          <p:cNvPr id="1039" name="Google Shape;1039;p50"/>
          <p:cNvSpPr/>
          <p:nvPr/>
        </p:nvSpPr>
        <p:spPr>
          <a:xfrm>
            <a:off x="10287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Accesso a servizi supportati nella stessa regione, inclusi S3, Glue, CloudWatch Logs, KMS e STS.</a:t>
            </a:r>
            <a:endParaRPr/>
          </a:p>
        </p:txBody>
      </p:sp>
      <p:sp>
        <p:nvSpPr>
          <p:cNvPr id="1040" name="Google Shape;1040;p50"/>
          <p:cNvSpPr/>
          <p:nvPr/>
        </p:nvSpPr>
        <p:spPr>
          <a:xfrm>
            <a:off x="6705600" y="2143125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F33"/>
                </a:solidFill>
              </a:rPr>
              <a:t>CON VPC</a:t>
            </a:r>
            <a:endParaRPr/>
          </a:p>
        </p:txBody>
      </p:sp>
      <p:sp>
        <p:nvSpPr>
          <p:cNvPr id="1041" name="Google Shape;1041;p50"/>
          <p:cNvSpPr/>
          <p:nvPr/>
        </p:nvSpPr>
        <p:spPr>
          <a:xfrm>
            <a:off x="6705600" y="2809875"/>
            <a:ext cx="43338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Subnet e security group per database o servizi privati; endpoint, routing, IP e costi diventano responsabilità.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1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LOGGING</a:t>
            </a:r>
            <a:endParaRPr/>
          </a:p>
        </p:txBody>
      </p:sp>
      <p:sp>
        <p:nvSpPr>
          <p:cNvPr id="1048" name="Google Shape;1048;p51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 log devono sopravvivere al worker</a:t>
            </a:r>
            <a:endParaRPr/>
          </a:p>
        </p:txBody>
      </p:sp>
      <p:sp>
        <p:nvSpPr>
          <p:cNvPr id="1049" name="Google Shape;1049;p5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51</a:t>
            </a:r>
            <a:endParaRPr/>
          </a:p>
        </p:txBody>
      </p:sp>
      <p:sp>
        <p:nvSpPr>
          <p:cNvPr id="1050" name="Google Shape;1050;p51"/>
          <p:cNvSpPr/>
          <p:nvPr/>
        </p:nvSpPr>
        <p:spPr>
          <a:xfrm>
            <a:off x="809625" y="1762125"/>
            <a:ext cx="30480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51"/>
          <p:cNvSpPr/>
          <p:nvPr/>
        </p:nvSpPr>
        <p:spPr>
          <a:xfrm>
            <a:off x="904875" y="1895475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Destinazione</a:t>
            </a:r>
            <a:endParaRPr/>
          </a:p>
        </p:txBody>
      </p:sp>
      <p:sp>
        <p:nvSpPr>
          <p:cNvPr id="1052" name="Google Shape;1052;p51"/>
          <p:cNvSpPr/>
          <p:nvPr/>
        </p:nvSpPr>
        <p:spPr>
          <a:xfrm>
            <a:off x="3857625" y="1762125"/>
            <a:ext cx="4095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51"/>
          <p:cNvSpPr/>
          <p:nvPr/>
        </p:nvSpPr>
        <p:spPr>
          <a:xfrm>
            <a:off x="3952875" y="189547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Vantaggio</a:t>
            </a:r>
            <a:endParaRPr/>
          </a:p>
        </p:txBody>
      </p:sp>
      <p:sp>
        <p:nvSpPr>
          <p:cNvPr id="1054" name="Google Shape;1054;p51"/>
          <p:cNvSpPr/>
          <p:nvPr/>
        </p:nvSpPr>
        <p:spPr>
          <a:xfrm>
            <a:off x="7953375" y="1762125"/>
            <a:ext cx="3714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51"/>
          <p:cNvSpPr/>
          <p:nvPr/>
        </p:nvSpPr>
        <p:spPr>
          <a:xfrm>
            <a:off x="8048625" y="1895475"/>
            <a:ext cx="3524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Trade-off</a:t>
            </a:r>
            <a:endParaRPr/>
          </a:p>
        </p:txBody>
      </p:sp>
      <p:sp>
        <p:nvSpPr>
          <p:cNvPr id="1056" name="Google Shape;1056;p51"/>
          <p:cNvSpPr/>
          <p:nvPr/>
        </p:nvSpPr>
        <p:spPr>
          <a:xfrm>
            <a:off x="809625" y="2257425"/>
            <a:ext cx="304800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51"/>
          <p:cNvSpPr/>
          <p:nvPr/>
        </p:nvSpPr>
        <p:spPr>
          <a:xfrm>
            <a:off x="942975" y="2371725"/>
            <a:ext cx="27813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Managed storage</a:t>
            </a:r>
            <a:endParaRPr/>
          </a:p>
        </p:txBody>
      </p:sp>
      <p:sp>
        <p:nvSpPr>
          <p:cNvPr id="1058" name="Google Shape;1058;p51"/>
          <p:cNvSpPr/>
          <p:nvPr/>
        </p:nvSpPr>
        <p:spPr>
          <a:xfrm>
            <a:off x="3857625" y="2257425"/>
            <a:ext cx="409575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51"/>
          <p:cNvSpPr/>
          <p:nvPr/>
        </p:nvSpPr>
        <p:spPr>
          <a:xfrm>
            <a:off x="3990975" y="2371725"/>
            <a:ext cx="38290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UI integrata, retention gestita</a:t>
            </a:r>
            <a:endParaRPr/>
          </a:p>
        </p:txBody>
      </p:sp>
      <p:sp>
        <p:nvSpPr>
          <p:cNvPr id="1060" name="Google Shape;1060;p51"/>
          <p:cNvSpPr/>
          <p:nvPr/>
        </p:nvSpPr>
        <p:spPr>
          <a:xfrm>
            <a:off x="7953375" y="2257425"/>
            <a:ext cx="371475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51"/>
          <p:cNvSpPr/>
          <p:nvPr/>
        </p:nvSpPr>
        <p:spPr>
          <a:xfrm>
            <a:off x="8086725" y="2371725"/>
            <a:ext cx="34480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massimo 30 giorni</a:t>
            </a:r>
            <a:endParaRPr/>
          </a:p>
        </p:txBody>
      </p:sp>
      <p:sp>
        <p:nvSpPr>
          <p:cNvPr id="1062" name="Google Shape;1062;p51"/>
          <p:cNvSpPr/>
          <p:nvPr/>
        </p:nvSpPr>
        <p:spPr>
          <a:xfrm>
            <a:off x="809625" y="3133725"/>
            <a:ext cx="3048000" cy="87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51"/>
          <p:cNvSpPr/>
          <p:nvPr/>
        </p:nvSpPr>
        <p:spPr>
          <a:xfrm>
            <a:off x="942975" y="3248025"/>
            <a:ext cx="27813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Amazon S3</a:t>
            </a:r>
            <a:endParaRPr/>
          </a:p>
        </p:txBody>
      </p:sp>
      <p:sp>
        <p:nvSpPr>
          <p:cNvPr id="1064" name="Google Shape;1064;p51"/>
          <p:cNvSpPr/>
          <p:nvPr/>
        </p:nvSpPr>
        <p:spPr>
          <a:xfrm>
            <a:off x="3857625" y="3133725"/>
            <a:ext cx="4095750" cy="87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51"/>
          <p:cNvSpPr/>
          <p:nvPr/>
        </p:nvSpPr>
        <p:spPr>
          <a:xfrm>
            <a:off x="3990975" y="3248025"/>
            <a:ext cx="38290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persistenza nel bucket</a:t>
            </a:r>
            <a:endParaRPr/>
          </a:p>
        </p:txBody>
      </p:sp>
      <p:sp>
        <p:nvSpPr>
          <p:cNvPr id="1066" name="Google Shape;1066;p51"/>
          <p:cNvSpPr/>
          <p:nvPr/>
        </p:nvSpPr>
        <p:spPr>
          <a:xfrm>
            <a:off x="7953375" y="3133725"/>
            <a:ext cx="3714750" cy="87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51"/>
          <p:cNvSpPr/>
          <p:nvPr/>
        </p:nvSpPr>
        <p:spPr>
          <a:xfrm>
            <a:off x="8086725" y="3248025"/>
            <a:ext cx="34480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UI integrata non disponibile se usato da solo</a:t>
            </a:r>
            <a:endParaRPr/>
          </a:p>
        </p:txBody>
      </p:sp>
      <p:sp>
        <p:nvSpPr>
          <p:cNvPr id="1068" name="Google Shape;1068;p51"/>
          <p:cNvSpPr/>
          <p:nvPr/>
        </p:nvSpPr>
        <p:spPr>
          <a:xfrm>
            <a:off x="809625" y="4010025"/>
            <a:ext cx="304800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51"/>
          <p:cNvSpPr/>
          <p:nvPr/>
        </p:nvSpPr>
        <p:spPr>
          <a:xfrm>
            <a:off x="942975" y="4124325"/>
            <a:ext cx="27813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CloudWatch Logs</a:t>
            </a:r>
            <a:endParaRPr/>
          </a:p>
        </p:txBody>
      </p:sp>
      <p:sp>
        <p:nvSpPr>
          <p:cNvPr id="1070" name="Google Shape;1070;p51"/>
          <p:cNvSpPr/>
          <p:nvPr/>
        </p:nvSpPr>
        <p:spPr>
          <a:xfrm>
            <a:off x="3857625" y="4010025"/>
            <a:ext cx="409575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51"/>
          <p:cNvSpPr/>
          <p:nvPr/>
        </p:nvSpPr>
        <p:spPr>
          <a:xfrm>
            <a:off x="3990975" y="4124325"/>
            <a:ext cx="38290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real-time e Logs Insights</a:t>
            </a:r>
            <a:endParaRPr/>
          </a:p>
        </p:txBody>
      </p:sp>
      <p:sp>
        <p:nvSpPr>
          <p:cNvPr id="1072" name="Google Shape;1072;p51"/>
          <p:cNvSpPr/>
          <p:nvPr/>
        </p:nvSpPr>
        <p:spPr>
          <a:xfrm>
            <a:off x="7953375" y="4010025"/>
            <a:ext cx="3714750" cy="8763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51"/>
          <p:cNvSpPr/>
          <p:nvPr/>
        </p:nvSpPr>
        <p:spPr>
          <a:xfrm>
            <a:off x="8086725" y="4124325"/>
            <a:ext cx="34480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permessi, volume e costo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52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SPARK UI</a:t>
            </a:r>
            <a:endParaRPr/>
          </a:p>
        </p:txBody>
      </p:sp>
      <p:sp>
        <p:nvSpPr>
          <p:cNvPr id="1080" name="Google Shape;1080;p5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Spark UI collega job cloud e piano distribuito</a:t>
            </a:r>
            <a:endParaRPr/>
          </a:p>
        </p:txBody>
      </p:sp>
      <p:sp>
        <p:nvSpPr>
          <p:cNvPr id="1081" name="Google Shape;1081;p5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52</a:t>
            </a:r>
            <a:endParaRPr/>
          </a:p>
        </p:txBody>
      </p:sp>
      <p:sp>
        <p:nvSpPr>
          <p:cNvPr id="1082" name="Google Shape;1082;p52"/>
          <p:cNvSpPr/>
          <p:nvPr/>
        </p:nvSpPr>
        <p:spPr>
          <a:xfrm>
            <a:off x="685800" y="2047875"/>
            <a:ext cx="2552700" cy="1952625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52"/>
          <p:cNvSpPr/>
          <p:nvPr/>
        </p:nvSpPr>
        <p:spPr>
          <a:xfrm>
            <a:off x="685800" y="2047875"/>
            <a:ext cx="25527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52"/>
          <p:cNvSpPr/>
          <p:nvPr/>
        </p:nvSpPr>
        <p:spPr>
          <a:xfrm>
            <a:off x="895350" y="225742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JOBS</a:t>
            </a:r>
            <a:endParaRPr/>
          </a:p>
        </p:txBody>
      </p:sp>
      <p:sp>
        <p:nvSpPr>
          <p:cNvPr id="1085" name="Google Shape;1085;p52"/>
          <p:cNvSpPr/>
          <p:nvPr/>
        </p:nvSpPr>
        <p:spPr>
          <a:xfrm>
            <a:off x="895350" y="2790825"/>
            <a:ext cx="21336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azioni e stato</a:t>
            </a:r>
            <a:endParaRPr/>
          </a:p>
        </p:txBody>
      </p:sp>
      <p:sp>
        <p:nvSpPr>
          <p:cNvPr id="1086" name="Google Shape;1086;p52"/>
          <p:cNvSpPr/>
          <p:nvPr/>
        </p:nvSpPr>
        <p:spPr>
          <a:xfrm>
            <a:off x="3467100" y="2047875"/>
            <a:ext cx="2552700" cy="1952625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52"/>
          <p:cNvSpPr/>
          <p:nvPr/>
        </p:nvSpPr>
        <p:spPr>
          <a:xfrm>
            <a:off x="3467100" y="2047875"/>
            <a:ext cx="25527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52"/>
          <p:cNvSpPr/>
          <p:nvPr/>
        </p:nvSpPr>
        <p:spPr>
          <a:xfrm>
            <a:off x="3676650" y="225742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STAGES</a:t>
            </a:r>
            <a:endParaRPr/>
          </a:p>
        </p:txBody>
      </p:sp>
      <p:sp>
        <p:nvSpPr>
          <p:cNvPr id="1089" name="Google Shape;1089;p52"/>
          <p:cNvSpPr/>
          <p:nvPr/>
        </p:nvSpPr>
        <p:spPr>
          <a:xfrm>
            <a:off x="3676650" y="2790825"/>
            <a:ext cx="21336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task, shuffle, skew</a:t>
            </a:r>
            <a:endParaRPr/>
          </a:p>
        </p:txBody>
      </p:sp>
      <p:sp>
        <p:nvSpPr>
          <p:cNvPr id="1090" name="Google Shape;1090;p52"/>
          <p:cNvSpPr/>
          <p:nvPr/>
        </p:nvSpPr>
        <p:spPr>
          <a:xfrm>
            <a:off x="6248400" y="2047875"/>
            <a:ext cx="2552700" cy="1952625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52"/>
          <p:cNvSpPr/>
          <p:nvPr/>
        </p:nvSpPr>
        <p:spPr>
          <a:xfrm>
            <a:off x="6248400" y="2047875"/>
            <a:ext cx="25527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52"/>
          <p:cNvSpPr/>
          <p:nvPr/>
        </p:nvSpPr>
        <p:spPr>
          <a:xfrm>
            <a:off x="6457950" y="225742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SQL</a:t>
            </a:r>
            <a:endParaRPr/>
          </a:p>
        </p:txBody>
      </p:sp>
      <p:sp>
        <p:nvSpPr>
          <p:cNvPr id="1093" name="Google Shape;1093;p52"/>
          <p:cNvSpPr/>
          <p:nvPr/>
        </p:nvSpPr>
        <p:spPr>
          <a:xfrm>
            <a:off x="6457950" y="2790825"/>
            <a:ext cx="21336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query e physical plan</a:t>
            </a:r>
            <a:endParaRPr/>
          </a:p>
        </p:txBody>
      </p:sp>
      <p:sp>
        <p:nvSpPr>
          <p:cNvPr id="1094" name="Google Shape;1094;p52"/>
          <p:cNvSpPr/>
          <p:nvPr/>
        </p:nvSpPr>
        <p:spPr>
          <a:xfrm>
            <a:off x="9029700" y="2047875"/>
            <a:ext cx="2552700" cy="1952625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52"/>
          <p:cNvSpPr/>
          <p:nvPr/>
        </p:nvSpPr>
        <p:spPr>
          <a:xfrm>
            <a:off x="9029700" y="2047875"/>
            <a:ext cx="25527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52"/>
          <p:cNvSpPr/>
          <p:nvPr/>
        </p:nvSpPr>
        <p:spPr>
          <a:xfrm>
            <a:off x="9239250" y="2257425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EXECUTORS</a:t>
            </a:r>
            <a:endParaRPr/>
          </a:p>
        </p:txBody>
      </p:sp>
      <p:sp>
        <p:nvSpPr>
          <p:cNvPr id="1097" name="Google Shape;1097;p52"/>
          <p:cNvSpPr/>
          <p:nvPr/>
        </p:nvSpPr>
        <p:spPr>
          <a:xfrm>
            <a:off x="9239250" y="2790825"/>
            <a:ext cx="21336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risorse e traffico</a:t>
            </a:r>
            <a:endParaRPr/>
          </a:p>
        </p:txBody>
      </p:sp>
      <p:sp>
        <p:nvSpPr>
          <p:cNvPr id="1098" name="Google Shape;1098;p52"/>
          <p:cNvSpPr/>
          <p:nvPr/>
        </p:nvSpPr>
        <p:spPr>
          <a:xfrm>
            <a:off x="3190875" y="5048250"/>
            <a:ext cx="5810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B1F33"/>
                </a:solidFill>
              </a:rPr>
              <a:t>La UI è evidenza tecnica, non una schermata celebrativa.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3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BILLED RESOURCE UTILIZATION</a:t>
            </a:r>
            <a:endParaRPr/>
          </a:p>
        </p:txBody>
      </p:sp>
      <p:sp>
        <p:nvSpPr>
          <p:cNvPr id="1105" name="Google Shape;1105;p5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job report espone le risorse fatturate</a:t>
            </a:r>
            <a:endParaRPr/>
          </a:p>
        </p:txBody>
      </p:sp>
      <p:sp>
        <p:nvSpPr>
          <p:cNvPr id="1106" name="Google Shape;1106;p5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53</a:t>
            </a:r>
            <a:endParaRPr/>
          </a:p>
        </p:txBody>
      </p:sp>
      <p:sp>
        <p:nvSpPr>
          <p:cNvPr id="1107" name="Google Shape;1107;p53"/>
          <p:cNvSpPr/>
          <p:nvPr/>
        </p:nvSpPr>
        <p:spPr>
          <a:xfrm>
            <a:off x="1428750" y="1762125"/>
            <a:ext cx="9334500" cy="2762250"/>
          </a:xfrm>
          <a:prstGeom prst="roundRect">
            <a:avLst>
              <a:gd fmla="val 2759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53"/>
          <p:cNvSpPr/>
          <p:nvPr/>
        </p:nvSpPr>
        <p:spPr>
          <a:xfrm>
            <a:off x="1657350" y="1971675"/>
            <a:ext cx="887730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aws emr-serverless get-job-run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  --application-id "$APP_ID"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  --job-run-id "$JOB_RUN_ID"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  --query jobRun.billedResourceUtilization</a:t>
            </a:r>
            <a:endParaRPr/>
          </a:p>
        </p:txBody>
      </p:sp>
      <p:sp>
        <p:nvSpPr>
          <p:cNvPr id="1109" name="Google Shape;1109;p53"/>
          <p:cNvSpPr/>
          <p:nvPr/>
        </p:nvSpPr>
        <p:spPr>
          <a:xfrm>
            <a:off x="2571750" y="4953000"/>
            <a:ext cx="7048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F33"/>
                </a:solidFill>
              </a:rPr>
              <a:t>vCPU • memory GB • storage GB aggregati sul job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54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COST GUARDRAILS</a:t>
            </a:r>
            <a:endParaRPr/>
          </a:p>
        </p:txBody>
      </p:sp>
      <p:sp>
        <p:nvSpPr>
          <p:cNvPr id="1116" name="Google Shape;1116;p5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costo si governa prima, durante e dopo il job</a:t>
            </a:r>
            <a:endParaRPr/>
          </a:p>
        </p:txBody>
      </p:sp>
      <p:sp>
        <p:nvSpPr>
          <p:cNvPr id="1117" name="Google Shape;1117;p5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54</a:t>
            </a:r>
            <a:endParaRPr/>
          </a:p>
        </p:txBody>
      </p:sp>
      <p:sp>
        <p:nvSpPr>
          <p:cNvPr id="1118" name="Google Shape;1118;p54"/>
          <p:cNvSpPr/>
          <p:nvPr/>
        </p:nvSpPr>
        <p:spPr>
          <a:xfrm>
            <a:off x="781050" y="15240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1119" name="Google Shape;1119;p54"/>
          <p:cNvSpPr/>
          <p:nvPr/>
        </p:nvSpPr>
        <p:spPr>
          <a:xfrm>
            <a:off x="1666875" y="15240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PRIMA</a:t>
            </a:r>
            <a:endParaRPr/>
          </a:p>
        </p:txBody>
      </p:sp>
      <p:sp>
        <p:nvSpPr>
          <p:cNvPr id="1120" name="Google Shape;1120;p54"/>
          <p:cNvSpPr/>
          <p:nvPr/>
        </p:nvSpPr>
        <p:spPr>
          <a:xfrm>
            <a:off x="4762500" y="15240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dataset limitato • regione • maximum capacity • timeout</a:t>
            </a:r>
            <a:endParaRPr/>
          </a:p>
        </p:txBody>
      </p:sp>
      <p:sp>
        <p:nvSpPr>
          <p:cNvPr id="1121" name="Google Shape;1121;p54"/>
          <p:cNvSpPr/>
          <p:nvPr/>
        </p:nvSpPr>
        <p:spPr>
          <a:xfrm>
            <a:off x="781050" y="23812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1122" name="Google Shape;1122;p54"/>
          <p:cNvSpPr/>
          <p:nvPr/>
        </p:nvSpPr>
        <p:spPr>
          <a:xfrm>
            <a:off x="1666875" y="23812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DURANTE</a:t>
            </a:r>
            <a:endParaRPr/>
          </a:p>
        </p:txBody>
      </p:sp>
      <p:sp>
        <p:nvSpPr>
          <p:cNvPr id="1123" name="Google Shape;1123;p54"/>
          <p:cNvSpPr/>
          <p:nvPr/>
        </p:nvSpPr>
        <p:spPr>
          <a:xfrm>
            <a:off x="4762500" y="23812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stato • log • Spark UI • cancellazione se anomalo</a:t>
            </a:r>
            <a:endParaRPr/>
          </a:p>
        </p:txBody>
      </p:sp>
      <p:sp>
        <p:nvSpPr>
          <p:cNvPr id="1124" name="Google Shape;1124;p54"/>
          <p:cNvSpPr/>
          <p:nvPr/>
        </p:nvSpPr>
        <p:spPr>
          <a:xfrm>
            <a:off x="781050" y="323850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03</a:t>
            </a:r>
            <a:endParaRPr/>
          </a:p>
        </p:txBody>
      </p:sp>
      <p:sp>
        <p:nvSpPr>
          <p:cNvPr id="1125" name="Google Shape;1125;p54"/>
          <p:cNvSpPr/>
          <p:nvPr/>
        </p:nvSpPr>
        <p:spPr>
          <a:xfrm>
            <a:off x="1666875" y="3238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DOPO</a:t>
            </a:r>
            <a:endParaRPr/>
          </a:p>
        </p:txBody>
      </p:sp>
      <p:sp>
        <p:nvSpPr>
          <p:cNvPr id="1126" name="Google Shape;1126;p54"/>
          <p:cNvSpPr/>
          <p:nvPr/>
        </p:nvSpPr>
        <p:spPr>
          <a:xfrm>
            <a:off x="4762500" y="323850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billed resources • output • stop • delete</a:t>
            </a:r>
            <a:endParaRPr/>
          </a:p>
        </p:txBody>
      </p:sp>
      <p:sp>
        <p:nvSpPr>
          <p:cNvPr id="1127" name="Google Shape;1127;p54"/>
          <p:cNvSpPr/>
          <p:nvPr/>
        </p:nvSpPr>
        <p:spPr>
          <a:xfrm>
            <a:off x="781050" y="4095750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04</a:t>
            </a:r>
            <a:endParaRPr/>
          </a:p>
        </p:txBody>
      </p:sp>
      <p:sp>
        <p:nvSpPr>
          <p:cNvPr id="1128" name="Google Shape;1128;p54"/>
          <p:cNvSpPr/>
          <p:nvPr/>
        </p:nvSpPr>
        <p:spPr>
          <a:xfrm>
            <a:off x="1666875" y="40957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NEL TEMPO</a:t>
            </a:r>
            <a:endParaRPr/>
          </a:p>
        </p:txBody>
      </p:sp>
      <p:sp>
        <p:nvSpPr>
          <p:cNvPr id="1129" name="Google Shape;1129;p54"/>
          <p:cNvSpPr/>
          <p:nvPr/>
        </p:nvSpPr>
        <p:spPr>
          <a:xfrm>
            <a:off x="4762500" y="4095750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tag • budget • anomaly detection • review</a:t>
            </a:r>
            <a:endParaRPr/>
          </a:p>
        </p:txBody>
      </p:sp>
      <p:sp>
        <p:nvSpPr>
          <p:cNvPr id="1130" name="Google Shape;1130;p54"/>
          <p:cNvSpPr/>
          <p:nvPr/>
        </p:nvSpPr>
        <p:spPr>
          <a:xfrm>
            <a:off x="3333750" y="5286375"/>
            <a:ext cx="5524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EF5A5A"/>
                </a:solidFill>
              </a:rPr>
              <a:t>Non stimare con sicurezza ciò che non hai misurato.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5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FINOPS BASICS</a:t>
            </a:r>
            <a:endParaRPr/>
          </a:p>
        </p:txBody>
      </p:sp>
      <p:sp>
        <p:nvSpPr>
          <p:cNvPr id="1137" name="Google Shape;1137;p5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Tag e budget rendono il costo attribuibile</a:t>
            </a:r>
            <a:endParaRPr/>
          </a:p>
        </p:txBody>
      </p:sp>
      <p:sp>
        <p:nvSpPr>
          <p:cNvPr id="1138" name="Google Shape;1138;p5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55</a:t>
            </a:r>
            <a:endParaRPr/>
          </a:p>
        </p:txBody>
      </p:sp>
      <p:sp>
        <p:nvSpPr>
          <p:cNvPr id="1139" name="Google Shape;1139;p55"/>
          <p:cNvSpPr/>
          <p:nvPr/>
        </p:nvSpPr>
        <p:spPr>
          <a:xfrm>
            <a:off x="685800" y="2000250"/>
            <a:ext cx="2552700" cy="2047875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55"/>
          <p:cNvSpPr/>
          <p:nvPr/>
        </p:nvSpPr>
        <p:spPr>
          <a:xfrm>
            <a:off x="685800" y="2000250"/>
            <a:ext cx="25527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55"/>
          <p:cNvSpPr/>
          <p:nvPr/>
        </p:nvSpPr>
        <p:spPr>
          <a:xfrm>
            <a:off x="8953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TAG</a:t>
            </a:r>
            <a:endParaRPr/>
          </a:p>
        </p:txBody>
      </p:sp>
      <p:sp>
        <p:nvSpPr>
          <p:cNvPr id="1142" name="Google Shape;1142;p55"/>
          <p:cNvSpPr/>
          <p:nvPr/>
        </p:nvSpPr>
        <p:spPr>
          <a:xfrm>
            <a:off x="895350" y="2743200"/>
            <a:ext cx="21336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Project=DATAFLIX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Lesson=16</a:t>
            </a:r>
            <a:endParaRPr/>
          </a:p>
        </p:txBody>
      </p:sp>
      <p:sp>
        <p:nvSpPr>
          <p:cNvPr id="1143" name="Google Shape;1143;p55"/>
          <p:cNvSpPr/>
          <p:nvPr/>
        </p:nvSpPr>
        <p:spPr>
          <a:xfrm>
            <a:off x="3467100" y="2000250"/>
            <a:ext cx="2552700" cy="2047875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55"/>
          <p:cNvSpPr/>
          <p:nvPr/>
        </p:nvSpPr>
        <p:spPr>
          <a:xfrm>
            <a:off x="3467100" y="2000250"/>
            <a:ext cx="25527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55"/>
          <p:cNvSpPr/>
          <p:nvPr/>
        </p:nvSpPr>
        <p:spPr>
          <a:xfrm>
            <a:off x="36766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BUDGET</a:t>
            </a:r>
            <a:endParaRPr/>
          </a:p>
        </p:txBody>
      </p:sp>
      <p:sp>
        <p:nvSpPr>
          <p:cNvPr id="1146" name="Google Shape;1146;p55"/>
          <p:cNvSpPr/>
          <p:nvPr/>
        </p:nvSpPr>
        <p:spPr>
          <a:xfrm>
            <a:off x="3676650" y="2743200"/>
            <a:ext cx="21336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soglia e notifica</a:t>
            </a:r>
            <a:endParaRPr/>
          </a:p>
        </p:txBody>
      </p:sp>
      <p:sp>
        <p:nvSpPr>
          <p:cNvPr id="1147" name="Google Shape;1147;p55"/>
          <p:cNvSpPr/>
          <p:nvPr/>
        </p:nvSpPr>
        <p:spPr>
          <a:xfrm>
            <a:off x="6248400" y="2000250"/>
            <a:ext cx="2552700" cy="2047875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55"/>
          <p:cNvSpPr/>
          <p:nvPr/>
        </p:nvSpPr>
        <p:spPr>
          <a:xfrm>
            <a:off x="6248400" y="2000250"/>
            <a:ext cx="2552700" cy="85725"/>
          </a:xfrm>
          <a:prstGeom prst="rect">
            <a:avLst/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55"/>
          <p:cNvSpPr/>
          <p:nvPr/>
        </p:nvSpPr>
        <p:spPr>
          <a:xfrm>
            <a:off x="64579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ANOMALY</a:t>
            </a:r>
            <a:endParaRPr/>
          </a:p>
        </p:txBody>
      </p:sp>
      <p:sp>
        <p:nvSpPr>
          <p:cNvPr id="1150" name="Google Shape;1150;p55"/>
          <p:cNvSpPr/>
          <p:nvPr/>
        </p:nvSpPr>
        <p:spPr>
          <a:xfrm>
            <a:off x="6457950" y="2743200"/>
            <a:ext cx="21336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segnale su spesa inattesa</a:t>
            </a:r>
            <a:endParaRPr/>
          </a:p>
        </p:txBody>
      </p:sp>
      <p:sp>
        <p:nvSpPr>
          <p:cNvPr id="1151" name="Google Shape;1151;p55"/>
          <p:cNvSpPr/>
          <p:nvPr/>
        </p:nvSpPr>
        <p:spPr>
          <a:xfrm>
            <a:off x="9029700" y="2000250"/>
            <a:ext cx="2552700" cy="2047875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55"/>
          <p:cNvSpPr/>
          <p:nvPr/>
        </p:nvSpPr>
        <p:spPr>
          <a:xfrm>
            <a:off x="9029700" y="2000250"/>
            <a:ext cx="25527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55"/>
          <p:cNvSpPr/>
          <p:nvPr/>
        </p:nvSpPr>
        <p:spPr>
          <a:xfrm>
            <a:off x="9239250" y="22098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OWNER</a:t>
            </a:r>
            <a:endParaRPr/>
          </a:p>
        </p:txBody>
      </p:sp>
      <p:sp>
        <p:nvSpPr>
          <p:cNvPr id="1154" name="Google Shape;1154;p55"/>
          <p:cNvSpPr/>
          <p:nvPr/>
        </p:nvSpPr>
        <p:spPr>
          <a:xfrm>
            <a:off x="9239250" y="2743200"/>
            <a:ext cx="21336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chi decide e pulisce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56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FAILURE PATH</a:t>
            </a:r>
            <a:endParaRPr/>
          </a:p>
        </p:txBody>
      </p:sp>
      <p:sp>
        <p:nvSpPr>
          <p:cNvPr id="1161" name="Google Shape;1161;p5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Troubleshooting parte dallo stato e dal confine fallito</a:t>
            </a:r>
            <a:endParaRPr/>
          </a:p>
        </p:txBody>
      </p:sp>
      <p:sp>
        <p:nvSpPr>
          <p:cNvPr id="1162" name="Google Shape;1162;p5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56</a:t>
            </a:r>
            <a:endParaRPr/>
          </a:p>
        </p:txBody>
      </p:sp>
      <p:sp>
        <p:nvSpPr>
          <p:cNvPr id="1163" name="Google Shape;1163;p56"/>
          <p:cNvSpPr/>
          <p:nvPr/>
        </p:nvSpPr>
        <p:spPr>
          <a:xfrm>
            <a:off x="714375" y="1571625"/>
            <a:ext cx="2857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56"/>
          <p:cNvSpPr/>
          <p:nvPr/>
        </p:nvSpPr>
        <p:spPr>
          <a:xfrm>
            <a:off x="809625" y="1704975"/>
            <a:ext cx="2667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Sintomo</a:t>
            </a:r>
            <a:endParaRPr/>
          </a:p>
        </p:txBody>
      </p:sp>
      <p:sp>
        <p:nvSpPr>
          <p:cNvPr id="1165" name="Google Shape;1165;p56"/>
          <p:cNvSpPr/>
          <p:nvPr/>
        </p:nvSpPr>
        <p:spPr>
          <a:xfrm>
            <a:off x="3571875" y="1571625"/>
            <a:ext cx="4095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56"/>
          <p:cNvSpPr/>
          <p:nvPr/>
        </p:nvSpPr>
        <p:spPr>
          <a:xfrm>
            <a:off x="3667125" y="170497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Prima prova</a:t>
            </a:r>
            <a:endParaRPr/>
          </a:p>
        </p:txBody>
      </p:sp>
      <p:sp>
        <p:nvSpPr>
          <p:cNvPr id="1167" name="Google Shape;1167;p56"/>
          <p:cNvSpPr/>
          <p:nvPr/>
        </p:nvSpPr>
        <p:spPr>
          <a:xfrm>
            <a:off x="7667625" y="1571625"/>
            <a:ext cx="4095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56"/>
          <p:cNvSpPr/>
          <p:nvPr/>
        </p:nvSpPr>
        <p:spPr>
          <a:xfrm>
            <a:off x="7762875" y="170497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Ipotesi</a:t>
            </a:r>
            <a:endParaRPr/>
          </a:p>
        </p:txBody>
      </p:sp>
      <p:sp>
        <p:nvSpPr>
          <p:cNvPr id="1169" name="Google Shape;1169;p56"/>
          <p:cNvSpPr/>
          <p:nvPr/>
        </p:nvSpPr>
        <p:spPr>
          <a:xfrm>
            <a:off x="714375" y="2066925"/>
            <a:ext cx="2857500" cy="7429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56"/>
          <p:cNvSpPr/>
          <p:nvPr/>
        </p:nvSpPr>
        <p:spPr>
          <a:xfrm>
            <a:off x="847725" y="2181225"/>
            <a:ext cx="259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AccessDenied</a:t>
            </a:r>
            <a:endParaRPr/>
          </a:p>
        </p:txBody>
      </p:sp>
      <p:sp>
        <p:nvSpPr>
          <p:cNvPr id="1171" name="Google Shape;1171;p56"/>
          <p:cNvSpPr/>
          <p:nvPr/>
        </p:nvSpPr>
        <p:spPr>
          <a:xfrm>
            <a:off x="3571875" y="2066925"/>
            <a:ext cx="4095750" cy="7429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56"/>
          <p:cNvSpPr/>
          <p:nvPr/>
        </p:nvSpPr>
        <p:spPr>
          <a:xfrm>
            <a:off x="3705225" y="2181225"/>
            <a:ext cx="3829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caller, PassRole, runtime role</a:t>
            </a:r>
            <a:endParaRPr/>
          </a:p>
        </p:txBody>
      </p:sp>
      <p:sp>
        <p:nvSpPr>
          <p:cNvPr id="1173" name="Google Shape;1173;p56"/>
          <p:cNvSpPr/>
          <p:nvPr/>
        </p:nvSpPr>
        <p:spPr>
          <a:xfrm>
            <a:off x="7667625" y="2066925"/>
            <a:ext cx="4095750" cy="7429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56"/>
          <p:cNvSpPr/>
          <p:nvPr/>
        </p:nvSpPr>
        <p:spPr>
          <a:xfrm>
            <a:off x="7800975" y="2181225"/>
            <a:ext cx="3829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IAM</a:t>
            </a:r>
            <a:endParaRPr/>
          </a:p>
        </p:txBody>
      </p:sp>
      <p:sp>
        <p:nvSpPr>
          <p:cNvPr id="1175" name="Google Shape;1175;p56"/>
          <p:cNvSpPr/>
          <p:nvPr/>
        </p:nvSpPr>
        <p:spPr>
          <a:xfrm>
            <a:off x="714375" y="2809875"/>
            <a:ext cx="2857500" cy="7429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56"/>
          <p:cNvSpPr/>
          <p:nvPr/>
        </p:nvSpPr>
        <p:spPr>
          <a:xfrm>
            <a:off x="847725" y="2924175"/>
            <a:ext cx="259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Job FAILED</a:t>
            </a:r>
            <a:endParaRPr/>
          </a:p>
        </p:txBody>
      </p:sp>
      <p:sp>
        <p:nvSpPr>
          <p:cNvPr id="1177" name="Google Shape;1177;p56"/>
          <p:cNvSpPr/>
          <p:nvPr/>
        </p:nvSpPr>
        <p:spPr>
          <a:xfrm>
            <a:off x="3571875" y="2809875"/>
            <a:ext cx="4095750" cy="7429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56"/>
          <p:cNvSpPr/>
          <p:nvPr/>
        </p:nvSpPr>
        <p:spPr>
          <a:xfrm>
            <a:off x="3705225" y="2924175"/>
            <a:ext cx="3829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stateDetails + driver log</a:t>
            </a:r>
            <a:endParaRPr/>
          </a:p>
        </p:txBody>
      </p:sp>
      <p:sp>
        <p:nvSpPr>
          <p:cNvPr id="1179" name="Google Shape;1179;p56"/>
          <p:cNvSpPr/>
          <p:nvPr/>
        </p:nvSpPr>
        <p:spPr>
          <a:xfrm>
            <a:off x="7667625" y="2809875"/>
            <a:ext cx="4095750" cy="7429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56"/>
          <p:cNvSpPr/>
          <p:nvPr/>
        </p:nvSpPr>
        <p:spPr>
          <a:xfrm>
            <a:off x="7800975" y="2924175"/>
            <a:ext cx="3829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codice/configurazione</a:t>
            </a:r>
            <a:endParaRPr/>
          </a:p>
        </p:txBody>
      </p:sp>
      <p:sp>
        <p:nvSpPr>
          <p:cNvPr id="1181" name="Google Shape;1181;p56"/>
          <p:cNvSpPr/>
          <p:nvPr/>
        </p:nvSpPr>
        <p:spPr>
          <a:xfrm>
            <a:off x="714375" y="3552825"/>
            <a:ext cx="2857500" cy="7429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56"/>
          <p:cNvSpPr/>
          <p:nvPr/>
        </p:nvSpPr>
        <p:spPr>
          <a:xfrm>
            <a:off x="847725" y="3667125"/>
            <a:ext cx="259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Output assente</a:t>
            </a:r>
            <a:endParaRPr/>
          </a:p>
        </p:txBody>
      </p:sp>
      <p:sp>
        <p:nvSpPr>
          <p:cNvPr id="1183" name="Google Shape;1183;p56"/>
          <p:cNvSpPr/>
          <p:nvPr/>
        </p:nvSpPr>
        <p:spPr>
          <a:xfrm>
            <a:off x="3571875" y="3552825"/>
            <a:ext cx="4095750" cy="7429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56"/>
          <p:cNvSpPr/>
          <p:nvPr/>
        </p:nvSpPr>
        <p:spPr>
          <a:xfrm>
            <a:off x="3705225" y="3667125"/>
            <a:ext cx="3829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S3 URI + runtime policy</a:t>
            </a:r>
            <a:endParaRPr/>
          </a:p>
        </p:txBody>
      </p:sp>
      <p:sp>
        <p:nvSpPr>
          <p:cNvPr id="1185" name="Google Shape;1185;p56"/>
          <p:cNvSpPr/>
          <p:nvPr/>
        </p:nvSpPr>
        <p:spPr>
          <a:xfrm>
            <a:off x="7667625" y="3552825"/>
            <a:ext cx="4095750" cy="7429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56"/>
          <p:cNvSpPr/>
          <p:nvPr/>
        </p:nvSpPr>
        <p:spPr>
          <a:xfrm>
            <a:off x="7800975" y="3667125"/>
            <a:ext cx="3829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path/permessi</a:t>
            </a:r>
            <a:endParaRPr/>
          </a:p>
        </p:txBody>
      </p:sp>
      <p:sp>
        <p:nvSpPr>
          <p:cNvPr id="1187" name="Google Shape;1187;p56"/>
          <p:cNvSpPr/>
          <p:nvPr/>
        </p:nvSpPr>
        <p:spPr>
          <a:xfrm>
            <a:off x="714375" y="4295775"/>
            <a:ext cx="2857500" cy="7429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56"/>
          <p:cNvSpPr/>
          <p:nvPr/>
        </p:nvSpPr>
        <p:spPr>
          <a:xfrm>
            <a:off x="847725" y="4410075"/>
            <a:ext cx="259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Job lento</a:t>
            </a:r>
            <a:endParaRPr/>
          </a:p>
        </p:txBody>
      </p:sp>
      <p:sp>
        <p:nvSpPr>
          <p:cNvPr id="1189" name="Google Shape;1189;p56"/>
          <p:cNvSpPr/>
          <p:nvPr/>
        </p:nvSpPr>
        <p:spPr>
          <a:xfrm>
            <a:off x="3571875" y="4295775"/>
            <a:ext cx="4095750" cy="7429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56"/>
          <p:cNvSpPr/>
          <p:nvPr/>
        </p:nvSpPr>
        <p:spPr>
          <a:xfrm>
            <a:off x="3705225" y="4410075"/>
            <a:ext cx="3829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Spark UI + shuffle + capacity</a:t>
            </a:r>
            <a:endParaRPr/>
          </a:p>
        </p:txBody>
      </p:sp>
      <p:sp>
        <p:nvSpPr>
          <p:cNvPr id="1191" name="Google Shape;1191;p56"/>
          <p:cNvSpPr/>
          <p:nvPr/>
        </p:nvSpPr>
        <p:spPr>
          <a:xfrm>
            <a:off x="7667625" y="4295775"/>
            <a:ext cx="4095750" cy="7429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56"/>
          <p:cNvSpPr/>
          <p:nvPr/>
        </p:nvSpPr>
        <p:spPr>
          <a:xfrm>
            <a:off x="7800975" y="4410075"/>
            <a:ext cx="3829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piano/risorse</a:t>
            </a:r>
            <a:endParaRPr/>
          </a:p>
        </p:txBody>
      </p:sp>
      <p:sp>
        <p:nvSpPr>
          <p:cNvPr id="1193" name="Google Shape;1193;p56"/>
          <p:cNvSpPr/>
          <p:nvPr/>
        </p:nvSpPr>
        <p:spPr>
          <a:xfrm>
            <a:off x="714375" y="5038725"/>
            <a:ext cx="2857500" cy="7429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56"/>
          <p:cNvSpPr/>
          <p:nvPr/>
        </p:nvSpPr>
        <p:spPr>
          <a:xfrm>
            <a:off x="847725" y="5153025"/>
            <a:ext cx="259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Costo inatteso</a:t>
            </a:r>
            <a:endParaRPr/>
          </a:p>
        </p:txBody>
      </p:sp>
      <p:sp>
        <p:nvSpPr>
          <p:cNvPr id="1195" name="Google Shape;1195;p56"/>
          <p:cNvSpPr/>
          <p:nvPr/>
        </p:nvSpPr>
        <p:spPr>
          <a:xfrm>
            <a:off x="3571875" y="5038725"/>
            <a:ext cx="4095750" cy="7429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56"/>
          <p:cNvSpPr/>
          <p:nvPr/>
        </p:nvSpPr>
        <p:spPr>
          <a:xfrm>
            <a:off x="3705225" y="5153025"/>
            <a:ext cx="3829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job report + tag + risorse residue</a:t>
            </a:r>
            <a:endParaRPr/>
          </a:p>
        </p:txBody>
      </p:sp>
      <p:sp>
        <p:nvSpPr>
          <p:cNvPr id="1197" name="Google Shape;1197;p56"/>
          <p:cNvSpPr/>
          <p:nvPr/>
        </p:nvSpPr>
        <p:spPr>
          <a:xfrm>
            <a:off x="7667625" y="5038725"/>
            <a:ext cx="4095750" cy="7429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56"/>
          <p:cNvSpPr/>
          <p:nvPr/>
        </p:nvSpPr>
        <p:spPr>
          <a:xfrm>
            <a:off x="7800975" y="5153025"/>
            <a:ext cx="3829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lifecycle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57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LAB • ARCHITECTURE</a:t>
            </a:r>
            <a:endParaRPr/>
          </a:p>
        </p:txBody>
      </p:sp>
      <p:sp>
        <p:nvSpPr>
          <p:cNvPr id="1205" name="Google Shape;1205;p5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Il laboratorio usa un perimetro cloud minimo</a:t>
            </a:r>
            <a:endParaRPr/>
          </a:p>
        </p:txBody>
      </p:sp>
      <p:sp>
        <p:nvSpPr>
          <p:cNvPr id="1206" name="Google Shape;1206;p5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57</a:t>
            </a:r>
            <a:endParaRPr/>
          </a:p>
        </p:txBody>
      </p:sp>
      <p:sp>
        <p:nvSpPr>
          <p:cNvPr id="1207" name="Google Shape;1207;p57"/>
          <p:cNvSpPr/>
          <p:nvPr/>
        </p:nvSpPr>
        <p:spPr>
          <a:xfrm>
            <a:off x="3000375" y="2409825"/>
            <a:ext cx="1285875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57"/>
          <p:cNvSpPr/>
          <p:nvPr/>
        </p:nvSpPr>
        <p:spPr>
          <a:xfrm>
            <a:off x="4133850" y="223837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1209" name="Google Shape;1209;p57"/>
          <p:cNvSpPr/>
          <p:nvPr/>
        </p:nvSpPr>
        <p:spPr>
          <a:xfrm>
            <a:off x="3000375" y="2066925"/>
            <a:ext cx="1285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upload</a:t>
            </a:r>
            <a:endParaRPr/>
          </a:p>
        </p:txBody>
      </p:sp>
      <p:sp>
        <p:nvSpPr>
          <p:cNvPr id="1210" name="Google Shape;1210;p57"/>
          <p:cNvSpPr/>
          <p:nvPr/>
        </p:nvSpPr>
        <p:spPr>
          <a:xfrm>
            <a:off x="7096125" y="2409825"/>
            <a:ext cx="1285875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57"/>
          <p:cNvSpPr/>
          <p:nvPr/>
        </p:nvSpPr>
        <p:spPr>
          <a:xfrm>
            <a:off x="8229600" y="223837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1212" name="Google Shape;1212;p57"/>
          <p:cNvSpPr/>
          <p:nvPr/>
        </p:nvSpPr>
        <p:spPr>
          <a:xfrm>
            <a:off x="7096125" y="2066925"/>
            <a:ext cx="1285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job</a:t>
            </a:r>
            <a:endParaRPr/>
          </a:p>
        </p:txBody>
      </p:sp>
      <p:sp>
        <p:nvSpPr>
          <p:cNvPr id="1213" name="Google Shape;1213;p57"/>
          <p:cNvSpPr/>
          <p:nvPr/>
        </p:nvSpPr>
        <p:spPr>
          <a:xfrm>
            <a:off x="571500" y="1952625"/>
            <a:ext cx="2428875" cy="1285875"/>
          </a:xfrm>
          <a:prstGeom prst="roundRect">
            <a:avLst>
              <a:gd fmla="val 5926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57"/>
          <p:cNvSpPr/>
          <p:nvPr/>
        </p:nvSpPr>
        <p:spPr>
          <a:xfrm>
            <a:off x="723900" y="2124075"/>
            <a:ext cx="2124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AWS CLI</a:t>
            </a:r>
            <a:endParaRPr/>
          </a:p>
        </p:txBody>
      </p:sp>
      <p:sp>
        <p:nvSpPr>
          <p:cNvPr id="1215" name="Google Shape;1215;p57"/>
          <p:cNvSpPr/>
          <p:nvPr/>
        </p:nvSpPr>
        <p:spPr>
          <a:xfrm>
            <a:off x="723900" y="2486025"/>
            <a:ext cx="212407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identity + control plane</a:t>
            </a:r>
            <a:endParaRPr/>
          </a:p>
        </p:txBody>
      </p:sp>
      <p:sp>
        <p:nvSpPr>
          <p:cNvPr id="1216" name="Google Shape;1216;p57"/>
          <p:cNvSpPr/>
          <p:nvPr/>
        </p:nvSpPr>
        <p:spPr>
          <a:xfrm>
            <a:off x="4286250" y="1762125"/>
            <a:ext cx="2809875" cy="1666875"/>
          </a:xfrm>
          <a:prstGeom prst="roundRect">
            <a:avLst>
              <a:gd fmla="val 4571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57"/>
          <p:cNvSpPr/>
          <p:nvPr/>
        </p:nvSpPr>
        <p:spPr>
          <a:xfrm>
            <a:off x="4438650" y="1933575"/>
            <a:ext cx="2505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AMAZON S3</a:t>
            </a:r>
            <a:endParaRPr/>
          </a:p>
        </p:txBody>
      </p:sp>
      <p:sp>
        <p:nvSpPr>
          <p:cNvPr id="1218" name="Google Shape;1218;p57"/>
          <p:cNvSpPr/>
          <p:nvPr/>
        </p:nvSpPr>
        <p:spPr>
          <a:xfrm>
            <a:off x="4438650" y="2295525"/>
            <a:ext cx="2505075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input • code • output • logs</a:t>
            </a:r>
            <a:endParaRPr/>
          </a:p>
        </p:txBody>
      </p:sp>
      <p:sp>
        <p:nvSpPr>
          <p:cNvPr id="1219" name="Google Shape;1219;p57"/>
          <p:cNvSpPr/>
          <p:nvPr/>
        </p:nvSpPr>
        <p:spPr>
          <a:xfrm>
            <a:off x="8382000" y="1952625"/>
            <a:ext cx="3143250" cy="1285875"/>
          </a:xfrm>
          <a:prstGeom prst="roundRect">
            <a:avLst>
              <a:gd fmla="val 5926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57"/>
          <p:cNvSpPr/>
          <p:nvPr/>
        </p:nvSpPr>
        <p:spPr>
          <a:xfrm>
            <a:off x="8534400" y="212407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EMR SERVERLESS</a:t>
            </a:r>
            <a:endParaRPr/>
          </a:p>
        </p:txBody>
      </p:sp>
      <p:sp>
        <p:nvSpPr>
          <p:cNvPr id="1221" name="Google Shape;1221;p57"/>
          <p:cNvSpPr/>
          <p:nvPr/>
        </p:nvSpPr>
        <p:spPr>
          <a:xfrm>
            <a:off x="8534400" y="2486025"/>
            <a:ext cx="2838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PySpark workers</a:t>
            </a:r>
            <a:endParaRPr/>
          </a:p>
        </p:txBody>
      </p:sp>
      <p:sp>
        <p:nvSpPr>
          <p:cNvPr id="1222" name="Google Shape;1222;p57"/>
          <p:cNvSpPr/>
          <p:nvPr/>
        </p:nvSpPr>
        <p:spPr>
          <a:xfrm>
            <a:off x="3714750" y="495300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Runtime role limitato a un solo bucket.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58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LAB • SAFETY</a:t>
            </a:r>
            <a:endParaRPr/>
          </a:p>
        </p:txBody>
      </p:sp>
      <p:sp>
        <p:nvSpPr>
          <p:cNvPr id="1229" name="Google Shape;1229;p5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Quattro guardrail proteggono il laboratorio</a:t>
            </a:r>
            <a:endParaRPr/>
          </a:p>
        </p:txBody>
      </p:sp>
      <p:sp>
        <p:nvSpPr>
          <p:cNvPr id="1230" name="Google Shape;1230;p5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58</a:t>
            </a:r>
            <a:endParaRPr/>
          </a:p>
        </p:txBody>
      </p:sp>
      <p:sp>
        <p:nvSpPr>
          <p:cNvPr id="1231" name="Google Shape;1231;p58"/>
          <p:cNvSpPr/>
          <p:nvPr/>
        </p:nvSpPr>
        <p:spPr>
          <a:xfrm>
            <a:off x="685800" y="1714500"/>
            <a:ext cx="5143500" cy="1476375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58"/>
          <p:cNvSpPr/>
          <p:nvPr/>
        </p:nvSpPr>
        <p:spPr>
          <a:xfrm>
            <a:off x="685800" y="1714500"/>
            <a:ext cx="5143500" cy="85725"/>
          </a:xfrm>
          <a:prstGeom prst="rect">
            <a:avLst/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58"/>
          <p:cNvSpPr/>
          <p:nvPr/>
        </p:nvSpPr>
        <p:spPr>
          <a:xfrm>
            <a:off x="895350" y="192405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IDENTITY</a:t>
            </a:r>
            <a:endParaRPr/>
          </a:p>
        </p:txBody>
      </p:sp>
      <p:sp>
        <p:nvSpPr>
          <p:cNvPr id="1234" name="Google Shape;1234;p58"/>
          <p:cNvSpPr/>
          <p:nvPr/>
        </p:nvSpPr>
        <p:spPr>
          <a:xfrm>
            <a:off x="895350" y="2457450"/>
            <a:ext cx="472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STS e role; nessuna chiave nei file</a:t>
            </a:r>
            <a:endParaRPr/>
          </a:p>
        </p:txBody>
      </p:sp>
      <p:sp>
        <p:nvSpPr>
          <p:cNvPr id="1235" name="Google Shape;1235;p58"/>
          <p:cNvSpPr/>
          <p:nvPr/>
        </p:nvSpPr>
        <p:spPr>
          <a:xfrm>
            <a:off x="6210300" y="1714500"/>
            <a:ext cx="5143500" cy="1476375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58"/>
          <p:cNvSpPr/>
          <p:nvPr/>
        </p:nvSpPr>
        <p:spPr>
          <a:xfrm>
            <a:off x="6210300" y="1714500"/>
            <a:ext cx="5143500" cy="85725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58"/>
          <p:cNvSpPr/>
          <p:nvPr/>
        </p:nvSpPr>
        <p:spPr>
          <a:xfrm>
            <a:off x="6419850" y="192405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S3</a:t>
            </a:r>
            <a:endParaRPr/>
          </a:p>
        </p:txBody>
      </p:sp>
      <p:sp>
        <p:nvSpPr>
          <p:cNvPr id="1238" name="Google Shape;1238;p58"/>
          <p:cNvSpPr/>
          <p:nvPr/>
        </p:nvSpPr>
        <p:spPr>
          <a:xfrm>
            <a:off x="6419850" y="2457450"/>
            <a:ext cx="472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Block Public Access + SSE-S3</a:t>
            </a:r>
            <a:endParaRPr/>
          </a:p>
        </p:txBody>
      </p:sp>
      <p:sp>
        <p:nvSpPr>
          <p:cNvPr id="1239" name="Google Shape;1239;p58"/>
          <p:cNvSpPr/>
          <p:nvPr/>
        </p:nvSpPr>
        <p:spPr>
          <a:xfrm>
            <a:off x="685800" y="3524250"/>
            <a:ext cx="5143500" cy="1476375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8"/>
          <p:cNvSpPr/>
          <p:nvPr/>
        </p:nvSpPr>
        <p:spPr>
          <a:xfrm>
            <a:off x="685800" y="3524250"/>
            <a:ext cx="5143500" cy="85725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8"/>
          <p:cNvSpPr/>
          <p:nvPr/>
        </p:nvSpPr>
        <p:spPr>
          <a:xfrm>
            <a:off x="895350" y="373380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COMPUTE</a:t>
            </a:r>
            <a:endParaRPr/>
          </a:p>
        </p:txBody>
      </p:sp>
      <p:sp>
        <p:nvSpPr>
          <p:cNvPr id="1242" name="Google Shape;1242;p58"/>
          <p:cNvSpPr/>
          <p:nvPr/>
        </p:nvSpPr>
        <p:spPr>
          <a:xfrm>
            <a:off x="895350" y="4267200"/>
            <a:ext cx="472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8 vCPU max + timeout 30 min + auto-stop</a:t>
            </a:r>
            <a:endParaRPr/>
          </a:p>
        </p:txBody>
      </p:sp>
      <p:sp>
        <p:nvSpPr>
          <p:cNvPr id="1243" name="Google Shape;1243;p58"/>
          <p:cNvSpPr/>
          <p:nvPr/>
        </p:nvSpPr>
        <p:spPr>
          <a:xfrm>
            <a:off x="6210300" y="3524250"/>
            <a:ext cx="5143500" cy="1476375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58"/>
          <p:cNvSpPr/>
          <p:nvPr/>
        </p:nvSpPr>
        <p:spPr>
          <a:xfrm>
            <a:off x="6210300" y="3524250"/>
            <a:ext cx="5143500" cy="85725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58"/>
          <p:cNvSpPr/>
          <p:nvPr/>
        </p:nvSpPr>
        <p:spPr>
          <a:xfrm>
            <a:off x="6419850" y="373380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DELETE</a:t>
            </a:r>
            <a:endParaRPr/>
          </a:p>
        </p:txBody>
      </p:sp>
      <p:sp>
        <p:nvSpPr>
          <p:cNvPr id="1246" name="Google Shape;1246;p58"/>
          <p:cNvSpPr/>
          <p:nvPr/>
        </p:nvSpPr>
        <p:spPr>
          <a:xfrm>
            <a:off x="6419850" y="4267200"/>
            <a:ext cx="472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11827"/>
                </a:solidFill>
              </a:rPr>
              <a:t>target verificati + conferma CLEANUP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59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LAB • 150 MINUTI</a:t>
            </a:r>
            <a:endParaRPr/>
          </a:p>
        </p:txBody>
      </p:sp>
      <p:sp>
        <p:nvSpPr>
          <p:cNvPr id="1253" name="Google Shape;1253;p5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laboratorio è una sequenza di gate</a:t>
            </a:r>
            <a:endParaRPr/>
          </a:p>
        </p:txBody>
      </p:sp>
      <p:sp>
        <p:nvSpPr>
          <p:cNvPr id="1254" name="Google Shape;1254;p5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59</a:t>
            </a:r>
            <a:endParaRPr/>
          </a:p>
        </p:txBody>
      </p:sp>
      <p:sp>
        <p:nvSpPr>
          <p:cNvPr id="1255" name="Google Shape;1255;p59"/>
          <p:cNvSpPr/>
          <p:nvPr/>
        </p:nvSpPr>
        <p:spPr>
          <a:xfrm>
            <a:off x="781050" y="138112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1256" name="Google Shape;1256;p59"/>
          <p:cNvSpPr/>
          <p:nvPr/>
        </p:nvSpPr>
        <p:spPr>
          <a:xfrm>
            <a:off x="1666875" y="13811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PREFLIGHT</a:t>
            </a:r>
            <a:endParaRPr/>
          </a:p>
        </p:txBody>
      </p:sp>
      <p:sp>
        <p:nvSpPr>
          <p:cNvPr id="1257" name="Google Shape;1257;p59"/>
          <p:cNvSpPr/>
          <p:nvPr/>
        </p:nvSpPr>
        <p:spPr>
          <a:xfrm>
            <a:off x="4762500" y="138112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identità, regione, servizio</a:t>
            </a:r>
            <a:endParaRPr/>
          </a:p>
        </p:txBody>
      </p:sp>
      <p:sp>
        <p:nvSpPr>
          <p:cNvPr id="1258" name="Google Shape;1258;p59"/>
          <p:cNvSpPr/>
          <p:nvPr/>
        </p:nvSpPr>
        <p:spPr>
          <a:xfrm>
            <a:off x="781050" y="20478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1259" name="Google Shape;1259;p59"/>
          <p:cNvSpPr/>
          <p:nvPr/>
        </p:nvSpPr>
        <p:spPr>
          <a:xfrm>
            <a:off x="1666875" y="20478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STORAGE</a:t>
            </a:r>
            <a:endParaRPr/>
          </a:p>
        </p:txBody>
      </p:sp>
      <p:sp>
        <p:nvSpPr>
          <p:cNvPr id="1260" name="Google Shape;1260;p59"/>
          <p:cNvSpPr/>
          <p:nvPr/>
        </p:nvSpPr>
        <p:spPr>
          <a:xfrm>
            <a:off x="4762500" y="20478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bucket protetto, tag, lifecycle</a:t>
            </a:r>
            <a:endParaRPr/>
          </a:p>
        </p:txBody>
      </p:sp>
      <p:sp>
        <p:nvSpPr>
          <p:cNvPr id="1261" name="Google Shape;1261;p59"/>
          <p:cNvSpPr/>
          <p:nvPr/>
        </p:nvSpPr>
        <p:spPr>
          <a:xfrm>
            <a:off x="781050" y="271462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03</a:t>
            </a:r>
            <a:endParaRPr/>
          </a:p>
        </p:txBody>
      </p:sp>
      <p:sp>
        <p:nvSpPr>
          <p:cNvPr id="1262" name="Google Shape;1262;p59"/>
          <p:cNvSpPr/>
          <p:nvPr/>
        </p:nvSpPr>
        <p:spPr>
          <a:xfrm>
            <a:off x="1666875" y="27146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IDENTITY</a:t>
            </a:r>
            <a:endParaRPr/>
          </a:p>
        </p:txBody>
      </p:sp>
      <p:sp>
        <p:nvSpPr>
          <p:cNvPr id="1263" name="Google Shape;1263;p59"/>
          <p:cNvSpPr/>
          <p:nvPr/>
        </p:nvSpPr>
        <p:spPr>
          <a:xfrm>
            <a:off x="4762500" y="271462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runtime role e PassRole</a:t>
            </a:r>
            <a:endParaRPr/>
          </a:p>
        </p:txBody>
      </p:sp>
      <p:sp>
        <p:nvSpPr>
          <p:cNvPr id="1264" name="Google Shape;1264;p59"/>
          <p:cNvSpPr/>
          <p:nvPr/>
        </p:nvSpPr>
        <p:spPr>
          <a:xfrm>
            <a:off x="781050" y="33813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04</a:t>
            </a:r>
            <a:endParaRPr/>
          </a:p>
        </p:txBody>
      </p:sp>
      <p:sp>
        <p:nvSpPr>
          <p:cNvPr id="1265" name="Google Shape;1265;p59"/>
          <p:cNvSpPr/>
          <p:nvPr/>
        </p:nvSpPr>
        <p:spPr>
          <a:xfrm>
            <a:off x="1666875" y="33813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COMPUTE</a:t>
            </a:r>
            <a:endParaRPr/>
          </a:p>
        </p:txBody>
      </p:sp>
      <p:sp>
        <p:nvSpPr>
          <p:cNvPr id="1266" name="Google Shape;1266;p59"/>
          <p:cNvSpPr/>
          <p:nvPr/>
        </p:nvSpPr>
        <p:spPr>
          <a:xfrm>
            <a:off x="4762500" y="33813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application e job run</a:t>
            </a:r>
            <a:endParaRPr/>
          </a:p>
        </p:txBody>
      </p:sp>
      <p:sp>
        <p:nvSpPr>
          <p:cNvPr id="1267" name="Google Shape;1267;p59"/>
          <p:cNvSpPr/>
          <p:nvPr/>
        </p:nvSpPr>
        <p:spPr>
          <a:xfrm>
            <a:off x="781050" y="404812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A36A"/>
                </a:solidFill>
              </a:rPr>
              <a:t>05</a:t>
            </a:r>
            <a:endParaRPr/>
          </a:p>
        </p:txBody>
      </p:sp>
      <p:sp>
        <p:nvSpPr>
          <p:cNvPr id="1268" name="Google Shape;1268;p59"/>
          <p:cNvSpPr/>
          <p:nvPr/>
        </p:nvSpPr>
        <p:spPr>
          <a:xfrm>
            <a:off x="1666875" y="404812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EVIDENCE</a:t>
            </a:r>
            <a:endParaRPr/>
          </a:p>
        </p:txBody>
      </p:sp>
      <p:sp>
        <p:nvSpPr>
          <p:cNvPr id="1269" name="Google Shape;1269;p59"/>
          <p:cNvSpPr/>
          <p:nvPr/>
        </p:nvSpPr>
        <p:spPr>
          <a:xfrm>
            <a:off x="4762500" y="404812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output, log, UI, billed resources</a:t>
            </a:r>
            <a:endParaRPr/>
          </a:p>
        </p:txBody>
      </p:sp>
      <p:sp>
        <p:nvSpPr>
          <p:cNvPr id="1270" name="Google Shape;1270;p59"/>
          <p:cNvSpPr/>
          <p:nvPr/>
        </p:nvSpPr>
        <p:spPr>
          <a:xfrm>
            <a:off x="781050" y="47148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F5A5A"/>
                </a:solidFill>
              </a:rPr>
              <a:t>06</a:t>
            </a:r>
            <a:endParaRPr/>
          </a:p>
        </p:txBody>
      </p:sp>
      <p:sp>
        <p:nvSpPr>
          <p:cNvPr id="1271" name="Google Shape;1271;p59"/>
          <p:cNvSpPr/>
          <p:nvPr/>
        </p:nvSpPr>
        <p:spPr>
          <a:xfrm>
            <a:off x="1666875" y="47148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CLEANUP</a:t>
            </a:r>
            <a:endParaRPr/>
          </a:p>
        </p:txBody>
      </p:sp>
      <p:sp>
        <p:nvSpPr>
          <p:cNvPr id="1272" name="Google Shape;1272;p59"/>
          <p:cNvSpPr/>
          <p:nvPr/>
        </p:nvSpPr>
        <p:spPr>
          <a:xfrm>
            <a:off x="4762500" y="47148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application, bucket e ruolo del lab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60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LAB • JOB</a:t>
            </a:r>
            <a:endParaRPr/>
          </a:p>
        </p:txBody>
      </p:sp>
      <p:sp>
        <p:nvSpPr>
          <p:cNvPr id="1279" name="Google Shape;1279;p60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job PySpark resta riconoscibile</a:t>
            </a:r>
            <a:endParaRPr/>
          </a:p>
        </p:txBody>
      </p:sp>
      <p:sp>
        <p:nvSpPr>
          <p:cNvPr id="1280" name="Google Shape;1280;p60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60</a:t>
            </a:r>
            <a:endParaRPr/>
          </a:p>
        </p:txBody>
      </p:sp>
      <p:sp>
        <p:nvSpPr>
          <p:cNvPr id="1281" name="Google Shape;1281;p60"/>
          <p:cNvSpPr/>
          <p:nvPr/>
        </p:nvSpPr>
        <p:spPr>
          <a:xfrm>
            <a:off x="1000125" y="1666875"/>
            <a:ext cx="10191750" cy="3524250"/>
          </a:xfrm>
          <a:prstGeom prst="roundRect">
            <a:avLst>
              <a:gd fmla="val 2162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60"/>
          <p:cNvSpPr/>
          <p:nvPr/>
        </p:nvSpPr>
        <p:spPr>
          <a:xfrm>
            <a:off x="1228725" y="1876425"/>
            <a:ext cx="9734550" cy="310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raw = spark.read.schema(raw_schema).csv(input_uri)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curated = parse_and_validate(raw).cache()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top = curated.groupBy('movie_id').count()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curated.write.partitionBy('event_date').parquet(output_uri)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metrics.coalesce(1).write.json(metrics_uri)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61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LAB • OUTPUT</a:t>
            </a:r>
            <a:endParaRPr/>
          </a:p>
        </p:txBody>
      </p:sp>
      <p:sp>
        <p:nvSpPr>
          <p:cNvPr id="1289" name="Google Shape;1289;p61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Ogni run produce un namespace autonomo</a:t>
            </a:r>
            <a:endParaRPr/>
          </a:p>
        </p:txBody>
      </p:sp>
      <p:sp>
        <p:nvSpPr>
          <p:cNvPr id="1290" name="Google Shape;1290;p61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61</a:t>
            </a:r>
            <a:endParaRPr/>
          </a:p>
        </p:txBody>
      </p:sp>
      <p:sp>
        <p:nvSpPr>
          <p:cNvPr id="1291" name="Google Shape;1291;p61"/>
          <p:cNvSpPr/>
          <p:nvPr/>
        </p:nvSpPr>
        <p:spPr>
          <a:xfrm>
            <a:off x="1285875" y="1619250"/>
            <a:ext cx="9620250" cy="3714750"/>
          </a:xfrm>
          <a:prstGeom prst="roundRect">
            <a:avLst>
              <a:gd fmla="val 2051" name="adj"/>
            </a:avLst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61"/>
          <p:cNvSpPr/>
          <p:nvPr/>
        </p:nvSpPr>
        <p:spPr>
          <a:xfrm>
            <a:off x="1514475" y="1828800"/>
            <a:ext cx="9163050" cy="32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s3://bucket/runs/20260904090000/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  logs/applications/&lt;app&gt;/jobs/&lt;job&gt;/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  output/curated_events/event_date=.../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  output/top_movies/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  output/country_minutes/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FF6FB"/>
                </a:solidFill>
              </a:rPr>
              <a:t>  output/metrics/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62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EVIDENCE GATE</a:t>
            </a:r>
            <a:endParaRPr/>
          </a:p>
        </p:txBody>
      </p:sp>
      <p:sp>
        <p:nvSpPr>
          <p:cNvPr id="1299" name="Google Shape;1299;p62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gate chiude dati, runtime e costo</a:t>
            </a:r>
            <a:endParaRPr/>
          </a:p>
        </p:txBody>
      </p:sp>
      <p:sp>
        <p:nvSpPr>
          <p:cNvPr id="1300" name="Google Shape;1300;p62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62</a:t>
            </a:r>
            <a:endParaRPr/>
          </a:p>
        </p:txBody>
      </p:sp>
      <p:sp>
        <p:nvSpPr>
          <p:cNvPr id="1301" name="Google Shape;1301;p62"/>
          <p:cNvSpPr/>
          <p:nvPr/>
        </p:nvSpPr>
        <p:spPr>
          <a:xfrm>
            <a:off x="762000" y="1428750"/>
            <a:ext cx="2476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62"/>
          <p:cNvSpPr/>
          <p:nvPr/>
        </p:nvSpPr>
        <p:spPr>
          <a:xfrm>
            <a:off x="857250" y="1562100"/>
            <a:ext cx="2286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Piano</a:t>
            </a:r>
            <a:endParaRPr/>
          </a:p>
        </p:txBody>
      </p:sp>
      <p:sp>
        <p:nvSpPr>
          <p:cNvPr id="1303" name="Google Shape;1303;p62"/>
          <p:cNvSpPr/>
          <p:nvPr/>
        </p:nvSpPr>
        <p:spPr>
          <a:xfrm>
            <a:off x="3238500" y="1428750"/>
            <a:ext cx="41910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62"/>
          <p:cNvSpPr/>
          <p:nvPr/>
        </p:nvSpPr>
        <p:spPr>
          <a:xfrm>
            <a:off x="3333750" y="1562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Prova</a:t>
            </a:r>
            <a:endParaRPr/>
          </a:p>
        </p:txBody>
      </p:sp>
      <p:sp>
        <p:nvSpPr>
          <p:cNvPr id="1305" name="Google Shape;1305;p62"/>
          <p:cNvSpPr/>
          <p:nvPr/>
        </p:nvSpPr>
        <p:spPr>
          <a:xfrm>
            <a:off x="7429500" y="1428750"/>
            <a:ext cx="4000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62"/>
          <p:cNvSpPr/>
          <p:nvPr/>
        </p:nvSpPr>
        <p:spPr>
          <a:xfrm>
            <a:off x="7524750" y="1562100"/>
            <a:ext cx="3810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Atteso</a:t>
            </a:r>
            <a:endParaRPr/>
          </a:p>
        </p:txBody>
      </p:sp>
      <p:sp>
        <p:nvSpPr>
          <p:cNvPr id="1307" name="Google Shape;1307;p62"/>
          <p:cNvSpPr/>
          <p:nvPr/>
        </p:nvSpPr>
        <p:spPr>
          <a:xfrm>
            <a:off x="762000" y="1924050"/>
            <a:ext cx="2476500" cy="6858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62"/>
          <p:cNvSpPr/>
          <p:nvPr/>
        </p:nvSpPr>
        <p:spPr>
          <a:xfrm>
            <a:off x="895350" y="2038350"/>
            <a:ext cx="2209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DATA</a:t>
            </a:r>
            <a:endParaRPr/>
          </a:p>
        </p:txBody>
      </p:sp>
      <p:sp>
        <p:nvSpPr>
          <p:cNvPr id="1309" name="Google Shape;1309;p62"/>
          <p:cNvSpPr/>
          <p:nvPr/>
        </p:nvSpPr>
        <p:spPr>
          <a:xfrm>
            <a:off x="3238500" y="1924050"/>
            <a:ext cx="4191000" cy="6858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62"/>
          <p:cNvSpPr/>
          <p:nvPr/>
        </p:nvSpPr>
        <p:spPr>
          <a:xfrm>
            <a:off x="3371850" y="2038350"/>
            <a:ext cx="3924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metrics JSON</a:t>
            </a:r>
            <a:endParaRPr/>
          </a:p>
        </p:txBody>
      </p:sp>
      <p:sp>
        <p:nvSpPr>
          <p:cNvPr id="1311" name="Google Shape;1311;p62"/>
          <p:cNvSpPr/>
          <p:nvPr/>
        </p:nvSpPr>
        <p:spPr>
          <a:xfrm>
            <a:off x="7429500" y="1924050"/>
            <a:ext cx="4000500" cy="6858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62"/>
          <p:cNvSpPr/>
          <p:nvPr/>
        </p:nvSpPr>
        <p:spPr>
          <a:xfrm>
            <a:off x="7562850" y="2038350"/>
            <a:ext cx="373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200.020 / 200.000 / 20</a:t>
            </a:r>
            <a:endParaRPr/>
          </a:p>
        </p:txBody>
      </p:sp>
      <p:sp>
        <p:nvSpPr>
          <p:cNvPr id="1313" name="Google Shape;1313;p62"/>
          <p:cNvSpPr/>
          <p:nvPr/>
        </p:nvSpPr>
        <p:spPr>
          <a:xfrm>
            <a:off x="762000" y="2609850"/>
            <a:ext cx="24765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62"/>
          <p:cNvSpPr/>
          <p:nvPr/>
        </p:nvSpPr>
        <p:spPr>
          <a:xfrm>
            <a:off x="895350" y="2724150"/>
            <a:ext cx="2209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OUTPUT</a:t>
            </a:r>
            <a:endParaRPr/>
          </a:p>
        </p:txBody>
      </p:sp>
      <p:sp>
        <p:nvSpPr>
          <p:cNvPr id="1315" name="Google Shape;1315;p62"/>
          <p:cNvSpPr/>
          <p:nvPr/>
        </p:nvSpPr>
        <p:spPr>
          <a:xfrm>
            <a:off x="3238500" y="2609850"/>
            <a:ext cx="41910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62"/>
          <p:cNvSpPr/>
          <p:nvPr/>
        </p:nvSpPr>
        <p:spPr>
          <a:xfrm>
            <a:off x="3371850" y="2724150"/>
            <a:ext cx="3924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quattro _SUCCESS</a:t>
            </a:r>
            <a:endParaRPr/>
          </a:p>
        </p:txBody>
      </p:sp>
      <p:sp>
        <p:nvSpPr>
          <p:cNvPr id="1317" name="Google Shape;1317;p62"/>
          <p:cNvSpPr/>
          <p:nvPr/>
        </p:nvSpPr>
        <p:spPr>
          <a:xfrm>
            <a:off x="7429500" y="2609850"/>
            <a:ext cx="40005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62"/>
          <p:cNvSpPr/>
          <p:nvPr/>
        </p:nvSpPr>
        <p:spPr>
          <a:xfrm>
            <a:off x="7562850" y="2724150"/>
            <a:ext cx="373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Parquet + JSON</a:t>
            </a:r>
            <a:endParaRPr/>
          </a:p>
        </p:txBody>
      </p:sp>
      <p:sp>
        <p:nvSpPr>
          <p:cNvPr id="1319" name="Google Shape;1319;p62"/>
          <p:cNvSpPr/>
          <p:nvPr/>
        </p:nvSpPr>
        <p:spPr>
          <a:xfrm>
            <a:off x="762000" y="3295650"/>
            <a:ext cx="2476500" cy="6858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62"/>
          <p:cNvSpPr/>
          <p:nvPr/>
        </p:nvSpPr>
        <p:spPr>
          <a:xfrm>
            <a:off x="895350" y="3409950"/>
            <a:ext cx="2209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RUNTIME</a:t>
            </a:r>
            <a:endParaRPr/>
          </a:p>
        </p:txBody>
      </p:sp>
      <p:sp>
        <p:nvSpPr>
          <p:cNvPr id="1321" name="Google Shape;1321;p62"/>
          <p:cNvSpPr/>
          <p:nvPr/>
        </p:nvSpPr>
        <p:spPr>
          <a:xfrm>
            <a:off x="3238500" y="3295650"/>
            <a:ext cx="4191000" cy="6858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62"/>
          <p:cNvSpPr/>
          <p:nvPr/>
        </p:nvSpPr>
        <p:spPr>
          <a:xfrm>
            <a:off x="3371850" y="3409950"/>
            <a:ext cx="3924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job state</a:t>
            </a:r>
            <a:endParaRPr/>
          </a:p>
        </p:txBody>
      </p:sp>
      <p:sp>
        <p:nvSpPr>
          <p:cNvPr id="1323" name="Google Shape;1323;p62"/>
          <p:cNvSpPr/>
          <p:nvPr/>
        </p:nvSpPr>
        <p:spPr>
          <a:xfrm>
            <a:off x="7429500" y="3295650"/>
            <a:ext cx="4000500" cy="6858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62"/>
          <p:cNvSpPr/>
          <p:nvPr/>
        </p:nvSpPr>
        <p:spPr>
          <a:xfrm>
            <a:off x="7562850" y="3409950"/>
            <a:ext cx="373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SUCCESS</a:t>
            </a:r>
            <a:endParaRPr/>
          </a:p>
        </p:txBody>
      </p:sp>
      <p:sp>
        <p:nvSpPr>
          <p:cNvPr id="1325" name="Google Shape;1325;p62"/>
          <p:cNvSpPr/>
          <p:nvPr/>
        </p:nvSpPr>
        <p:spPr>
          <a:xfrm>
            <a:off x="762000" y="3981450"/>
            <a:ext cx="24765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62"/>
          <p:cNvSpPr/>
          <p:nvPr/>
        </p:nvSpPr>
        <p:spPr>
          <a:xfrm>
            <a:off x="895350" y="4095750"/>
            <a:ext cx="2209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IDENTITY</a:t>
            </a:r>
            <a:endParaRPr/>
          </a:p>
        </p:txBody>
      </p:sp>
      <p:sp>
        <p:nvSpPr>
          <p:cNvPr id="1327" name="Google Shape;1327;p62"/>
          <p:cNvSpPr/>
          <p:nvPr/>
        </p:nvSpPr>
        <p:spPr>
          <a:xfrm>
            <a:off x="3238500" y="3981450"/>
            <a:ext cx="41910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62"/>
          <p:cNvSpPr/>
          <p:nvPr/>
        </p:nvSpPr>
        <p:spPr>
          <a:xfrm>
            <a:off x="3371850" y="4095750"/>
            <a:ext cx="3924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role ARN e policy</a:t>
            </a:r>
            <a:endParaRPr/>
          </a:p>
        </p:txBody>
      </p:sp>
      <p:sp>
        <p:nvSpPr>
          <p:cNvPr id="1329" name="Google Shape;1329;p62"/>
          <p:cNvSpPr/>
          <p:nvPr/>
        </p:nvSpPr>
        <p:spPr>
          <a:xfrm>
            <a:off x="7429500" y="3981450"/>
            <a:ext cx="40005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62"/>
          <p:cNvSpPr/>
          <p:nvPr/>
        </p:nvSpPr>
        <p:spPr>
          <a:xfrm>
            <a:off x="7562850" y="4095750"/>
            <a:ext cx="373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solo bucket lab</a:t>
            </a:r>
            <a:endParaRPr/>
          </a:p>
        </p:txBody>
      </p:sp>
      <p:sp>
        <p:nvSpPr>
          <p:cNvPr id="1331" name="Google Shape;1331;p62"/>
          <p:cNvSpPr/>
          <p:nvPr/>
        </p:nvSpPr>
        <p:spPr>
          <a:xfrm>
            <a:off x="762000" y="4667250"/>
            <a:ext cx="2476500" cy="6858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62"/>
          <p:cNvSpPr/>
          <p:nvPr/>
        </p:nvSpPr>
        <p:spPr>
          <a:xfrm>
            <a:off x="895350" y="4781550"/>
            <a:ext cx="2209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COST</a:t>
            </a:r>
            <a:endParaRPr/>
          </a:p>
        </p:txBody>
      </p:sp>
      <p:sp>
        <p:nvSpPr>
          <p:cNvPr id="1333" name="Google Shape;1333;p62"/>
          <p:cNvSpPr/>
          <p:nvPr/>
        </p:nvSpPr>
        <p:spPr>
          <a:xfrm>
            <a:off x="3238500" y="4667250"/>
            <a:ext cx="4191000" cy="6858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62"/>
          <p:cNvSpPr/>
          <p:nvPr/>
        </p:nvSpPr>
        <p:spPr>
          <a:xfrm>
            <a:off x="3371850" y="4781550"/>
            <a:ext cx="3924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billedResourceUtilization</a:t>
            </a:r>
            <a:endParaRPr/>
          </a:p>
        </p:txBody>
      </p:sp>
      <p:sp>
        <p:nvSpPr>
          <p:cNvPr id="1335" name="Google Shape;1335;p62"/>
          <p:cNvSpPr/>
          <p:nvPr/>
        </p:nvSpPr>
        <p:spPr>
          <a:xfrm>
            <a:off x="7429500" y="4667250"/>
            <a:ext cx="4000500" cy="68580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62"/>
          <p:cNvSpPr/>
          <p:nvPr/>
        </p:nvSpPr>
        <p:spPr>
          <a:xfrm>
            <a:off x="7562850" y="4781550"/>
            <a:ext cx="373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valori registrati</a:t>
            </a:r>
            <a:endParaRPr/>
          </a:p>
        </p:txBody>
      </p:sp>
      <p:sp>
        <p:nvSpPr>
          <p:cNvPr id="1337" name="Google Shape;1337;p62"/>
          <p:cNvSpPr/>
          <p:nvPr/>
        </p:nvSpPr>
        <p:spPr>
          <a:xfrm>
            <a:off x="762000" y="5353050"/>
            <a:ext cx="24765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62"/>
          <p:cNvSpPr/>
          <p:nvPr/>
        </p:nvSpPr>
        <p:spPr>
          <a:xfrm>
            <a:off x="895350" y="5467350"/>
            <a:ext cx="2209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F33"/>
                </a:solidFill>
              </a:rPr>
              <a:t>OPS</a:t>
            </a:r>
            <a:endParaRPr/>
          </a:p>
        </p:txBody>
      </p:sp>
      <p:sp>
        <p:nvSpPr>
          <p:cNvPr id="1339" name="Google Shape;1339;p62"/>
          <p:cNvSpPr/>
          <p:nvPr/>
        </p:nvSpPr>
        <p:spPr>
          <a:xfrm>
            <a:off x="3238500" y="5353050"/>
            <a:ext cx="41910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62"/>
          <p:cNvSpPr/>
          <p:nvPr/>
        </p:nvSpPr>
        <p:spPr>
          <a:xfrm>
            <a:off x="3371850" y="5467350"/>
            <a:ext cx="3924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cleanup verification</a:t>
            </a:r>
            <a:endParaRPr/>
          </a:p>
        </p:txBody>
      </p:sp>
      <p:sp>
        <p:nvSpPr>
          <p:cNvPr id="1341" name="Google Shape;1341;p62"/>
          <p:cNvSpPr/>
          <p:nvPr/>
        </p:nvSpPr>
        <p:spPr>
          <a:xfrm>
            <a:off x="7429500" y="5353050"/>
            <a:ext cx="400050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62"/>
          <p:cNvSpPr/>
          <p:nvPr/>
        </p:nvSpPr>
        <p:spPr>
          <a:xfrm>
            <a:off x="7562850" y="5467350"/>
            <a:ext cx="373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11827"/>
                </a:solidFill>
              </a:rPr>
              <a:t>risorse non trovate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3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LAB • CLEANUP</a:t>
            </a:r>
            <a:endParaRPr/>
          </a:p>
        </p:txBody>
      </p:sp>
      <p:sp>
        <p:nvSpPr>
          <p:cNvPr id="1349" name="Google Shape;1349;p63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Cleanup è parte della definizione di done</a:t>
            </a:r>
            <a:endParaRPr/>
          </a:p>
        </p:txBody>
      </p:sp>
      <p:sp>
        <p:nvSpPr>
          <p:cNvPr id="1350" name="Google Shape;1350;p63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63</a:t>
            </a:r>
            <a:endParaRPr/>
          </a:p>
        </p:txBody>
      </p:sp>
      <p:sp>
        <p:nvSpPr>
          <p:cNvPr id="1351" name="Google Shape;1351;p63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EF5A5A"/>
                </a:solidFill>
              </a:rPr>
              <a:t>“</a:t>
            </a:r>
            <a:endParaRPr/>
          </a:p>
        </p:txBody>
      </p:sp>
      <p:sp>
        <p:nvSpPr>
          <p:cNvPr id="1352" name="Google Shape;1352;p63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Conserva l’evidenza, verifica i target, arresta ed elimina application, bucket e soltanto l’eventuale ruolo creato dal laboratorio.</a:t>
            </a:r>
            <a:endParaRPr/>
          </a:p>
        </p:txBody>
      </p:sp>
      <p:sp>
        <p:nvSpPr>
          <p:cNvPr id="1353" name="Google Shape;1353;p63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64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FINAL ARCHITECTURE</a:t>
            </a:r>
            <a:endParaRPr/>
          </a:p>
        </p:txBody>
      </p:sp>
      <p:sp>
        <p:nvSpPr>
          <p:cNvPr id="1360" name="Google Shape;1360;p64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DATAFLIX ora separa dati, motori e servizi</a:t>
            </a:r>
            <a:endParaRPr/>
          </a:p>
        </p:txBody>
      </p:sp>
      <p:sp>
        <p:nvSpPr>
          <p:cNvPr id="1361" name="Google Shape;1361;p64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64</a:t>
            </a:r>
            <a:endParaRPr/>
          </a:p>
        </p:txBody>
      </p:sp>
      <p:sp>
        <p:nvSpPr>
          <p:cNvPr id="1362" name="Google Shape;1362;p64"/>
          <p:cNvSpPr/>
          <p:nvPr/>
        </p:nvSpPr>
        <p:spPr>
          <a:xfrm>
            <a:off x="2762250" y="2505075"/>
            <a:ext cx="1238250" cy="38100"/>
          </a:xfrm>
          <a:prstGeom prst="rect">
            <a:avLst/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64"/>
          <p:cNvSpPr/>
          <p:nvPr/>
        </p:nvSpPr>
        <p:spPr>
          <a:xfrm>
            <a:off x="3848100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8A4C"/>
                </a:solidFill>
              </a:rPr>
              <a:t>›</a:t>
            </a:r>
            <a:endParaRPr/>
          </a:p>
        </p:txBody>
      </p:sp>
      <p:sp>
        <p:nvSpPr>
          <p:cNvPr id="1364" name="Google Shape;1364;p64"/>
          <p:cNvSpPr/>
          <p:nvPr/>
        </p:nvSpPr>
        <p:spPr>
          <a:xfrm>
            <a:off x="2762250" y="2162175"/>
            <a:ext cx="123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8A4C"/>
                </a:solidFill>
              </a:rPr>
              <a:t>events</a:t>
            </a:r>
            <a:endParaRPr/>
          </a:p>
        </p:txBody>
      </p:sp>
      <p:sp>
        <p:nvSpPr>
          <p:cNvPr id="1365" name="Google Shape;1365;p64"/>
          <p:cNvSpPr/>
          <p:nvPr/>
        </p:nvSpPr>
        <p:spPr>
          <a:xfrm>
            <a:off x="7429500" y="2505075"/>
            <a:ext cx="1238250" cy="381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64"/>
          <p:cNvSpPr/>
          <p:nvPr/>
        </p:nvSpPr>
        <p:spPr>
          <a:xfrm>
            <a:off x="8515350" y="2333625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B7E34B"/>
                </a:solidFill>
              </a:rPr>
              <a:t>›</a:t>
            </a:r>
            <a:endParaRPr/>
          </a:p>
        </p:txBody>
      </p:sp>
      <p:sp>
        <p:nvSpPr>
          <p:cNvPr id="1367" name="Google Shape;1367;p64"/>
          <p:cNvSpPr/>
          <p:nvPr/>
        </p:nvSpPr>
        <p:spPr>
          <a:xfrm>
            <a:off x="7429500" y="2162175"/>
            <a:ext cx="123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E34B"/>
                </a:solidFill>
              </a:rPr>
              <a:t>analytics</a:t>
            </a:r>
            <a:endParaRPr/>
          </a:p>
        </p:txBody>
      </p:sp>
      <p:sp>
        <p:nvSpPr>
          <p:cNvPr id="1368" name="Google Shape;1368;p64"/>
          <p:cNvSpPr/>
          <p:nvPr/>
        </p:nvSpPr>
        <p:spPr>
          <a:xfrm>
            <a:off x="571500" y="1952625"/>
            <a:ext cx="2190750" cy="1285875"/>
          </a:xfrm>
          <a:prstGeom prst="roundRect">
            <a:avLst>
              <a:gd fmla="val 5926" name="adj"/>
            </a:avLst>
          </a:prstGeom>
          <a:solidFill>
            <a:srgbClr val="0B1F33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64"/>
          <p:cNvSpPr/>
          <p:nvPr/>
        </p:nvSpPr>
        <p:spPr>
          <a:xfrm>
            <a:off x="723900" y="2124075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APPLICATIONS</a:t>
            </a:r>
            <a:endParaRPr/>
          </a:p>
        </p:txBody>
      </p:sp>
      <p:sp>
        <p:nvSpPr>
          <p:cNvPr id="1370" name="Google Shape;1370;p64"/>
          <p:cNvSpPr/>
          <p:nvPr/>
        </p:nvSpPr>
        <p:spPr>
          <a:xfrm>
            <a:off x="723900" y="2486025"/>
            <a:ext cx="18859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PostgreSQL • Redis • MongoDB • Neo4j</a:t>
            </a:r>
            <a:endParaRPr/>
          </a:p>
        </p:txBody>
      </p:sp>
      <p:sp>
        <p:nvSpPr>
          <p:cNvPr id="1371" name="Google Shape;1371;p64"/>
          <p:cNvSpPr/>
          <p:nvPr/>
        </p:nvSpPr>
        <p:spPr>
          <a:xfrm>
            <a:off x="4000500" y="1762125"/>
            <a:ext cx="3429000" cy="1666875"/>
          </a:xfrm>
          <a:prstGeom prst="roundRect">
            <a:avLst>
              <a:gd fmla="val 4571" name="adj"/>
            </a:avLst>
          </a:prstGeom>
          <a:solidFill>
            <a:srgbClr val="0B1F33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64"/>
          <p:cNvSpPr/>
          <p:nvPr/>
        </p:nvSpPr>
        <p:spPr>
          <a:xfrm>
            <a:off x="4152900" y="1933575"/>
            <a:ext cx="312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S3 DATA LAKE</a:t>
            </a:r>
            <a:endParaRPr/>
          </a:p>
        </p:txBody>
      </p:sp>
      <p:sp>
        <p:nvSpPr>
          <p:cNvPr id="1373" name="Google Shape;1373;p64"/>
          <p:cNvSpPr/>
          <p:nvPr/>
        </p:nvSpPr>
        <p:spPr>
          <a:xfrm>
            <a:off x="4152900" y="2295525"/>
            <a:ext cx="312420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raw • curated • analytics</a:t>
            </a:r>
            <a:endParaRPr/>
          </a:p>
        </p:txBody>
      </p:sp>
      <p:sp>
        <p:nvSpPr>
          <p:cNvPr id="1374" name="Google Shape;1374;p64"/>
          <p:cNvSpPr/>
          <p:nvPr/>
        </p:nvSpPr>
        <p:spPr>
          <a:xfrm>
            <a:off x="8667750" y="1952625"/>
            <a:ext cx="2857500" cy="1285875"/>
          </a:xfrm>
          <a:prstGeom prst="roundRect">
            <a:avLst>
              <a:gd fmla="val 5926" name="adj"/>
            </a:avLst>
          </a:prstGeom>
          <a:solidFill>
            <a:srgbClr val="0B1F33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64"/>
          <p:cNvSpPr/>
          <p:nvPr/>
        </p:nvSpPr>
        <p:spPr>
          <a:xfrm>
            <a:off x="8820150" y="2124075"/>
            <a:ext cx="2552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FFFFF"/>
                </a:solidFill>
              </a:rPr>
              <a:t>AMAZON EMR</a:t>
            </a:r>
            <a:endParaRPr/>
          </a:p>
        </p:txBody>
      </p:sp>
      <p:sp>
        <p:nvSpPr>
          <p:cNvPr id="1376" name="Google Shape;1376;p64"/>
          <p:cNvSpPr/>
          <p:nvPr/>
        </p:nvSpPr>
        <p:spPr>
          <a:xfrm>
            <a:off x="8820150" y="2486025"/>
            <a:ext cx="25527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8D4DE"/>
                </a:solidFill>
              </a:rPr>
              <a:t>Hadoop • Spark • Hive</a:t>
            </a:r>
            <a:endParaRPr/>
          </a:p>
        </p:txBody>
      </p:sp>
      <p:sp>
        <p:nvSpPr>
          <p:cNvPr id="1377" name="Google Shape;1377;p64"/>
          <p:cNvSpPr/>
          <p:nvPr/>
        </p:nvSpPr>
        <p:spPr>
          <a:xfrm>
            <a:off x="2238375" y="4953000"/>
            <a:ext cx="7715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</a:rPr>
              <a:t>IAM controlla • log spiegano • tag attribuiscono • cleanup chiude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65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16 LEZIONI</a:t>
            </a:r>
            <a:endParaRPr/>
          </a:p>
        </p:txBody>
      </p:sp>
      <p:sp>
        <p:nvSpPr>
          <p:cNvPr id="1384" name="Google Shape;1384;p65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Il corso ha costruito una catena causale</a:t>
            </a:r>
            <a:endParaRPr/>
          </a:p>
        </p:txBody>
      </p:sp>
      <p:sp>
        <p:nvSpPr>
          <p:cNvPr id="1385" name="Google Shape;1385;p65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65</a:t>
            </a:r>
            <a:endParaRPr/>
          </a:p>
        </p:txBody>
      </p:sp>
      <p:sp>
        <p:nvSpPr>
          <p:cNvPr id="1386" name="Google Shape;1386;p65"/>
          <p:cNvSpPr/>
          <p:nvPr/>
        </p:nvSpPr>
        <p:spPr>
          <a:xfrm>
            <a:off x="714375" y="1571625"/>
            <a:ext cx="31432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65"/>
          <p:cNvSpPr/>
          <p:nvPr/>
        </p:nvSpPr>
        <p:spPr>
          <a:xfrm>
            <a:off x="809625" y="1704975"/>
            <a:ext cx="295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Domanda</a:t>
            </a:r>
            <a:endParaRPr/>
          </a:p>
        </p:txBody>
      </p:sp>
      <p:sp>
        <p:nvSpPr>
          <p:cNvPr id="1388" name="Google Shape;1388;p65"/>
          <p:cNvSpPr/>
          <p:nvPr/>
        </p:nvSpPr>
        <p:spPr>
          <a:xfrm>
            <a:off x="3857625" y="1571625"/>
            <a:ext cx="4095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65"/>
          <p:cNvSpPr/>
          <p:nvPr/>
        </p:nvSpPr>
        <p:spPr>
          <a:xfrm>
            <a:off x="3952875" y="170497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Concetti</a:t>
            </a:r>
            <a:endParaRPr/>
          </a:p>
        </p:txBody>
      </p:sp>
      <p:sp>
        <p:nvSpPr>
          <p:cNvPr id="1390" name="Google Shape;1390;p65"/>
          <p:cNvSpPr/>
          <p:nvPr/>
        </p:nvSpPr>
        <p:spPr>
          <a:xfrm>
            <a:off x="7953375" y="1571625"/>
            <a:ext cx="38100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65"/>
          <p:cNvSpPr/>
          <p:nvPr/>
        </p:nvSpPr>
        <p:spPr>
          <a:xfrm>
            <a:off x="8048625" y="1704975"/>
            <a:ext cx="3619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Decisione finale</a:t>
            </a:r>
            <a:endParaRPr/>
          </a:p>
        </p:txBody>
      </p:sp>
      <p:sp>
        <p:nvSpPr>
          <p:cNvPr id="1392" name="Google Shape;1392;p65"/>
          <p:cNvSpPr/>
          <p:nvPr/>
        </p:nvSpPr>
        <p:spPr>
          <a:xfrm>
            <a:off x="714375" y="2066925"/>
            <a:ext cx="31432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65"/>
          <p:cNvSpPr/>
          <p:nvPr/>
        </p:nvSpPr>
        <p:spPr>
          <a:xfrm>
            <a:off x="847725" y="2181225"/>
            <a:ext cx="2876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Che dato abbiamo?</a:t>
            </a:r>
            <a:endParaRPr/>
          </a:p>
        </p:txBody>
      </p:sp>
      <p:sp>
        <p:nvSpPr>
          <p:cNvPr id="1394" name="Google Shape;1394;p65"/>
          <p:cNvSpPr/>
          <p:nvPr/>
        </p:nvSpPr>
        <p:spPr>
          <a:xfrm>
            <a:off x="3857625" y="2066925"/>
            <a:ext cx="40957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65"/>
          <p:cNvSpPr/>
          <p:nvPr/>
        </p:nvSpPr>
        <p:spPr>
          <a:xfrm>
            <a:off x="3990975" y="2181225"/>
            <a:ext cx="3829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V, tipi, schema</a:t>
            </a:r>
            <a:endParaRPr/>
          </a:p>
        </p:txBody>
      </p:sp>
      <p:sp>
        <p:nvSpPr>
          <p:cNvPr id="1396" name="Google Shape;1396;p65"/>
          <p:cNvSpPr/>
          <p:nvPr/>
        </p:nvSpPr>
        <p:spPr>
          <a:xfrm>
            <a:off x="7953375" y="2066925"/>
            <a:ext cx="381000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65"/>
          <p:cNvSpPr/>
          <p:nvPr/>
        </p:nvSpPr>
        <p:spPr>
          <a:xfrm>
            <a:off x="8086725" y="2181225"/>
            <a:ext cx="3543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contratto</a:t>
            </a:r>
            <a:endParaRPr/>
          </a:p>
        </p:txBody>
      </p:sp>
      <p:sp>
        <p:nvSpPr>
          <p:cNvPr id="1398" name="Google Shape;1398;p65"/>
          <p:cNvSpPr/>
          <p:nvPr/>
        </p:nvSpPr>
        <p:spPr>
          <a:xfrm>
            <a:off x="714375" y="2847975"/>
            <a:ext cx="314325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65"/>
          <p:cNvSpPr/>
          <p:nvPr/>
        </p:nvSpPr>
        <p:spPr>
          <a:xfrm>
            <a:off x="847725" y="2962275"/>
            <a:ext cx="2876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Dove lo conserviamo?</a:t>
            </a:r>
            <a:endParaRPr/>
          </a:p>
        </p:txBody>
      </p:sp>
      <p:sp>
        <p:nvSpPr>
          <p:cNvPr id="1400" name="Google Shape;1400;p65"/>
          <p:cNvSpPr/>
          <p:nvPr/>
        </p:nvSpPr>
        <p:spPr>
          <a:xfrm>
            <a:off x="3857625" y="2847975"/>
            <a:ext cx="409575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65"/>
          <p:cNvSpPr/>
          <p:nvPr/>
        </p:nvSpPr>
        <p:spPr>
          <a:xfrm>
            <a:off x="3990975" y="2962275"/>
            <a:ext cx="3829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SQL, NoSQL, CAP</a:t>
            </a:r>
            <a:endParaRPr/>
          </a:p>
        </p:txBody>
      </p:sp>
      <p:sp>
        <p:nvSpPr>
          <p:cNvPr id="1402" name="Google Shape;1402;p65"/>
          <p:cNvSpPr/>
          <p:nvPr/>
        </p:nvSpPr>
        <p:spPr>
          <a:xfrm>
            <a:off x="7953375" y="2847975"/>
            <a:ext cx="381000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65"/>
          <p:cNvSpPr/>
          <p:nvPr/>
        </p:nvSpPr>
        <p:spPr>
          <a:xfrm>
            <a:off x="8086725" y="2962275"/>
            <a:ext cx="3543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modello e trade-off</a:t>
            </a:r>
            <a:endParaRPr/>
          </a:p>
        </p:txBody>
      </p:sp>
      <p:sp>
        <p:nvSpPr>
          <p:cNvPr id="1404" name="Google Shape;1404;p65"/>
          <p:cNvSpPr/>
          <p:nvPr/>
        </p:nvSpPr>
        <p:spPr>
          <a:xfrm>
            <a:off x="714375" y="3629025"/>
            <a:ext cx="31432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65"/>
          <p:cNvSpPr/>
          <p:nvPr/>
        </p:nvSpPr>
        <p:spPr>
          <a:xfrm>
            <a:off x="847725" y="3743325"/>
            <a:ext cx="2876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Come lo distribuiamo?</a:t>
            </a:r>
            <a:endParaRPr/>
          </a:p>
        </p:txBody>
      </p:sp>
      <p:sp>
        <p:nvSpPr>
          <p:cNvPr id="1406" name="Google Shape;1406;p65"/>
          <p:cNvSpPr/>
          <p:nvPr/>
        </p:nvSpPr>
        <p:spPr>
          <a:xfrm>
            <a:off x="3857625" y="3629025"/>
            <a:ext cx="40957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65"/>
          <p:cNvSpPr/>
          <p:nvPr/>
        </p:nvSpPr>
        <p:spPr>
          <a:xfrm>
            <a:off x="3990975" y="3743325"/>
            <a:ext cx="3829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HDFS, S3, partizioni</a:t>
            </a:r>
            <a:endParaRPr/>
          </a:p>
        </p:txBody>
      </p:sp>
      <p:sp>
        <p:nvSpPr>
          <p:cNvPr id="1408" name="Google Shape;1408;p65"/>
          <p:cNvSpPr/>
          <p:nvPr/>
        </p:nvSpPr>
        <p:spPr>
          <a:xfrm>
            <a:off x="7953375" y="3629025"/>
            <a:ext cx="381000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65"/>
          <p:cNvSpPr/>
          <p:nvPr/>
        </p:nvSpPr>
        <p:spPr>
          <a:xfrm>
            <a:off x="8086725" y="3743325"/>
            <a:ext cx="3543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storage</a:t>
            </a:r>
            <a:endParaRPr/>
          </a:p>
        </p:txBody>
      </p:sp>
      <p:sp>
        <p:nvSpPr>
          <p:cNvPr id="1410" name="Google Shape;1410;p65"/>
          <p:cNvSpPr/>
          <p:nvPr/>
        </p:nvSpPr>
        <p:spPr>
          <a:xfrm>
            <a:off x="714375" y="4410075"/>
            <a:ext cx="314325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65"/>
          <p:cNvSpPr/>
          <p:nvPr/>
        </p:nvSpPr>
        <p:spPr>
          <a:xfrm>
            <a:off x="847725" y="4524375"/>
            <a:ext cx="2876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Come lo elaboriamo?</a:t>
            </a:r>
            <a:endParaRPr/>
          </a:p>
        </p:txBody>
      </p:sp>
      <p:sp>
        <p:nvSpPr>
          <p:cNvPr id="1412" name="Google Shape;1412;p65"/>
          <p:cNvSpPr/>
          <p:nvPr/>
        </p:nvSpPr>
        <p:spPr>
          <a:xfrm>
            <a:off x="3857625" y="4410075"/>
            <a:ext cx="409575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65"/>
          <p:cNvSpPr/>
          <p:nvPr/>
        </p:nvSpPr>
        <p:spPr>
          <a:xfrm>
            <a:off x="3990975" y="4524375"/>
            <a:ext cx="3829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MapReduce, Hive, Spark</a:t>
            </a:r>
            <a:endParaRPr/>
          </a:p>
        </p:txBody>
      </p:sp>
      <p:sp>
        <p:nvSpPr>
          <p:cNvPr id="1414" name="Google Shape;1414;p65"/>
          <p:cNvSpPr/>
          <p:nvPr/>
        </p:nvSpPr>
        <p:spPr>
          <a:xfrm>
            <a:off x="7953375" y="4410075"/>
            <a:ext cx="381000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65"/>
          <p:cNvSpPr/>
          <p:nvPr/>
        </p:nvSpPr>
        <p:spPr>
          <a:xfrm>
            <a:off x="8086725" y="4524375"/>
            <a:ext cx="3543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engine</a:t>
            </a:r>
            <a:endParaRPr/>
          </a:p>
        </p:txBody>
      </p:sp>
      <p:sp>
        <p:nvSpPr>
          <p:cNvPr id="1416" name="Google Shape;1416;p65"/>
          <p:cNvSpPr/>
          <p:nvPr/>
        </p:nvSpPr>
        <p:spPr>
          <a:xfrm>
            <a:off x="714375" y="5191125"/>
            <a:ext cx="31432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65"/>
          <p:cNvSpPr/>
          <p:nvPr/>
        </p:nvSpPr>
        <p:spPr>
          <a:xfrm>
            <a:off x="847725" y="5305425"/>
            <a:ext cx="2876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Come lo operiamo?</a:t>
            </a:r>
            <a:endParaRPr/>
          </a:p>
        </p:txBody>
      </p:sp>
      <p:sp>
        <p:nvSpPr>
          <p:cNvPr id="1418" name="Google Shape;1418;p65"/>
          <p:cNvSpPr/>
          <p:nvPr/>
        </p:nvSpPr>
        <p:spPr>
          <a:xfrm>
            <a:off x="3857625" y="5191125"/>
            <a:ext cx="40957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65"/>
          <p:cNvSpPr/>
          <p:nvPr/>
        </p:nvSpPr>
        <p:spPr>
          <a:xfrm>
            <a:off x="3990975" y="5305425"/>
            <a:ext cx="3829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IAM, EMR, log, costi</a:t>
            </a:r>
            <a:endParaRPr/>
          </a:p>
        </p:txBody>
      </p:sp>
      <p:sp>
        <p:nvSpPr>
          <p:cNvPr id="1420" name="Google Shape;1420;p65"/>
          <p:cNvSpPr/>
          <p:nvPr/>
        </p:nvSpPr>
        <p:spPr>
          <a:xfrm>
            <a:off x="7953375" y="5191125"/>
            <a:ext cx="381000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65"/>
          <p:cNvSpPr/>
          <p:nvPr/>
        </p:nvSpPr>
        <p:spPr>
          <a:xfrm>
            <a:off x="8086725" y="5305425"/>
            <a:ext cx="3543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piattaforma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66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ARCHITECTURE REVIEW</a:t>
            </a:r>
            <a:endParaRPr/>
          </a:p>
        </p:txBody>
      </p:sp>
      <p:sp>
        <p:nvSpPr>
          <p:cNvPr id="1428" name="Google Shape;1428;p66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Challenge finale: difendi una piattaforma completa</a:t>
            </a:r>
            <a:endParaRPr/>
          </a:p>
        </p:txBody>
      </p:sp>
      <p:sp>
        <p:nvSpPr>
          <p:cNvPr id="1429" name="Google Shape;1429;p66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66</a:t>
            </a:r>
            <a:endParaRPr/>
          </a:p>
        </p:txBody>
      </p:sp>
      <p:sp>
        <p:nvSpPr>
          <p:cNvPr id="1430" name="Google Shape;1430;p66"/>
          <p:cNvSpPr/>
          <p:nvPr/>
        </p:nvSpPr>
        <p:spPr>
          <a:xfrm>
            <a:off x="781050" y="14763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8D9"/>
                </a:solidFill>
              </a:rPr>
              <a:t>01</a:t>
            </a:r>
            <a:endParaRPr/>
          </a:p>
        </p:txBody>
      </p:sp>
      <p:sp>
        <p:nvSpPr>
          <p:cNvPr id="1431" name="Google Shape;1431;p66"/>
          <p:cNvSpPr/>
          <p:nvPr/>
        </p:nvSpPr>
        <p:spPr>
          <a:xfrm>
            <a:off x="1666875" y="14763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DIAGRAMMA</a:t>
            </a:r>
            <a:endParaRPr/>
          </a:p>
        </p:txBody>
      </p:sp>
      <p:sp>
        <p:nvSpPr>
          <p:cNvPr id="1432" name="Google Shape;1432;p66"/>
          <p:cNvSpPr/>
          <p:nvPr/>
        </p:nvSpPr>
        <p:spPr>
          <a:xfrm>
            <a:off x="4762500" y="14763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flussi, confini e ownership dei dati</a:t>
            </a:r>
            <a:endParaRPr/>
          </a:p>
        </p:txBody>
      </p:sp>
      <p:sp>
        <p:nvSpPr>
          <p:cNvPr id="1433" name="Google Shape;1433;p66"/>
          <p:cNvSpPr/>
          <p:nvPr/>
        </p:nvSpPr>
        <p:spPr>
          <a:xfrm>
            <a:off x="781050" y="22383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8A4C"/>
                </a:solidFill>
              </a:rPr>
              <a:t>02</a:t>
            </a:r>
            <a:endParaRPr/>
          </a:p>
        </p:txBody>
      </p:sp>
      <p:sp>
        <p:nvSpPr>
          <p:cNvPr id="1434" name="Google Shape;1434;p66"/>
          <p:cNvSpPr/>
          <p:nvPr/>
        </p:nvSpPr>
        <p:spPr>
          <a:xfrm>
            <a:off x="1666875" y="22383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TECNOLOGIE</a:t>
            </a:r>
            <a:endParaRPr/>
          </a:p>
        </p:txBody>
      </p:sp>
      <p:sp>
        <p:nvSpPr>
          <p:cNvPr id="1435" name="Google Shape;1435;p66"/>
          <p:cNvSpPr/>
          <p:nvPr/>
        </p:nvSpPr>
        <p:spPr>
          <a:xfrm>
            <a:off x="4762500" y="22383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una ragione e un’alternativa per ciascuna</a:t>
            </a:r>
            <a:endParaRPr/>
          </a:p>
        </p:txBody>
      </p:sp>
      <p:sp>
        <p:nvSpPr>
          <p:cNvPr id="1436" name="Google Shape;1436;p66"/>
          <p:cNvSpPr/>
          <p:nvPr/>
        </p:nvSpPr>
        <p:spPr>
          <a:xfrm>
            <a:off x="781050" y="30003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6EE6"/>
                </a:solidFill>
              </a:rPr>
              <a:t>03</a:t>
            </a:r>
            <a:endParaRPr/>
          </a:p>
        </p:txBody>
      </p:sp>
      <p:sp>
        <p:nvSpPr>
          <p:cNvPr id="1437" name="Google Shape;1437;p66"/>
          <p:cNvSpPr/>
          <p:nvPr/>
        </p:nvSpPr>
        <p:spPr>
          <a:xfrm>
            <a:off x="1666875" y="30003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SECURITY</a:t>
            </a:r>
            <a:endParaRPr/>
          </a:p>
        </p:txBody>
      </p:sp>
      <p:sp>
        <p:nvSpPr>
          <p:cNvPr id="1438" name="Google Shape;1438;p66"/>
          <p:cNvSpPr/>
          <p:nvPr/>
        </p:nvSpPr>
        <p:spPr>
          <a:xfrm>
            <a:off x="4762500" y="30003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principals, role, encryption e public access</a:t>
            </a:r>
            <a:endParaRPr/>
          </a:p>
        </p:txBody>
      </p:sp>
      <p:sp>
        <p:nvSpPr>
          <p:cNvPr id="1439" name="Google Shape;1439;p66"/>
          <p:cNvSpPr/>
          <p:nvPr/>
        </p:nvSpPr>
        <p:spPr>
          <a:xfrm>
            <a:off x="781050" y="37623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7E34B"/>
                </a:solidFill>
              </a:rPr>
              <a:t>04</a:t>
            </a:r>
            <a:endParaRPr/>
          </a:p>
        </p:txBody>
      </p:sp>
      <p:sp>
        <p:nvSpPr>
          <p:cNvPr id="1440" name="Google Shape;1440;p66"/>
          <p:cNvSpPr/>
          <p:nvPr/>
        </p:nvSpPr>
        <p:spPr>
          <a:xfrm>
            <a:off x="1666875" y="37623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OPERATIONS</a:t>
            </a:r>
            <a:endParaRPr/>
          </a:p>
        </p:txBody>
      </p:sp>
      <p:sp>
        <p:nvSpPr>
          <p:cNvPr id="1441" name="Google Shape;1441;p66"/>
          <p:cNvSpPr/>
          <p:nvPr/>
        </p:nvSpPr>
        <p:spPr>
          <a:xfrm>
            <a:off x="4762500" y="37623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log, failure, retry e cleanup</a:t>
            </a:r>
            <a:endParaRPr/>
          </a:p>
        </p:txBody>
      </p:sp>
      <p:sp>
        <p:nvSpPr>
          <p:cNvPr id="1442" name="Google Shape;1442;p66"/>
          <p:cNvSpPr/>
          <p:nvPr/>
        </p:nvSpPr>
        <p:spPr>
          <a:xfrm>
            <a:off x="781050" y="4524375"/>
            <a:ext cx="619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F5A5A"/>
                </a:solidFill>
              </a:rPr>
              <a:t>05</a:t>
            </a:r>
            <a:endParaRPr/>
          </a:p>
        </p:txBody>
      </p:sp>
      <p:sp>
        <p:nvSpPr>
          <p:cNvPr id="1443" name="Google Shape;1443;p66"/>
          <p:cNvSpPr/>
          <p:nvPr/>
        </p:nvSpPr>
        <p:spPr>
          <a:xfrm>
            <a:off x="1666875" y="4524375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B1F33"/>
                </a:solidFill>
              </a:rPr>
              <a:t>COST</a:t>
            </a:r>
            <a:endParaRPr/>
          </a:p>
        </p:txBody>
      </p:sp>
      <p:sp>
        <p:nvSpPr>
          <p:cNvPr id="1444" name="Google Shape;1444;p66"/>
          <p:cNvSpPr/>
          <p:nvPr/>
        </p:nvSpPr>
        <p:spPr>
          <a:xfrm>
            <a:off x="4762500" y="4524375"/>
            <a:ext cx="6477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unità, limiti, tag e misurazione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67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MISCONCEPTIONS</a:t>
            </a:r>
            <a:endParaRPr/>
          </a:p>
        </p:txBody>
      </p:sp>
      <p:sp>
        <p:nvSpPr>
          <p:cNvPr id="1451" name="Google Shape;1451;p67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Cinque confusioni da eliminare</a:t>
            </a:r>
            <a:endParaRPr/>
          </a:p>
        </p:txBody>
      </p:sp>
      <p:sp>
        <p:nvSpPr>
          <p:cNvPr id="1452" name="Google Shape;1452;p67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67</a:t>
            </a:r>
            <a:endParaRPr/>
          </a:p>
        </p:txBody>
      </p:sp>
      <p:sp>
        <p:nvSpPr>
          <p:cNvPr id="1453" name="Google Shape;1453;p67"/>
          <p:cNvSpPr/>
          <p:nvPr/>
        </p:nvSpPr>
        <p:spPr>
          <a:xfrm>
            <a:off x="904875" y="1571625"/>
            <a:ext cx="409575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67"/>
          <p:cNvSpPr/>
          <p:nvPr/>
        </p:nvSpPr>
        <p:spPr>
          <a:xfrm>
            <a:off x="1000125" y="170497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Confusione</a:t>
            </a:r>
            <a:endParaRPr/>
          </a:p>
        </p:txBody>
      </p:sp>
      <p:sp>
        <p:nvSpPr>
          <p:cNvPr id="1455" name="Google Shape;1455;p67"/>
          <p:cNvSpPr/>
          <p:nvPr/>
        </p:nvSpPr>
        <p:spPr>
          <a:xfrm>
            <a:off x="5000625" y="1571625"/>
            <a:ext cx="5905500" cy="495300"/>
          </a:xfrm>
          <a:prstGeom prst="rect">
            <a:avLst/>
          </a:prstGeom>
          <a:solidFill>
            <a:srgbClr val="0B1F33"/>
          </a:solidFill>
          <a:ln cap="flat" cmpd="sng" w="9525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67"/>
          <p:cNvSpPr/>
          <p:nvPr/>
        </p:nvSpPr>
        <p:spPr>
          <a:xfrm>
            <a:off x="5095875" y="1704975"/>
            <a:ext cx="5715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Correzione</a:t>
            </a:r>
            <a:endParaRPr/>
          </a:p>
        </p:txBody>
      </p:sp>
      <p:sp>
        <p:nvSpPr>
          <p:cNvPr id="1457" name="Google Shape;1457;p67"/>
          <p:cNvSpPr/>
          <p:nvPr/>
        </p:nvSpPr>
        <p:spPr>
          <a:xfrm>
            <a:off x="904875" y="2066925"/>
            <a:ext cx="40957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67"/>
          <p:cNvSpPr/>
          <p:nvPr/>
        </p:nvSpPr>
        <p:spPr>
          <a:xfrm>
            <a:off x="1038225" y="2181225"/>
            <a:ext cx="3829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“Managed = senza responsabilità”</a:t>
            </a:r>
            <a:endParaRPr/>
          </a:p>
        </p:txBody>
      </p:sp>
      <p:sp>
        <p:nvSpPr>
          <p:cNvPr id="1459" name="Google Shape;1459;p67"/>
          <p:cNvSpPr/>
          <p:nvPr/>
        </p:nvSpPr>
        <p:spPr>
          <a:xfrm>
            <a:off x="5000625" y="2066925"/>
            <a:ext cx="590550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67"/>
          <p:cNvSpPr/>
          <p:nvPr/>
        </p:nvSpPr>
        <p:spPr>
          <a:xfrm>
            <a:off x="5133975" y="2181225"/>
            <a:ext cx="5638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il confine cambia, cliente e dati restano</a:t>
            </a:r>
            <a:endParaRPr/>
          </a:p>
        </p:txBody>
      </p:sp>
      <p:sp>
        <p:nvSpPr>
          <p:cNvPr id="1461" name="Google Shape;1461;p67"/>
          <p:cNvSpPr/>
          <p:nvPr/>
        </p:nvSpPr>
        <p:spPr>
          <a:xfrm>
            <a:off x="904875" y="2847975"/>
            <a:ext cx="409575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67"/>
          <p:cNvSpPr/>
          <p:nvPr/>
        </p:nvSpPr>
        <p:spPr>
          <a:xfrm>
            <a:off x="1038225" y="2962275"/>
            <a:ext cx="3829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“S3 = HDFS cloud”</a:t>
            </a:r>
            <a:endParaRPr/>
          </a:p>
        </p:txBody>
      </p:sp>
      <p:sp>
        <p:nvSpPr>
          <p:cNvPr id="1463" name="Google Shape;1463;p67"/>
          <p:cNvSpPr/>
          <p:nvPr/>
        </p:nvSpPr>
        <p:spPr>
          <a:xfrm>
            <a:off x="5000625" y="2847975"/>
            <a:ext cx="590550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67"/>
          <p:cNvSpPr/>
          <p:nvPr/>
        </p:nvSpPr>
        <p:spPr>
          <a:xfrm>
            <a:off x="5133975" y="2962275"/>
            <a:ext cx="5638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object store e filesystem hanno semantiche diverse</a:t>
            </a:r>
            <a:endParaRPr/>
          </a:p>
        </p:txBody>
      </p:sp>
      <p:sp>
        <p:nvSpPr>
          <p:cNvPr id="1465" name="Google Shape;1465;p67"/>
          <p:cNvSpPr/>
          <p:nvPr/>
        </p:nvSpPr>
        <p:spPr>
          <a:xfrm>
            <a:off x="904875" y="3629025"/>
            <a:ext cx="40957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67"/>
          <p:cNvSpPr/>
          <p:nvPr/>
        </p:nvSpPr>
        <p:spPr>
          <a:xfrm>
            <a:off x="1038225" y="3743325"/>
            <a:ext cx="3829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“EMR = solo MapReduce”</a:t>
            </a:r>
            <a:endParaRPr/>
          </a:p>
        </p:txBody>
      </p:sp>
      <p:sp>
        <p:nvSpPr>
          <p:cNvPr id="1467" name="Google Shape;1467;p67"/>
          <p:cNvSpPr/>
          <p:nvPr/>
        </p:nvSpPr>
        <p:spPr>
          <a:xfrm>
            <a:off x="5000625" y="3629025"/>
            <a:ext cx="590550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67"/>
          <p:cNvSpPr/>
          <p:nvPr/>
        </p:nvSpPr>
        <p:spPr>
          <a:xfrm>
            <a:off x="5133975" y="3743325"/>
            <a:ext cx="5638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include Hadoop, Spark e applicazioni</a:t>
            </a:r>
            <a:endParaRPr/>
          </a:p>
        </p:txBody>
      </p:sp>
      <p:sp>
        <p:nvSpPr>
          <p:cNvPr id="1469" name="Google Shape;1469;p67"/>
          <p:cNvSpPr/>
          <p:nvPr/>
        </p:nvSpPr>
        <p:spPr>
          <a:xfrm>
            <a:off x="904875" y="4410075"/>
            <a:ext cx="409575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67"/>
          <p:cNvSpPr/>
          <p:nvPr/>
        </p:nvSpPr>
        <p:spPr>
          <a:xfrm>
            <a:off x="1038225" y="4524375"/>
            <a:ext cx="3829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“Serverless = senza limiti/costo”</a:t>
            </a:r>
            <a:endParaRPr/>
          </a:p>
        </p:txBody>
      </p:sp>
      <p:sp>
        <p:nvSpPr>
          <p:cNvPr id="1471" name="Google Shape;1471;p67"/>
          <p:cNvSpPr/>
          <p:nvPr/>
        </p:nvSpPr>
        <p:spPr>
          <a:xfrm>
            <a:off x="5000625" y="4410075"/>
            <a:ext cx="5905500" cy="7810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67"/>
          <p:cNvSpPr/>
          <p:nvPr/>
        </p:nvSpPr>
        <p:spPr>
          <a:xfrm>
            <a:off x="5133975" y="4524375"/>
            <a:ext cx="5638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capacità e consumo vanno governati</a:t>
            </a:r>
            <a:endParaRPr/>
          </a:p>
        </p:txBody>
      </p:sp>
      <p:sp>
        <p:nvSpPr>
          <p:cNvPr id="1473" name="Google Shape;1473;p67"/>
          <p:cNvSpPr/>
          <p:nvPr/>
        </p:nvSpPr>
        <p:spPr>
          <a:xfrm>
            <a:off x="904875" y="5191125"/>
            <a:ext cx="409575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67"/>
          <p:cNvSpPr/>
          <p:nvPr/>
        </p:nvSpPr>
        <p:spPr>
          <a:xfrm>
            <a:off x="1038225" y="5305425"/>
            <a:ext cx="3829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B1F33"/>
                </a:solidFill>
              </a:rPr>
              <a:t>“Job SUCCESS = progetto finito”</a:t>
            </a:r>
            <a:endParaRPr/>
          </a:p>
        </p:txBody>
      </p:sp>
      <p:sp>
        <p:nvSpPr>
          <p:cNvPr id="1475" name="Google Shape;1475;p67"/>
          <p:cNvSpPr/>
          <p:nvPr/>
        </p:nvSpPr>
        <p:spPr>
          <a:xfrm>
            <a:off x="5000625" y="5191125"/>
            <a:ext cx="5905500" cy="781050"/>
          </a:xfrm>
          <a:prstGeom prst="rect">
            <a:avLst/>
          </a:prstGeom>
          <a:solidFill>
            <a:srgbClr val="E8F7FA"/>
          </a:solidFill>
          <a:ln cap="flat" cmpd="sng" w="9525">
            <a:solidFill>
              <a:srgbClr val="D8DD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67"/>
          <p:cNvSpPr/>
          <p:nvPr/>
        </p:nvSpPr>
        <p:spPr>
          <a:xfrm>
            <a:off x="5133975" y="5305425"/>
            <a:ext cx="5638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11827"/>
                </a:solidFill>
              </a:rPr>
              <a:t>servono qualità, evidenza e cleanup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68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RECAP</a:t>
            </a:r>
            <a:endParaRPr/>
          </a:p>
        </p:txBody>
      </p:sp>
      <p:sp>
        <p:nvSpPr>
          <p:cNvPr id="1483" name="Google Shape;1483;p68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827"/>
                </a:solidFill>
              </a:rPr>
              <a:t>Se ricordi otto idee, ricorda queste</a:t>
            </a:r>
            <a:endParaRPr/>
          </a:p>
        </p:txBody>
      </p:sp>
      <p:sp>
        <p:nvSpPr>
          <p:cNvPr id="1484" name="Google Shape;1484;p68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2606D"/>
                </a:solidFill>
              </a:rPr>
              <a:t>68</a:t>
            </a:r>
            <a:endParaRPr/>
          </a:p>
        </p:txBody>
      </p:sp>
      <p:sp>
        <p:nvSpPr>
          <p:cNvPr id="1485" name="Google Shape;1485;p68"/>
          <p:cNvSpPr/>
          <p:nvPr/>
        </p:nvSpPr>
        <p:spPr>
          <a:xfrm>
            <a:off x="857250" y="1381125"/>
            <a:ext cx="523875" cy="409575"/>
          </a:xfrm>
          <a:prstGeom prst="roundRect">
            <a:avLst>
              <a:gd fmla="val 18605" name="adj"/>
            </a:avLst>
          </a:prstGeom>
          <a:solidFill>
            <a:srgbClr val="00B8D9"/>
          </a:solidFill>
          <a:ln cap="flat" cmpd="sng" w="9525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68"/>
          <p:cNvSpPr/>
          <p:nvPr/>
        </p:nvSpPr>
        <p:spPr>
          <a:xfrm>
            <a:off x="857250" y="1457325"/>
            <a:ext cx="52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1</a:t>
            </a:r>
            <a:endParaRPr/>
          </a:p>
        </p:txBody>
      </p:sp>
      <p:sp>
        <p:nvSpPr>
          <p:cNvPr id="1487" name="Google Shape;1487;p68"/>
          <p:cNvSpPr/>
          <p:nvPr/>
        </p:nvSpPr>
        <p:spPr>
          <a:xfrm>
            <a:off x="1666875" y="1428750"/>
            <a:ext cx="923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Region e account sono confini</a:t>
            </a:r>
            <a:endParaRPr/>
          </a:p>
        </p:txBody>
      </p:sp>
      <p:sp>
        <p:nvSpPr>
          <p:cNvPr id="1488" name="Google Shape;1488;p68"/>
          <p:cNvSpPr/>
          <p:nvPr/>
        </p:nvSpPr>
        <p:spPr>
          <a:xfrm>
            <a:off x="857250" y="1962150"/>
            <a:ext cx="523875" cy="409575"/>
          </a:xfrm>
          <a:prstGeom prst="roundRect">
            <a:avLst>
              <a:gd fmla="val 18605" name="adj"/>
            </a:avLst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68"/>
          <p:cNvSpPr/>
          <p:nvPr/>
        </p:nvSpPr>
        <p:spPr>
          <a:xfrm>
            <a:off x="857250" y="2038350"/>
            <a:ext cx="52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2</a:t>
            </a:r>
            <a:endParaRPr/>
          </a:p>
        </p:txBody>
      </p:sp>
      <p:sp>
        <p:nvSpPr>
          <p:cNvPr id="1490" name="Google Shape;1490;p68"/>
          <p:cNvSpPr/>
          <p:nvPr/>
        </p:nvSpPr>
        <p:spPr>
          <a:xfrm>
            <a:off x="1666875" y="2009775"/>
            <a:ext cx="923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IAM definisce chi può fare cosa</a:t>
            </a:r>
            <a:endParaRPr/>
          </a:p>
        </p:txBody>
      </p:sp>
      <p:sp>
        <p:nvSpPr>
          <p:cNvPr id="1491" name="Google Shape;1491;p68"/>
          <p:cNvSpPr/>
          <p:nvPr/>
        </p:nvSpPr>
        <p:spPr>
          <a:xfrm>
            <a:off x="857250" y="2543175"/>
            <a:ext cx="523875" cy="409575"/>
          </a:xfrm>
          <a:prstGeom prst="roundRect">
            <a:avLst>
              <a:gd fmla="val 18605" name="adj"/>
            </a:avLst>
          </a:prstGeom>
          <a:solidFill>
            <a:srgbClr val="7C6EE6"/>
          </a:solidFill>
          <a:ln cap="flat" cmpd="sng" w="9525">
            <a:solidFill>
              <a:srgbClr val="7C6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68"/>
          <p:cNvSpPr/>
          <p:nvPr/>
        </p:nvSpPr>
        <p:spPr>
          <a:xfrm>
            <a:off x="857250" y="2619375"/>
            <a:ext cx="52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3</a:t>
            </a:r>
            <a:endParaRPr/>
          </a:p>
        </p:txBody>
      </p:sp>
      <p:sp>
        <p:nvSpPr>
          <p:cNvPr id="1493" name="Google Shape;1493;p68"/>
          <p:cNvSpPr/>
          <p:nvPr/>
        </p:nvSpPr>
        <p:spPr>
          <a:xfrm>
            <a:off x="1666875" y="2590800"/>
            <a:ext cx="923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S3 persiste oggetti indipendenti dal compute</a:t>
            </a:r>
            <a:endParaRPr/>
          </a:p>
        </p:txBody>
      </p:sp>
      <p:sp>
        <p:nvSpPr>
          <p:cNvPr id="1494" name="Google Shape;1494;p68"/>
          <p:cNvSpPr/>
          <p:nvPr/>
        </p:nvSpPr>
        <p:spPr>
          <a:xfrm>
            <a:off x="857250" y="3124200"/>
            <a:ext cx="523875" cy="409575"/>
          </a:xfrm>
          <a:prstGeom prst="roundRect">
            <a:avLst>
              <a:gd fmla="val 18605" name="adj"/>
            </a:avLst>
          </a:prstGeom>
          <a:solidFill>
            <a:srgbClr val="EF5A5A"/>
          </a:solidFill>
          <a:ln cap="flat" cmpd="sng" w="9525">
            <a:solidFill>
              <a:srgbClr val="EF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68"/>
          <p:cNvSpPr/>
          <p:nvPr/>
        </p:nvSpPr>
        <p:spPr>
          <a:xfrm>
            <a:off x="857250" y="3200400"/>
            <a:ext cx="52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4</a:t>
            </a:r>
            <a:endParaRPr/>
          </a:p>
        </p:txBody>
      </p:sp>
      <p:sp>
        <p:nvSpPr>
          <p:cNvPr id="1496" name="Google Shape;1496;p68"/>
          <p:cNvSpPr/>
          <p:nvPr/>
        </p:nvSpPr>
        <p:spPr>
          <a:xfrm>
            <a:off x="1666875" y="3171825"/>
            <a:ext cx="923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HDFS su EMR EC2 è effimero</a:t>
            </a:r>
            <a:endParaRPr/>
          </a:p>
        </p:txBody>
      </p:sp>
      <p:sp>
        <p:nvSpPr>
          <p:cNvPr id="1497" name="Google Shape;1497;p68"/>
          <p:cNvSpPr/>
          <p:nvPr/>
        </p:nvSpPr>
        <p:spPr>
          <a:xfrm>
            <a:off x="857250" y="3705225"/>
            <a:ext cx="523875" cy="409575"/>
          </a:xfrm>
          <a:prstGeom prst="roundRect">
            <a:avLst>
              <a:gd fmla="val 18605" name="adj"/>
            </a:avLst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68"/>
          <p:cNvSpPr/>
          <p:nvPr/>
        </p:nvSpPr>
        <p:spPr>
          <a:xfrm>
            <a:off x="857250" y="3781425"/>
            <a:ext cx="52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5</a:t>
            </a:r>
            <a:endParaRPr/>
          </a:p>
        </p:txBody>
      </p:sp>
      <p:sp>
        <p:nvSpPr>
          <p:cNvPr id="1499" name="Google Shape;1499;p68"/>
          <p:cNvSpPr/>
          <p:nvPr/>
        </p:nvSpPr>
        <p:spPr>
          <a:xfrm>
            <a:off x="1666875" y="3752850"/>
            <a:ext cx="923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EMR offre EC2, EKS e Serverless</a:t>
            </a:r>
            <a:endParaRPr/>
          </a:p>
        </p:txBody>
      </p:sp>
      <p:sp>
        <p:nvSpPr>
          <p:cNvPr id="1500" name="Google Shape;1500;p68"/>
          <p:cNvSpPr/>
          <p:nvPr/>
        </p:nvSpPr>
        <p:spPr>
          <a:xfrm>
            <a:off x="857250" y="4286250"/>
            <a:ext cx="523875" cy="409575"/>
          </a:xfrm>
          <a:prstGeom prst="roundRect">
            <a:avLst>
              <a:gd fmla="val 18605" name="adj"/>
            </a:avLst>
          </a:prstGeom>
          <a:solidFill>
            <a:srgbClr val="27A36A"/>
          </a:solidFill>
          <a:ln cap="flat" cmpd="sng" w="9525">
            <a:solidFill>
              <a:srgbClr val="27A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68"/>
          <p:cNvSpPr/>
          <p:nvPr/>
        </p:nvSpPr>
        <p:spPr>
          <a:xfrm>
            <a:off x="857250" y="4362450"/>
            <a:ext cx="52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6</a:t>
            </a:r>
            <a:endParaRPr/>
          </a:p>
        </p:txBody>
      </p:sp>
      <p:sp>
        <p:nvSpPr>
          <p:cNvPr id="1502" name="Google Shape;1502;p68"/>
          <p:cNvSpPr/>
          <p:nvPr/>
        </p:nvSpPr>
        <p:spPr>
          <a:xfrm>
            <a:off x="1666875" y="4333875"/>
            <a:ext cx="923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Serverless non supporta HDFS</a:t>
            </a:r>
            <a:endParaRPr/>
          </a:p>
        </p:txBody>
      </p:sp>
      <p:sp>
        <p:nvSpPr>
          <p:cNvPr id="1503" name="Google Shape;1503;p68"/>
          <p:cNvSpPr/>
          <p:nvPr/>
        </p:nvSpPr>
        <p:spPr>
          <a:xfrm>
            <a:off x="857250" y="4867275"/>
            <a:ext cx="523875" cy="409575"/>
          </a:xfrm>
          <a:prstGeom prst="roundRect">
            <a:avLst>
              <a:gd fmla="val 18605" name="adj"/>
            </a:avLst>
          </a:prstGeom>
          <a:solidFill>
            <a:srgbClr val="3B82F6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68"/>
          <p:cNvSpPr/>
          <p:nvPr/>
        </p:nvSpPr>
        <p:spPr>
          <a:xfrm>
            <a:off x="857250" y="4943475"/>
            <a:ext cx="52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7</a:t>
            </a:r>
            <a:endParaRPr/>
          </a:p>
        </p:txBody>
      </p:sp>
      <p:sp>
        <p:nvSpPr>
          <p:cNvPr id="1505" name="Google Shape;1505;p68"/>
          <p:cNvSpPr/>
          <p:nvPr/>
        </p:nvSpPr>
        <p:spPr>
          <a:xfrm>
            <a:off x="1666875" y="4914900"/>
            <a:ext cx="923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11827"/>
                </a:solidFill>
              </a:rPr>
              <a:t>Log e billed resources sono evidenze</a:t>
            </a:r>
            <a:endParaRPr/>
          </a:p>
        </p:txBody>
      </p:sp>
      <p:sp>
        <p:nvSpPr>
          <p:cNvPr id="1506" name="Google Shape;1506;p68"/>
          <p:cNvSpPr/>
          <p:nvPr/>
        </p:nvSpPr>
        <p:spPr>
          <a:xfrm>
            <a:off x="857250" y="5448300"/>
            <a:ext cx="523875" cy="409575"/>
          </a:xfrm>
          <a:prstGeom prst="roundRect">
            <a:avLst>
              <a:gd fmla="val 18605" name="adj"/>
            </a:avLst>
          </a:prstGeom>
          <a:solidFill>
            <a:srgbClr val="FF8A4C"/>
          </a:solidFill>
          <a:ln cap="flat" cmpd="sng" w="9525">
            <a:solidFill>
              <a:srgbClr val="FF8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8"/>
          <p:cNvSpPr/>
          <p:nvPr/>
        </p:nvSpPr>
        <p:spPr>
          <a:xfrm>
            <a:off x="857250" y="5524500"/>
            <a:ext cx="52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1F33"/>
                </a:solidFill>
              </a:rPr>
              <a:t>8</a:t>
            </a:r>
            <a:endParaRPr/>
          </a:p>
        </p:txBody>
      </p:sp>
      <p:sp>
        <p:nvSpPr>
          <p:cNvPr id="1508" name="Google Shape;1508;p68"/>
          <p:cNvSpPr/>
          <p:nvPr/>
        </p:nvSpPr>
        <p:spPr>
          <a:xfrm>
            <a:off x="1666875" y="5495925"/>
            <a:ext cx="923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11827"/>
                </a:solidFill>
              </a:rPr>
              <a:t>Cleanup è parte del lavoro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69"/>
          <p:cNvSpPr/>
          <p:nvPr/>
        </p:nvSpPr>
        <p:spPr>
          <a:xfrm>
            <a:off x="685800" y="361950"/>
            <a:ext cx="9810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00B8D9"/>
                </a:solidFill>
              </a:rPr>
              <a:t>CHIUSURA • BIG DATA &amp; CLOUD SERVICES</a:t>
            </a:r>
            <a:endParaRPr/>
          </a:p>
        </p:txBody>
      </p:sp>
      <p:sp>
        <p:nvSpPr>
          <p:cNvPr id="1515" name="Google Shape;1515;p69"/>
          <p:cNvSpPr/>
          <p:nvPr/>
        </p:nvSpPr>
        <p:spPr>
          <a:xfrm>
            <a:off x="685800" y="742950"/>
            <a:ext cx="108204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</a:rPr>
              <a:t>Il corso finisce quando sapete motivare le scelte</a:t>
            </a:r>
            <a:endParaRPr/>
          </a:p>
        </p:txBody>
      </p:sp>
      <p:sp>
        <p:nvSpPr>
          <p:cNvPr id="1516" name="Google Shape;1516;p69"/>
          <p:cNvSpPr/>
          <p:nvPr/>
        </p:nvSpPr>
        <p:spPr>
          <a:xfrm>
            <a:off x="11049000" y="6229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9FB0BF"/>
                </a:solidFill>
              </a:rPr>
              <a:t>69</a:t>
            </a:r>
            <a:endParaRPr/>
          </a:p>
        </p:txBody>
      </p:sp>
      <p:sp>
        <p:nvSpPr>
          <p:cNvPr id="1517" name="Google Shape;1517;p69"/>
          <p:cNvSpPr/>
          <p:nvPr/>
        </p:nvSpPr>
        <p:spPr>
          <a:xfrm>
            <a:off x="742950" y="1714500"/>
            <a:ext cx="857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B7E34B"/>
                </a:solidFill>
              </a:rPr>
              <a:t>“</a:t>
            </a:r>
            <a:endParaRPr/>
          </a:p>
        </p:txBody>
      </p:sp>
      <p:sp>
        <p:nvSpPr>
          <p:cNvPr id="1518" name="Google Shape;1518;p69"/>
          <p:cNvSpPr/>
          <p:nvPr/>
        </p:nvSpPr>
        <p:spPr>
          <a:xfrm>
            <a:off x="1676400" y="1952625"/>
            <a:ext cx="90487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FFFFFF"/>
                </a:solidFill>
              </a:rPr>
              <a:t>Non basta nominare PostgreSQL, Redis, Hadoop, Spark o AWS: dovete spiegare quale problema risolvono, quale rischio introducono e quale evidenza ne dimostra il funzionamento.</a:t>
            </a:r>
            <a:endParaRPr/>
          </a:p>
        </p:txBody>
      </p:sp>
      <p:sp>
        <p:nvSpPr>
          <p:cNvPr id="1519" name="Google Shape;1519;p69"/>
          <p:cNvSpPr/>
          <p:nvPr/>
        </p:nvSpPr>
        <p:spPr>
          <a:xfrm>
            <a:off x="1676400" y="4762500"/>
            <a:ext cx="3048000" cy="76200"/>
          </a:xfrm>
          <a:prstGeom prst="rect">
            <a:avLst/>
          </a:prstGeom>
          <a:solidFill>
            <a:srgbClr val="B7E34B"/>
          </a:solidFill>
          <a:ln cap="flat" cmpd="sng" w="9525">
            <a:solidFill>
              <a:srgbClr val="B7E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